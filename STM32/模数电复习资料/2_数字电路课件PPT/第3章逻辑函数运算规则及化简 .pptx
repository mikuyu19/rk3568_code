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3"/>
    <p:sldId id="303" r:id="rId4"/>
    <p:sldId id="304" r:id="rId5"/>
    <p:sldId id="305" r:id="rId6"/>
    <p:sldId id="308" r:id="rId7"/>
    <p:sldId id="306" r:id="rId8"/>
    <p:sldId id="307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2" r:id="rId43"/>
    <p:sldId id="293" r:id="rId44"/>
    <p:sldId id="294" r:id="rId45"/>
    <p:sldId id="296" r:id="rId46"/>
    <p:sldId id="295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6858000" type="screen4x3"/>
  <p:notesSz cx="6858000" cy="9144000"/>
  <p:custDataLst>
    <p:tags r:id="rId5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99"/>
    <a:srgbClr val="660066"/>
    <a:srgbClr val="0066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3177"/>
  </p:normalViewPr>
  <p:slideViewPr>
    <p:cSldViewPr showGuides="1">
      <p:cViewPr varScale="1">
        <p:scale>
          <a:sx n="70" d="100"/>
          <a:sy n="70" d="100"/>
        </p:scale>
        <p:origin x="-183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gs" Target="tags/tag8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64.w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84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7" Type="http://schemas.openxmlformats.org/officeDocument/2006/relationships/image" Target="../media/image91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23.vml.rels><?xml version="1.0" encoding="UTF-8" standalone="yes"?>
<Relationships xmlns="http://schemas.openxmlformats.org/package/2006/relationships"><Relationship Id="rId5" Type="http://schemas.openxmlformats.org/officeDocument/2006/relationships/image" Target="../media/image97.wmf"/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25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4.wmf"/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2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9.wmf"/><Relationship Id="rId3" Type="http://schemas.openxmlformats.org/officeDocument/2006/relationships/image" Target="../media/image42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wmf"/></Relationships>
</file>

<file path=ppt/drawings/_rels/vmlDrawing3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9.wmf"/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3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4.wmf"/><Relationship Id="rId4" Type="http://schemas.openxmlformats.org/officeDocument/2006/relationships/image" Target="../media/image123.wmf"/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drawings/_rels/vmlDrawing3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7.wmf"/><Relationship Id="rId4" Type="http://schemas.openxmlformats.org/officeDocument/2006/relationships/image" Target="../media/image136.wmf"/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3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1.wmf"/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529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300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55301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632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4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56325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734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8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57349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837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2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58373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939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6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59397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041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20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60421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144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4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61445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246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8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62469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349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2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63493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451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6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64517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553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40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65541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656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4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66565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758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8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67589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861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2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68613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963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6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69637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065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60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0661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168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4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1685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270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8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2709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373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2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3733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475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4757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577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80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5781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680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4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6805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782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8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7829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885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2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8853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987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6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79877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089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900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80901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192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4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81925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294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2948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82949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397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2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83973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499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6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84997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601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20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86021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704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4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87045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806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8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88069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909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9092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89093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011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6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0117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113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40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1141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216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64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2165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318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8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3189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421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2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4213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523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6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5237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625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60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6261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728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4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7285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830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8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8309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933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9332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zh-CN" dirty="0"/>
          </a:p>
        </p:txBody>
      </p:sp>
      <p:sp>
        <p:nvSpPr>
          <p:cNvPr id="99333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7"/>
          <p:cNvSpPr>
            <a:spLocks noChangeArrowheads="1"/>
          </p:cNvSpPr>
          <p:nvPr userDrawn="1"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pic>
        <p:nvPicPr>
          <p:cNvPr id="2050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84478" y="116523"/>
            <a:ext cx="1181100" cy="579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  <p:pic>
        <p:nvPicPr>
          <p:cNvPr id="2050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84478" y="115888"/>
            <a:ext cx="1181100" cy="579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  <p:pic>
        <p:nvPicPr>
          <p:cNvPr id="2050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84478" y="44133"/>
            <a:ext cx="1181100" cy="579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  <p:pic>
        <p:nvPicPr>
          <p:cNvPr id="2050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84478" y="44133"/>
            <a:ext cx="1181100" cy="579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  <p:pic>
        <p:nvPicPr>
          <p:cNvPr id="2050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84478" y="115888"/>
            <a:ext cx="1181100" cy="579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  <p:pic>
        <p:nvPicPr>
          <p:cNvPr id="2050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84478" y="115888"/>
            <a:ext cx="1181100" cy="579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196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8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5" Type="http://schemas.openxmlformats.org/officeDocument/2006/relationships/notesSlide" Target="../notesSlides/notesSlide2.xml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8.wmf"/><Relationship Id="rId17" Type="http://schemas.openxmlformats.org/officeDocument/2006/relationships/notesSlide" Target="../notesSlides/notesSlide3.xml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14.wmf"/><Relationship Id="rId13" Type="http://schemas.openxmlformats.org/officeDocument/2006/relationships/oleObject" Target="../embeddings/oleObject13.bin"/><Relationship Id="rId12" Type="http://schemas.openxmlformats.org/officeDocument/2006/relationships/image" Target="../media/image13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7.wmf"/><Relationship Id="rId13" Type="http://schemas.openxmlformats.org/officeDocument/2006/relationships/notesSlide" Target="../notesSlides/notesSlide5.xml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2.wmf"/><Relationship Id="rId11" Type="http://schemas.openxmlformats.org/officeDocument/2006/relationships/notesSlide" Target="../notesSlides/notesSlide6.xml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7.png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6.bin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29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36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3.wmf"/><Relationship Id="rId11" Type="http://schemas.openxmlformats.org/officeDocument/2006/relationships/notesSlide" Target="../notesSlides/notesSlide11.xml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31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40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7.wmf"/><Relationship Id="rId11" Type="http://schemas.openxmlformats.org/officeDocument/2006/relationships/notesSlide" Target="../notesSlides/notesSlide12.xml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35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39.bin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42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44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3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0.wmf"/><Relationship Id="rId11" Type="http://schemas.openxmlformats.org/officeDocument/2006/relationships/notesSlide" Target="../notesSlides/notesSlide18.xml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47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2.bin"/><Relationship Id="rId20" Type="http://schemas.openxmlformats.org/officeDocument/2006/relationships/notesSlide" Target="../notesSlides/notesSlide19.xml"/><Relationship Id="rId2" Type="http://schemas.openxmlformats.org/officeDocument/2006/relationships/image" Target="../media/image54.wmf"/><Relationship Id="rId19" Type="http://schemas.openxmlformats.org/officeDocument/2006/relationships/vmlDrawing" Target="../drawings/vmlDrawing15.v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7.xml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58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57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56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51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5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3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62.wmf"/><Relationship Id="rId11" Type="http://schemas.openxmlformats.org/officeDocument/2006/relationships/notesSlide" Target="../notesSlides/notesSlide20.xml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59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9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6.wmf"/><Relationship Id="rId11" Type="http://schemas.openxmlformats.org/officeDocument/2006/relationships/notesSlide" Target="../notesSlides/notesSlide21.xml"/><Relationship Id="rId10" Type="http://schemas.openxmlformats.org/officeDocument/2006/relationships/vmlDrawing" Target="../drawings/vmlDrawing17.vml"/><Relationship Id="rId1" Type="http://schemas.openxmlformats.org/officeDocument/2006/relationships/oleObject" Target="../embeddings/oleObject63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1.w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70.wmf"/><Relationship Id="rId1" Type="http://schemas.openxmlformats.org/officeDocument/2006/relationships/oleObject" Target="../embeddings/oleObject67.bin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3.wmf"/><Relationship Id="rId1" Type="http://schemas.openxmlformats.org/officeDocument/2006/relationships/oleObject" Target="../embeddings/oleObject70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64.wmf"/><Relationship Id="rId13" Type="http://schemas.openxmlformats.org/officeDocument/2006/relationships/notesSlide" Target="../notesSlides/notesSlide24.xml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71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78.wmf"/><Relationship Id="rId17" Type="http://schemas.openxmlformats.org/officeDocument/2006/relationships/notesSlide" Target="../notesSlides/notesSlide25.xml"/><Relationship Id="rId16" Type="http://schemas.openxmlformats.org/officeDocument/2006/relationships/vmlDrawing" Target="../drawings/vmlDrawing21.v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84.wmf"/><Relationship Id="rId13" Type="http://schemas.openxmlformats.org/officeDocument/2006/relationships/oleObject" Target="../embeddings/oleObject82.bin"/><Relationship Id="rId12" Type="http://schemas.openxmlformats.org/officeDocument/2006/relationships/image" Target="../media/image83.wmf"/><Relationship Id="rId11" Type="http://schemas.openxmlformats.org/officeDocument/2006/relationships/oleObject" Target="../embeddings/oleObject81.bin"/><Relationship Id="rId10" Type="http://schemas.openxmlformats.org/officeDocument/2006/relationships/image" Target="../media/image82.wmf"/><Relationship Id="rId1" Type="http://schemas.openxmlformats.org/officeDocument/2006/relationships/oleObject" Target="../embeddings/oleObject76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88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6.w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85.wmf"/><Relationship Id="rId19" Type="http://schemas.openxmlformats.org/officeDocument/2006/relationships/notesSlide" Target="../notesSlides/notesSlide26.xml"/><Relationship Id="rId18" Type="http://schemas.openxmlformats.org/officeDocument/2006/relationships/vmlDrawing" Target="../drawings/vmlDrawing22.v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92.wmf"/><Relationship Id="rId15" Type="http://schemas.openxmlformats.org/officeDocument/2006/relationships/oleObject" Target="../embeddings/oleObject90.bin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89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89.wmf"/><Relationship Id="rId1" Type="http://schemas.openxmlformats.org/officeDocument/2006/relationships/oleObject" Target="../embeddings/oleObject83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5.bin"/><Relationship Id="rId8" Type="http://schemas.openxmlformats.org/officeDocument/2006/relationships/image" Target="../media/image96.wmf"/><Relationship Id="rId7" Type="http://schemas.openxmlformats.org/officeDocument/2006/relationships/oleObject" Target="../embeddings/oleObject94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93.wmf"/><Relationship Id="rId13" Type="http://schemas.openxmlformats.org/officeDocument/2006/relationships/notesSlide" Target="../notesSlides/notesSlide27.xml"/><Relationship Id="rId12" Type="http://schemas.openxmlformats.org/officeDocument/2006/relationships/vmlDrawing" Target="../drawings/vmlDrawing23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91.bin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9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98.wmf"/><Relationship Id="rId1" Type="http://schemas.openxmlformats.org/officeDocument/2006/relationships/oleObject" Target="../embeddings/oleObject96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103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100.wmf"/><Relationship Id="rId13" Type="http://schemas.openxmlformats.org/officeDocument/2006/relationships/notesSlide" Target="../notesSlides/notesSlide29.xml"/><Relationship Id="rId12" Type="http://schemas.openxmlformats.org/officeDocument/2006/relationships/vmlDrawing" Target="../drawings/vmlDrawing25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4.wmf"/><Relationship Id="rId1" Type="http://schemas.openxmlformats.org/officeDocument/2006/relationships/oleObject" Target="../embeddings/oleObject98.bin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06.wmf"/><Relationship Id="rId3" Type="http://schemas.openxmlformats.org/officeDocument/2006/relationships/oleObject" Target="../embeddings/oleObject104.bin"/><Relationship Id="rId2" Type="http://schemas.openxmlformats.org/officeDocument/2006/relationships/image" Target="../media/image105.wmf"/><Relationship Id="rId1" Type="http://schemas.openxmlformats.org/officeDocument/2006/relationships/oleObject" Target="../embeddings/oleObject103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9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08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07.wmf"/><Relationship Id="rId11" Type="http://schemas.openxmlformats.org/officeDocument/2006/relationships/notesSlide" Target="../notesSlides/notesSlide31.xml"/><Relationship Id="rId10" Type="http://schemas.openxmlformats.org/officeDocument/2006/relationships/vmlDrawing" Target="../drawings/vmlDrawing27.vml"/><Relationship Id="rId1" Type="http://schemas.openxmlformats.org/officeDocument/2006/relationships/oleObject" Target="../embeddings/oleObject105.bin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0.wmf"/><Relationship Id="rId1" Type="http://schemas.openxmlformats.org/officeDocument/2006/relationships/oleObject" Target="../embeddings/oleObject10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vmlDrawing" Target="../drawings/vmlDrawing29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3.png"/><Relationship Id="rId4" Type="http://schemas.openxmlformats.org/officeDocument/2006/relationships/image" Target="../media/image112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111.wmf"/><Relationship Id="rId1" Type="http://schemas.openxmlformats.org/officeDocument/2006/relationships/oleObject" Target="../embeddings/oleObject110.bin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vmlDrawing" Target="../drawings/vmlDrawing30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5.png"/><Relationship Id="rId2" Type="http://schemas.openxmlformats.org/officeDocument/2006/relationships/image" Target="../media/image114.wmf"/><Relationship Id="rId1" Type="http://schemas.openxmlformats.org/officeDocument/2006/relationships/oleObject" Target="../embeddings/oleObject112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14.bin"/><Relationship Id="rId2" Type="http://schemas.openxmlformats.org/officeDocument/2006/relationships/image" Target="../media/image116.wmf"/><Relationship Id="rId11" Type="http://schemas.openxmlformats.org/officeDocument/2006/relationships/notesSlide" Target="../notesSlides/notesSlide37.xml"/><Relationship Id="rId10" Type="http://schemas.openxmlformats.org/officeDocument/2006/relationships/vmlDrawing" Target="../drawings/vmlDrawing31.vml"/><Relationship Id="rId1" Type="http://schemas.openxmlformats.org/officeDocument/2006/relationships/oleObject" Target="../embeddings/oleObject113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123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21.w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20.wmf"/><Relationship Id="rId13" Type="http://schemas.openxmlformats.org/officeDocument/2006/relationships/notesSlide" Target="../notesSlides/notesSlide38.xml"/><Relationship Id="rId12" Type="http://schemas.openxmlformats.org/officeDocument/2006/relationships/vmlDrawing" Target="../drawings/vmlDrawing32.vml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124.wmf"/><Relationship Id="rId1" Type="http://schemas.openxmlformats.org/officeDocument/2006/relationships/oleObject" Target="../embeddings/oleObject117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9.xml"/><Relationship Id="rId8" Type="http://schemas.openxmlformats.org/officeDocument/2006/relationships/vmlDrawing" Target="../drawings/vmlDrawing33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26.wmf"/><Relationship Id="rId3" Type="http://schemas.openxmlformats.org/officeDocument/2006/relationships/oleObject" Target="../embeddings/oleObject123.bin"/><Relationship Id="rId2" Type="http://schemas.openxmlformats.org/officeDocument/2006/relationships/image" Target="../media/image125.wmf"/><Relationship Id="rId1" Type="http://schemas.openxmlformats.org/officeDocument/2006/relationships/oleObject" Target="../embeddings/oleObject122.bin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vmlDrawing" Target="../drawings/vmlDrawing34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8.wmf"/><Relationship Id="rId1" Type="http://schemas.openxmlformats.org/officeDocument/2006/relationships/oleObject" Target="../embeddings/oleObject125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30.w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129.wmf"/><Relationship Id="rId11" Type="http://schemas.openxmlformats.org/officeDocument/2006/relationships/notesSlide" Target="../notesSlides/notesSlide41.xml"/><Relationship Id="rId10" Type="http://schemas.openxmlformats.org/officeDocument/2006/relationships/vmlDrawing" Target="../drawings/vmlDrawing35.vml"/><Relationship Id="rId1" Type="http://schemas.openxmlformats.org/officeDocument/2006/relationships/oleObject" Target="../embeddings/oleObject126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4.bin"/><Relationship Id="rId8" Type="http://schemas.openxmlformats.org/officeDocument/2006/relationships/image" Target="../media/image136.wmf"/><Relationship Id="rId7" Type="http://schemas.openxmlformats.org/officeDocument/2006/relationships/oleObject" Target="../embeddings/oleObject133.bin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31.bin"/><Relationship Id="rId2" Type="http://schemas.openxmlformats.org/officeDocument/2006/relationships/image" Target="../media/image133.wmf"/><Relationship Id="rId13" Type="http://schemas.openxmlformats.org/officeDocument/2006/relationships/notesSlide" Target="../notesSlides/notesSlide42.xml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137.wmf"/><Relationship Id="rId1" Type="http://schemas.openxmlformats.org/officeDocument/2006/relationships/oleObject" Target="../embeddings/oleObject130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41.wmf"/><Relationship Id="rId7" Type="http://schemas.openxmlformats.org/officeDocument/2006/relationships/oleObject" Target="../embeddings/oleObject138.bin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39.wmf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138.wmf"/><Relationship Id="rId11" Type="http://schemas.openxmlformats.org/officeDocument/2006/relationships/notesSlide" Target="../notesSlides/notesSlide43.xml"/><Relationship Id="rId10" Type="http://schemas.openxmlformats.org/officeDocument/2006/relationships/vmlDrawing" Target="../drawings/vmlDrawing37.vml"/><Relationship Id="rId1" Type="http://schemas.openxmlformats.org/officeDocument/2006/relationships/oleObject" Target="../embeddings/oleObject135.bin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2.wmf"/><Relationship Id="rId1" Type="http://schemas.openxmlformats.org/officeDocument/2006/relationships/oleObject" Target="../embeddings/oleObject13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标题 1"/>
          <p:cNvSpPr>
            <a:spLocks noGrp="1"/>
          </p:cNvSpPr>
          <p:nvPr>
            <p:ph type="ctrTitle"/>
          </p:nvPr>
        </p:nvSpPr>
        <p:spPr>
          <a:xfrm>
            <a:off x="1371600" y="1052513"/>
            <a:ext cx="6584950" cy="1371600"/>
          </a:xfrm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zh-CN" altLang="en-US" sz="7600" b="1" dirty="0">
                <a:latin typeface="+mj-lt"/>
                <a:ea typeface="+mj-ea"/>
                <a:cs typeface="+mj-cs"/>
              </a:rPr>
              <a:t>第</a:t>
            </a:r>
            <a:r>
              <a:rPr lang="en-US" altLang="zh-CN" sz="7600" b="1" dirty="0">
                <a:latin typeface="+mj-lt"/>
                <a:ea typeface="+mj-ea"/>
                <a:cs typeface="+mj-cs"/>
              </a:rPr>
              <a:t>3</a:t>
            </a:r>
            <a:r>
              <a:rPr lang="zh-CN" altLang="en-US" sz="7600" b="1" dirty="0">
                <a:latin typeface="+mj-lt"/>
                <a:ea typeface="+mj-ea"/>
                <a:cs typeface="+mj-cs"/>
              </a:rPr>
              <a:t>章 </a:t>
            </a:r>
            <a:endParaRPr lang="zh-CN" altLang="en-US" sz="7600" dirty="0">
              <a:latin typeface="+mj-lt"/>
              <a:ea typeface="+mj-ea"/>
              <a:cs typeface="+mj-cs"/>
            </a:endParaRPr>
          </a:p>
        </p:txBody>
      </p:sp>
      <p:sp>
        <p:nvSpPr>
          <p:cNvPr id="3075" name="副标题 2"/>
          <p:cNvSpPr>
            <a:spLocks noGrp="1"/>
          </p:cNvSpPr>
          <p:nvPr>
            <p:ph type="subTitle" idx="1"/>
          </p:nvPr>
        </p:nvSpPr>
        <p:spPr>
          <a:xfrm>
            <a:off x="684213" y="3213100"/>
            <a:ext cx="8208963" cy="1600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5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逻辑函数运算规则及化简 </a:t>
            </a:r>
            <a:endParaRPr kumimoji="0" lang="zh-CN" altLang="en-US" sz="54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课程安排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本节课程性质：理论课程</a:t>
            </a:r>
            <a:endParaRPr kumimoji="0" lang="zh-CN" altLang="en-US" sz="3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课时安排：8课时</a:t>
            </a:r>
            <a:endParaRPr kumimoji="0" lang="zh-CN" altLang="en-US" sz="3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zh-CN" altLang="en-US" sz="3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教学总体目标</a:t>
            </a:r>
            <a:endParaRPr lang="zh-CN" altLang="en-US" dirty="0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0" y="1752600"/>
            <a:ext cx="9144000" cy="42481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理解和掌握逻辑代数的基本概念、公式和定理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熟练和掌握逻辑函数的公式化简化法和图形简化法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掌握几种常用逻辑函数的表示方法及其相互之间的转换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理解最小项的含义和特点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约束项的含义和含有约束项逻辑函数的化简方法</a:t>
            </a:r>
            <a:endParaRPr kumimoji="0" lang="zh-CN" alt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zh-CN" alt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教学能力目标</a:t>
            </a:r>
            <a:endParaRPr lang="zh-CN" altLang="en-US" dirty="0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锻炼学生思考能力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锻炼阅读、听讲能力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锻炼语言表达能力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锻炼逻辑函数与真值表的转换能力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锻炼逻辑函数的简化能力</a:t>
            </a:r>
            <a:endParaRPr kumimoji="0" lang="zh-CN" alt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zh-CN" alt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教学素质目标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守时习惯，不迟到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爱国敬业、尊敬师长、尊重同学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礼貌得体、态度端正</a:t>
            </a:r>
            <a:endParaRPr kumimoji="0" lang="zh-CN" alt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学习积极、认真听讲、克服困难</a:t>
            </a:r>
            <a:endParaRPr kumimoji="0" lang="en-US" altLang="zh-CN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 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准守纪律、不玩手机、不说话、不睡觉、不穿拖鞋</a:t>
            </a: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zh-CN" alt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教学知识目标</a:t>
            </a:r>
            <a:endParaRPr lang="zh-CN" altLang="en-US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重点：逻辑函数的表示方法、表示方法之间的转换、逻辑代数的公式和定理、卡诺图的结构</a:t>
            </a:r>
            <a:endParaRPr kumimoji="0" lang="en-US" altLang="zh-CN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en-US" altLang="zh-CN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难点：逻辑函数的特殊定律、逻辑代数的代数化</a:t>
            </a:r>
            <a:r>
              <a:rPr kumimoji="0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简法、最小项、卡诺图的化简、具有约束项的逻辑函数化简</a:t>
            </a:r>
            <a:endParaRPr kumimoji="0" lang="zh-CN" alt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sz="3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400" b="1" dirty="0"/>
              <a:t>3.1  </a:t>
            </a:r>
            <a:r>
              <a:rPr lang="zh-CN" altLang="en-US" sz="4400" b="1" dirty="0"/>
              <a:t>概 述 </a:t>
            </a:r>
            <a:endParaRPr lang="zh-CN" altLang="en-US" sz="4400" b="1" dirty="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539750" y="1773238"/>
            <a:ext cx="7886700" cy="192087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逻辑函数的表示方法如下：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  设输入逻辑变量为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，输出逻辑变量为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2000" b="1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当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的取值确定后，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的值就被唯一的确定下来，则称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的逻辑函数，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记为：</a:t>
            </a:r>
            <a:endParaRPr kumimoji="0" lang="zh-CN" altLang="en-US" sz="2000" b="1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           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F=f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4"/>
          <p:cNvSpPr/>
          <p:nvPr/>
        </p:nvSpPr>
        <p:spPr>
          <a:xfrm>
            <a:off x="179388" y="37893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102" name="Text Box 6"/>
          <p:cNvSpPr txBox="1"/>
          <p:nvPr/>
        </p:nvSpPr>
        <p:spPr>
          <a:xfrm>
            <a:off x="684213" y="3860800"/>
            <a:ext cx="72009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逻辑变量和逻辑函数的取值只能是</a:t>
            </a:r>
            <a:r>
              <a:rPr lang="en-US" altLang="zh-CN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0</a:t>
            </a:r>
            <a:r>
              <a:rPr lang="zh-CN" altLang="en-US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或</a:t>
            </a:r>
            <a:r>
              <a:rPr lang="en-US" altLang="zh-CN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，没有其它中间值。</a:t>
            </a:r>
            <a:r>
              <a:rPr lang="zh-CN" altLang="en-US" sz="2000" dirty="0">
                <a:solidFill>
                  <a:srgbClr val="000066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000066"/>
              </a:solidFill>
              <a:latin typeface="Verdana" panose="020B0604030504040204" pitchFamily="34" charset="0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1835150" y="4581525"/>
            <a:ext cx="5254625" cy="1239838"/>
            <a:chOff x="431" y="3113"/>
            <a:chExt cx="3310" cy="781"/>
          </a:xfrm>
        </p:grpSpPr>
        <p:sp>
          <p:nvSpPr>
            <p:cNvPr id="48135" name="Oval 7"/>
            <p:cNvSpPr/>
            <p:nvPr/>
          </p:nvSpPr>
          <p:spPr>
            <a:xfrm>
              <a:off x="431" y="3203"/>
              <a:ext cx="953" cy="499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Verdana" panose="020B0604030504040204" pitchFamily="34" charset="0"/>
                </a:rPr>
                <a:t>逻辑函数 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48136" name="Text Box 10"/>
            <p:cNvSpPr txBox="1"/>
            <p:nvPr/>
          </p:nvSpPr>
          <p:spPr>
            <a:xfrm>
              <a:off x="1565" y="3113"/>
              <a:ext cx="635" cy="256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Verdana" panose="020B0604030504040204" pitchFamily="34" charset="0"/>
                </a:rPr>
                <a:t>真值表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48137" name="Text Box 11"/>
            <p:cNvSpPr txBox="1"/>
            <p:nvPr/>
          </p:nvSpPr>
          <p:spPr>
            <a:xfrm>
              <a:off x="2290" y="3203"/>
              <a:ext cx="952" cy="237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Verdana" panose="020B0604030504040204" pitchFamily="34" charset="0"/>
                </a:rPr>
                <a:t>逻辑表达式</a:t>
              </a:r>
              <a:endParaRPr lang="zh-CN" altLang="en-US" b="1" dirty="0">
                <a:latin typeface="Verdana" panose="020B0604030504040204" pitchFamily="34" charset="0"/>
              </a:endParaRPr>
            </a:p>
          </p:txBody>
        </p:sp>
        <p:sp>
          <p:nvSpPr>
            <p:cNvPr id="48138" name="Text Box 12"/>
            <p:cNvSpPr txBox="1"/>
            <p:nvPr/>
          </p:nvSpPr>
          <p:spPr>
            <a:xfrm>
              <a:off x="3152" y="3430"/>
              <a:ext cx="589" cy="237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Verdana" panose="020B0604030504040204" pitchFamily="34" charset="0"/>
                </a:rPr>
                <a:t>逻辑图</a:t>
              </a:r>
              <a:endParaRPr lang="zh-CN" altLang="en-US" b="1" dirty="0">
                <a:latin typeface="Verdana" panose="020B0604030504040204" pitchFamily="34" charset="0"/>
              </a:endParaRPr>
            </a:p>
          </p:txBody>
        </p:sp>
        <p:sp>
          <p:nvSpPr>
            <p:cNvPr id="48139" name="Text Box 13"/>
            <p:cNvSpPr txBox="1"/>
            <p:nvPr/>
          </p:nvSpPr>
          <p:spPr>
            <a:xfrm>
              <a:off x="1565" y="3657"/>
              <a:ext cx="1225" cy="237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Verdana" panose="020B0604030504040204" pitchFamily="34" charset="0"/>
                </a:rPr>
                <a:t>波形图和卡诺图</a:t>
              </a:r>
              <a:endParaRPr lang="zh-CN" altLang="en-US" b="1" dirty="0">
                <a:latin typeface="Verdana" panose="020B0604030504040204" pitchFamily="34" charset="0"/>
              </a:endParaRPr>
            </a:p>
          </p:txBody>
        </p:sp>
        <p:sp>
          <p:nvSpPr>
            <p:cNvPr id="48140" name="Line 14"/>
            <p:cNvSpPr/>
            <p:nvPr/>
          </p:nvSpPr>
          <p:spPr>
            <a:xfrm flipV="1">
              <a:off x="1383" y="3339"/>
              <a:ext cx="182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1" name="Line 16"/>
            <p:cNvSpPr/>
            <p:nvPr/>
          </p:nvSpPr>
          <p:spPr>
            <a:xfrm flipV="1">
              <a:off x="1383" y="3385"/>
              <a:ext cx="907" cy="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2" name="Line 17"/>
            <p:cNvSpPr/>
            <p:nvPr/>
          </p:nvSpPr>
          <p:spPr>
            <a:xfrm>
              <a:off x="1383" y="3475"/>
              <a:ext cx="1769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3" name="Line 18"/>
            <p:cNvSpPr/>
            <p:nvPr/>
          </p:nvSpPr>
          <p:spPr>
            <a:xfrm>
              <a:off x="1383" y="3475"/>
              <a:ext cx="318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400" b="1" dirty="0"/>
              <a:t>3.2 </a:t>
            </a:r>
            <a:r>
              <a:rPr lang="zh-CN" altLang="en-US" sz="4400" b="1" dirty="0"/>
              <a:t>逻辑代数的运算规则</a:t>
            </a:r>
            <a:r>
              <a:rPr lang="zh-CN" altLang="en-US" sz="4400" dirty="0"/>
              <a:t> </a:t>
            </a:r>
            <a:endParaRPr lang="zh-CN" altLang="en-US" sz="4400" dirty="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11188" y="1844675"/>
            <a:ext cx="4319588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3.2.1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逻辑代数基本公理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17"/>
          <p:cNvSpPr/>
          <p:nvPr/>
        </p:nvSpPr>
        <p:spPr>
          <a:xfrm>
            <a:off x="0" y="3352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35" name="Rectangle 19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36" name="Rectangle 21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37" name="Rectangle 23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38" name="Rectangle 25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1039" name="Group 28"/>
          <p:cNvGrpSpPr/>
          <p:nvPr/>
        </p:nvGrpSpPr>
        <p:grpSpPr>
          <a:xfrm>
            <a:off x="611188" y="2349500"/>
            <a:ext cx="8064500" cy="3792538"/>
            <a:chOff x="385" y="1480"/>
            <a:chExt cx="5080" cy="2389"/>
          </a:xfrm>
        </p:grpSpPr>
        <p:sp>
          <p:nvSpPr>
            <p:cNvPr id="1040" name="Text Box 5"/>
            <p:cNvSpPr txBox="1"/>
            <p:nvPr/>
          </p:nvSpPr>
          <p:spPr>
            <a:xfrm>
              <a:off x="385" y="1480"/>
              <a:ext cx="5080" cy="23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公理</a:t>
              </a:r>
              <a:r>
                <a:rPr lang="en-US" altLang="zh-CN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1</a:t>
              </a:r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：</a:t>
              </a:r>
              <a:endPara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latin typeface="Verdana" panose="020B0604030504040204" pitchFamily="34" charset="0"/>
                </a:rPr>
                <a:t>     设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A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为逻辑变量，若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A≠0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，则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A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＝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；若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A≠1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，则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A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＝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0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。这个公理决定了逻辑变量的双值性。在逻辑变量和逻辑函数中的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0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和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，不是数值的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0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和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，而是代表两种逻辑状态。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公理</a:t>
              </a:r>
              <a:r>
                <a:rPr lang="en-US" altLang="zh-CN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2</a:t>
              </a:r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：</a:t>
              </a:r>
              <a:endPara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latin typeface="Verdana" panose="020B0604030504040204" pitchFamily="34" charset="0"/>
                </a:rPr>
                <a:t>                                         。式中点表示逻辑与，在用文字表述时常省略；加号表示逻辑或。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公理</a:t>
              </a:r>
              <a:r>
                <a:rPr lang="en-US" altLang="zh-CN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3</a:t>
              </a:r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：</a:t>
              </a:r>
              <a:endPara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latin typeface="Verdana" panose="020B0604030504040204" pitchFamily="34" charset="0"/>
                </a:rPr>
                <a:t>                                           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公理</a:t>
              </a:r>
              <a:r>
                <a:rPr lang="en-US" altLang="zh-CN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4</a:t>
              </a:r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：</a:t>
              </a:r>
              <a:endPara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latin typeface="Verdana" panose="020B0604030504040204" pitchFamily="34" charset="0"/>
                </a:rPr>
                <a:t>                                           。                            </a:t>
              </a:r>
              <a:r>
                <a:rPr lang="zh-CN" altLang="en-US" b="1" dirty="0">
                  <a:latin typeface="Verdana" panose="020B0604030504040204" pitchFamily="34" charset="0"/>
                </a:rPr>
                <a:t>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公理</a:t>
              </a:r>
              <a:r>
                <a:rPr lang="en-US" altLang="zh-CN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5</a:t>
              </a:r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：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               ；           。 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1026" name="Object 16"/>
            <p:cNvGraphicFramePr/>
            <p:nvPr/>
          </p:nvGraphicFramePr>
          <p:xfrm>
            <a:off x="1292" y="2432"/>
            <a:ext cx="136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1180465" imgH="203200" progId="Equation.DSMT4">
                    <p:embed/>
                  </p:oleObj>
                </mc:Choice>
                <mc:Fallback>
                  <p:oleObj name="" r:id="rId1" imgW="1180465" imgH="203200" progId="Equation.DSMT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92" y="2432"/>
                          <a:ext cx="1361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" name="Object 18"/>
            <p:cNvGraphicFramePr/>
            <p:nvPr/>
          </p:nvGraphicFramePr>
          <p:xfrm>
            <a:off x="1292" y="3022"/>
            <a:ext cx="138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3" imgW="1180465" imgH="203200" progId="Equation.DSMT4">
                    <p:embed/>
                  </p:oleObj>
                </mc:Choice>
                <mc:Fallback>
                  <p:oleObj name="" r:id="rId3" imgW="1180465" imgH="2032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92" y="3022"/>
                          <a:ext cx="1383" cy="2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" name="Object 20"/>
            <p:cNvGraphicFramePr/>
            <p:nvPr/>
          </p:nvGraphicFramePr>
          <p:xfrm>
            <a:off x="1292" y="3385"/>
            <a:ext cx="145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5" imgW="1180465" imgH="203200" progId="Equation.DSMT4">
                    <p:embed/>
                  </p:oleObj>
                </mc:Choice>
                <mc:Fallback>
                  <p:oleObj name="" r:id="rId5" imgW="1180465" imgH="203200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92" y="3385"/>
                          <a:ext cx="1452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" name="Object 22"/>
            <p:cNvGraphicFramePr/>
            <p:nvPr/>
          </p:nvGraphicFramePr>
          <p:xfrm>
            <a:off x="3016" y="3385"/>
            <a:ext cx="138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7" imgW="1180465" imgH="203200" progId="Equation.DSMT4">
                    <p:embed/>
                  </p:oleObj>
                </mc:Choice>
                <mc:Fallback>
                  <p:oleObj name="" r:id="rId7" imgW="1180465" imgH="203200" progId="Equation.DSMT4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16" y="3385"/>
                          <a:ext cx="1383" cy="2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0" name="Object 24"/>
            <p:cNvGraphicFramePr/>
            <p:nvPr/>
          </p:nvGraphicFramePr>
          <p:xfrm>
            <a:off x="1292" y="3612"/>
            <a:ext cx="40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9" imgW="316865" imgH="215900" progId="Equation.DSMT4">
                    <p:embed/>
                  </p:oleObj>
                </mc:Choice>
                <mc:Fallback>
                  <p:oleObj name="" r:id="rId9" imgW="316865" imgH="215900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92" y="3612"/>
                          <a:ext cx="409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1" name="Object 26"/>
            <p:cNvGraphicFramePr/>
            <p:nvPr/>
          </p:nvGraphicFramePr>
          <p:xfrm>
            <a:off x="2154" y="3612"/>
            <a:ext cx="38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1" imgW="316865" imgH="215900" progId="Equation.DSMT4">
                    <p:embed/>
                  </p:oleObj>
                </mc:Choice>
                <mc:Fallback>
                  <p:oleObj name="" r:id="rId11" imgW="316865" imgH="215900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54" y="3612"/>
                          <a:ext cx="385" cy="2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539750" y="549275"/>
            <a:ext cx="4319588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3.2.2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逻辑代数的基本定律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25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59" name="Rectangle 27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60" name="Rectangle 29"/>
          <p:cNvSpPr/>
          <p:nvPr/>
        </p:nvSpPr>
        <p:spPr>
          <a:xfrm>
            <a:off x="0" y="3352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61" name="Rectangle 31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062" name="Group 32"/>
          <p:cNvGrpSpPr/>
          <p:nvPr/>
        </p:nvGrpSpPr>
        <p:grpSpPr>
          <a:xfrm>
            <a:off x="468313" y="2060575"/>
            <a:ext cx="8137525" cy="2659063"/>
            <a:chOff x="385" y="1616"/>
            <a:chExt cx="5126" cy="1675"/>
          </a:xfrm>
        </p:grpSpPr>
        <p:sp>
          <p:nvSpPr>
            <p:cNvPr id="2064" name="Text Box 17"/>
            <p:cNvSpPr txBox="1"/>
            <p:nvPr/>
          </p:nvSpPr>
          <p:spPr>
            <a:xfrm>
              <a:off x="385" y="1616"/>
              <a:ext cx="5126" cy="16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（</a:t>
              </a:r>
              <a:r>
                <a:rPr lang="en-US" altLang="zh-CN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1</a:t>
              </a:r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）</a:t>
              </a:r>
              <a:r>
                <a:rPr lang="en-US" altLang="zh-CN" sz="2400" b="1" dirty="0">
                  <a:latin typeface="Verdana" panose="020B0604030504040204" pitchFamily="34" charset="0"/>
                </a:rPr>
                <a:t>0-1</a:t>
              </a:r>
              <a:r>
                <a:rPr lang="zh-CN" altLang="en-US" sz="2400" b="1" dirty="0">
                  <a:latin typeface="Verdana" panose="020B0604030504040204" pitchFamily="34" charset="0"/>
                </a:rPr>
                <a:t>律：                            。</a:t>
              </a:r>
              <a:endParaRPr lang="zh-CN" altLang="en-US" sz="2400" b="1" dirty="0">
                <a:latin typeface="Verdana" panose="020B0604030504040204" pitchFamily="34" charset="0"/>
              </a:endParaRPr>
            </a:p>
            <a:p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（</a:t>
              </a:r>
              <a:r>
                <a:rPr lang="en-US" altLang="zh-CN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2</a:t>
              </a:r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）</a:t>
              </a:r>
              <a:r>
                <a:rPr lang="zh-CN" altLang="en-US" sz="2400" b="1" dirty="0">
                  <a:latin typeface="Verdana" panose="020B0604030504040204" pitchFamily="34" charset="0"/>
                </a:rPr>
                <a:t>自等律：                            。</a:t>
              </a:r>
              <a:endParaRPr lang="zh-CN" altLang="en-US" sz="2400" b="1" dirty="0">
                <a:latin typeface="Verdana" panose="020B0604030504040204" pitchFamily="34" charset="0"/>
              </a:endParaRPr>
            </a:p>
            <a:p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（</a:t>
              </a:r>
              <a:r>
                <a:rPr lang="en-US" altLang="zh-CN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3</a:t>
              </a:r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）</a:t>
              </a:r>
              <a:r>
                <a:rPr lang="zh-CN" altLang="en-US" sz="2400" b="1" dirty="0">
                  <a:latin typeface="Verdana" panose="020B0604030504040204" pitchFamily="34" charset="0"/>
                </a:rPr>
                <a:t>重叠律：                            。</a:t>
              </a:r>
              <a:endParaRPr lang="zh-CN" altLang="en-US" sz="2400" b="1" dirty="0">
                <a:latin typeface="Verdana" panose="020B0604030504040204" pitchFamily="34" charset="0"/>
              </a:endParaRPr>
            </a:p>
            <a:p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（</a:t>
              </a:r>
              <a:r>
                <a:rPr lang="en-US" altLang="zh-CN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4</a:t>
              </a:r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）</a:t>
              </a:r>
              <a:r>
                <a:rPr lang="zh-CN" altLang="en-US" sz="2400" b="1" dirty="0">
                  <a:latin typeface="Verdana" panose="020B0604030504040204" pitchFamily="34" charset="0"/>
                </a:rPr>
                <a:t>互补律：                            。</a:t>
              </a:r>
              <a:endParaRPr lang="zh-CN" altLang="en-US" sz="2400" b="1" dirty="0">
                <a:latin typeface="Verdana" panose="020B0604030504040204" pitchFamily="34" charset="0"/>
              </a:endParaRPr>
            </a:p>
            <a:p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（</a:t>
              </a:r>
              <a:r>
                <a:rPr lang="en-US" altLang="zh-CN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5</a:t>
              </a:r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）</a:t>
              </a:r>
              <a:r>
                <a:rPr lang="zh-CN" altLang="en-US" sz="2400" b="1" dirty="0">
                  <a:latin typeface="Verdana" panose="020B0604030504040204" pitchFamily="34" charset="0"/>
                </a:rPr>
                <a:t>还原律：          。</a:t>
              </a:r>
              <a:endParaRPr lang="zh-CN" altLang="en-US" sz="2400" b="1" dirty="0">
                <a:latin typeface="Verdana" panose="020B0604030504040204" pitchFamily="34" charset="0"/>
              </a:endParaRPr>
            </a:p>
            <a:p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（</a:t>
              </a:r>
              <a:r>
                <a:rPr lang="en-US" altLang="zh-CN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6</a:t>
              </a:r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）</a:t>
              </a:r>
              <a:r>
                <a:rPr lang="zh-CN" altLang="en-US" sz="2400" b="1" dirty="0">
                  <a:latin typeface="Verdana" panose="020B0604030504040204" pitchFamily="34" charset="0"/>
                </a:rPr>
                <a:t>交换律：                                      。</a:t>
              </a:r>
              <a:endParaRPr lang="zh-CN" altLang="en-US" sz="2400" b="1" dirty="0">
                <a:latin typeface="Verdana" panose="020B0604030504040204" pitchFamily="34" charset="0"/>
              </a:endParaRPr>
            </a:p>
            <a:p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（</a:t>
              </a:r>
              <a:r>
                <a:rPr lang="en-US" altLang="zh-CN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7</a:t>
              </a:r>
              <a:r>
                <a:rPr lang="zh-CN" altLang="en-US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）</a:t>
              </a:r>
              <a:r>
                <a:rPr lang="zh-CN" altLang="en-US" sz="2400" b="1" dirty="0">
                  <a:latin typeface="Verdana" panose="020B0604030504040204" pitchFamily="34" charset="0"/>
                </a:rPr>
                <a:t>结合律：                                                     。 </a:t>
              </a:r>
              <a:endParaRPr lang="zh-CN" altLang="en-US" sz="2400" b="1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2050" name="Object 18"/>
            <p:cNvGraphicFramePr/>
            <p:nvPr/>
          </p:nvGraphicFramePr>
          <p:xfrm>
            <a:off x="1882" y="1661"/>
            <a:ext cx="1452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" imgW="1256665" imgH="203200" progId="Equation.DSMT4">
                    <p:embed/>
                  </p:oleObj>
                </mc:Choice>
                <mc:Fallback>
                  <p:oleObj name="" r:id="rId1" imgW="1256665" imgH="2032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82" y="1661"/>
                          <a:ext cx="1452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" name="Object 20"/>
            <p:cNvGraphicFramePr/>
            <p:nvPr/>
          </p:nvGraphicFramePr>
          <p:xfrm>
            <a:off x="1882" y="1888"/>
            <a:ext cx="1497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3" imgW="1346200" imgH="203200" progId="Equation.DSMT4">
                    <p:embed/>
                  </p:oleObj>
                </mc:Choice>
                <mc:Fallback>
                  <p:oleObj name="" r:id="rId3" imgW="1346200" imgH="2032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82" y="1888"/>
                          <a:ext cx="1497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" name="Object 22"/>
            <p:cNvGraphicFramePr/>
            <p:nvPr/>
          </p:nvGraphicFramePr>
          <p:xfrm>
            <a:off x="1882" y="2069"/>
            <a:ext cx="1542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5" imgW="1371600" imgH="241300" progId="Equation.DSMT4">
                    <p:embed/>
                  </p:oleObj>
                </mc:Choice>
                <mc:Fallback>
                  <p:oleObj name="" r:id="rId5" imgW="1371600" imgH="241300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82" y="2069"/>
                          <a:ext cx="1542" cy="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" name="Object 24"/>
            <p:cNvGraphicFramePr/>
            <p:nvPr/>
          </p:nvGraphicFramePr>
          <p:xfrm>
            <a:off x="1882" y="2296"/>
            <a:ext cx="158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7" imgW="1346200" imgH="228600" progId="Equation.DSMT4">
                    <p:embed/>
                  </p:oleObj>
                </mc:Choice>
                <mc:Fallback>
                  <p:oleObj name="" r:id="rId7" imgW="1346200" imgH="2286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82" y="2296"/>
                          <a:ext cx="1587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" name="Object 26"/>
            <p:cNvGraphicFramePr/>
            <p:nvPr/>
          </p:nvGraphicFramePr>
          <p:xfrm>
            <a:off x="1882" y="2523"/>
            <a:ext cx="476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9" imgW="405765" imgH="215900" progId="Equation.DSMT4">
                    <p:embed/>
                  </p:oleObj>
                </mc:Choice>
                <mc:Fallback>
                  <p:oleObj name="" r:id="rId9" imgW="405765" imgH="2159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82" y="2523"/>
                          <a:ext cx="476" cy="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5" name="Object 28"/>
            <p:cNvGraphicFramePr/>
            <p:nvPr/>
          </p:nvGraphicFramePr>
          <p:xfrm>
            <a:off x="1882" y="2795"/>
            <a:ext cx="231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1" imgW="1841500" imgH="203200" progId="Equation.DSMT4">
                    <p:embed/>
                  </p:oleObj>
                </mc:Choice>
                <mc:Fallback>
                  <p:oleObj name="" r:id="rId11" imgW="1841500" imgH="203200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882" y="2795"/>
                          <a:ext cx="2313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6" name="Object 30"/>
            <p:cNvGraphicFramePr/>
            <p:nvPr/>
          </p:nvGraphicFramePr>
          <p:xfrm>
            <a:off x="1837" y="3067"/>
            <a:ext cx="3311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3" imgW="3124200" imgH="203200" progId="Equation.DSMT4">
                    <p:embed/>
                  </p:oleObj>
                </mc:Choice>
                <mc:Fallback>
                  <p:oleObj name="" r:id="rId13" imgW="3124200" imgH="2032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37" y="3067"/>
                          <a:ext cx="3311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45" name="Text Box 33"/>
          <p:cNvSpPr txBox="1"/>
          <p:nvPr/>
        </p:nvSpPr>
        <p:spPr>
          <a:xfrm>
            <a:off x="684213" y="5084763"/>
            <a:ext cx="7920037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      </a:t>
            </a:r>
            <a:r>
              <a:rPr lang="zh-CN" altLang="en-US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以上各定律均可用公理来证明，方法是将逻辑变量分别用</a:t>
            </a:r>
            <a:r>
              <a:rPr lang="en-US" altLang="zh-CN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0</a:t>
            </a:r>
            <a:r>
              <a:rPr lang="zh-CN" altLang="en-US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和</a:t>
            </a:r>
            <a:r>
              <a:rPr lang="en-US" altLang="zh-CN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代入，所得的表达式符合公理</a:t>
            </a:r>
            <a:r>
              <a:rPr lang="en-US" altLang="zh-CN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至公理</a:t>
            </a:r>
            <a:r>
              <a:rPr lang="en-US" altLang="zh-CN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5</a:t>
            </a:r>
            <a:r>
              <a:rPr lang="zh-CN" altLang="en-US" sz="2000" b="1" dirty="0">
                <a:solidFill>
                  <a:srgbClr val="000066"/>
                </a:solidFill>
                <a:latin typeface="Verdana" panose="020B0604030504040204" pitchFamily="34" charset="0"/>
              </a:rPr>
              <a:t>。 </a:t>
            </a:r>
            <a:endParaRPr lang="zh-CN" altLang="en-US" sz="2000" b="1" dirty="0">
              <a:solidFill>
                <a:srgbClr val="000066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755650" y="620713"/>
            <a:ext cx="4319588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3.2.2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逻辑代数的基本定律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Text Box 17"/>
          <p:cNvSpPr txBox="1"/>
          <p:nvPr/>
        </p:nvSpPr>
        <p:spPr>
          <a:xfrm>
            <a:off x="755650" y="2349500"/>
            <a:ext cx="7920038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（</a:t>
            </a:r>
            <a:r>
              <a:rPr lang="en-US" altLang="zh-CN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8</a:t>
            </a:r>
            <a:r>
              <a:rPr lang="zh-CN" altLang="en-U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分配律</a:t>
            </a:r>
            <a:r>
              <a:rPr lang="zh-CN" altLang="en-US" sz="2000" b="1" dirty="0">
                <a:solidFill>
                  <a:srgbClr val="FF0000"/>
                </a:solidFill>
                <a:latin typeface="Verdana" panose="020B0604030504040204" pitchFamily="34" charset="0"/>
              </a:rPr>
              <a:t>：</a:t>
            </a:r>
            <a:endParaRPr lang="zh-CN" altLang="en-US" sz="2000" b="1" dirty="0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Verdana" panose="020B0604030504040204" pitchFamily="34" charset="0"/>
              </a:rPr>
              <a:t>     加（逻辑或）对乘（逻辑与）的分配律证明如下：</a:t>
            </a:r>
            <a:r>
              <a:rPr lang="zh-CN" altLang="en-US" sz="2000" b="1" dirty="0">
                <a:latin typeface="Verdana" panose="020B0604030504040204" pitchFamily="34" charset="0"/>
              </a:rPr>
              <a:t>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3078" name="Rectangle 19"/>
          <p:cNvSpPr/>
          <p:nvPr/>
        </p:nvSpPr>
        <p:spPr>
          <a:xfrm>
            <a:off x="0" y="2933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15378" name="Object 18"/>
          <p:cNvGraphicFramePr/>
          <p:nvPr/>
        </p:nvGraphicFramePr>
        <p:xfrm>
          <a:off x="971550" y="3573463"/>
          <a:ext cx="7632700" cy="21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4114800" imgH="1168400" progId="Equation.DSMT4">
                  <p:embed/>
                </p:oleObj>
              </mc:Choice>
              <mc:Fallback>
                <p:oleObj name="" r:id="rId1" imgW="4114800" imgH="11684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3573463"/>
                        <a:ext cx="7632700" cy="218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20"/>
          <p:cNvGraphicFramePr/>
          <p:nvPr/>
        </p:nvGraphicFramePr>
        <p:xfrm>
          <a:off x="2843213" y="2420938"/>
          <a:ext cx="60848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3390900" imgH="203200" progId="Equation.DSMT4">
                  <p:embed/>
                </p:oleObj>
              </mc:Choice>
              <mc:Fallback>
                <p:oleObj name="" r:id="rId3" imgW="3390900" imgH="203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213" y="2420938"/>
                        <a:ext cx="6084887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84213" y="476250"/>
            <a:ext cx="4319588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3.2.2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逻辑代数的基本定律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4" name="Text Box 4"/>
          <p:cNvSpPr txBox="1"/>
          <p:nvPr/>
        </p:nvSpPr>
        <p:spPr>
          <a:xfrm>
            <a:off x="755650" y="2349500"/>
            <a:ext cx="7920038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（</a:t>
            </a:r>
            <a:r>
              <a:rPr lang="en-US" altLang="zh-CN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9</a:t>
            </a:r>
            <a:r>
              <a:rPr lang="zh-CN" altLang="en-U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）</a:t>
            </a:r>
            <a:r>
              <a:rPr lang="zh-CN" altLang="en-US" sz="2400" b="1" dirty="0">
                <a:latin typeface="Verdana" panose="020B0604030504040204" pitchFamily="34" charset="0"/>
              </a:rPr>
              <a:t>吸收律：</a:t>
            </a:r>
            <a:r>
              <a:rPr lang="zh-CN" altLang="en-US" dirty="0">
                <a:latin typeface="Verdana" panose="020B0604030504040204" pitchFamily="34" charset="0"/>
              </a:rPr>
              <a:t> </a:t>
            </a:r>
            <a:endParaRPr lang="zh-CN" altLang="en-US" dirty="0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Verdana" panose="020B0604030504040204" pitchFamily="34" charset="0"/>
              </a:rPr>
              <a:t>       证明：</a:t>
            </a:r>
            <a:r>
              <a:rPr lang="zh-CN" altLang="en-US" sz="2000" dirty="0">
                <a:latin typeface="Verdana" panose="020B0604030504040204" pitchFamily="34" charset="0"/>
              </a:rPr>
              <a:t> </a:t>
            </a:r>
            <a:endParaRPr lang="zh-CN" altLang="en-US" sz="2000" dirty="0">
              <a:latin typeface="Verdana" panose="020B0604030504040204" pitchFamily="34" charset="0"/>
            </a:endParaRPr>
          </a:p>
        </p:txBody>
      </p:sp>
      <p:sp>
        <p:nvSpPr>
          <p:cNvPr id="4105" name="Rectangle 5"/>
          <p:cNvSpPr/>
          <p:nvPr/>
        </p:nvSpPr>
        <p:spPr>
          <a:xfrm>
            <a:off x="0" y="2933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4098" name="Object 8"/>
          <p:cNvGraphicFramePr/>
          <p:nvPr/>
        </p:nvGraphicFramePr>
        <p:xfrm>
          <a:off x="3059113" y="2420938"/>
          <a:ext cx="3132137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739900" imgH="190500" progId="Equation.DSMT4">
                  <p:embed/>
                </p:oleObj>
              </mc:Choice>
              <mc:Fallback>
                <p:oleObj name="" r:id="rId1" imgW="1739900" imgH="1905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59113" y="2420938"/>
                        <a:ext cx="3132137" cy="350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0"/>
          <p:cNvGraphicFramePr/>
          <p:nvPr/>
        </p:nvGraphicFramePr>
        <p:xfrm>
          <a:off x="2411413" y="2924175"/>
          <a:ext cx="32766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764665" imgH="177800" progId="Equation.DSMT4">
                  <p:embed/>
                </p:oleObj>
              </mc:Choice>
              <mc:Fallback>
                <p:oleObj name="" r:id="rId3" imgW="1764665" imgH="177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413" y="2924175"/>
                        <a:ext cx="3276600" cy="325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12"/>
          <p:cNvGraphicFramePr/>
          <p:nvPr/>
        </p:nvGraphicFramePr>
        <p:xfrm>
          <a:off x="2339975" y="3357563"/>
          <a:ext cx="5256213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5" imgW="2844800" imgH="177800" progId="Equation.DSMT4">
                  <p:embed/>
                </p:oleObj>
              </mc:Choice>
              <mc:Fallback>
                <p:oleObj name="" r:id="rId5" imgW="2844800" imgH="1778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9975" y="3357563"/>
                        <a:ext cx="5256213" cy="32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Rectangle 16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107" name="Rectangle 18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827088" y="4149725"/>
            <a:ext cx="7920037" cy="1511300"/>
            <a:chOff x="521" y="2614"/>
            <a:chExt cx="4989" cy="952"/>
          </a:xfrm>
        </p:grpSpPr>
        <p:sp>
          <p:nvSpPr>
            <p:cNvPr id="4109" name="Text Box 14"/>
            <p:cNvSpPr txBox="1"/>
            <p:nvPr/>
          </p:nvSpPr>
          <p:spPr>
            <a:xfrm>
              <a:off x="521" y="2614"/>
              <a:ext cx="4989" cy="5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(10) </a:t>
              </a:r>
              <a:r>
                <a:rPr lang="zh-CN" altLang="en-US" sz="2400" b="1" dirty="0">
                  <a:latin typeface="Verdana" panose="020B0604030504040204" pitchFamily="34" charset="0"/>
                </a:rPr>
                <a:t>等同律：</a:t>
              </a:r>
              <a:r>
                <a:rPr lang="zh-CN" altLang="en-US" dirty="0">
                  <a:latin typeface="Verdana" panose="020B0604030504040204" pitchFamily="34" charset="0"/>
                </a:rPr>
                <a:t>  </a:t>
              </a:r>
              <a:endParaRPr lang="zh-CN" altLang="en-US" dirty="0">
                <a:latin typeface="Verdana" panose="020B060403050404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hlink"/>
                  </a:solidFill>
                  <a:latin typeface="Verdana" panose="020B0604030504040204" pitchFamily="34" charset="0"/>
                </a:rPr>
                <a:t>       证明：</a:t>
              </a:r>
              <a:r>
                <a:rPr lang="zh-CN" altLang="en-US" sz="2000" dirty="0">
                  <a:solidFill>
                    <a:schemeClr val="hlink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4101" name="Object 15"/>
            <p:cNvGraphicFramePr/>
            <p:nvPr/>
          </p:nvGraphicFramePr>
          <p:xfrm>
            <a:off x="1927" y="2614"/>
            <a:ext cx="247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7" imgW="2070100" imgH="228600" progId="Equation.DSMT4">
                    <p:embed/>
                  </p:oleObj>
                </mc:Choice>
                <mc:Fallback>
                  <p:oleObj name="" r:id="rId7" imgW="2070100" imgH="228600" progId="Equation.DSMT4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27" y="2614"/>
                          <a:ext cx="2472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2" name="Object 17"/>
            <p:cNvGraphicFramePr/>
            <p:nvPr/>
          </p:nvGraphicFramePr>
          <p:xfrm>
            <a:off x="612" y="3294"/>
            <a:ext cx="46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9" imgW="3797300" imgH="215900" progId="Equation.DSMT4">
                    <p:embed/>
                  </p:oleObj>
                </mc:Choice>
                <mc:Fallback>
                  <p:oleObj name="" r:id="rId9" imgW="3797300" imgH="215900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12" y="3294"/>
                          <a:ext cx="467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11188" y="692150"/>
            <a:ext cx="4319588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3.2.2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逻辑代数的基本定律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Text Box 4"/>
          <p:cNvSpPr txBox="1"/>
          <p:nvPr/>
        </p:nvSpPr>
        <p:spPr>
          <a:xfrm>
            <a:off x="755650" y="2349500"/>
            <a:ext cx="79200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（</a:t>
            </a:r>
            <a:r>
              <a:rPr lang="en-US" altLang="zh-CN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11</a:t>
            </a:r>
            <a:r>
              <a:rPr lang="zh-CN" altLang="en-U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）</a:t>
            </a:r>
            <a:r>
              <a:rPr lang="zh-CN" altLang="en-US" sz="2400" b="1" dirty="0">
                <a:latin typeface="Verdana" panose="020B0604030504040204" pitchFamily="34" charset="0"/>
              </a:rPr>
              <a:t>反演律（摩根定理）</a:t>
            </a:r>
            <a:r>
              <a:rPr lang="zh-CN" altLang="en-US" dirty="0">
                <a:latin typeface="Verdana" panose="020B0604030504040204" pitchFamily="34" charset="0"/>
              </a:rPr>
              <a:t> </a:t>
            </a:r>
            <a:r>
              <a:rPr lang="zh-CN" altLang="en-US" sz="2000" b="1" dirty="0">
                <a:latin typeface="Verdana" panose="020B0604030504040204" pitchFamily="34" charset="0"/>
              </a:rPr>
              <a:t>       </a:t>
            </a:r>
            <a:endParaRPr lang="zh-CN" altLang="en-US" sz="2000" dirty="0">
              <a:latin typeface="Verdana" panose="020B0604030504040204" pitchFamily="34" charset="0"/>
            </a:endParaRPr>
          </a:p>
        </p:txBody>
      </p:sp>
      <p:sp>
        <p:nvSpPr>
          <p:cNvPr id="5128" name="Rectangle 5"/>
          <p:cNvSpPr/>
          <p:nvPr/>
        </p:nvSpPr>
        <p:spPr>
          <a:xfrm>
            <a:off x="0" y="2933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129" name="Rectangle 16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5122" name="Object 15"/>
          <p:cNvGraphicFramePr/>
          <p:nvPr/>
        </p:nvGraphicFramePr>
        <p:xfrm>
          <a:off x="4859338" y="2349500"/>
          <a:ext cx="36734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1701800" imgH="241300" progId="Equation.DSMT4">
                  <p:embed/>
                </p:oleObj>
              </mc:Choice>
              <mc:Fallback>
                <p:oleObj name="" r:id="rId1" imgW="1701800" imgH="2413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59338" y="2349500"/>
                        <a:ext cx="3673475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Text Box 17"/>
          <p:cNvSpPr txBox="1"/>
          <p:nvPr/>
        </p:nvSpPr>
        <p:spPr>
          <a:xfrm>
            <a:off x="1042988" y="3068638"/>
            <a:ext cx="61928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hlink"/>
                </a:solidFill>
                <a:latin typeface="Verdana" panose="020B0604030504040204" pitchFamily="34" charset="0"/>
              </a:rPr>
              <a:t>采用真值表法证明，反演律成立。</a:t>
            </a:r>
            <a:endParaRPr lang="zh-CN" altLang="en-US" sz="2000" b="1" dirty="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sp>
        <p:nvSpPr>
          <p:cNvPr id="5131" name="Rectangle 24"/>
          <p:cNvSpPr/>
          <p:nvPr/>
        </p:nvSpPr>
        <p:spPr>
          <a:xfrm>
            <a:off x="2635250" y="2728913"/>
            <a:ext cx="747713" cy="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132" name="Rectangle 26"/>
          <p:cNvSpPr/>
          <p:nvPr/>
        </p:nvSpPr>
        <p:spPr>
          <a:xfrm>
            <a:off x="2635250" y="2728913"/>
            <a:ext cx="747713" cy="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133" name="Rectangle 28"/>
          <p:cNvSpPr/>
          <p:nvPr/>
        </p:nvSpPr>
        <p:spPr>
          <a:xfrm>
            <a:off x="2635250" y="2728913"/>
            <a:ext cx="679450" cy="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134" name="Rectangle 30"/>
          <p:cNvSpPr/>
          <p:nvPr/>
        </p:nvSpPr>
        <p:spPr>
          <a:xfrm>
            <a:off x="2635250" y="2728913"/>
            <a:ext cx="747713" cy="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" name="Group 228"/>
          <p:cNvGrpSpPr/>
          <p:nvPr/>
        </p:nvGrpSpPr>
        <p:grpSpPr>
          <a:xfrm>
            <a:off x="900113" y="3789363"/>
            <a:ext cx="7200900" cy="2212975"/>
            <a:chOff x="567" y="2432"/>
            <a:chExt cx="4536" cy="1394"/>
          </a:xfrm>
        </p:grpSpPr>
        <p:graphicFrame>
          <p:nvGraphicFramePr>
            <p:cNvPr id="5123" name="Object 20"/>
            <p:cNvGraphicFramePr/>
            <p:nvPr/>
          </p:nvGraphicFramePr>
          <p:xfrm>
            <a:off x="2699" y="2478"/>
            <a:ext cx="59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3" imgW="393700" imgH="203200" progId="Equation.DSMT4">
                    <p:embed/>
                  </p:oleObj>
                </mc:Choice>
                <mc:Fallback>
                  <p:oleObj name="" r:id="rId3" imgW="393700" imgH="203200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99" y="2478"/>
                          <a:ext cx="590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4" name="Object 19"/>
            <p:cNvGraphicFramePr/>
            <p:nvPr/>
          </p:nvGraphicFramePr>
          <p:xfrm>
            <a:off x="3560" y="2478"/>
            <a:ext cx="499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5" imgW="393700" imgH="203200" progId="Equation.DSMT4">
                    <p:embed/>
                  </p:oleObj>
                </mc:Choice>
                <mc:Fallback>
                  <p:oleObj name="" r:id="rId5" imgW="393700" imgH="203200" progId="Equation.DSMT4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60" y="2478"/>
                          <a:ext cx="499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5" name="Object 18"/>
            <p:cNvGraphicFramePr/>
            <p:nvPr/>
          </p:nvGraphicFramePr>
          <p:xfrm>
            <a:off x="4377" y="2478"/>
            <a:ext cx="45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7" imgW="330200" imgH="203200" progId="Equation.DSMT4">
                    <p:embed/>
                  </p:oleObj>
                </mc:Choice>
                <mc:Fallback>
                  <p:oleObj name="" r:id="rId7" imgW="330200" imgH="203200" progId="Equation.DSMT4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77" y="2478"/>
                          <a:ext cx="454" cy="2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6" name="Rectangle 86"/>
            <p:cNvSpPr/>
            <p:nvPr/>
          </p:nvSpPr>
          <p:spPr>
            <a:xfrm>
              <a:off x="4228" y="3569"/>
              <a:ext cx="875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37" name="Rectangle 85"/>
            <p:cNvSpPr/>
            <p:nvPr/>
          </p:nvSpPr>
          <p:spPr>
            <a:xfrm>
              <a:off x="3432" y="3569"/>
              <a:ext cx="796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38" name="Rectangle 84"/>
            <p:cNvSpPr/>
            <p:nvPr/>
          </p:nvSpPr>
          <p:spPr>
            <a:xfrm>
              <a:off x="2557" y="3569"/>
              <a:ext cx="875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39" name="Rectangle 83"/>
            <p:cNvSpPr/>
            <p:nvPr/>
          </p:nvSpPr>
          <p:spPr>
            <a:xfrm>
              <a:off x="1682" y="3569"/>
              <a:ext cx="875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40" name="Rectangle 82"/>
            <p:cNvSpPr/>
            <p:nvPr/>
          </p:nvSpPr>
          <p:spPr>
            <a:xfrm>
              <a:off x="1124" y="3569"/>
              <a:ext cx="558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41" name="Rectangle 81"/>
            <p:cNvSpPr/>
            <p:nvPr/>
          </p:nvSpPr>
          <p:spPr>
            <a:xfrm>
              <a:off x="567" y="3569"/>
              <a:ext cx="557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42" name="Rectangle 80"/>
            <p:cNvSpPr/>
            <p:nvPr/>
          </p:nvSpPr>
          <p:spPr>
            <a:xfrm>
              <a:off x="4228" y="3312"/>
              <a:ext cx="875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43" name="Rectangle 79"/>
            <p:cNvSpPr/>
            <p:nvPr/>
          </p:nvSpPr>
          <p:spPr>
            <a:xfrm>
              <a:off x="3432" y="3312"/>
              <a:ext cx="796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44" name="Rectangle 78"/>
            <p:cNvSpPr/>
            <p:nvPr/>
          </p:nvSpPr>
          <p:spPr>
            <a:xfrm>
              <a:off x="2557" y="3312"/>
              <a:ext cx="875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45" name="Rectangle 77"/>
            <p:cNvSpPr/>
            <p:nvPr/>
          </p:nvSpPr>
          <p:spPr>
            <a:xfrm>
              <a:off x="1682" y="3312"/>
              <a:ext cx="875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46" name="Rectangle 76"/>
            <p:cNvSpPr/>
            <p:nvPr/>
          </p:nvSpPr>
          <p:spPr>
            <a:xfrm>
              <a:off x="1124" y="3312"/>
              <a:ext cx="558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47" name="Rectangle 75"/>
            <p:cNvSpPr/>
            <p:nvPr/>
          </p:nvSpPr>
          <p:spPr>
            <a:xfrm>
              <a:off x="567" y="3312"/>
              <a:ext cx="557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48" name="Rectangle 74"/>
            <p:cNvSpPr/>
            <p:nvPr/>
          </p:nvSpPr>
          <p:spPr>
            <a:xfrm>
              <a:off x="4228" y="3055"/>
              <a:ext cx="875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49" name="Rectangle 73"/>
            <p:cNvSpPr/>
            <p:nvPr/>
          </p:nvSpPr>
          <p:spPr>
            <a:xfrm>
              <a:off x="3432" y="3055"/>
              <a:ext cx="796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50" name="Rectangle 72"/>
            <p:cNvSpPr/>
            <p:nvPr/>
          </p:nvSpPr>
          <p:spPr>
            <a:xfrm>
              <a:off x="2557" y="3055"/>
              <a:ext cx="875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51" name="Rectangle 71"/>
            <p:cNvSpPr/>
            <p:nvPr/>
          </p:nvSpPr>
          <p:spPr>
            <a:xfrm>
              <a:off x="1682" y="3055"/>
              <a:ext cx="875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52" name="Rectangle 70"/>
            <p:cNvSpPr/>
            <p:nvPr/>
          </p:nvSpPr>
          <p:spPr>
            <a:xfrm>
              <a:off x="1124" y="3055"/>
              <a:ext cx="558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53" name="Rectangle 69"/>
            <p:cNvSpPr/>
            <p:nvPr/>
          </p:nvSpPr>
          <p:spPr>
            <a:xfrm>
              <a:off x="567" y="3055"/>
              <a:ext cx="557" cy="25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54" name="Rectangle 68"/>
            <p:cNvSpPr/>
            <p:nvPr/>
          </p:nvSpPr>
          <p:spPr>
            <a:xfrm>
              <a:off x="4228" y="2799"/>
              <a:ext cx="875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55" name="Rectangle 67"/>
            <p:cNvSpPr/>
            <p:nvPr/>
          </p:nvSpPr>
          <p:spPr>
            <a:xfrm>
              <a:off x="3432" y="2799"/>
              <a:ext cx="796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56" name="Rectangle 66"/>
            <p:cNvSpPr/>
            <p:nvPr/>
          </p:nvSpPr>
          <p:spPr>
            <a:xfrm>
              <a:off x="2557" y="2799"/>
              <a:ext cx="875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57" name="Rectangle 65"/>
            <p:cNvSpPr/>
            <p:nvPr/>
          </p:nvSpPr>
          <p:spPr>
            <a:xfrm>
              <a:off x="1682" y="2799"/>
              <a:ext cx="875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58" name="Rectangle 64"/>
            <p:cNvSpPr/>
            <p:nvPr/>
          </p:nvSpPr>
          <p:spPr>
            <a:xfrm>
              <a:off x="1124" y="2799"/>
              <a:ext cx="55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59" name="Rectangle 63"/>
            <p:cNvSpPr/>
            <p:nvPr/>
          </p:nvSpPr>
          <p:spPr>
            <a:xfrm>
              <a:off x="567" y="2799"/>
              <a:ext cx="557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60" name="Rectangle 62"/>
            <p:cNvSpPr/>
            <p:nvPr/>
          </p:nvSpPr>
          <p:spPr>
            <a:xfrm>
              <a:off x="4228" y="2432"/>
              <a:ext cx="875" cy="3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zh-CN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5161" name="Rectangle 61"/>
            <p:cNvSpPr/>
            <p:nvPr/>
          </p:nvSpPr>
          <p:spPr>
            <a:xfrm>
              <a:off x="3432" y="2432"/>
              <a:ext cx="796" cy="3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zh-CN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5162" name="Rectangle 60"/>
            <p:cNvSpPr/>
            <p:nvPr/>
          </p:nvSpPr>
          <p:spPr>
            <a:xfrm>
              <a:off x="2557" y="2432"/>
              <a:ext cx="875" cy="3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zh-CN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5163" name="Rectangle 59"/>
            <p:cNvSpPr/>
            <p:nvPr/>
          </p:nvSpPr>
          <p:spPr>
            <a:xfrm>
              <a:off x="1682" y="2432"/>
              <a:ext cx="875" cy="3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zh-CN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5164" name="Rectangle 58"/>
            <p:cNvSpPr/>
            <p:nvPr/>
          </p:nvSpPr>
          <p:spPr>
            <a:xfrm>
              <a:off x="1124" y="2432"/>
              <a:ext cx="558" cy="3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65" name="Rectangle 57"/>
            <p:cNvSpPr/>
            <p:nvPr/>
          </p:nvSpPr>
          <p:spPr>
            <a:xfrm>
              <a:off x="567" y="2432"/>
              <a:ext cx="557" cy="3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166" name="Line 87"/>
            <p:cNvSpPr/>
            <p:nvPr/>
          </p:nvSpPr>
          <p:spPr>
            <a:xfrm>
              <a:off x="567" y="2432"/>
              <a:ext cx="4536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7" name="Line 88"/>
            <p:cNvSpPr/>
            <p:nvPr/>
          </p:nvSpPr>
          <p:spPr>
            <a:xfrm>
              <a:off x="567" y="3826"/>
              <a:ext cx="4536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8" name="Line 89"/>
            <p:cNvSpPr/>
            <p:nvPr/>
          </p:nvSpPr>
          <p:spPr>
            <a:xfrm>
              <a:off x="567" y="2432"/>
              <a:ext cx="0" cy="3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9" name="Line 90"/>
            <p:cNvSpPr/>
            <p:nvPr/>
          </p:nvSpPr>
          <p:spPr>
            <a:xfrm>
              <a:off x="5103" y="2432"/>
              <a:ext cx="0" cy="1394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0" name="Line 93"/>
            <p:cNvSpPr/>
            <p:nvPr/>
          </p:nvSpPr>
          <p:spPr>
            <a:xfrm>
              <a:off x="567" y="2799"/>
              <a:ext cx="4536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1" name="Line 94"/>
            <p:cNvSpPr/>
            <p:nvPr/>
          </p:nvSpPr>
          <p:spPr>
            <a:xfrm>
              <a:off x="567" y="2799"/>
              <a:ext cx="0" cy="1027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2" name="Line 95"/>
            <p:cNvSpPr/>
            <p:nvPr/>
          </p:nvSpPr>
          <p:spPr>
            <a:xfrm>
              <a:off x="1124" y="2432"/>
              <a:ext cx="0" cy="1394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3" name="Line 98"/>
            <p:cNvSpPr/>
            <p:nvPr/>
          </p:nvSpPr>
          <p:spPr>
            <a:xfrm>
              <a:off x="1682" y="2432"/>
              <a:ext cx="0" cy="1394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4" name="Line 101"/>
            <p:cNvSpPr/>
            <p:nvPr/>
          </p:nvSpPr>
          <p:spPr>
            <a:xfrm>
              <a:off x="2557" y="2432"/>
              <a:ext cx="0" cy="1394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5" name="Line 104"/>
            <p:cNvSpPr/>
            <p:nvPr/>
          </p:nvSpPr>
          <p:spPr>
            <a:xfrm>
              <a:off x="3432" y="2432"/>
              <a:ext cx="0" cy="1394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6" name="Line 107"/>
            <p:cNvSpPr/>
            <p:nvPr/>
          </p:nvSpPr>
          <p:spPr>
            <a:xfrm>
              <a:off x="4228" y="2432"/>
              <a:ext cx="0" cy="1394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7" name="Line 111"/>
            <p:cNvSpPr/>
            <p:nvPr/>
          </p:nvSpPr>
          <p:spPr>
            <a:xfrm>
              <a:off x="567" y="3055"/>
              <a:ext cx="4536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8" name="Line 139"/>
            <p:cNvSpPr/>
            <p:nvPr/>
          </p:nvSpPr>
          <p:spPr>
            <a:xfrm>
              <a:off x="567" y="3312"/>
              <a:ext cx="4536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9" name="Line 167"/>
            <p:cNvSpPr/>
            <p:nvPr/>
          </p:nvSpPr>
          <p:spPr>
            <a:xfrm>
              <a:off x="567" y="3569"/>
              <a:ext cx="4536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0" name="Text Box 225"/>
            <p:cNvSpPr txBox="1"/>
            <p:nvPr/>
          </p:nvSpPr>
          <p:spPr>
            <a:xfrm>
              <a:off x="1837" y="2478"/>
              <a:ext cx="5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A </a:t>
              </a:r>
              <a:r>
                <a:rPr lang="en-US" altLang="zh-CN" sz="2400" b="1" i="1" dirty="0">
                  <a:latin typeface="Arial" panose="020B0604020202020204" pitchFamily="34" charset="0"/>
                </a:rPr>
                <a:t>·</a:t>
              </a:r>
              <a:r>
                <a:rPr lang="en-US" altLang="zh-CN" sz="2400" i="1" dirty="0">
                  <a:latin typeface="Verdana" panose="020B0604030504040204" pitchFamily="34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B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5181" name="Line 227"/>
            <p:cNvSpPr/>
            <p:nvPr/>
          </p:nvSpPr>
          <p:spPr>
            <a:xfrm>
              <a:off x="1882" y="2523"/>
              <a:ext cx="45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11188" y="692150"/>
            <a:ext cx="4319588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3.2.2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逻辑代数的基本定律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Text Box 4"/>
          <p:cNvSpPr txBox="1"/>
          <p:nvPr/>
        </p:nvSpPr>
        <p:spPr>
          <a:xfrm>
            <a:off x="755650" y="2349500"/>
            <a:ext cx="79200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（</a:t>
            </a:r>
            <a:r>
              <a:rPr lang="en-US" altLang="zh-CN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12</a:t>
            </a:r>
            <a:r>
              <a:rPr lang="zh-CN" altLang="en-U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）</a:t>
            </a:r>
            <a:r>
              <a:rPr lang="zh-CN" altLang="en-US" sz="2400" b="1" dirty="0">
                <a:latin typeface="Verdana" panose="020B0604030504040204" pitchFamily="34" charset="0"/>
              </a:rPr>
              <a:t>包含律：</a:t>
            </a:r>
            <a:r>
              <a:rPr lang="zh-CN" altLang="en-US" dirty="0">
                <a:latin typeface="Verdana" panose="020B0604030504040204" pitchFamily="34" charset="0"/>
              </a:rPr>
              <a:t> 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150" name="Rectangle 6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151" name="Rectangle 9"/>
          <p:cNvSpPr/>
          <p:nvPr/>
        </p:nvSpPr>
        <p:spPr>
          <a:xfrm>
            <a:off x="2635250" y="2728913"/>
            <a:ext cx="747713" cy="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152" name="Rectangle 10"/>
          <p:cNvSpPr/>
          <p:nvPr/>
        </p:nvSpPr>
        <p:spPr>
          <a:xfrm>
            <a:off x="2635250" y="2728913"/>
            <a:ext cx="747713" cy="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153" name="Rectangle 11"/>
          <p:cNvSpPr/>
          <p:nvPr/>
        </p:nvSpPr>
        <p:spPr>
          <a:xfrm>
            <a:off x="2635250" y="2728913"/>
            <a:ext cx="679450" cy="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154" name="Rectangle 12"/>
          <p:cNvSpPr/>
          <p:nvPr/>
        </p:nvSpPr>
        <p:spPr>
          <a:xfrm>
            <a:off x="2635250" y="2728913"/>
            <a:ext cx="747713" cy="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155" name="Rectangle 64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6146" name="Object 63"/>
          <p:cNvGraphicFramePr/>
          <p:nvPr/>
        </p:nvGraphicFramePr>
        <p:xfrm>
          <a:off x="3348038" y="2276475"/>
          <a:ext cx="37449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726565" imgH="215900" progId="Equation.DSMT4">
                  <p:embed/>
                </p:oleObj>
              </mc:Choice>
              <mc:Fallback>
                <p:oleObj name="" r:id="rId1" imgW="1726565" imgH="2159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8038" y="2276475"/>
                        <a:ext cx="3744912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66"/>
          <p:cNvSpPr/>
          <p:nvPr/>
        </p:nvSpPr>
        <p:spPr>
          <a:xfrm>
            <a:off x="0" y="31051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" y="3329305"/>
            <a:ext cx="8895715" cy="1238885"/>
          </a:xfrm>
          <a:prstGeom prst="rect">
            <a:avLst/>
          </a:prstGeom>
        </p:spPr>
      </p:pic>
    </p:spTree>
  </p:cSld>
  <p:clrMapOvr>
    <a:masterClrMapping/>
  </p:clrMapOvr>
  <p:transition>
    <p:strips dir="r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539750" y="549275"/>
            <a:ext cx="4319588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3.2.3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摩根定理 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Text Box 4"/>
          <p:cNvSpPr txBox="1"/>
          <p:nvPr/>
        </p:nvSpPr>
        <p:spPr>
          <a:xfrm>
            <a:off x="395288" y="2492375"/>
            <a:ext cx="8567737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Verdana" panose="020B0604030504040204" pitchFamily="34" charset="0"/>
              </a:rPr>
              <a:t>（</a:t>
            </a:r>
            <a:r>
              <a:rPr lang="en-US" altLang="zh-CN" sz="2000" b="1" dirty="0"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latin typeface="Verdana" panose="020B0604030504040204" pitchFamily="34" charset="0"/>
              </a:rPr>
              <a:t>）逻辑变量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zh-CN" altLang="en-US" sz="2000" b="1" dirty="0">
                <a:latin typeface="Verdana" panose="020B0604030504040204" pitchFamily="34" charset="0"/>
              </a:rPr>
              <a:t>与</a:t>
            </a:r>
            <a:r>
              <a:rPr lang="zh-CN" altLang="en-US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运算后取反等于各个逻辑变量分别取反的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zh-CN" altLang="en-US" sz="2000" b="1" dirty="0">
                <a:latin typeface="Verdana" panose="020B0604030504040204" pitchFamily="34" charset="0"/>
              </a:rPr>
              <a:t>或</a:t>
            </a:r>
            <a:r>
              <a:rPr lang="zh-CN" altLang="en-US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运算。</a:t>
            </a:r>
            <a:endParaRPr lang="zh-CN" altLang="en-US" sz="2000" b="1" dirty="0"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latin typeface="Verdana" panose="020B0604030504040204" pitchFamily="34" charset="0"/>
              </a:rPr>
              <a:t>用公式表示如下：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graphicFrame>
        <p:nvGraphicFramePr>
          <p:cNvPr id="7170" name="Object 14"/>
          <p:cNvGraphicFramePr/>
          <p:nvPr/>
        </p:nvGraphicFramePr>
        <p:xfrm>
          <a:off x="3276600" y="2997200"/>
          <a:ext cx="140335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736600" imgH="203200" progId="Equation.DSMT4">
                  <p:embed/>
                </p:oleObj>
              </mc:Choice>
              <mc:Fallback>
                <p:oleObj name="" r:id="rId1" imgW="736600" imgH="2032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2997200"/>
                        <a:ext cx="1403350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16"/>
          <p:cNvSpPr txBox="1"/>
          <p:nvPr/>
        </p:nvSpPr>
        <p:spPr>
          <a:xfrm>
            <a:off x="323850" y="3500438"/>
            <a:ext cx="8567738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Verdana" panose="020B0604030504040204" pitchFamily="34" charset="0"/>
              </a:rPr>
              <a:t>（</a:t>
            </a:r>
            <a:r>
              <a:rPr lang="en-US" altLang="zh-CN" sz="2000" b="1" dirty="0">
                <a:latin typeface="Verdana" panose="020B0604030504040204" pitchFamily="34" charset="0"/>
              </a:rPr>
              <a:t>2</a:t>
            </a:r>
            <a:r>
              <a:rPr lang="zh-CN" altLang="en-US" sz="2000" b="1" dirty="0">
                <a:latin typeface="Verdana" panose="020B0604030504040204" pitchFamily="34" charset="0"/>
              </a:rPr>
              <a:t>）逻辑变量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zh-CN" altLang="en-US" sz="2000" b="1" dirty="0">
                <a:latin typeface="Verdana" panose="020B0604030504040204" pitchFamily="34" charset="0"/>
              </a:rPr>
              <a:t>或</a:t>
            </a:r>
            <a:r>
              <a:rPr lang="zh-CN" altLang="en-US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运算后取反等于各个逻辑变量分别取反的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zh-CN" altLang="en-US" sz="2000" b="1" dirty="0">
                <a:latin typeface="Verdana" panose="020B0604030504040204" pitchFamily="34" charset="0"/>
              </a:rPr>
              <a:t>与</a:t>
            </a:r>
            <a:r>
              <a:rPr lang="zh-CN" altLang="en-US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运算。</a:t>
            </a:r>
            <a:endParaRPr lang="zh-CN" altLang="en-US" sz="2000" b="1" dirty="0"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latin typeface="Verdana" panose="020B0604030504040204" pitchFamily="34" charset="0"/>
              </a:rPr>
              <a:t>用公式表示如下：</a:t>
            </a:r>
            <a:r>
              <a:rPr lang="zh-CN" altLang="en-US" sz="2000" dirty="0">
                <a:latin typeface="Verdana" panose="020B0604030504040204" pitchFamily="34" charset="0"/>
              </a:rPr>
              <a:t> </a:t>
            </a:r>
            <a:endParaRPr lang="zh-CN" altLang="en-US" sz="2000" dirty="0">
              <a:latin typeface="Verdana" panose="020B0604030504040204" pitchFamily="34" charset="0"/>
            </a:endParaRPr>
          </a:p>
        </p:txBody>
      </p:sp>
      <p:graphicFrame>
        <p:nvGraphicFramePr>
          <p:cNvPr id="7171" name="Object 17"/>
          <p:cNvGraphicFramePr/>
          <p:nvPr/>
        </p:nvGraphicFramePr>
        <p:xfrm>
          <a:off x="3348038" y="4005263"/>
          <a:ext cx="1368425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3" imgW="748665" imgH="203200" progId="Equation.DSMT4">
                  <p:embed/>
                </p:oleObj>
              </mc:Choice>
              <mc:Fallback>
                <p:oleObj name="" r:id="rId3" imgW="748665" imgH="2032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8038" y="4005263"/>
                        <a:ext cx="1368425" cy="382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Rectangle 21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323850" y="4724400"/>
            <a:ext cx="8567738" cy="1011238"/>
            <a:chOff x="204" y="2976"/>
            <a:chExt cx="5397" cy="637"/>
          </a:xfrm>
        </p:grpSpPr>
        <p:sp>
          <p:nvSpPr>
            <p:cNvPr id="7178" name="Text Box 19"/>
            <p:cNvSpPr txBox="1"/>
            <p:nvPr/>
          </p:nvSpPr>
          <p:spPr>
            <a:xfrm>
              <a:off x="204" y="2976"/>
              <a:ext cx="539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b="1" dirty="0">
                  <a:solidFill>
                    <a:schemeClr val="hlink"/>
                  </a:solidFill>
                  <a:latin typeface="Verdana" panose="020B0604030504040204" pitchFamily="34" charset="0"/>
                </a:rPr>
                <a:t>上述两个定理也适用于多个变量的情形，如： </a:t>
              </a:r>
              <a:endParaRPr lang="zh-CN" altLang="en-US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7172" name="Object 20"/>
            <p:cNvGraphicFramePr/>
            <p:nvPr/>
          </p:nvGraphicFramePr>
          <p:xfrm>
            <a:off x="3424" y="3113"/>
            <a:ext cx="1179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5" imgW="1092200" imgH="457200" progId="Equation.DSMT4">
                    <p:embed/>
                  </p:oleObj>
                </mc:Choice>
                <mc:Fallback>
                  <p:oleObj name="" r:id="rId5" imgW="1092200" imgH="457200" progId="Equation.DSMT4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24" y="3113"/>
                          <a:ext cx="1179" cy="5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11188" y="620713"/>
            <a:ext cx="4319588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3.2.3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摩根定理 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7" name="Text Box 4"/>
          <p:cNvSpPr txBox="1"/>
          <p:nvPr/>
        </p:nvSpPr>
        <p:spPr>
          <a:xfrm>
            <a:off x="395288" y="2492375"/>
            <a:ext cx="85677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3-1】 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应用摩根定理化简逻辑函数</a:t>
            </a:r>
            <a:r>
              <a: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8198" name="Rectangle 8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8199" name="Rectangle 13"/>
          <p:cNvSpPr/>
          <p:nvPr/>
        </p:nvSpPr>
        <p:spPr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8194" name="Object 12"/>
          <p:cNvGraphicFramePr/>
          <p:nvPr/>
        </p:nvGraphicFramePr>
        <p:xfrm>
          <a:off x="5292725" y="2420938"/>
          <a:ext cx="27003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1422400" imgH="254000" progId="Equation.DSMT4">
                  <p:embed/>
                </p:oleObj>
              </mc:Choice>
              <mc:Fallback>
                <p:oleObj name="" r:id="rId1" imgW="1422400" imgH="2540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92725" y="2420938"/>
                        <a:ext cx="2700338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Text Box 14"/>
          <p:cNvSpPr txBox="1"/>
          <p:nvPr/>
        </p:nvSpPr>
        <p:spPr>
          <a:xfrm>
            <a:off x="684213" y="3284538"/>
            <a:ext cx="38893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</a:t>
            </a:r>
            <a:r>
              <a:rPr lang="zh-CN" altLang="en-US" sz="2000" b="1" dirty="0">
                <a:latin typeface="Verdana" panose="020B0604030504040204" pitchFamily="34" charset="0"/>
              </a:rPr>
              <a:t>反复应用摩根定理可得：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8201" name="Rectangle 16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27663" name="Object 15"/>
          <p:cNvGraphicFramePr/>
          <p:nvPr/>
        </p:nvGraphicFramePr>
        <p:xfrm>
          <a:off x="900113" y="3933825"/>
          <a:ext cx="709295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" imgW="3530600" imgH="508000" progId="Equation.DSMT4">
                  <p:embed/>
                </p:oleObj>
              </mc:Choice>
              <mc:Fallback>
                <p:oleObj name="" r:id="rId3" imgW="3530600" imgH="5080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3933825"/>
                        <a:ext cx="7092950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539750" y="549275"/>
            <a:ext cx="4319588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3.2.4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逻辑代数的基本规则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5" name="Text Box 4"/>
          <p:cNvSpPr txBox="1"/>
          <p:nvPr/>
        </p:nvSpPr>
        <p:spPr>
          <a:xfrm>
            <a:off x="827088" y="1989138"/>
            <a:ext cx="237648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．代入规则 </a:t>
            </a:r>
            <a:endParaRPr lang="zh-CN" altLang="en-US" sz="2000" b="1" dirty="0">
              <a:solidFill>
                <a:srgbClr val="660066"/>
              </a:solidFill>
              <a:latin typeface="Verdana" panose="020B0604030504040204" pitchFamily="34" charset="0"/>
            </a:endParaRPr>
          </a:p>
        </p:txBody>
      </p:sp>
      <p:sp>
        <p:nvSpPr>
          <p:cNvPr id="49156" name="Rectangle 5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9157" name="Rectangle 6"/>
          <p:cNvSpPr/>
          <p:nvPr/>
        </p:nvSpPr>
        <p:spPr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9704" name="Text Box 8"/>
          <p:cNvSpPr txBox="1"/>
          <p:nvPr/>
        </p:nvSpPr>
        <p:spPr>
          <a:xfrm>
            <a:off x="1042988" y="3860800"/>
            <a:ext cx="7056437" cy="1920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 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: </a:t>
            </a:r>
            <a:endParaRPr lang="en-US" altLang="zh-CN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   </a:t>
            </a:r>
            <a:r>
              <a:rPr lang="en-US" altLang="zh-CN" sz="2000" b="1" i="1" dirty="0">
                <a:latin typeface="Verdana" panose="020B0604030504040204" pitchFamily="34" charset="0"/>
              </a:rPr>
              <a:t>A</a:t>
            </a:r>
            <a:r>
              <a:rPr lang="zh-CN" altLang="en-US" sz="2000" b="1" i="1" dirty="0">
                <a:latin typeface="Verdana" panose="020B0604030504040204" pitchFamily="34" charset="0"/>
              </a:rPr>
              <a:t>（</a:t>
            </a:r>
            <a:r>
              <a:rPr lang="en-US" altLang="zh-CN" sz="2000" b="1" i="1" dirty="0">
                <a:latin typeface="Verdana" panose="020B0604030504040204" pitchFamily="34" charset="0"/>
              </a:rPr>
              <a:t>B+C</a:t>
            </a:r>
            <a:r>
              <a:rPr lang="zh-CN" altLang="en-US" sz="2000" b="1" i="1" dirty="0">
                <a:latin typeface="Verdana" panose="020B0604030504040204" pitchFamily="34" charset="0"/>
              </a:rPr>
              <a:t>）</a:t>
            </a:r>
            <a:r>
              <a:rPr lang="en-US" altLang="zh-CN" sz="2000" b="1" i="1" dirty="0">
                <a:latin typeface="Verdana" panose="020B0604030504040204" pitchFamily="34" charset="0"/>
              </a:rPr>
              <a:t>=AB+AC</a:t>
            </a:r>
            <a:r>
              <a:rPr lang="zh-CN" altLang="en-US" sz="2000" b="1" dirty="0">
                <a:latin typeface="Verdana" panose="020B0604030504040204" pitchFamily="34" charset="0"/>
              </a:rPr>
              <a:t>，等式中的</a:t>
            </a:r>
            <a:r>
              <a:rPr lang="en-US" altLang="zh-CN" sz="2000" b="1" i="1" dirty="0">
                <a:latin typeface="Verdana" panose="020B0604030504040204" pitchFamily="34" charset="0"/>
              </a:rPr>
              <a:t>C</a:t>
            </a:r>
            <a:r>
              <a:rPr lang="zh-CN" altLang="en-US" sz="2000" b="1" dirty="0">
                <a:latin typeface="Verdana" panose="020B0604030504040204" pitchFamily="34" charset="0"/>
              </a:rPr>
              <a:t>都用</a:t>
            </a:r>
            <a:r>
              <a:rPr lang="zh-CN" altLang="en-US" sz="2000" b="1" i="1" dirty="0">
                <a:latin typeface="Verdana" panose="020B0604030504040204" pitchFamily="34" charset="0"/>
              </a:rPr>
              <a:t>（</a:t>
            </a:r>
            <a:r>
              <a:rPr lang="en-US" altLang="zh-CN" sz="2000" b="1" i="1" dirty="0">
                <a:latin typeface="Verdana" panose="020B0604030504040204" pitchFamily="34" charset="0"/>
              </a:rPr>
              <a:t>C+D</a:t>
            </a:r>
            <a:r>
              <a:rPr lang="zh-CN" altLang="en-US" sz="2000" b="1" i="1" dirty="0">
                <a:latin typeface="Verdana" panose="020B0604030504040204" pitchFamily="34" charset="0"/>
              </a:rPr>
              <a:t>）</a:t>
            </a:r>
            <a:r>
              <a:rPr lang="zh-CN" altLang="en-US" sz="2000" b="1" dirty="0">
                <a:latin typeface="Verdana" panose="020B0604030504040204" pitchFamily="34" charset="0"/>
              </a:rPr>
              <a:t>代替，</a:t>
            </a:r>
            <a:endParaRPr lang="zh-CN" altLang="en-US" sz="2000" b="1" dirty="0">
              <a:latin typeface="Verdana" panose="020B0604030504040204" pitchFamily="34" charset="0"/>
            </a:endParaRPr>
          </a:p>
          <a:p>
            <a:endParaRPr lang="zh-CN" altLang="en-US" sz="2000" b="1" dirty="0"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latin typeface="Verdana" panose="020B0604030504040204" pitchFamily="34" charset="0"/>
              </a:rPr>
              <a:t>该逻辑等式仍然成立，即</a:t>
            </a:r>
            <a:endParaRPr lang="zh-CN" altLang="en-US" sz="2000" b="1" dirty="0">
              <a:latin typeface="Verdana" panose="020B0604030504040204" pitchFamily="34" charset="0"/>
            </a:endParaRPr>
          </a:p>
          <a:p>
            <a:endParaRPr lang="zh-CN" altLang="en-US" sz="2000" b="1" i="1" dirty="0">
              <a:latin typeface="Verdana" panose="020B0604030504040204" pitchFamily="34" charset="0"/>
            </a:endParaRPr>
          </a:p>
          <a:p>
            <a:r>
              <a:rPr lang="zh-CN" altLang="en-US" sz="2000" b="1" i="1" dirty="0">
                <a:latin typeface="Verdana" panose="020B0604030504040204" pitchFamily="34" charset="0"/>
              </a:rPr>
              <a:t>                </a:t>
            </a:r>
            <a:r>
              <a:rPr lang="en-US" altLang="zh-CN" sz="2000" b="1" i="1" dirty="0">
                <a:latin typeface="Verdana" panose="020B0604030504040204" pitchFamily="34" charset="0"/>
              </a:rPr>
              <a:t>A</a:t>
            </a:r>
            <a:r>
              <a:rPr lang="zh-CN" altLang="en-US" sz="2000" b="1" i="1" dirty="0">
                <a:latin typeface="Verdana" panose="020B0604030504040204" pitchFamily="34" charset="0"/>
              </a:rPr>
              <a:t>（</a:t>
            </a:r>
            <a:r>
              <a:rPr lang="en-US" altLang="zh-CN" sz="2000" b="1" i="1" dirty="0">
                <a:latin typeface="Verdana" panose="020B0604030504040204" pitchFamily="34" charset="0"/>
              </a:rPr>
              <a:t>B+</a:t>
            </a:r>
            <a:r>
              <a:rPr lang="zh-CN" altLang="en-US" sz="2000" b="1" i="1" dirty="0">
                <a:latin typeface="Verdana" panose="020B0604030504040204" pitchFamily="34" charset="0"/>
              </a:rPr>
              <a:t>（</a:t>
            </a:r>
            <a:r>
              <a:rPr lang="en-US" altLang="zh-CN" sz="2000" b="1" i="1" dirty="0">
                <a:latin typeface="Verdana" panose="020B0604030504040204" pitchFamily="34" charset="0"/>
              </a:rPr>
              <a:t>C+D</a:t>
            </a:r>
            <a:r>
              <a:rPr lang="zh-CN" altLang="en-US" sz="2000" b="1" i="1" dirty="0">
                <a:latin typeface="Verdana" panose="020B0604030504040204" pitchFamily="34" charset="0"/>
              </a:rPr>
              <a:t>））</a:t>
            </a:r>
            <a:r>
              <a:rPr lang="en-US" altLang="zh-CN" sz="2000" b="1" i="1" dirty="0">
                <a:latin typeface="Verdana" panose="020B0604030504040204" pitchFamily="34" charset="0"/>
              </a:rPr>
              <a:t>=AB+A</a:t>
            </a:r>
            <a:r>
              <a:rPr lang="zh-CN" altLang="en-US" sz="2000" b="1" i="1" dirty="0">
                <a:latin typeface="Verdana" panose="020B0604030504040204" pitchFamily="34" charset="0"/>
              </a:rPr>
              <a:t>（</a:t>
            </a:r>
            <a:r>
              <a:rPr lang="en-US" altLang="zh-CN" sz="2000" b="1" i="1" dirty="0">
                <a:latin typeface="Verdana" panose="020B0604030504040204" pitchFamily="34" charset="0"/>
              </a:rPr>
              <a:t>C+D</a:t>
            </a:r>
            <a:r>
              <a:rPr lang="zh-CN" altLang="en-US" sz="2000" b="1" i="1" dirty="0">
                <a:latin typeface="Verdana" panose="020B0604030504040204" pitchFamily="34" charset="0"/>
              </a:rPr>
              <a:t>）</a:t>
            </a:r>
            <a:r>
              <a:rPr lang="zh-CN" altLang="en-US" sz="2000" dirty="0">
                <a:latin typeface="Verdana" panose="020B0604030504040204" pitchFamily="34" charset="0"/>
              </a:rPr>
              <a:t>  </a:t>
            </a:r>
            <a:endParaRPr lang="zh-CN" altLang="en-US" sz="2000" dirty="0">
              <a:latin typeface="Verdana" panose="020B0604030504040204" pitchFamily="34" charset="0"/>
            </a:endParaRPr>
          </a:p>
        </p:txBody>
      </p:sp>
      <p:sp>
        <p:nvSpPr>
          <p:cNvPr id="49159" name="Text Box 11"/>
          <p:cNvSpPr txBox="1"/>
          <p:nvPr/>
        </p:nvSpPr>
        <p:spPr>
          <a:xfrm>
            <a:off x="900113" y="2924175"/>
            <a:ext cx="7561262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latin typeface="Verdana" panose="020B0604030504040204" pitchFamily="34" charset="0"/>
              </a:rPr>
              <a:t>     </a:t>
            </a:r>
            <a:r>
              <a:rPr lang="zh-CN" altLang="en-US" sz="2000" b="1" dirty="0">
                <a:latin typeface="Verdana" panose="020B0604030504040204" pitchFamily="34" charset="0"/>
              </a:rPr>
              <a:t>任何一个含有变量</a:t>
            </a:r>
            <a:r>
              <a:rPr lang="en-US" altLang="zh-CN" sz="2000" b="1" dirty="0">
                <a:latin typeface="Verdana" panose="020B0604030504040204" pitchFamily="34" charset="0"/>
              </a:rPr>
              <a:t>A</a:t>
            </a:r>
            <a:r>
              <a:rPr lang="zh-CN" altLang="en-US" sz="2000" b="1" dirty="0">
                <a:latin typeface="Verdana" panose="020B0604030504040204" pitchFamily="34" charset="0"/>
              </a:rPr>
              <a:t>的逻辑等式，如果将所有出现</a:t>
            </a:r>
            <a:r>
              <a:rPr lang="en-US" altLang="zh-CN" sz="2000" b="1" dirty="0">
                <a:latin typeface="Verdana" panose="020B0604030504040204" pitchFamily="34" charset="0"/>
              </a:rPr>
              <a:t>A</a:t>
            </a:r>
            <a:r>
              <a:rPr lang="zh-CN" altLang="en-US" sz="2000" b="1" dirty="0">
                <a:latin typeface="Verdana" panose="020B0604030504040204" pitchFamily="34" charset="0"/>
              </a:rPr>
              <a:t>的位置都代之以同一个逻辑函数</a:t>
            </a:r>
            <a:r>
              <a:rPr lang="en-US" altLang="zh-CN" sz="2000" b="1" dirty="0">
                <a:latin typeface="Verdana" panose="020B0604030504040204" pitchFamily="34" charset="0"/>
              </a:rPr>
              <a:t>F</a:t>
            </a:r>
            <a:r>
              <a:rPr lang="zh-CN" altLang="en-US" sz="2000" b="1" dirty="0">
                <a:latin typeface="Verdana" panose="020B0604030504040204" pitchFamily="34" charset="0"/>
              </a:rPr>
              <a:t>，则等式仍然成立。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395288" y="476250"/>
            <a:ext cx="4319588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3.2.4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逻辑代数的基本规则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" name="Text Box 4"/>
          <p:cNvSpPr txBox="1"/>
          <p:nvPr/>
        </p:nvSpPr>
        <p:spPr>
          <a:xfrm>
            <a:off x="755650" y="1052513"/>
            <a:ext cx="23764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．反演规则</a:t>
            </a:r>
            <a:r>
              <a:rPr lang="zh-CN" altLang="en-US" sz="2000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660066"/>
              </a:solidFill>
              <a:latin typeface="Verdana" panose="020B0604030504040204" pitchFamily="34" charset="0"/>
            </a:endParaRPr>
          </a:p>
        </p:txBody>
      </p:sp>
      <p:sp>
        <p:nvSpPr>
          <p:cNvPr id="9224" name="Rectangle 6"/>
          <p:cNvSpPr/>
          <p:nvPr/>
        </p:nvSpPr>
        <p:spPr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9225" name="Rectangle 10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9226" name="Group 12"/>
          <p:cNvGrpSpPr/>
          <p:nvPr/>
        </p:nvGrpSpPr>
        <p:grpSpPr>
          <a:xfrm>
            <a:off x="468313" y="1917065"/>
            <a:ext cx="8207375" cy="1006475"/>
            <a:chOff x="295" y="1661"/>
            <a:chExt cx="5170" cy="634"/>
          </a:xfrm>
        </p:grpSpPr>
        <p:sp>
          <p:nvSpPr>
            <p:cNvPr id="9233" name="Text Box 8"/>
            <p:cNvSpPr txBox="1"/>
            <p:nvPr/>
          </p:nvSpPr>
          <p:spPr>
            <a:xfrm>
              <a:off x="295" y="1661"/>
              <a:ext cx="5170" cy="6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Verdana" panose="020B0604030504040204" pitchFamily="34" charset="0"/>
                </a:rPr>
                <a:t>     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对于任何一个逻辑表式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F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，若将其中所有的与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Arial" panose="020B0604020202020204" pitchFamily="34" charset="0"/>
                </a:rPr>
                <a:t>·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 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变成或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+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+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换成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Arial" panose="020B0604020202020204" pitchFamily="34" charset="0"/>
                </a:rPr>
                <a:t>·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 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0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换成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换成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0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，原变量换成反变量，反变量换成原变量，则得到的结果就是   。</a:t>
              </a:r>
              <a:r>
                <a:rPr lang="zh-CN" altLang="en-US" sz="2000" dirty="0"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9221" name="Object 9"/>
            <p:cNvGraphicFramePr/>
            <p:nvPr/>
          </p:nvGraphicFramePr>
          <p:xfrm>
            <a:off x="3102" y="2069"/>
            <a:ext cx="151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1" imgW="165100" imgH="203200" progId="Equation.3">
                    <p:embed/>
                  </p:oleObj>
                </mc:Choice>
                <mc:Fallback>
                  <p:oleObj name="" r:id="rId1" imgW="165100" imgH="2032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102" y="2069"/>
                          <a:ext cx="151" cy="182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7" name="Text Box 13"/>
          <p:cNvSpPr txBox="1"/>
          <p:nvPr/>
        </p:nvSpPr>
        <p:spPr>
          <a:xfrm>
            <a:off x="539750" y="3284538"/>
            <a:ext cx="76327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原则：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latin typeface="Verdana" panose="020B0604030504040204" pitchFamily="34" charset="0"/>
              </a:rPr>
              <a:t>      </a:t>
            </a:r>
            <a:r>
              <a:rPr lang="en-US" altLang="zh-CN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(1)</a:t>
            </a:r>
            <a:r>
              <a:rPr lang="en-US" altLang="zh-CN" sz="2000" b="1" dirty="0">
                <a:latin typeface="Verdana" panose="020B0604030504040204" pitchFamily="34" charset="0"/>
              </a:rPr>
              <a:t> </a:t>
            </a:r>
            <a:r>
              <a:rPr lang="zh-CN" altLang="en-US" sz="2000" b="1" dirty="0">
                <a:latin typeface="Verdana" panose="020B0604030504040204" pitchFamily="34" charset="0"/>
              </a:rPr>
              <a:t>注意保持原函数中的运算符号的优先顺序不变。</a:t>
            </a:r>
            <a:r>
              <a:rPr lang="zh-CN" altLang="en-US" sz="2000" dirty="0">
                <a:latin typeface="Verdana" panose="020B0604030504040204" pitchFamily="34" charset="0"/>
              </a:rPr>
              <a:t> </a:t>
            </a:r>
            <a:endParaRPr lang="zh-CN" altLang="en-US" sz="2000" dirty="0">
              <a:latin typeface="Verdana" panose="020B0604030504040204" pitchFamily="34" charset="0"/>
            </a:endParaRPr>
          </a:p>
        </p:txBody>
      </p:sp>
      <p:sp>
        <p:nvSpPr>
          <p:cNvPr id="9228" name="Rectangle 16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9229" name="Rectangle 18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" name="Group 22"/>
          <p:cNvGrpSpPr/>
          <p:nvPr/>
        </p:nvGrpSpPr>
        <p:grpSpPr>
          <a:xfrm>
            <a:off x="539750" y="4724400"/>
            <a:ext cx="8280400" cy="1477963"/>
            <a:chOff x="340" y="2976"/>
            <a:chExt cx="5216" cy="931"/>
          </a:xfrm>
        </p:grpSpPr>
        <p:sp>
          <p:nvSpPr>
            <p:cNvPr id="9231" name="Text Box 14"/>
            <p:cNvSpPr txBox="1"/>
            <p:nvPr/>
          </p:nvSpPr>
          <p:spPr>
            <a:xfrm>
              <a:off x="340" y="2976"/>
              <a:ext cx="5216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3-2】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已知逻辑函数                             ，试求其反函数。</a:t>
              </a:r>
              <a:endPara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latin typeface="Verdana" panose="020B0604030504040204" pitchFamily="34" charset="0"/>
                </a:rPr>
                <a:t>解： 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9218" name="Object 15"/>
            <p:cNvGraphicFramePr/>
            <p:nvPr/>
          </p:nvGraphicFramePr>
          <p:xfrm>
            <a:off x="2290" y="2976"/>
            <a:ext cx="140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3" imgW="1231265" imgH="228600" progId="Equation.DSMT4">
                    <p:embed/>
                  </p:oleObj>
                </mc:Choice>
                <mc:Fallback>
                  <p:oleObj name="" r:id="rId3" imgW="1231265" imgH="228600" progId="Equation.DSMT4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90" y="2976"/>
                          <a:ext cx="1406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" name="Object 17"/>
            <p:cNvGraphicFramePr/>
            <p:nvPr/>
          </p:nvGraphicFramePr>
          <p:xfrm>
            <a:off x="1338" y="3294"/>
            <a:ext cx="151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5" imgW="1346200" imgH="228600" progId="Equation.DSMT4">
                    <p:embed/>
                  </p:oleObj>
                </mc:Choice>
                <mc:Fallback>
                  <p:oleObj name="" r:id="rId5" imgW="1346200" imgH="228600" progId="Equation.DSMT4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8" y="3294"/>
                          <a:ext cx="1519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2" name="Text Box 19"/>
            <p:cNvSpPr txBox="1"/>
            <p:nvPr/>
          </p:nvSpPr>
          <p:spPr>
            <a:xfrm>
              <a:off x="657" y="3657"/>
              <a:ext cx="140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Verdana" panose="020B0604030504040204" pitchFamily="34" charset="0"/>
                </a:rPr>
                <a:t>而不应该是 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9220" name="Object 20"/>
            <p:cNvGraphicFramePr/>
            <p:nvPr/>
          </p:nvGraphicFramePr>
          <p:xfrm>
            <a:off x="1973" y="3621"/>
            <a:ext cx="131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7" imgW="1104900" imgH="203200" progId="Equation.DSMT4">
                    <p:embed/>
                  </p:oleObj>
                </mc:Choice>
                <mc:Fallback>
                  <p:oleObj name="" r:id="rId7" imgW="1104900" imgH="203200" progId="Equation.DSMT4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73" y="3621"/>
                          <a:ext cx="1315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6" name="Text Box 4"/>
          <p:cNvSpPr txBox="1"/>
          <p:nvPr/>
        </p:nvSpPr>
        <p:spPr>
          <a:xfrm>
            <a:off x="755650" y="620713"/>
            <a:ext cx="23764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latin typeface="Verdana" panose="020B0604030504040204" pitchFamily="34" charset="0"/>
              </a:rPr>
              <a:t>2</a:t>
            </a:r>
            <a:r>
              <a:rPr lang="zh-CN" altLang="en-US" sz="2000" b="1" dirty="0">
                <a:latin typeface="Verdana" panose="020B0604030504040204" pitchFamily="34" charset="0"/>
              </a:rPr>
              <a:t>．反演规则</a:t>
            </a:r>
            <a:r>
              <a:rPr lang="zh-CN" altLang="en-US" sz="2000" dirty="0">
                <a:latin typeface="Verdana" panose="020B0604030504040204" pitchFamily="34" charset="0"/>
              </a:rPr>
              <a:t> </a:t>
            </a:r>
            <a:endParaRPr lang="zh-CN" altLang="en-US" sz="2000" dirty="0">
              <a:latin typeface="Verdana" panose="020B0604030504040204" pitchFamily="34" charset="0"/>
            </a:endParaRPr>
          </a:p>
        </p:txBody>
      </p:sp>
      <p:sp>
        <p:nvSpPr>
          <p:cNvPr id="10247" name="Rectangle 5"/>
          <p:cNvSpPr/>
          <p:nvPr/>
        </p:nvSpPr>
        <p:spPr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48" name="Rectangle 6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49" name="Text Box 10"/>
          <p:cNvSpPr txBox="1"/>
          <p:nvPr/>
        </p:nvSpPr>
        <p:spPr>
          <a:xfrm>
            <a:off x="611188" y="1844675"/>
            <a:ext cx="8281987" cy="1008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原则：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latin typeface="Verdana" panose="020B0604030504040204" pitchFamily="34" charset="0"/>
              </a:rPr>
              <a:t>      </a:t>
            </a:r>
            <a:r>
              <a:rPr lang="en-US" altLang="zh-CN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(2)</a:t>
            </a:r>
            <a:r>
              <a:rPr lang="en-US" altLang="zh-CN" sz="2000" b="1" dirty="0">
                <a:latin typeface="Verdana" panose="020B0604030504040204" pitchFamily="34" charset="0"/>
              </a:rPr>
              <a:t> </a:t>
            </a:r>
            <a:r>
              <a:rPr lang="zh-CN" altLang="en-US" sz="2000" b="1" dirty="0">
                <a:latin typeface="Verdana" panose="020B0604030504040204" pitchFamily="34" charset="0"/>
              </a:rPr>
              <a:t>不属于单个变量上的反号应保留不变。或不属于单个变量上的反号下面的函数当一个变量处理。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10250" name="Rectangle 11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51" name="Rectangle 12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52" name="Rectangle 21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53" name="Rectangle 23"/>
          <p:cNvSpPr/>
          <p:nvPr/>
        </p:nvSpPr>
        <p:spPr>
          <a:xfrm>
            <a:off x="0" y="33480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10254" name="Group 26"/>
          <p:cNvGrpSpPr/>
          <p:nvPr/>
        </p:nvGrpSpPr>
        <p:grpSpPr>
          <a:xfrm>
            <a:off x="611188" y="3284538"/>
            <a:ext cx="7488237" cy="488950"/>
            <a:chOff x="385" y="2024"/>
            <a:chExt cx="4717" cy="308"/>
          </a:xfrm>
        </p:grpSpPr>
        <p:sp>
          <p:nvSpPr>
            <p:cNvPr id="10259" name="Text Box 19"/>
            <p:cNvSpPr txBox="1"/>
            <p:nvPr/>
          </p:nvSpPr>
          <p:spPr>
            <a:xfrm>
              <a:off x="385" y="2070"/>
              <a:ext cx="47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Verdana" panose="020B0604030504040204" pitchFamily="34" charset="0"/>
                </a:rPr>
                <a:t>【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3-3】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已知                               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,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求      。 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10244" name="Object 20"/>
            <p:cNvGraphicFramePr/>
            <p:nvPr/>
          </p:nvGraphicFramePr>
          <p:xfrm>
            <a:off x="1655" y="2024"/>
            <a:ext cx="1588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1" imgW="1307465" imgH="254000" progId="Equation.DSMT4">
                    <p:embed/>
                  </p:oleObj>
                </mc:Choice>
                <mc:Fallback>
                  <p:oleObj name="" r:id="rId1" imgW="1307465" imgH="254000" progId="Equation.DSMT4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55" y="2024"/>
                          <a:ext cx="1588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5" name="Object 22"/>
            <p:cNvGraphicFramePr/>
            <p:nvPr/>
          </p:nvGraphicFramePr>
          <p:xfrm>
            <a:off x="3606" y="2069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3" imgW="165100" imgH="190500" progId="Equation.DSMT4">
                    <p:embed/>
                  </p:oleObj>
                </mc:Choice>
                <mc:Fallback>
                  <p:oleObj name="" r:id="rId3" imgW="165100" imgH="1905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06" y="2069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55" name="Text Box 24"/>
          <p:cNvSpPr txBox="1"/>
          <p:nvPr/>
        </p:nvSpPr>
        <p:spPr>
          <a:xfrm>
            <a:off x="755650" y="3860800"/>
            <a:ext cx="16573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解法一：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sp>
        <p:nvSpPr>
          <p:cNvPr id="33819" name="Text Box 27"/>
          <p:cNvSpPr txBox="1"/>
          <p:nvPr/>
        </p:nvSpPr>
        <p:spPr>
          <a:xfrm>
            <a:off x="755650" y="5013325"/>
            <a:ext cx="16573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解法二：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sp>
        <p:nvSpPr>
          <p:cNvPr id="10257" name="Rectangle 29"/>
          <p:cNvSpPr/>
          <p:nvPr/>
        </p:nvSpPr>
        <p:spPr>
          <a:xfrm>
            <a:off x="0" y="31908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10242" name="Object 28"/>
          <p:cNvGraphicFramePr/>
          <p:nvPr/>
        </p:nvGraphicFramePr>
        <p:xfrm>
          <a:off x="2051050" y="3933825"/>
          <a:ext cx="43211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5" imgW="2247900" imgH="533400" progId="Equation.DSMT4">
                  <p:embed/>
                </p:oleObj>
              </mc:Choice>
              <mc:Fallback>
                <p:oleObj name="" r:id="rId5" imgW="2247900" imgH="5334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1050" y="3933825"/>
                        <a:ext cx="4321175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Rectangle 31"/>
          <p:cNvSpPr/>
          <p:nvPr/>
        </p:nvSpPr>
        <p:spPr>
          <a:xfrm>
            <a:off x="0" y="31718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33822" name="Object 30"/>
          <p:cNvGraphicFramePr/>
          <p:nvPr/>
        </p:nvGraphicFramePr>
        <p:xfrm>
          <a:off x="1908175" y="5084763"/>
          <a:ext cx="6913563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7" imgW="3657600" imgH="584200" progId="Equation.DSMT4">
                  <p:embed/>
                </p:oleObj>
              </mc:Choice>
              <mc:Fallback>
                <p:oleObj name="" r:id="rId7" imgW="3657600" imgH="5842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8175" y="5084763"/>
                        <a:ext cx="6913563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9" name="Text Box 3"/>
          <p:cNvSpPr txBox="1"/>
          <p:nvPr/>
        </p:nvSpPr>
        <p:spPr>
          <a:xfrm>
            <a:off x="755650" y="620713"/>
            <a:ext cx="23764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3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．对偶规则</a:t>
            </a:r>
            <a:r>
              <a:rPr lang="zh-CN" altLang="en-US" sz="2000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660066"/>
              </a:solidFill>
              <a:latin typeface="Verdana" panose="020B0604030504040204" pitchFamily="34" charset="0"/>
            </a:endParaRPr>
          </a:p>
        </p:txBody>
      </p:sp>
      <p:sp>
        <p:nvSpPr>
          <p:cNvPr id="11270" name="Text Box 6"/>
          <p:cNvSpPr txBox="1"/>
          <p:nvPr/>
        </p:nvSpPr>
        <p:spPr>
          <a:xfrm>
            <a:off x="468313" y="1773238"/>
            <a:ext cx="8281987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latin typeface="Verdana" panose="020B0604030504040204" pitchFamily="34" charset="0"/>
              </a:rPr>
              <a:t>      </a:t>
            </a:r>
            <a:r>
              <a:rPr lang="zh-CN" altLang="en-US" sz="2000" b="1" dirty="0">
                <a:latin typeface="Verdana" panose="020B0604030504040204" pitchFamily="34" charset="0"/>
              </a:rPr>
              <a:t>对于任何一个逻辑表达式</a:t>
            </a:r>
            <a:r>
              <a:rPr lang="en-US" altLang="zh-CN" sz="2000" b="1" dirty="0">
                <a:latin typeface="Verdana" panose="020B0604030504040204" pitchFamily="34" charset="0"/>
              </a:rPr>
              <a:t>F</a:t>
            </a:r>
            <a:r>
              <a:rPr lang="zh-CN" altLang="en-US" sz="2000" b="1" dirty="0">
                <a:latin typeface="Verdana" panose="020B0604030504040204" pitchFamily="34" charset="0"/>
              </a:rPr>
              <a:t>，如果将式中所有的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>
                <a:latin typeface="Arial" panose="020B0604020202020204" pitchFamily="34" charset="0"/>
              </a:rPr>
              <a:t>·</a:t>
            </a:r>
            <a:r>
              <a:rPr lang="en-US" altLang="zh-CN" sz="2000" b="1" dirty="0">
                <a:latin typeface="Verdana" panose="020B060403050404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换成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>
                <a:latin typeface="Verdana" panose="020B0604030504040204" pitchFamily="34" charset="0"/>
              </a:rPr>
              <a:t>+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，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>
                <a:latin typeface="Verdana" panose="020B0604030504040204" pitchFamily="34" charset="0"/>
              </a:rPr>
              <a:t>+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换成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>
                <a:latin typeface="Arial" panose="020B0604020202020204" pitchFamily="34" charset="0"/>
              </a:rPr>
              <a:t>·</a:t>
            </a:r>
            <a:r>
              <a:rPr lang="en-US" altLang="zh-CN" sz="2000" b="1" dirty="0">
                <a:latin typeface="Verdana" panose="020B060403050404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，而变量保持不变，原表达式中的运算优先顺序不变。那么就可以得到一个新的表达式，这个新的表达式称为</a:t>
            </a:r>
            <a:r>
              <a:rPr lang="en-US" altLang="zh-CN" sz="2000" b="1" dirty="0">
                <a:latin typeface="Verdana" panose="020B0604030504040204" pitchFamily="34" charset="0"/>
              </a:rPr>
              <a:t>F</a:t>
            </a:r>
            <a:r>
              <a:rPr lang="zh-CN" altLang="en-US" sz="2000" b="1" dirty="0">
                <a:latin typeface="Verdana" panose="020B0604030504040204" pitchFamily="34" charset="0"/>
              </a:rPr>
              <a:t>的对偶式</a:t>
            </a:r>
            <a:r>
              <a:rPr lang="en-US" altLang="zh-CN" sz="2000" b="1" dirty="0">
                <a:latin typeface="Verdana" panose="020B0604030504040204" pitchFamily="34" charset="0"/>
              </a:rPr>
              <a:t>F*</a:t>
            </a:r>
            <a:r>
              <a:rPr lang="zh-CN" altLang="en-US" sz="2000" b="1" dirty="0">
                <a:latin typeface="Verdana" panose="020B0604030504040204" pitchFamily="34" charset="0"/>
              </a:rPr>
              <a:t>。</a:t>
            </a:r>
            <a:r>
              <a:rPr lang="zh-CN" altLang="en-US" sz="2000" dirty="0">
                <a:latin typeface="Verdana" panose="020B0604030504040204" pitchFamily="34" charset="0"/>
              </a:rPr>
              <a:t> </a:t>
            </a:r>
            <a:endParaRPr lang="zh-CN" altLang="en-US" sz="2000" dirty="0">
              <a:latin typeface="Verdana" panose="020B0604030504040204" pitchFamily="34" charset="0"/>
            </a:endParaRPr>
          </a:p>
        </p:txBody>
      </p:sp>
      <p:sp>
        <p:nvSpPr>
          <p:cNvPr id="11271" name="Rectangle 19"/>
          <p:cNvSpPr/>
          <p:nvPr/>
        </p:nvSpPr>
        <p:spPr>
          <a:xfrm>
            <a:off x="0" y="31718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" name="Group 45"/>
          <p:cNvGrpSpPr/>
          <p:nvPr/>
        </p:nvGrpSpPr>
        <p:grpSpPr>
          <a:xfrm>
            <a:off x="250825" y="3284538"/>
            <a:ext cx="8281988" cy="990600"/>
            <a:chOff x="158" y="2285"/>
            <a:chExt cx="5217" cy="624"/>
          </a:xfrm>
        </p:grpSpPr>
        <p:sp>
          <p:nvSpPr>
            <p:cNvPr id="11275" name="Text Box 21"/>
            <p:cNvSpPr txBox="1"/>
            <p:nvPr/>
          </p:nvSpPr>
          <p:spPr>
            <a:xfrm>
              <a:off x="158" y="2296"/>
              <a:ext cx="52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Verdana" panose="020B0604030504040204" pitchFamily="34" charset="0"/>
                </a:rPr>
                <a:t>      【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3-4】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已知                       ，求    。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11266" name="Object 22"/>
            <p:cNvGraphicFramePr/>
            <p:nvPr/>
          </p:nvGraphicFramePr>
          <p:xfrm>
            <a:off x="1882" y="2285"/>
            <a:ext cx="99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1" imgW="862965" imgH="203200" progId="Equation.DSMT4">
                    <p:embed/>
                  </p:oleObj>
                </mc:Choice>
                <mc:Fallback>
                  <p:oleObj name="" r:id="rId1" imgW="862965" imgH="203200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82" y="2285"/>
                          <a:ext cx="998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7" name="Object 24"/>
            <p:cNvGraphicFramePr/>
            <p:nvPr/>
          </p:nvGraphicFramePr>
          <p:xfrm>
            <a:off x="3288" y="2296"/>
            <a:ext cx="249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3" imgW="203200" imgH="190500" progId="Equation.DSMT4">
                    <p:embed/>
                  </p:oleObj>
                </mc:Choice>
                <mc:Fallback>
                  <p:oleObj name="" r:id="rId3" imgW="203200" imgH="190500" progId="Equation.DSMT4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88" y="2296"/>
                          <a:ext cx="249" cy="2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6" name="Text Box 26"/>
            <p:cNvSpPr txBox="1"/>
            <p:nvPr/>
          </p:nvSpPr>
          <p:spPr>
            <a:xfrm>
              <a:off x="703" y="2659"/>
              <a:ext cx="5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解： </a:t>
              </a:r>
              <a:endPara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11268" name="Object 27"/>
            <p:cNvGraphicFramePr/>
            <p:nvPr/>
          </p:nvGraphicFramePr>
          <p:xfrm>
            <a:off x="1746" y="2614"/>
            <a:ext cx="158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5" imgW="1282700" imgH="228600" progId="Equation.DSMT4">
                    <p:embed/>
                  </p:oleObj>
                </mc:Choice>
                <mc:Fallback>
                  <p:oleObj name="" r:id="rId5" imgW="1282700" imgH="228600" progId="Equation.DSMT4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46" y="2614"/>
                          <a:ext cx="1588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3" name="Rectangle 41"/>
          <p:cNvSpPr/>
          <p:nvPr/>
        </p:nvSpPr>
        <p:spPr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1274" name="Rectangle 43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2" name="Text Box 3"/>
          <p:cNvSpPr txBox="1"/>
          <p:nvPr/>
        </p:nvSpPr>
        <p:spPr>
          <a:xfrm>
            <a:off x="684213" y="476250"/>
            <a:ext cx="237648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3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．对偶规则</a:t>
            </a:r>
            <a:r>
              <a:rPr lang="zh-CN" altLang="en-US" sz="2000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660066"/>
              </a:solidFill>
              <a:latin typeface="Verdana" panose="020B0604030504040204" pitchFamily="34" charset="0"/>
            </a:endParaRPr>
          </a:p>
        </p:txBody>
      </p:sp>
      <p:sp>
        <p:nvSpPr>
          <p:cNvPr id="12293" name="Text Box 4"/>
          <p:cNvSpPr txBox="1"/>
          <p:nvPr/>
        </p:nvSpPr>
        <p:spPr>
          <a:xfrm>
            <a:off x="468313" y="1916113"/>
            <a:ext cx="8424862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latin typeface="Verdana" panose="020B0604030504040204" pitchFamily="34" charset="0"/>
              </a:rPr>
              <a:t>对偶式的两个重要性质：</a:t>
            </a:r>
            <a:endParaRPr lang="zh-CN" altLang="en-US" sz="2000" b="1" dirty="0"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性质</a:t>
            </a:r>
            <a:r>
              <a:rPr lang="en-US" altLang="zh-CN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：</a:t>
            </a:r>
            <a:r>
              <a:rPr lang="zh-CN" altLang="en-US" sz="2000" b="1" dirty="0">
                <a:latin typeface="Verdana" panose="020B0604030504040204" pitchFamily="34" charset="0"/>
              </a:rPr>
              <a:t>若</a:t>
            </a:r>
            <a:r>
              <a:rPr lang="en-US" altLang="zh-CN" sz="2000" b="1" dirty="0">
                <a:latin typeface="Verdana" panose="020B0604030504040204" pitchFamily="34" charset="0"/>
              </a:rPr>
              <a:t>F</a:t>
            </a:r>
            <a:r>
              <a:rPr lang="zh-CN" altLang="en-US" sz="2000" b="1" dirty="0">
                <a:latin typeface="Verdana" panose="020B0604030504040204" pitchFamily="34" charset="0"/>
              </a:rPr>
              <a:t>（</a:t>
            </a:r>
            <a:r>
              <a:rPr lang="en-US" altLang="zh-CN" sz="2000" b="1" dirty="0">
                <a:latin typeface="Verdana" panose="020B0604030504040204" pitchFamily="34" charset="0"/>
              </a:rPr>
              <a:t>A</a:t>
            </a:r>
            <a:r>
              <a:rPr lang="zh-CN" altLang="en-US" sz="2000" b="1" dirty="0">
                <a:latin typeface="Verdana" panose="020B0604030504040204" pitchFamily="34" charset="0"/>
              </a:rPr>
              <a:t>，</a:t>
            </a:r>
            <a:r>
              <a:rPr lang="en-US" altLang="zh-CN" sz="2000" b="1" dirty="0">
                <a:latin typeface="Verdana" panose="020B0604030504040204" pitchFamily="34" charset="0"/>
              </a:rPr>
              <a:t>B</a:t>
            </a:r>
            <a:r>
              <a:rPr lang="zh-CN" altLang="en-US" sz="2000" b="1" dirty="0">
                <a:latin typeface="Verdana" panose="020B0604030504040204" pitchFamily="34" charset="0"/>
              </a:rPr>
              <a:t>，</a:t>
            </a:r>
            <a:r>
              <a:rPr lang="en-US" altLang="zh-CN" sz="2000" b="1" dirty="0">
                <a:latin typeface="Verdana" panose="020B0604030504040204" pitchFamily="34" charset="0"/>
              </a:rPr>
              <a:t>C</a:t>
            </a:r>
            <a:r>
              <a:rPr lang="zh-CN" altLang="en-US" sz="2000" b="1" dirty="0">
                <a:latin typeface="Verdana" panose="020B0604030504040204" pitchFamily="34" charset="0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</a:rPr>
              <a:t>···</a:t>
            </a:r>
            <a:r>
              <a:rPr lang="zh-CN" altLang="en-US" sz="2000" b="1" dirty="0">
                <a:latin typeface="Verdana" panose="020B0604030504040204" pitchFamily="34" charset="0"/>
              </a:rPr>
              <a:t>）</a:t>
            </a:r>
            <a:r>
              <a:rPr lang="en-US" altLang="zh-CN" sz="2000" b="1" dirty="0">
                <a:latin typeface="Verdana" panose="020B0604030504040204" pitchFamily="34" charset="0"/>
              </a:rPr>
              <a:t>=G</a:t>
            </a:r>
            <a:r>
              <a:rPr lang="zh-CN" altLang="en-US" sz="2000" b="1" dirty="0">
                <a:latin typeface="Verdana" panose="020B0604030504040204" pitchFamily="34" charset="0"/>
              </a:rPr>
              <a:t>（</a:t>
            </a:r>
            <a:r>
              <a:rPr lang="en-US" altLang="zh-CN" sz="2000" b="1" dirty="0">
                <a:latin typeface="Verdana" panose="020B0604030504040204" pitchFamily="34" charset="0"/>
              </a:rPr>
              <a:t>A</a:t>
            </a:r>
            <a:r>
              <a:rPr lang="zh-CN" altLang="en-US" sz="2000" b="1" dirty="0">
                <a:latin typeface="Verdana" panose="020B0604030504040204" pitchFamily="34" charset="0"/>
              </a:rPr>
              <a:t>，</a:t>
            </a:r>
            <a:r>
              <a:rPr lang="en-US" altLang="zh-CN" sz="2000" b="1" dirty="0">
                <a:latin typeface="Verdana" panose="020B0604030504040204" pitchFamily="34" charset="0"/>
              </a:rPr>
              <a:t>B</a:t>
            </a:r>
            <a:r>
              <a:rPr lang="zh-CN" altLang="en-US" sz="2000" b="1" dirty="0">
                <a:latin typeface="Verdana" panose="020B0604030504040204" pitchFamily="34" charset="0"/>
              </a:rPr>
              <a:t>，</a:t>
            </a:r>
            <a:r>
              <a:rPr lang="en-US" altLang="zh-CN" sz="2000" b="1" dirty="0">
                <a:latin typeface="Verdana" panose="020B0604030504040204" pitchFamily="34" charset="0"/>
              </a:rPr>
              <a:t>C</a:t>
            </a:r>
            <a:r>
              <a:rPr lang="zh-CN" altLang="en-US" sz="2000" b="1" dirty="0">
                <a:latin typeface="Verdana" panose="020B0604030504040204" pitchFamily="34" charset="0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</a:rPr>
              <a:t>···</a:t>
            </a:r>
            <a:r>
              <a:rPr lang="zh-CN" altLang="en-US" sz="2000" b="1" dirty="0">
                <a:latin typeface="Verdana" panose="020B0604030504040204" pitchFamily="34" charset="0"/>
              </a:rPr>
              <a:t>），则   </a:t>
            </a:r>
            <a:r>
              <a:rPr lang="en-US" altLang="zh-CN" sz="2000" b="1" dirty="0">
                <a:latin typeface="Verdana" panose="020B0604030504040204" pitchFamily="34" charset="0"/>
              </a:rPr>
              <a:t>F*=G*</a:t>
            </a:r>
            <a:endParaRPr lang="en-US" altLang="zh-CN" sz="2000" b="1" dirty="0"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性质</a:t>
            </a:r>
            <a:r>
              <a:rPr lang="en-US" altLang="zh-CN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：</a:t>
            </a:r>
            <a:r>
              <a:rPr lang="zh-CN" altLang="en-US" sz="2000" b="1" dirty="0">
                <a:latin typeface="Verdana" panose="020B0604030504040204" pitchFamily="34" charset="0"/>
              </a:rPr>
              <a:t>（</a:t>
            </a:r>
            <a:r>
              <a:rPr lang="en-US" altLang="zh-CN" sz="2000" b="1" dirty="0">
                <a:latin typeface="Verdana" panose="020B0604030504040204" pitchFamily="34" charset="0"/>
              </a:rPr>
              <a:t>F* </a:t>
            </a:r>
            <a:r>
              <a:rPr lang="zh-CN" altLang="en-US" sz="2000" b="1" dirty="0">
                <a:latin typeface="Verdana" panose="020B0604030504040204" pitchFamily="34" charset="0"/>
              </a:rPr>
              <a:t>）*</a:t>
            </a:r>
            <a:r>
              <a:rPr lang="en-US" altLang="zh-CN" sz="2000" b="1" dirty="0">
                <a:latin typeface="Verdana" panose="020B0604030504040204" pitchFamily="34" charset="0"/>
              </a:rPr>
              <a:t>= F</a:t>
            </a:r>
            <a:r>
              <a:rPr lang="en-US" altLang="zh-CN" sz="2000" dirty="0">
                <a:latin typeface="Verdana" panose="020B0604030504040204" pitchFamily="34" charset="0"/>
              </a:rPr>
              <a:t> </a:t>
            </a:r>
            <a:r>
              <a:rPr lang="en-US" altLang="zh-CN" sz="2000" b="1" dirty="0">
                <a:latin typeface="Verdana" panose="020B0604030504040204" pitchFamily="34" charset="0"/>
              </a:rPr>
              <a:t> </a:t>
            </a:r>
            <a:endParaRPr lang="en-US" altLang="zh-CN" sz="2000" b="1" dirty="0">
              <a:latin typeface="Verdana" panose="020B0604030504040204" pitchFamily="34" charset="0"/>
            </a:endParaRPr>
          </a:p>
        </p:txBody>
      </p:sp>
      <p:sp>
        <p:nvSpPr>
          <p:cNvPr id="12294" name="Rectangle 5"/>
          <p:cNvSpPr/>
          <p:nvPr/>
        </p:nvSpPr>
        <p:spPr>
          <a:xfrm>
            <a:off x="0" y="31718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2295" name="Rectangle 13"/>
          <p:cNvSpPr/>
          <p:nvPr/>
        </p:nvSpPr>
        <p:spPr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2296" name="Rectangle 14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2297" name="Rectangle 26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2298" name="Rectangle 28"/>
          <p:cNvSpPr/>
          <p:nvPr/>
        </p:nvSpPr>
        <p:spPr>
          <a:xfrm>
            <a:off x="0" y="30003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468313" y="3573463"/>
            <a:ext cx="8353425" cy="2565400"/>
            <a:chOff x="385" y="2296"/>
            <a:chExt cx="5262" cy="1616"/>
          </a:xfrm>
        </p:grpSpPr>
        <p:sp>
          <p:nvSpPr>
            <p:cNvPr id="12300" name="Text Box 24"/>
            <p:cNvSpPr txBox="1"/>
            <p:nvPr/>
          </p:nvSpPr>
          <p:spPr>
            <a:xfrm>
              <a:off x="385" y="2296"/>
              <a:ext cx="5035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3-6】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证明函数                                       是一自对偶函数。</a:t>
              </a:r>
              <a:endPara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证明：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 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12290" name="Object 25"/>
            <p:cNvGraphicFramePr/>
            <p:nvPr/>
          </p:nvGraphicFramePr>
          <p:xfrm>
            <a:off x="2018" y="2296"/>
            <a:ext cx="1996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" imgW="1574800" imgH="228600" progId="Equation.DSMT4">
                    <p:embed/>
                  </p:oleObj>
                </mc:Choice>
                <mc:Fallback>
                  <p:oleObj name="" r:id="rId1" imgW="1574800" imgH="228600" progId="Equation.DSMT4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18" y="2296"/>
                          <a:ext cx="1996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1" name="Object 27"/>
            <p:cNvGraphicFramePr/>
            <p:nvPr/>
          </p:nvGraphicFramePr>
          <p:xfrm>
            <a:off x="748" y="2704"/>
            <a:ext cx="4899" cy="1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3" imgW="4089400" imgH="965200" progId="Equation.DSMT4">
                    <p:embed/>
                  </p:oleObj>
                </mc:Choice>
                <mc:Fallback>
                  <p:oleObj name="" r:id="rId3" imgW="4089400" imgH="96520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48" y="2704"/>
                          <a:ext cx="4899" cy="1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400" b="1" dirty="0"/>
              <a:t>3.3 </a:t>
            </a:r>
            <a:r>
              <a:rPr lang="zh-CN" altLang="en-US" sz="4400" b="1" dirty="0"/>
              <a:t>逻辑函数表述方法</a:t>
            </a:r>
            <a:r>
              <a:rPr lang="zh-CN" altLang="en-US" sz="4400" dirty="0"/>
              <a:t> </a:t>
            </a:r>
            <a:endParaRPr lang="zh-CN" altLang="en-US" sz="4400" dirty="0"/>
          </a:p>
        </p:txBody>
      </p:sp>
      <p:sp>
        <p:nvSpPr>
          <p:cNvPr id="13318" name="Text Box 3"/>
          <p:cNvSpPr txBox="1"/>
          <p:nvPr/>
        </p:nvSpPr>
        <p:spPr>
          <a:xfrm>
            <a:off x="611188" y="1773238"/>
            <a:ext cx="38877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3.3.1 </a:t>
            </a:r>
            <a:r>
              <a:rPr lang="zh-CN" altLang="en-US" sz="2400" b="1" dirty="0">
                <a:latin typeface="Verdana" panose="020B0604030504040204" pitchFamily="34" charset="0"/>
              </a:rPr>
              <a:t>逻辑代数表达式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graphicFrame>
        <p:nvGraphicFramePr>
          <p:cNvPr id="13314" name="Object 14"/>
          <p:cNvGraphicFramePr/>
          <p:nvPr/>
        </p:nvGraphicFramePr>
        <p:xfrm>
          <a:off x="1619250" y="2276475"/>
          <a:ext cx="54356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2768600" imgH="228600" progId="Equation.DSMT4">
                  <p:embed/>
                </p:oleObj>
              </mc:Choice>
              <mc:Fallback>
                <p:oleObj name="" r:id="rId1" imgW="2768600" imgH="2286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250" y="2276475"/>
                        <a:ext cx="5435600" cy="4508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2" name="Text Box 16"/>
          <p:cNvSpPr txBox="1"/>
          <p:nvPr/>
        </p:nvSpPr>
        <p:spPr>
          <a:xfrm>
            <a:off x="611188" y="2924175"/>
            <a:ext cx="38877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3.3.2 </a:t>
            </a:r>
            <a:r>
              <a:rPr lang="zh-CN" altLang="en-US" sz="2400" b="1" dirty="0">
                <a:latin typeface="Verdana" panose="020B0604030504040204" pitchFamily="34" charset="0"/>
              </a:rPr>
              <a:t>逻辑图表述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grpSp>
        <p:nvGrpSpPr>
          <p:cNvPr id="2" name="Group 47"/>
          <p:cNvGrpSpPr/>
          <p:nvPr/>
        </p:nvGrpSpPr>
        <p:grpSpPr>
          <a:xfrm>
            <a:off x="684213" y="3429000"/>
            <a:ext cx="7632700" cy="2743200"/>
            <a:chOff x="431" y="2160"/>
            <a:chExt cx="4808" cy="1728"/>
          </a:xfrm>
        </p:grpSpPr>
        <p:sp>
          <p:nvSpPr>
            <p:cNvPr id="13321" name="Text Box 4"/>
            <p:cNvSpPr txBox="1"/>
            <p:nvPr/>
          </p:nvSpPr>
          <p:spPr>
            <a:xfrm>
              <a:off x="431" y="2160"/>
              <a:ext cx="3380" cy="6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3-7】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分析图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逻辑图的逻辑功能。</a:t>
              </a:r>
              <a:endPara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  <a:p>
              <a:endPara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解：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由图可知</a:t>
              </a:r>
              <a:r>
                <a:rPr lang="zh-CN" altLang="en-US" sz="2000" dirty="0">
                  <a:latin typeface="Verdana" panose="020B0604030504040204" pitchFamily="34" charset="0"/>
                </a:rPr>
                <a:t> 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13322" name="Group 17"/>
            <p:cNvGrpSpPr>
              <a:grpSpLocks noChangeAspect="1"/>
            </p:cNvGrpSpPr>
            <p:nvPr/>
          </p:nvGrpSpPr>
          <p:grpSpPr>
            <a:xfrm>
              <a:off x="3016" y="2602"/>
              <a:ext cx="2223" cy="939"/>
              <a:chOff x="2688" y="7237"/>
              <a:chExt cx="2746" cy="1161"/>
            </a:xfrm>
          </p:grpSpPr>
          <p:sp>
            <p:nvSpPr>
              <p:cNvPr id="13324" name="AutoShape 18"/>
              <p:cNvSpPr>
                <a:spLocks noChangeAspect="1"/>
              </p:cNvSpPr>
              <p:nvPr/>
            </p:nvSpPr>
            <p:spPr>
              <a:xfrm>
                <a:off x="2688" y="7237"/>
                <a:ext cx="2746" cy="11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grpSp>
            <p:nvGrpSpPr>
              <p:cNvPr id="13325" name="Group 19"/>
              <p:cNvGrpSpPr/>
              <p:nvPr/>
            </p:nvGrpSpPr>
            <p:grpSpPr>
              <a:xfrm>
                <a:off x="3142" y="7441"/>
                <a:ext cx="1916" cy="957"/>
                <a:chOff x="3081" y="7408"/>
                <a:chExt cx="2587" cy="1347"/>
              </a:xfrm>
            </p:grpSpPr>
            <p:sp>
              <p:nvSpPr>
                <p:cNvPr id="13330" name="AutoShape 20"/>
                <p:cNvSpPr/>
                <p:nvPr/>
              </p:nvSpPr>
              <p:spPr>
                <a:xfrm>
                  <a:off x="3638" y="7408"/>
                  <a:ext cx="530" cy="417"/>
                </a:xfrm>
                <a:prstGeom prst="flowChartDelay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3331" name="AutoShape 21"/>
                <p:cNvSpPr/>
                <p:nvPr/>
              </p:nvSpPr>
              <p:spPr>
                <a:xfrm>
                  <a:off x="4780" y="8225"/>
                  <a:ext cx="530" cy="416"/>
                </a:xfrm>
                <a:prstGeom prst="flowChartDelay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3332" name="AutoShape 22"/>
                <p:cNvSpPr/>
                <p:nvPr/>
              </p:nvSpPr>
              <p:spPr>
                <a:xfrm rot="5400000">
                  <a:off x="4756" y="7452"/>
                  <a:ext cx="372" cy="289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3333" name="Oval 23"/>
                <p:cNvSpPr/>
                <p:nvPr/>
              </p:nvSpPr>
              <p:spPr>
                <a:xfrm>
                  <a:off x="5088" y="7537"/>
                  <a:ext cx="104" cy="11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3334" name="Oval 24"/>
                <p:cNvSpPr/>
                <p:nvPr/>
              </p:nvSpPr>
              <p:spPr>
                <a:xfrm>
                  <a:off x="4174" y="7552"/>
                  <a:ext cx="104" cy="114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3335" name="Line 25"/>
                <p:cNvSpPr/>
                <p:nvPr/>
              </p:nvSpPr>
              <p:spPr>
                <a:xfrm>
                  <a:off x="4283" y="7606"/>
                  <a:ext cx="501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36" name="Line 26"/>
                <p:cNvSpPr/>
                <p:nvPr/>
              </p:nvSpPr>
              <p:spPr>
                <a:xfrm>
                  <a:off x="5199" y="7597"/>
                  <a:ext cx="365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37" name="Line 27"/>
                <p:cNvSpPr/>
                <p:nvPr/>
              </p:nvSpPr>
              <p:spPr>
                <a:xfrm>
                  <a:off x="5302" y="8437"/>
                  <a:ext cx="366" cy="1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38" name="Line 28"/>
                <p:cNvSpPr/>
                <p:nvPr/>
              </p:nvSpPr>
              <p:spPr>
                <a:xfrm flipH="1">
                  <a:off x="4553" y="8326"/>
                  <a:ext cx="21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39" name="Line 29"/>
                <p:cNvSpPr/>
                <p:nvPr/>
              </p:nvSpPr>
              <p:spPr>
                <a:xfrm flipV="1">
                  <a:off x="4553" y="7612"/>
                  <a:ext cx="0" cy="71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oval" w="sm" len="sm"/>
                </a:ln>
              </p:spPr>
            </p:sp>
            <p:sp>
              <p:nvSpPr>
                <p:cNvPr id="13340" name="AutoShape 30"/>
                <p:cNvSpPr/>
                <p:nvPr/>
              </p:nvSpPr>
              <p:spPr>
                <a:xfrm rot="10800000">
                  <a:off x="3688" y="8345"/>
                  <a:ext cx="535" cy="410"/>
                </a:xfrm>
                <a:prstGeom prst="moon">
                  <a:avLst>
                    <a:gd name="adj" fmla="val 86292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3341" name="Line 31"/>
                <p:cNvSpPr/>
                <p:nvPr/>
              </p:nvSpPr>
              <p:spPr>
                <a:xfrm>
                  <a:off x="4221" y="8551"/>
                  <a:ext cx="556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42" name="Line 32"/>
                <p:cNvSpPr/>
                <p:nvPr/>
              </p:nvSpPr>
              <p:spPr>
                <a:xfrm>
                  <a:off x="3087" y="7477"/>
                  <a:ext cx="556" cy="1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43" name="Line 33"/>
                <p:cNvSpPr/>
                <p:nvPr/>
              </p:nvSpPr>
              <p:spPr>
                <a:xfrm>
                  <a:off x="3081" y="7732"/>
                  <a:ext cx="556" cy="1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44" name="Line 34"/>
                <p:cNvSpPr/>
                <p:nvPr/>
              </p:nvSpPr>
              <p:spPr>
                <a:xfrm flipH="1">
                  <a:off x="3518" y="8431"/>
                  <a:ext cx="21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45" name="Line 35"/>
                <p:cNvSpPr/>
                <p:nvPr/>
              </p:nvSpPr>
              <p:spPr>
                <a:xfrm flipV="1">
                  <a:off x="3520" y="7726"/>
                  <a:ext cx="1" cy="705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oval" w="sm" len="sm"/>
                </a:ln>
              </p:spPr>
            </p:sp>
            <p:sp>
              <p:nvSpPr>
                <p:cNvPr id="13346" name="Line 36"/>
                <p:cNvSpPr/>
                <p:nvPr/>
              </p:nvSpPr>
              <p:spPr>
                <a:xfrm flipV="1">
                  <a:off x="3256" y="7471"/>
                  <a:ext cx="1" cy="118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oval" w="sm" len="sm"/>
                </a:ln>
              </p:spPr>
            </p:sp>
            <p:sp>
              <p:nvSpPr>
                <p:cNvPr id="13347" name="Line 37"/>
                <p:cNvSpPr/>
                <p:nvPr/>
              </p:nvSpPr>
              <p:spPr>
                <a:xfrm>
                  <a:off x="3262" y="8656"/>
                  <a:ext cx="480" cy="1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326" name="Text Box 38"/>
              <p:cNvSpPr txBox="1"/>
              <p:nvPr/>
            </p:nvSpPr>
            <p:spPr>
              <a:xfrm>
                <a:off x="2748" y="7237"/>
                <a:ext cx="368" cy="4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600" b="1" dirty="0">
                    <a:latin typeface="Times New Roman" panose="02020603050405020304" pitchFamily="18" charset="0"/>
                  </a:rPr>
                  <a:t>A</a:t>
                </a:r>
                <a:endParaRPr lang="en-US" altLang="zh-CN" sz="16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3327" name="Text Box 39"/>
              <p:cNvSpPr txBox="1"/>
              <p:nvPr/>
            </p:nvSpPr>
            <p:spPr>
              <a:xfrm>
                <a:off x="2736" y="7435"/>
                <a:ext cx="368" cy="4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600" b="1" dirty="0">
                    <a:latin typeface="Times New Roman" panose="02020603050405020304" pitchFamily="18" charset="0"/>
                  </a:rPr>
                  <a:t>B</a:t>
                </a:r>
                <a:endParaRPr lang="en-US" altLang="zh-CN" sz="16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3328" name="Text Box 40"/>
              <p:cNvSpPr txBox="1"/>
              <p:nvPr/>
            </p:nvSpPr>
            <p:spPr>
              <a:xfrm>
                <a:off x="5020" y="7999"/>
                <a:ext cx="414" cy="3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600" b="1" dirty="0">
                    <a:latin typeface="Times New Roman" panose="02020603050405020304" pitchFamily="18" charset="0"/>
                  </a:rPr>
                  <a:t>S</a:t>
                </a:r>
                <a:endParaRPr lang="en-US" altLang="zh-CN" sz="16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3329" name="Text Box 41"/>
              <p:cNvSpPr txBox="1"/>
              <p:nvPr/>
            </p:nvSpPr>
            <p:spPr>
              <a:xfrm>
                <a:off x="4878" y="7339"/>
                <a:ext cx="452" cy="4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600" b="1" dirty="0">
                    <a:latin typeface="Times New Roman" panose="02020603050405020304" pitchFamily="18" charset="0"/>
                  </a:rPr>
                  <a:t>C</a:t>
                </a:r>
                <a:endParaRPr lang="en-US" altLang="zh-CN" sz="1600" b="1" dirty="0">
                  <a:latin typeface="Verdana" panose="020B0604030504040204" pitchFamily="34" charset="0"/>
                </a:endParaRPr>
              </a:p>
            </p:txBody>
          </p:sp>
        </p:grpSp>
        <p:graphicFrame>
          <p:nvGraphicFramePr>
            <p:cNvPr id="13315" name="Object 42"/>
            <p:cNvGraphicFramePr/>
            <p:nvPr/>
          </p:nvGraphicFramePr>
          <p:xfrm>
            <a:off x="657" y="2840"/>
            <a:ext cx="158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3" imgW="1308100" imgH="241300" progId="Equation.DSMT4">
                    <p:embed/>
                  </p:oleObj>
                </mc:Choice>
                <mc:Fallback>
                  <p:oleObj name="" r:id="rId3" imgW="1308100" imgH="241300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57" y="2840"/>
                          <a:ext cx="1588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6" name="Object 44"/>
            <p:cNvGraphicFramePr/>
            <p:nvPr/>
          </p:nvGraphicFramePr>
          <p:xfrm>
            <a:off x="657" y="3158"/>
            <a:ext cx="161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5" imgW="1231265" imgH="266700" progId="Equation.DSMT4">
                    <p:embed/>
                  </p:oleObj>
                </mc:Choice>
                <mc:Fallback>
                  <p:oleObj name="" r:id="rId5" imgW="1231265" imgH="266700" progId="Equation.DSMT4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7" y="3158"/>
                          <a:ext cx="1610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3" name="Text Box 46"/>
            <p:cNvSpPr txBox="1"/>
            <p:nvPr/>
          </p:nvSpPr>
          <p:spPr>
            <a:xfrm>
              <a:off x="2925" y="3657"/>
              <a:ext cx="231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图 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  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3-7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的逻辑图 </a:t>
              </a:r>
              <a:endParaRPr lang="zh-CN" altLang="en-US" b="1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ext Box 3"/>
          <p:cNvSpPr txBox="1"/>
          <p:nvPr/>
        </p:nvSpPr>
        <p:spPr>
          <a:xfrm>
            <a:off x="611188" y="620713"/>
            <a:ext cx="38877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3.3.3 </a:t>
            </a:r>
            <a:r>
              <a:rPr lang="zh-CN" altLang="en-US" sz="2400" b="1" dirty="0">
                <a:latin typeface="Verdana" panose="020B0604030504040204" pitchFamily="34" charset="0"/>
              </a:rPr>
              <a:t>真值表表述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50179" name="Text Box 5"/>
          <p:cNvSpPr txBox="1"/>
          <p:nvPr/>
        </p:nvSpPr>
        <p:spPr>
          <a:xfrm>
            <a:off x="539750" y="2205038"/>
            <a:ext cx="4249738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3-8】 </a:t>
            </a:r>
            <a:endParaRPr lang="en-US" altLang="zh-CN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       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列出函数</a:t>
            </a:r>
            <a:r>
              <a:rPr lang="en-US" altLang="zh-CN" sz="2000" b="1" i="1" dirty="0">
                <a:solidFill>
                  <a:srgbClr val="006600"/>
                </a:solidFill>
                <a:latin typeface="Verdana" panose="020B0604030504040204" pitchFamily="34" charset="0"/>
              </a:rPr>
              <a:t>Y=AB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+</a:t>
            </a:r>
            <a:r>
              <a:rPr lang="en-US" altLang="zh-CN" sz="2000" b="1" i="1" dirty="0">
                <a:solidFill>
                  <a:srgbClr val="006600"/>
                </a:solidFill>
                <a:latin typeface="Verdana" panose="020B0604030504040204" pitchFamily="34" charset="0"/>
              </a:rPr>
              <a:t>BC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+</a:t>
            </a:r>
            <a:r>
              <a:rPr lang="en-US" altLang="zh-CN" sz="2000" b="1" i="1" dirty="0">
                <a:solidFill>
                  <a:srgbClr val="006600"/>
                </a:solidFill>
                <a:latin typeface="Verdana" panose="020B0604030504040204" pitchFamily="34" charset="0"/>
              </a:rPr>
              <a:t>CA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的真值表。</a:t>
            </a:r>
            <a:endParaRPr lang="zh-CN" altLang="en-US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</a:t>
            </a:r>
            <a:r>
              <a:rPr lang="zh-CN" altLang="en-US" dirty="0">
                <a:latin typeface="Verdana" panose="020B0604030504040204" pitchFamily="34" charset="0"/>
              </a:rPr>
              <a:t> 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42270" name="Group 286"/>
          <p:cNvGraphicFramePr>
            <a:graphicFrameLocks noGrp="1"/>
          </p:cNvGraphicFramePr>
          <p:nvPr>
            <p:ph idx="1"/>
          </p:nvPr>
        </p:nvGraphicFramePr>
        <p:xfrm>
          <a:off x="4932363" y="2349500"/>
          <a:ext cx="3717925" cy="3657600"/>
        </p:xfrm>
        <a:graphic>
          <a:graphicData uri="http://schemas.openxmlformats.org/drawingml/2006/table">
            <a:tbl>
              <a:tblPr/>
              <a:tblGrid>
                <a:gridCol w="868362"/>
                <a:gridCol w="885825"/>
                <a:gridCol w="866775"/>
                <a:gridCol w="1096963"/>
              </a:tblGrid>
              <a:tr h="346075">
                <a:tc gridSpan="4"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3-2 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例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3-8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的真值表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44488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44488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44488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44488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50234" name="Text Box 287"/>
          <p:cNvSpPr txBox="1"/>
          <p:nvPr/>
        </p:nvSpPr>
        <p:spPr>
          <a:xfrm>
            <a:off x="971550" y="3716338"/>
            <a:ext cx="3600450" cy="1616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从真值表中可以看出，这是一个多数表决通过的逻辑函数，当输入变量</a:t>
            </a:r>
            <a:r>
              <a:rPr lang="en-US" altLang="zh-CN" sz="2000" b="1" dirty="0">
                <a:latin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B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C</a:t>
            </a:r>
            <a:r>
              <a:rPr lang="zh-CN" altLang="en-US" sz="2000" b="1" dirty="0">
                <a:latin typeface="宋体" panose="02010600030101010101" pitchFamily="2" charset="-122"/>
              </a:rPr>
              <a:t>中有两个或两个以上为</a:t>
            </a:r>
            <a:r>
              <a:rPr lang="en-US" altLang="zh-CN" sz="2000" b="1" dirty="0"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</a:rPr>
              <a:t>时，输出变量</a:t>
            </a:r>
            <a:r>
              <a:rPr lang="en-US" altLang="zh-CN" sz="2000" b="1" dirty="0">
                <a:latin typeface="宋体" panose="02010600030101010101" pitchFamily="2" charset="-122"/>
              </a:rPr>
              <a:t>Y</a:t>
            </a:r>
            <a:r>
              <a:rPr lang="zh-CN" altLang="en-US" sz="2000" b="1" dirty="0">
                <a:latin typeface="宋体" panose="02010600030101010101" pitchFamily="2" charset="-122"/>
              </a:rPr>
              <a:t>为</a:t>
            </a:r>
            <a:r>
              <a:rPr lang="en-US" altLang="zh-CN" sz="2000" b="1" dirty="0"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</a:rPr>
              <a:t>。 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strips dir="r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Text Box 3"/>
          <p:cNvSpPr txBox="1"/>
          <p:nvPr/>
        </p:nvSpPr>
        <p:spPr>
          <a:xfrm>
            <a:off x="250825" y="260350"/>
            <a:ext cx="38877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3.3.4 </a:t>
            </a:r>
            <a:r>
              <a:rPr lang="zh-CN" altLang="en-US" sz="2400" b="1" dirty="0">
                <a:latin typeface="Verdana" panose="020B0604030504040204" pitchFamily="34" charset="0"/>
              </a:rPr>
              <a:t>卡诺图表述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pic>
        <p:nvPicPr>
          <p:cNvPr id="51203" name="Picture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36613"/>
            <a:ext cx="9144000" cy="224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4" name="Text Box 62"/>
          <p:cNvSpPr txBox="1"/>
          <p:nvPr/>
        </p:nvSpPr>
        <p:spPr>
          <a:xfrm>
            <a:off x="250825" y="3068638"/>
            <a:ext cx="84963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Verdana" panose="020B0604030504040204" pitchFamily="34" charset="0"/>
              </a:rPr>
              <a:t>(a) 2</a:t>
            </a:r>
            <a:r>
              <a:rPr lang="zh-CN" altLang="en-US" b="1" dirty="0">
                <a:latin typeface="Verdana" panose="020B0604030504040204" pitchFamily="34" charset="0"/>
              </a:rPr>
              <a:t>变量卡诺图            </a:t>
            </a:r>
            <a:r>
              <a:rPr lang="en-US" altLang="zh-CN" b="1" dirty="0">
                <a:latin typeface="Verdana" panose="020B0604030504040204" pitchFamily="34" charset="0"/>
              </a:rPr>
              <a:t>(b) 3</a:t>
            </a:r>
            <a:r>
              <a:rPr lang="zh-CN" altLang="en-US" b="1" dirty="0">
                <a:latin typeface="Verdana" panose="020B0604030504040204" pitchFamily="34" charset="0"/>
              </a:rPr>
              <a:t>变量卡诺图              </a:t>
            </a:r>
            <a:r>
              <a:rPr lang="en-US" altLang="zh-CN" b="1" dirty="0">
                <a:latin typeface="Verdana" panose="020B0604030504040204" pitchFamily="34" charset="0"/>
              </a:rPr>
              <a:t>(c) 4</a:t>
            </a:r>
            <a:r>
              <a:rPr lang="zh-CN" altLang="en-US" b="1" dirty="0">
                <a:latin typeface="Verdana" panose="020B0604030504040204" pitchFamily="34" charset="0"/>
              </a:rPr>
              <a:t>变量卡诺图 </a:t>
            </a:r>
            <a:endParaRPr lang="zh-CN" altLang="en-US" b="1" dirty="0">
              <a:latin typeface="Verdana" panose="020B0604030504040204" pitchFamily="34" charset="0"/>
            </a:endParaRPr>
          </a:p>
        </p:txBody>
      </p:sp>
      <p:sp>
        <p:nvSpPr>
          <p:cNvPr id="51205" name="Text Box 63"/>
          <p:cNvSpPr txBox="1"/>
          <p:nvPr/>
        </p:nvSpPr>
        <p:spPr>
          <a:xfrm>
            <a:off x="395288" y="3429000"/>
            <a:ext cx="84963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3-2  2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、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、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4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变量的卡诺图</a:t>
            </a:r>
            <a:r>
              <a:rPr lang="zh-CN" altLang="en-US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51206" name="Rectangle 67"/>
          <p:cNvSpPr/>
          <p:nvPr/>
        </p:nvSpPr>
        <p:spPr>
          <a:xfrm>
            <a:off x="0" y="21018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1207" name="Rectangle 68"/>
          <p:cNvSpPr/>
          <p:nvPr/>
        </p:nvSpPr>
        <p:spPr>
          <a:xfrm>
            <a:off x="4572000" y="210185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" name="Group 357"/>
          <p:cNvGrpSpPr/>
          <p:nvPr/>
        </p:nvGrpSpPr>
        <p:grpSpPr>
          <a:xfrm>
            <a:off x="250825" y="4005263"/>
            <a:ext cx="8569325" cy="2527300"/>
            <a:chOff x="158" y="2523"/>
            <a:chExt cx="5398" cy="1592"/>
          </a:xfrm>
        </p:grpSpPr>
        <p:sp>
          <p:nvSpPr>
            <p:cNvPr id="51209" name="Rectangle 159"/>
            <p:cNvSpPr/>
            <p:nvPr/>
          </p:nvSpPr>
          <p:spPr>
            <a:xfrm>
              <a:off x="5038" y="3651"/>
              <a:ext cx="51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10" name="Rectangle 158"/>
            <p:cNvSpPr/>
            <p:nvPr/>
          </p:nvSpPr>
          <p:spPr>
            <a:xfrm>
              <a:off x="4521" y="3651"/>
              <a:ext cx="517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11" name="Rectangle 157"/>
            <p:cNvSpPr/>
            <p:nvPr/>
          </p:nvSpPr>
          <p:spPr>
            <a:xfrm>
              <a:off x="4005" y="3651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23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12" name="Rectangle 156"/>
            <p:cNvSpPr/>
            <p:nvPr/>
          </p:nvSpPr>
          <p:spPr>
            <a:xfrm>
              <a:off x="3489" y="3651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13" name="Rectangle 155"/>
            <p:cNvSpPr/>
            <p:nvPr/>
          </p:nvSpPr>
          <p:spPr>
            <a:xfrm>
              <a:off x="2970" y="3651"/>
              <a:ext cx="51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14" name="Rectangle 154"/>
            <p:cNvSpPr/>
            <p:nvPr/>
          </p:nvSpPr>
          <p:spPr>
            <a:xfrm>
              <a:off x="2454" y="3651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15" name="Rectangle 153"/>
            <p:cNvSpPr/>
            <p:nvPr/>
          </p:nvSpPr>
          <p:spPr>
            <a:xfrm>
              <a:off x="1937" y="3651"/>
              <a:ext cx="517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16" name="Rectangle 152"/>
            <p:cNvSpPr/>
            <p:nvPr/>
          </p:nvSpPr>
          <p:spPr>
            <a:xfrm>
              <a:off x="1421" y="3651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17" name="Rectangle 151"/>
            <p:cNvSpPr/>
            <p:nvPr/>
          </p:nvSpPr>
          <p:spPr>
            <a:xfrm>
              <a:off x="158" y="3651"/>
              <a:ext cx="1263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18" name="Rectangle 150"/>
            <p:cNvSpPr/>
            <p:nvPr/>
          </p:nvSpPr>
          <p:spPr>
            <a:xfrm>
              <a:off x="5038" y="3409"/>
              <a:ext cx="51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28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19" name="Rectangle 149"/>
            <p:cNvSpPr/>
            <p:nvPr/>
          </p:nvSpPr>
          <p:spPr>
            <a:xfrm>
              <a:off x="4521" y="3409"/>
              <a:ext cx="517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29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20" name="Rectangle 148"/>
            <p:cNvSpPr/>
            <p:nvPr/>
          </p:nvSpPr>
          <p:spPr>
            <a:xfrm>
              <a:off x="4005" y="3409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21" name="Rectangle 147"/>
            <p:cNvSpPr/>
            <p:nvPr/>
          </p:nvSpPr>
          <p:spPr>
            <a:xfrm>
              <a:off x="3489" y="3409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22" name="Rectangle 146"/>
            <p:cNvSpPr/>
            <p:nvPr/>
          </p:nvSpPr>
          <p:spPr>
            <a:xfrm>
              <a:off x="2970" y="3409"/>
              <a:ext cx="51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23" name="Rectangle 145"/>
            <p:cNvSpPr/>
            <p:nvPr/>
          </p:nvSpPr>
          <p:spPr>
            <a:xfrm>
              <a:off x="2454" y="3409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24" name="Rectangle 144"/>
            <p:cNvSpPr/>
            <p:nvPr/>
          </p:nvSpPr>
          <p:spPr>
            <a:xfrm>
              <a:off x="1937" y="3409"/>
              <a:ext cx="517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25" name="Rectangle 143"/>
            <p:cNvSpPr/>
            <p:nvPr/>
          </p:nvSpPr>
          <p:spPr>
            <a:xfrm>
              <a:off x="1421" y="3409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24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26" name="Rectangle 142"/>
            <p:cNvSpPr/>
            <p:nvPr/>
          </p:nvSpPr>
          <p:spPr>
            <a:xfrm>
              <a:off x="158" y="3409"/>
              <a:ext cx="1263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27" name="Rectangle 141"/>
            <p:cNvSpPr/>
            <p:nvPr/>
          </p:nvSpPr>
          <p:spPr>
            <a:xfrm>
              <a:off x="5038" y="3167"/>
              <a:ext cx="51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28" name="Rectangle 140"/>
            <p:cNvSpPr/>
            <p:nvPr/>
          </p:nvSpPr>
          <p:spPr>
            <a:xfrm>
              <a:off x="4521" y="3167"/>
              <a:ext cx="517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29" name="Rectangle 139"/>
            <p:cNvSpPr/>
            <p:nvPr/>
          </p:nvSpPr>
          <p:spPr>
            <a:xfrm>
              <a:off x="4005" y="3167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30" name="Rectangle 138"/>
            <p:cNvSpPr/>
            <p:nvPr/>
          </p:nvSpPr>
          <p:spPr>
            <a:xfrm>
              <a:off x="3489" y="3167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31" name="Rectangle 137"/>
            <p:cNvSpPr/>
            <p:nvPr/>
          </p:nvSpPr>
          <p:spPr>
            <a:xfrm>
              <a:off x="2970" y="3167"/>
              <a:ext cx="51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32" name="Rectangle 136"/>
            <p:cNvSpPr/>
            <p:nvPr/>
          </p:nvSpPr>
          <p:spPr>
            <a:xfrm>
              <a:off x="2454" y="3167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33" name="Rectangle 135"/>
            <p:cNvSpPr/>
            <p:nvPr/>
          </p:nvSpPr>
          <p:spPr>
            <a:xfrm>
              <a:off x="1937" y="3167"/>
              <a:ext cx="517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34" name="Rectangle 134"/>
            <p:cNvSpPr/>
            <p:nvPr/>
          </p:nvSpPr>
          <p:spPr>
            <a:xfrm>
              <a:off x="1421" y="3167"/>
              <a:ext cx="516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35" name="Rectangle 133"/>
            <p:cNvSpPr/>
            <p:nvPr/>
          </p:nvSpPr>
          <p:spPr>
            <a:xfrm>
              <a:off x="158" y="3167"/>
              <a:ext cx="1263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36" name="Rectangle 132"/>
            <p:cNvSpPr/>
            <p:nvPr/>
          </p:nvSpPr>
          <p:spPr>
            <a:xfrm>
              <a:off x="5038" y="2926"/>
              <a:ext cx="518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37" name="Rectangle 131"/>
            <p:cNvSpPr/>
            <p:nvPr/>
          </p:nvSpPr>
          <p:spPr>
            <a:xfrm>
              <a:off x="4521" y="2926"/>
              <a:ext cx="517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38" name="Rectangle 130"/>
            <p:cNvSpPr/>
            <p:nvPr/>
          </p:nvSpPr>
          <p:spPr>
            <a:xfrm>
              <a:off x="4005" y="2926"/>
              <a:ext cx="516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39" name="Rectangle 129"/>
            <p:cNvSpPr/>
            <p:nvPr/>
          </p:nvSpPr>
          <p:spPr>
            <a:xfrm>
              <a:off x="3489" y="2926"/>
              <a:ext cx="516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40" name="Rectangle 128"/>
            <p:cNvSpPr/>
            <p:nvPr/>
          </p:nvSpPr>
          <p:spPr>
            <a:xfrm>
              <a:off x="2970" y="2926"/>
              <a:ext cx="519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41" name="Rectangle 127"/>
            <p:cNvSpPr/>
            <p:nvPr/>
          </p:nvSpPr>
          <p:spPr>
            <a:xfrm>
              <a:off x="2454" y="2926"/>
              <a:ext cx="516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42" name="Rectangle 126"/>
            <p:cNvSpPr/>
            <p:nvPr/>
          </p:nvSpPr>
          <p:spPr>
            <a:xfrm>
              <a:off x="1937" y="2926"/>
              <a:ext cx="517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43" name="Rectangle 125"/>
            <p:cNvSpPr/>
            <p:nvPr/>
          </p:nvSpPr>
          <p:spPr>
            <a:xfrm>
              <a:off x="1421" y="2926"/>
              <a:ext cx="516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44" name="Rectangle 124"/>
            <p:cNvSpPr/>
            <p:nvPr/>
          </p:nvSpPr>
          <p:spPr>
            <a:xfrm>
              <a:off x="158" y="2926"/>
              <a:ext cx="1263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45" name="Rectangle 123"/>
            <p:cNvSpPr/>
            <p:nvPr/>
          </p:nvSpPr>
          <p:spPr>
            <a:xfrm>
              <a:off x="5038" y="2523"/>
              <a:ext cx="518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46" name="Rectangle 122"/>
            <p:cNvSpPr/>
            <p:nvPr/>
          </p:nvSpPr>
          <p:spPr>
            <a:xfrm>
              <a:off x="4521" y="2523"/>
              <a:ext cx="517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47" name="Rectangle 121"/>
            <p:cNvSpPr/>
            <p:nvPr/>
          </p:nvSpPr>
          <p:spPr>
            <a:xfrm>
              <a:off x="4005" y="2523"/>
              <a:ext cx="516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48" name="Rectangle 120"/>
            <p:cNvSpPr/>
            <p:nvPr/>
          </p:nvSpPr>
          <p:spPr>
            <a:xfrm>
              <a:off x="3489" y="2523"/>
              <a:ext cx="516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49" name="Rectangle 119"/>
            <p:cNvSpPr/>
            <p:nvPr/>
          </p:nvSpPr>
          <p:spPr>
            <a:xfrm>
              <a:off x="2970" y="2523"/>
              <a:ext cx="519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50" name="Rectangle 118"/>
            <p:cNvSpPr/>
            <p:nvPr/>
          </p:nvSpPr>
          <p:spPr>
            <a:xfrm>
              <a:off x="2454" y="2523"/>
              <a:ext cx="516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51" name="Rectangle 117"/>
            <p:cNvSpPr/>
            <p:nvPr/>
          </p:nvSpPr>
          <p:spPr>
            <a:xfrm>
              <a:off x="1937" y="2523"/>
              <a:ext cx="517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52" name="Rectangle 116"/>
            <p:cNvSpPr/>
            <p:nvPr/>
          </p:nvSpPr>
          <p:spPr>
            <a:xfrm>
              <a:off x="1421" y="2523"/>
              <a:ext cx="516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53" name="Rectangle 115"/>
            <p:cNvSpPr/>
            <p:nvPr/>
          </p:nvSpPr>
          <p:spPr>
            <a:xfrm>
              <a:off x="158" y="2523"/>
              <a:ext cx="1263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         CDE</a:t>
              </a:r>
              <a:endParaRPr lang="en-US" altLang="zh-CN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eaLnBrk="0" hangingPunct="0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51254" name="Line 160"/>
            <p:cNvSpPr/>
            <p:nvPr/>
          </p:nvSpPr>
          <p:spPr>
            <a:xfrm>
              <a:off x="158" y="2523"/>
              <a:ext cx="5398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5" name="Line 161"/>
            <p:cNvSpPr/>
            <p:nvPr/>
          </p:nvSpPr>
          <p:spPr>
            <a:xfrm>
              <a:off x="158" y="3893"/>
              <a:ext cx="126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6" name="Line 162"/>
            <p:cNvSpPr/>
            <p:nvPr/>
          </p:nvSpPr>
          <p:spPr>
            <a:xfrm>
              <a:off x="158" y="2523"/>
              <a:ext cx="0" cy="137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7" name="Line 163"/>
            <p:cNvSpPr/>
            <p:nvPr/>
          </p:nvSpPr>
          <p:spPr>
            <a:xfrm>
              <a:off x="5556" y="2523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8" name="Line 166"/>
            <p:cNvSpPr/>
            <p:nvPr/>
          </p:nvSpPr>
          <p:spPr>
            <a:xfrm>
              <a:off x="158" y="2926"/>
              <a:ext cx="126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9" name="Line 168"/>
            <p:cNvSpPr/>
            <p:nvPr/>
          </p:nvSpPr>
          <p:spPr>
            <a:xfrm>
              <a:off x="1421" y="2523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0" name="Line 170"/>
            <p:cNvSpPr/>
            <p:nvPr/>
          </p:nvSpPr>
          <p:spPr>
            <a:xfrm>
              <a:off x="1421" y="2926"/>
              <a:ext cx="413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1" name="Line 171"/>
            <p:cNvSpPr/>
            <p:nvPr/>
          </p:nvSpPr>
          <p:spPr>
            <a:xfrm>
              <a:off x="1937" y="2523"/>
              <a:ext cx="0" cy="137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2" name="Line 174"/>
            <p:cNvSpPr/>
            <p:nvPr/>
          </p:nvSpPr>
          <p:spPr>
            <a:xfrm>
              <a:off x="2454" y="2523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3" name="Line 177"/>
            <p:cNvSpPr/>
            <p:nvPr/>
          </p:nvSpPr>
          <p:spPr>
            <a:xfrm>
              <a:off x="2970" y="2523"/>
              <a:ext cx="0" cy="137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4" name="Line 180"/>
            <p:cNvSpPr/>
            <p:nvPr/>
          </p:nvSpPr>
          <p:spPr>
            <a:xfrm>
              <a:off x="3489" y="2523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5" name="Line 183"/>
            <p:cNvSpPr/>
            <p:nvPr/>
          </p:nvSpPr>
          <p:spPr>
            <a:xfrm>
              <a:off x="4005" y="2523"/>
              <a:ext cx="0" cy="137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6" name="Line 186"/>
            <p:cNvSpPr/>
            <p:nvPr/>
          </p:nvSpPr>
          <p:spPr>
            <a:xfrm>
              <a:off x="4521" y="2523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7" name="Line 189"/>
            <p:cNvSpPr/>
            <p:nvPr/>
          </p:nvSpPr>
          <p:spPr>
            <a:xfrm>
              <a:off x="5038" y="2523"/>
              <a:ext cx="0" cy="137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8" name="Line 191"/>
            <p:cNvSpPr/>
            <p:nvPr/>
          </p:nvSpPr>
          <p:spPr>
            <a:xfrm>
              <a:off x="5556" y="2926"/>
              <a:ext cx="0" cy="9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9" name="Line 192"/>
            <p:cNvSpPr/>
            <p:nvPr/>
          </p:nvSpPr>
          <p:spPr>
            <a:xfrm>
              <a:off x="158" y="3167"/>
              <a:ext cx="126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0" name="Line 194"/>
            <p:cNvSpPr/>
            <p:nvPr/>
          </p:nvSpPr>
          <p:spPr>
            <a:xfrm>
              <a:off x="1421" y="2926"/>
              <a:ext cx="0" cy="9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1" name="Line 196"/>
            <p:cNvSpPr/>
            <p:nvPr/>
          </p:nvSpPr>
          <p:spPr>
            <a:xfrm>
              <a:off x="1421" y="3167"/>
              <a:ext cx="413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2" name="Line 202"/>
            <p:cNvSpPr/>
            <p:nvPr/>
          </p:nvSpPr>
          <p:spPr>
            <a:xfrm>
              <a:off x="2454" y="2926"/>
              <a:ext cx="0" cy="9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3" name="Line 211"/>
            <p:cNvSpPr/>
            <p:nvPr/>
          </p:nvSpPr>
          <p:spPr>
            <a:xfrm>
              <a:off x="3489" y="2926"/>
              <a:ext cx="0" cy="9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4" name="Line 220"/>
            <p:cNvSpPr/>
            <p:nvPr/>
          </p:nvSpPr>
          <p:spPr>
            <a:xfrm>
              <a:off x="4521" y="2926"/>
              <a:ext cx="0" cy="9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5" name="Line 229"/>
            <p:cNvSpPr/>
            <p:nvPr/>
          </p:nvSpPr>
          <p:spPr>
            <a:xfrm>
              <a:off x="158" y="3409"/>
              <a:ext cx="126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6" name="Line 233"/>
            <p:cNvSpPr/>
            <p:nvPr/>
          </p:nvSpPr>
          <p:spPr>
            <a:xfrm>
              <a:off x="1421" y="3409"/>
              <a:ext cx="413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7" name="Line 270"/>
            <p:cNvSpPr/>
            <p:nvPr/>
          </p:nvSpPr>
          <p:spPr>
            <a:xfrm>
              <a:off x="158" y="3651"/>
              <a:ext cx="126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8" name="Line 274"/>
            <p:cNvSpPr/>
            <p:nvPr/>
          </p:nvSpPr>
          <p:spPr>
            <a:xfrm>
              <a:off x="1421" y="3651"/>
              <a:ext cx="413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79" name="Line 311"/>
            <p:cNvSpPr/>
            <p:nvPr/>
          </p:nvSpPr>
          <p:spPr>
            <a:xfrm>
              <a:off x="1421" y="3893"/>
              <a:ext cx="413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80" name="Text Box 355"/>
            <p:cNvSpPr txBox="1"/>
            <p:nvPr/>
          </p:nvSpPr>
          <p:spPr>
            <a:xfrm>
              <a:off x="158" y="3884"/>
              <a:ext cx="535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图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3-3  5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变量的卡诺图 </a:t>
              </a:r>
              <a:endParaRPr lang="zh-CN" altLang="en-US" b="1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1281" name="Line 356"/>
            <p:cNvSpPr/>
            <p:nvPr/>
          </p:nvSpPr>
          <p:spPr>
            <a:xfrm>
              <a:off x="158" y="2523"/>
              <a:ext cx="1271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400" b="1" dirty="0"/>
              <a:t>3.4 </a:t>
            </a:r>
            <a:r>
              <a:rPr lang="zh-CN" altLang="en-US" sz="4400" b="1" dirty="0"/>
              <a:t>逻辑函数的标准形式</a:t>
            </a:r>
            <a:r>
              <a:rPr lang="zh-CN" altLang="en-US" sz="4400" dirty="0"/>
              <a:t> </a:t>
            </a:r>
            <a:endParaRPr lang="zh-CN" altLang="en-US" sz="4400" dirty="0"/>
          </a:p>
        </p:txBody>
      </p:sp>
      <p:sp>
        <p:nvSpPr>
          <p:cNvPr id="14343" name="Text Box 3"/>
          <p:cNvSpPr txBox="1"/>
          <p:nvPr/>
        </p:nvSpPr>
        <p:spPr>
          <a:xfrm>
            <a:off x="611188" y="1773238"/>
            <a:ext cx="38877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3.4.1 </a:t>
            </a:r>
            <a:r>
              <a:rPr lang="zh-CN" altLang="en-US" sz="2400" b="1" dirty="0">
                <a:latin typeface="Verdana" panose="020B0604030504040204" pitchFamily="34" charset="0"/>
              </a:rPr>
              <a:t>最小项表述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14344" name="Text Box 4"/>
          <p:cNvSpPr txBox="1"/>
          <p:nvPr/>
        </p:nvSpPr>
        <p:spPr>
          <a:xfrm>
            <a:off x="250825" y="2276475"/>
            <a:ext cx="8569325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．最小项的定义</a:t>
            </a:r>
            <a:r>
              <a:rPr lang="zh-CN" altLang="en-US" sz="2000" b="1" dirty="0">
                <a:latin typeface="Verdana" panose="020B0604030504040204" pitchFamily="34" charset="0"/>
              </a:rPr>
              <a:t> </a:t>
            </a:r>
            <a:endParaRPr lang="zh-CN" altLang="en-US" sz="2000" b="1" dirty="0"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latin typeface="Verdana" panose="020B0604030504040204" pitchFamily="34" charset="0"/>
              </a:rPr>
              <a:t>    设有</a:t>
            </a:r>
            <a:r>
              <a:rPr lang="en-US" altLang="zh-CN" sz="2000" b="1" i="1" dirty="0">
                <a:latin typeface="Verdana" panose="020B0604030504040204" pitchFamily="34" charset="0"/>
              </a:rPr>
              <a:t>n</a:t>
            </a:r>
            <a:r>
              <a:rPr lang="zh-CN" altLang="en-US" sz="2000" b="1" dirty="0">
                <a:latin typeface="Verdana" panose="020B0604030504040204" pitchFamily="34" charset="0"/>
              </a:rPr>
              <a:t>个变量，它们所组成的具有</a:t>
            </a:r>
            <a:r>
              <a:rPr lang="en-US" altLang="zh-CN" sz="2000" b="1" i="1" dirty="0">
                <a:latin typeface="Verdana" panose="020B0604030504040204" pitchFamily="34" charset="0"/>
              </a:rPr>
              <a:t>n</a:t>
            </a:r>
            <a:r>
              <a:rPr lang="zh-CN" altLang="en-US" sz="2000" b="1" dirty="0">
                <a:latin typeface="Verdana" panose="020B0604030504040204" pitchFamily="34" charset="0"/>
              </a:rPr>
              <a:t>个变量的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zh-CN" altLang="en-US" sz="2000" b="1" dirty="0">
                <a:latin typeface="Verdana" panose="020B0604030504040204" pitchFamily="34" charset="0"/>
              </a:rPr>
              <a:t>与</a:t>
            </a:r>
            <a:r>
              <a:rPr lang="zh-CN" altLang="en-US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项中，每个变量以原变量或反变量的形式出现一次，且仅出现一次，则这个乘积项称为最小项。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14345" name="Rectangle 63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14338" name="Object 62"/>
          <p:cNvGraphicFramePr/>
          <p:nvPr/>
        </p:nvGraphicFramePr>
        <p:xfrm>
          <a:off x="179388" y="3357563"/>
          <a:ext cx="8675687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3543300" imgH="241300" progId="Equation.DSMT4">
                  <p:embed/>
                </p:oleObj>
              </mc:Choice>
              <mc:Fallback>
                <p:oleObj name="" r:id="rId1" imgW="3543300" imgH="2413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9388" y="3357563"/>
                        <a:ext cx="8675687" cy="4841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66"/>
          <p:cNvSpPr/>
          <p:nvPr/>
        </p:nvSpPr>
        <p:spPr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4347" name="Rectangle 68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4348" name="Rectangle 70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" name="Group 71"/>
          <p:cNvGrpSpPr/>
          <p:nvPr/>
        </p:nvGrpSpPr>
        <p:grpSpPr>
          <a:xfrm>
            <a:off x="323850" y="3933825"/>
            <a:ext cx="8569325" cy="2225675"/>
            <a:chOff x="113" y="2432"/>
            <a:chExt cx="5398" cy="1402"/>
          </a:xfrm>
        </p:grpSpPr>
        <p:sp>
          <p:nvSpPr>
            <p:cNvPr id="14350" name="Text Box 64"/>
            <p:cNvSpPr txBox="1"/>
            <p:nvPr/>
          </p:nvSpPr>
          <p:spPr>
            <a:xfrm>
              <a:off x="113" y="2432"/>
              <a:ext cx="5398" cy="14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>
                <a:buNone/>
              </a:pPr>
              <a:r>
                <a:rPr lang="en-US" altLang="zh-CN" sz="2000" b="1" dirty="0">
                  <a:solidFill>
                    <a:srgbClr val="660066"/>
                  </a:solidFill>
                  <a:latin typeface="Verdana" panose="020B0604030504040204" pitchFamily="34" charset="0"/>
                </a:rPr>
                <a:t>2</a:t>
              </a:r>
              <a:r>
                <a:rPr lang="zh-CN" altLang="en-US" sz="2000" b="1" dirty="0">
                  <a:solidFill>
                    <a:srgbClr val="660066"/>
                  </a:solidFill>
                  <a:latin typeface="Verdana" panose="020B0604030504040204" pitchFamily="34" charset="0"/>
                </a:rPr>
                <a:t>．最小项的性质</a:t>
              </a:r>
              <a:endPara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endParaRPr>
            </a:p>
            <a:p>
              <a:pPr marL="342900" indent="-342900">
                <a:buNone/>
              </a:pPr>
              <a:r>
                <a:rPr lang="en-US" altLang="zh-CN" sz="2000" b="1" dirty="0">
                  <a:latin typeface="Verdana" panose="020B0604030504040204" pitchFamily="34" charset="0"/>
                </a:rPr>
                <a:t>(a)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对于任何一个最小项，只有对应的一组变量取值，才能使其值为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pPr marL="342900" indent="-342900">
                <a:buNone/>
              </a:pPr>
              <a:r>
                <a:rPr lang="en-US" altLang="zh-CN" sz="2000" b="1" dirty="0">
                  <a:latin typeface="Verdana" panose="020B0604030504040204" pitchFamily="34" charset="0"/>
                </a:rPr>
                <a:t>(b)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相同变量构成的两个不同最小项逻辑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与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为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0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pPr marL="342900" indent="-342900">
                <a:buNone/>
              </a:pPr>
              <a:r>
                <a:rPr lang="en-US" altLang="zh-CN" sz="2000" b="1" dirty="0">
                  <a:latin typeface="Verdana" panose="020B0604030504040204" pitchFamily="34" charset="0"/>
                </a:rPr>
                <a:t>(c)  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n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个变量的全部最小项之逻辑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或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为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，即：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pPr marL="342900" indent="-342900">
                <a:buNone/>
              </a:pPr>
              <a:r>
                <a:rPr lang="en-US" altLang="zh-CN" sz="2000" b="1" dirty="0">
                  <a:latin typeface="Verdana" panose="020B0604030504040204" pitchFamily="34" charset="0"/>
                </a:rPr>
                <a:t>(d)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某一个最小项不是包含在逻辑函数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F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中，就是包含在反函数中。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pPr marL="342900" indent="-342900">
                <a:buAutoNum type="alphaLcParenBoth" startAt="5"/>
              </a:pPr>
              <a:r>
                <a:rPr lang="en-US" altLang="zh-CN" sz="2000" b="1" dirty="0">
                  <a:latin typeface="Verdana" panose="020B0604030504040204" pitchFamily="34" charset="0"/>
                </a:rPr>
                <a:t>n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个变量构成的最小项有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n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个相邻最小项。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pPr marL="342900" indent="-342900">
                <a:buNone/>
              </a:pPr>
              <a:r>
                <a:rPr lang="zh-CN" altLang="en-US" b="1" dirty="0">
                  <a:latin typeface="Verdana" panose="020B0604030504040204" pitchFamily="34" charset="0"/>
                </a:rPr>
                <a:t>        例，       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与           是相邻最小项。</a:t>
              </a:r>
              <a:r>
                <a:rPr lang="zh-CN" altLang="en-US" dirty="0">
                  <a:latin typeface="Verdana" panose="020B0604030504040204" pitchFamily="34" charset="0"/>
                </a:rPr>
                <a:t> 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14339" name="Object 65"/>
            <p:cNvGraphicFramePr/>
            <p:nvPr/>
          </p:nvGraphicFramePr>
          <p:xfrm>
            <a:off x="3878" y="3022"/>
            <a:ext cx="45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3" imgW="584200" imgH="254000" progId="Equation.DSMT4">
                    <p:embed/>
                  </p:oleObj>
                </mc:Choice>
                <mc:Fallback>
                  <p:oleObj name="" r:id="rId3" imgW="584200" imgH="254000" progId="Equation.DSMT4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78" y="3022"/>
                          <a:ext cx="454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0" name="Object 67"/>
            <p:cNvGraphicFramePr/>
            <p:nvPr/>
          </p:nvGraphicFramePr>
          <p:xfrm>
            <a:off x="793" y="3612"/>
            <a:ext cx="40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5" imgW="457200" imgH="203200" progId="Equation.DSMT4">
                    <p:embed/>
                  </p:oleObj>
                </mc:Choice>
                <mc:Fallback>
                  <p:oleObj name="" r:id="rId5" imgW="457200" imgH="203200" progId="Equation.DSMT4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93" y="3612"/>
                          <a:ext cx="409" cy="180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1" name="Object 69"/>
            <p:cNvGraphicFramePr/>
            <p:nvPr/>
          </p:nvGraphicFramePr>
          <p:xfrm>
            <a:off x="1429" y="3612"/>
            <a:ext cx="454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7" imgW="457200" imgH="177800" progId="Equation.DSMT4">
                    <p:embed/>
                  </p:oleObj>
                </mc:Choice>
                <mc:Fallback>
                  <p:oleObj name="" r:id="rId7" imgW="457200" imgH="177800" progId="Equation.DSMT4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29" y="3612"/>
                          <a:ext cx="454" cy="174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3275965" y="3910965"/>
            <a:ext cx="4303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00FFFF"/>
                </a:highlight>
              </a:rPr>
              <a:t>在最小项中</a:t>
            </a:r>
            <a:r>
              <a:rPr lang="en-US" altLang="zh-CN" b="1">
                <a:solidFill>
                  <a:srgbClr val="FF0000"/>
                </a:solidFill>
                <a:highlight>
                  <a:srgbClr val="00FFFF"/>
                </a:highlight>
              </a:rPr>
              <a:t>0</a:t>
            </a:r>
            <a:r>
              <a:rPr lang="zh-CN" altLang="en-US" b="1">
                <a:solidFill>
                  <a:srgbClr val="FF0000"/>
                </a:solidFill>
                <a:highlight>
                  <a:srgbClr val="00FFFF"/>
                </a:highlight>
              </a:rPr>
              <a:t>代表反变量，</a:t>
            </a:r>
            <a:r>
              <a:rPr lang="en-US" altLang="zh-CN" b="1">
                <a:solidFill>
                  <a:srgbClr val="FF0000"/>
                </a:solidFill>
                <a:highlight>
                  <a:srgbClr val="00FFFF"/>
                </a:highlight>
              </a:rPr>
              <a:t>1</a:t>
            </a:r>
            <a:r>
              <a:rPr lang="zh-CN" altLang="en-US" b="1">
                <a:solidFill>
                  <a:srgbClr val="FF0000"/>
                </a:solidFill>
                <a:highlight>
                  <a:srgbClr val="00FFFF"/>
                </a:highlight>
              </a:rPr>
              <a:t>代表原变量</a:t>
            </a:r>
            <a:endParaRPr lang="zh-CN" altLang="en-US" b="1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70" name="Text Box 3"/>
          <p:cNvSpPr txBox="1"/>
          <p:nvPr/>
        </p:nvSpPr>
        <p:spPr>
          <a:xfrm>
            <a:off x="250825" y="260350"/>
            <a:ext cx="38877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3.4.2  </a:t>
            </a:r>
            <a:r>
              <a:rPr lang="zh-CN" altLang="en-US" sz="2400" b="1" dirty="0">
                <a:latin typeface="Verdana" panose="020B0604030504040204" pitchFamily="34" charset="0"/>
              </a:rPr>
              <a:t>最大项表述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15371" name="Text Box 4"/>
          <p:cNvSpPr txBox="1"/>
          <p:nvPr/>
        </p:nvSpPr>
        <p:spPr>
          <a:xfrm>
            <a:off x="250825" y="908050"/>
            <a:ext cx="8569325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．最大项的定义</a:t>
            </a:r>
            <a:endParaRPr lang="zh-CN" altLang="en-US" sz="2000" b="1" dirty="0">
              <a:solidFill>
                <a:srgbClr val="660066"/>
              </a:solidFill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latin typeface="Verdana" panose="020B0604030504040204" pitchFamily="34" charset="0"/>
              </a:rPr>
              <a:t>      设有</a:t>
            </a:r>
            <a:r>
              <a:rPr lang="en-US" altLang="zh-CN" sz="2000" b="1" i="1" dirty="0">
                <a:latin typeface="Verdana" panose="020B0604030504040204" pitchFamily="34" charset="0"/>
              </a:rPr>
              <a:t>n</a:t>
            </a:r>
            <a:r>
              <a:rPr lang="zh-CN" altLang="en-US" sz="2000" b="1" dirty="0">
                <a:latin typeface="Verdana" panose="020B0604030504040204" pitchFamily="34" charset="0"/>
              </a:rPr>
              <a:t>个变量，它们所组成的具有</a:t>
            </a:r>
            <a:r>
              <a:rPr lang="en-US" altLang="zh-CN" sz="2000" b="1" i="1" dirty="0">
                <a:latin typeface="Verdana" panose="020B0604030504040204" pitchFamily="34" charset="0"/>
              </a:rPr>
              <a:t>n</a:t>
            </a:r>
            <a:r>
              <a:rPr lang="zh-CN" altLang="en-US" sz="2000" b="1" dirty="0">
                <a:latin typeface="Verdana" panose="020B0604030504040204" pitchFamily="34" charset="0"/>
              </a:rPr>
              <a:t>个变量的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zh-CN" altLang="en-US" sz="2000" b="1" dirty="0">
                <a:latin typeface="Verdana" panose="020B0604030504040204" pitchFamily="34" charset="0"/>
              </a:rPr>
              <a:t>或</a:t>
            </a:r>
            <a:r>
              <a:rPr lang="zh-CN" altLang="en-US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项中，每个变量以原变量或反变量的形式出现一次，且仅出现一次，这个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zh-CN" altLang="en-US" sz="2000" b="1" dirty="0">
                <a:latin typeface="Verdana" panose="020B0604030504040204" pitchFamily="34" charset="0"/>
              </a:rPr>
              <a:t>或</a:t>
            </a:r>
            <a:r>
              <a:rPr lang="zh-CN" altLang="en-US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项称为最大项。</a:t>
            </a:r>
            <a:r>
              <a:rPr lang="zh-CN" altLang="en-US" sz="2000" dirty="0">
                <a:latin typeface="Verdana" panose="020B0604030504040204" pitchFamily="34" charset="0"/>
              </a:rPr>
              <a:t> </a:t>
            </a:r>
            <a:endParaRPr lang="zh-CN" altLang="en-US" sz="2000" dirty="0">
              <a:latin typeface="Verdana" panose="020B0604030504040204" pitchFamily="34" charset="0"/>
            </a:endParaRPr>
          </a:p>
        </p:txBody>
      </p:sp>
      <p:grpSp>
        <p:nvGrpSpPr>
          <p:cNvPr id="2" name="Group 26"/>
          <p:cNvGrpSpPr/>
          <p:nvPr/>
        </p:nvGrpSpPr>
        <p:grpSpPr>
          <a:xfrm>
            <a:off x="323850" y="2276475"/>
            <a:ext cx="8569325" cy="2805113"/>
            <a:chOff x="113" y="2160"/>
            <a:chExt cx="5398" cy="1767"/>
          </a:xfrm>
        </p:grpSpPr>
        <p:sp>
          <p:nvSpPr>
            <p:cNvPr id="15375" name="Text Box 15"/>
            <p:cNvSpPr txBox="1"/>
            <p:nvPr/>
          </p:nvSpPr>
          <p:spPr>
            <a:xfrm>
              <a:off x="113" y="2160"/>
              <a:ext cx="5398" cy="17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660066"/>
                  </a:solidFill>
                  <a:latin typeface="Verdana" panose="020B0604030504040204" pitchFamily="34" charset="0"/>
                </a:rPr>
                <a:t>2</a:t>
              </a:r>
              <a:r>
                <a:rPr lang="zh-CN" altLang="en-US" sz="2000" b="1" dirty="0">
                  <a:solidFill>
                    <a:srgbClr val="660066"/>
                  </a:solidFill>
                  <a:latin typeface="Verdana" panose="020B0604030504040204" pitchFamily="34" charset="0"/>
                </a:rPr>
                <a:t>．最大项的性质</a:t>
              </a:r>
              <a:endPara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endParaRPr>
            </a:p>
            <a:p>
              <a:r>
                <a:rPr lang="en-US" altLang="zh-CN" sz="2000" b="1" dirty="0">
                  <a:latin typeface="Verdana" panose="020B0604030504040204" pitchFamily="34" charset="0"/>
                </a:rPr>
                <a:t>(a)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对于任何一个最大项，只有对应的一组变量取值，才能使其值为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0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，只有变量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ABCD=0000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时（每一变量都为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时），才有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A+B+C+D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为“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0”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。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en-US" altLang="zh-CN" sz="2000" b="1" dirty="0">
                  <a:latin typeface="Verdana" panose="020B0604030504040204" pitchFamily="34" charset="0"/>
                </a:rPr>
                <a:t>(b)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相同变量构成的任何两个不同最大项逻辑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或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为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M4+M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6=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c) 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n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个变量的全部最大项之逻辑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与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为</a:t>
              </a:r>
              <a:r>
                <a:rPr lang="zh-CN" altLang="en-US" sz="2000" b="1" dirty="0">
                  <a:latin typeface="Arial" panose="020B0604020202020204" pitchFamily="34" charset="0"/>
                </a:rPr>
                <a:t>“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0</a:t>
              </a:r>
              <a:r>
                <a:rPr lang="en-US" altLang="zh-CN" sz="2000" b="1" dirty="0">
                  <a:latin typeface="Arial" panose="020B0604020202020204" pitchFamily="34" charset="0"/>
                </a:rPr>
                <a:t>”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，即：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r>
                <a:rPr lang="en-US" altLang="zh-CN" sz="2000" b="1" dirty="0">
                  <a:latin typeface="Verdana" panose="020B0604030504040204" pitchFamily="34" charset="0"/>
                </a:rPr>
                <a:t>(d)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某一个最大项不是包含在逻辑函数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F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中，就是包含在反变量    中。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r>
                <a:rPr lang="en-US" altLang="zh-CN" sz="2000" b="1" dirty="0">
                  <a:latin typeface="Verdana" panose="020B0604030504040204" pitchFamily="34" charset="0"/>
                </a:rPr>
                <a:t>(e) 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n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个变量构成的最大项有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n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个相邻最大项。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zh-CN" altLang="en-US" b="1" dirty="0">
                  <a:latin typeface="Verdana" panose="020B0604030504040204" pitchFamily="34" charset="0"/>
                </a:rPr>
                <a:t>，                         与                        是相邻最大项。</a:t>
              </a:r>
              <a:r>
                <a:rPr lang="zh-CN" altLang="en-US" dirty="0">
                  <a:latin typeface="Verdana" panose="020B0604030504040204" pitchFamily="34" charset="0"/>
                </a:rPr>
                <a:t> 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15365" name="Object 16"/>
            <p:cNvGraphicFramePr/>
            <p:nvPr/>
          </p:nvGraphicFramePr>
          <p:xfrm>
            <a:off x="1111" y="2962"/>
            <a:ext cx="2359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3200400" imgH="241300" progId="Equation.DSMT4">
                    <p:embed/>
                  </p:oleObj>
                </mc:Choice>
                <mc:Fallback>
                  <p:oleObj name="" r:id="rId1" imgW="3200400" imgH="241300" progId="Equation.DSMT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11" y="2962"/>
                          <a:ext cx="2359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Object 18"/>
            <p:cNvGraphicFramePr/>
            <p:nvPr/>
          </p:nvGraphicFramePr>
          <p:xfrm>
            <a:off x="3787" y="3113"/>
            <a:ext cx="52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3" imgW="584200" imgH="228600" progId="Equation.DSMT4">
                    <p:embed/>
                  </p:oleObj>
                </mc:Choice>
                <mc:Fallback>
                  <p:oleObj name="" r:id="rId3" imgW="584200" imgH="2286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87" y="3113"/>
                          <a:ext cx="521" cy="1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Object 20"/>
            <p:cNvGraphicFramePr/>
            <p:nvPr/>
          </p:nvGraphicFramePr>
          <p:xfrm>
            <a:off x="4649" y="3339"/>
            <a:ext cx="169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5" imgW="165100" imgH="190500" progId="Equation.DSMT4">
                    <p:embed/>
                  </p:oleObj>
                </mc:Choice>
                <mc:Fallback>
                  <p:oleObj name="" r:id="rId5" imgW="165100" imgH="1905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49" y="3339"/>
                          <a:ext cx="169" cy="1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8" name="Object 22"/>
            <p:cNvGraphicFramePr/>
            <p:nvPr/>
          </p:nvGraphicFramePr>
          <p:xfrm>
            <a:off x="567" y="3702"/>
            <a:ext cx="998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7" imgW="888365" imgH="177800" progId="Equation.DSMT4">
                    <p:embed/>
                  </p:oleObj>
                </mc:Choice>
                <mc:Fallback>
                  <p:oleObj name="" r:id="rId7" imgW="888365" imgH="177800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67" y="3702"/>
                          <a:ext cx="998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9" name="Object 24"/>
            <p:cNvGraphicFramePr/>
            <p:nvPr/>
          </p:nvGraphicFramePr>
          <p:xfrm>
            <a:off x="1973" y="3702"/>
            <a:ext cx="840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9" imgW="888365" imgH="203200" progId="Equation.DSMT4">
                    <p:embed/>
                  </p:oleObj>
                </mc:Choice>
                <mc:Fallback>
                  <p:oleObj name="" r:id="rId9" imgW="888365" imgH="2032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73" y="3702"/>
                          <a:ext cx="840" cy="2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5"/>
          <p:cNvGrpSpPr/>
          <p:nvPr/>
        </p:nvGrpSpPr>
        <p:grpSpPr>
          <a:xfrm>
            <a:off x="574675" y="5300663"/>
            <a:ext cx="8569325" cy="1006475"/>
            <a:chOff x="249" y="3339"/>
            <a:chExt cx="5398" cy="634"/>
          </a:xfrm>
        </p:grpSpPr>
        <p:sp>
          <p:nvSpPr>
            <p:cNvPr id="15374" name="Text Box 28"/>
            <p:cNvSpPr txBox="1"/>
            <p:nvPr/>
          </p:nvSpPr>
          <p:spPr>
            <a:xfrm>
              <a:off x="249" y="3339"/>
              <a:ext cx="5398" cy="6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660066"/>
                  </a:solidFill>
                  <a:latin typeface="Verdana" panose="020B0604030504040204" pitchFamily="34" charset="0"/>
                </a:rPr>
                <a:t>3</a:t>
              </a:r>
              <a:r>
                <a:rPr lang="zh-CN" altLang="en-US" sz="2000" b="1" dirty="0">
                  <a:solidFill>
                    <a:srgbClr val="660066"/>
                  </a:solidFill>
                  <a:latin typeface="Verdana" panose="020B0604030504040204" pitchFamily="34" charset="0"/>
                </a:rPr>
                <a:t>．最小项与最大项的关系</a:t>
              </a:r>
              <a:endPara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latin typeface="Verdana" panose="020B0604030504040204" pitchFamily="34" charset="0"/>
                </a:rPr>
                <a:t>  下标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i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相同的最小项与最大项互补，即            。</a:t>
              </a:r>
              <a:endParaRPr lang="zh-CN" altLang="en-US" sz="2000" b="1" dirty="0">
                <a:latin typeface="Verdana" panose="020B0604030504040204" pitchFamily="34" charset="0"/>
              </a:endParaRPr>
            </a:p>
            <a:p>
              <a:r>
                <a:rPr lang="zh-CN" altLang="en-US" sz="2000" b="1" dirty="0">
                  <a:latin typeface="Verdana" panose="020B0604030504040204" pitchFamily="34" charset="0"/>
                </a:rPr>
                <a:t>例如，                         ，即为：          。</a:t>
              </a:r>
              <a:r>
                <a:rPr lang="zh-CN" altLang="en-US" sz="2000" dirty="0"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15362" name="Object 29"/>
            <p:cNvGraphicFramePr/>
            <p:nvPr/>
          </p:nvGraphicFramePr>
          <p:xfrm>
            <a:off x="3107" y="3521"/>
            <a:ext cx="499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1" imgW="533400" imgH="254000" progId="Equation.DSMT4">
                    <p:embed/>
                  </p:oleObj>
                </mc:Choice>
                <mc:Fallback>
                  <p:oleObj name="" r:id="rId11" imgW="533400" imgH="2540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107" y="3521"/>
                          <a:ext cx="499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3" name="Object 31"/>
            <p:cNvGraphicFramePr/>
            <p:nvPr/>
          </p:nvGraphicFramePr>
          <p:xfrm>
            <a:off x="793" y="3702"/>
            <a:ext cx="1271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3" imgW="1091565" imgH="215900" progId="Equation.DSMT4">
                    <p:embed/>
                  </p:oleObj>
                </mc:Choice>
                <mc:Fallback>
                  <p:oleObj name="" r:id="rId13" imgW="1091565" imgH="2159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93" y="3702"/>
                          <a:ext cx="1271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4" name="Object 33"/>
            <p:cNvGraphicFramePr/>
            <p:nvPr/>
          </p:nvGraphicFramePr>
          <p:xfrm>
            <a:off x="2744" y="3702"/>
            <a:ext cx="589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5" imgW="558800" imgH="228600" progId="Equation.DSMT4">
                    <p:embed/>
                  </p:oleObj>
                </mc:Choice>
                <mc:Fallback>
                  <p:oleObj name="" r:id="rId15" imgW="558800" imgH="2286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744" y="3702"/>
                          <a:ext cx="589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文本框 3"/>
          <p:cNvSpPr txBox="1"/>
          <p:nvPr>
            <p:custDataLst>
              <p:tags r:id="rId17"/>
            </p:custDataLst>
          </p:nvPr>
        </p:nvSpPr>
        <p:spPr>
          <a:xfrm>
            <a:off x="2555875" y="2061210"/>
            <a:ext cx="4303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00FFFF"/>
                </a:highlight>
              </a:rPr>
              <a:t>在最大项中</a:t>
            </a:r>
            <a:r>
              <a:rPr lang="en-US" altLang="zh-CN" b="1">
                <a:solidFill>
                  <a:srgbClr val="FF0000"/>
                </a:solidFill>
                <a:highlight>
                  <a:srgbClr val="00FFFF"/>
                </a:highlight>
              </a:rPr>
              <a:t>0</a:t>
            </a:r>
            <a:r>
              <a:rPr lang="zh-CN" altLang="en-US" b="1">
                <a:solidFill>
                  <a:srgbClr val="FF0000"/>
                </a:solidFill>
                <a:highlight>
                  <a:srgbClr val="00FFFF"/>
                </a:highlight>
              </a:rPr>
              <a:t>代表原变量，</a:t>
            </a:r>
            <a:r>
              <a:rPr lang="en-US" altLang="zh-CN" b="1">
                <a:solidFill>
                  <a:srgbClr val="FF0000"/>
                </a:solidFill>
                <a:highlight>
                  <a:srgbClr val="00FFFF"/>
                </a:highlight>
              </a:rPr>
              <a:t>1</a:t>
            </a:r>
            <a:r>
              <a:rPr lang="zh-CN" altLang="en-US" b="1">
                <a:solidFill>
                  <a:srgbClr val="FF0000"/>
                </a:solidFill>
                <a:highlight>
                  <a:srgbClr val="00FFFF"/>
                </a:highlight>
              </a:rPr>
              <a:t>代表反变量</a:t>
            </a:r>
            <a:endParaRPr lang="zh-CN" altLang="en-US" b="1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90" name="Text Box 3"/>
          <p:cNvSpPr txBox="1"/>
          <p:nvPr/>
        </p:nvSpPr>
        <p:spPr>
          <a:xfrm>
            <a:off x="395288" y="549275"/>
            <a:ext cx="38877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3.4.3 </a:t>
            </a:r>
            <a:r>
              <a:rPr lang="zh-CN" altLang="en-US" sz="2400" b="1" dirty="0">
                <a:latin typeface="Verdana" panose="020B0604030504040204" pitchFamily="34" charset="0"/>
              </a:rPr>
              <a:t>标准与或表达式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grpSp>
        <p:nvGrpSpPr>
          <p:cNvPr id="16391" name="Group 25"/>
          <p:cNvGrpSpPr/>
          <p:nvPr/>
        </p:nvGrpSpPr>
        <p:grpSpPr>
          <a:xfrm>
            <a:off x="250825" y="2420938"/>
            <a:ext cx="8569325" cy="396875"/>
            <a:chOff x="158" y="1525"/>
            <a:chExt cx="5398" cy="250"/>
          </a:xfrm>
        </p:grpSpPr>
        <p:sp>
          <p:nvSpPr>
            <p:cNvPr id="16394" name="Text Box 4"/>
            <p:cNvSpPr txBox="1"/>
            <p:nvPr/>
          </p:nvSpPr>
          <p:spPr>
            <a:xfrm>
              <a:off x="158" y="1525"/>
              <a:ext cx="539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3-9】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将                                 展开为最小项之和的形式。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16389" name="Object 16"/>
            <p:cNvGraphicFramePr/>
            <p:nvPr/>
          </p:nvGraphicFramePr>
          <p:xfrm>
            <a:off x="1338" y="1525"/>
            <a:ext cx="1338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1" imgW="1066165" imgH="203200" progId="Equation.DSMT4">
                    <p:embed/>
                  </p:oleObj>
                </mc:Choice>
                <mc:Fallback>
                  <p:oleObj name="" r:id="rId1" imgW="1066165" imgH="203200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38" y="1525"/>
                          <a:ext cx="1338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86" name="Object 18"/>
          <p:cNvGraphicFramePr/>
          <p:nvPr/>
        </p:nvGraphicFramePr>
        <p:xfrm>
          <a:off x="900113" y="2997200"/>
          <a:ext cx="669607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3327400" imgH="723900" progId="Equation.DSMT4">
                  <p:embed/>
                </p:oleObj>
              </mc:Choice>
              <mc:Fallback>
                <p:oleObj name="" r:id="rId3" imgW="3327400" imgH="7239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2997200"/>
                        <a:ext cx="6696075" cy="1463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4"/>
          <p:cNvGrpSpPr/>
          <p:nvPr/>
        </p:nvGrpSpPr>
        <p:grpSpPr>
          <a:xfrm>
            <a:off x="179388" y="4724400"/>
            <a:ext cx="8569325" cy="1419225"/>
            <a:chOff x="113" y="2614"/>
            <a:chExt cx="5398" cy="894"/>
          </a:xfrm>
        </p:grpSpPr>
        <p:sp>
          <p:nvSpPr>
            <p:cNvPr id="16393" name="Text Box 15"/>
            <p:cNvSpPr txBox="1"/>
            <p:nvPr/>
          </p:nvSpPr>
          <p:spPr>
            <a:xfrm>
              <a:off x="113" y="2614"/>
              <a:ext cx="539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3-10】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将                           写成标准与或表达式。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。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16387" name="Object 20"/>
            <p:cNvGraphicFramePr/>
            <p:nvPr/>
          </p:nvGraphicFramePr>
          <p:xfrm>
            <a:off x="1338" y="2614"/>
            <a:ext cx="1179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5" imgW="965200" imgH="203200" progId="Equation.DSMT4">
                    <p:embed/>
                  </p:oleObj>
                </mc:Choice>
                <mc:Fallback>
                  <p:oleObj name="" r:id="rId5" imgW="965200" imgH="2032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8" y="2614"/>
                          <a:ext cx="1179" cy="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88" name="Object 22"/>
            <p:cNvGraphicFramePr/>
            <p:nvPr/>
          </p:nvGraphicFramePr>
          <p:xfrm>
            <a:off x="793" y="2886"/>
            <a:ext cx="3402" cy="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7" imgW="2641600" imgH="482600" progId="Equation.DSMT4">
                    <p:embed/>
                  </p:oleObj>
                </mc:Choice>
                <mc:Fallback>
                  <p:oleObj name="" r:id="rId7" imgW="2641600" imgH="4826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93" y="2886"/>
                          <a:ext cx="3402" cy="6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4" name="Text Box 3"/>
          <p:cNvSpPr txBox="1"/>
          <p:nvPr/>
        </p:nvSpPr>
        <p:spPr>
          <a:xfrm>
            <a:off x="395288" y="620713"/>
            <a:ext cx="38877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3.4.4 </a:t>
            </a:r>
            <a:r>
              <a:rPr lang="zh-CN" altLang="en-US" sz="2400" b="1" dirty="0">
                <a:latin typeface="Verdana" panose="020B0604030504040204" pitchFamily="34" charset="0"/>
              </a:rPr>
              <a:t>标准或与表达式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grpSp>
        <p:nvGrpSpPr>
          <p:cNvPr id="17415" name="Group 16"/>
          <p:cNvGrpSpPr/>
          <p:nvPr/>
        </p:nvGrpSpPr>
        <p:grpSpPr>
          <a:xfrm>
            <a:off x="179388" y="1989138"/>
            <a:ext cx="8569325" cy="701675"/>
            <a:chOff x="158" y="1525"/>
            <a:chExt cx="5398" cy="442"/>
          </a:xfrm>
        </p:grpSpPr>
        <p:sp>
          <p:nvSpPr>
            <p:cNvPr id="17420" name="Text Box 5"/>
            <p:cNvSpPr txBox="1"/>
            <p:nvPr/>
          </p:nvSpPr>
          <p:spPr>
            <a:xfrm>
              <a:off x="158" y="1525"/>
              <a:ext cx="539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3-11】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将                                             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=Σ</a:t>
              </a:r>
              <a:r>
                <a:rPr lang="en-US" altLang="zh-CN" b="1" i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m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（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0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，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2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，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，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6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）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展开为最大项之积的形式。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17413" name="Object 12"/>
            <p:cNvGraphicFramePr/>
            <p:nvPr/>
          </p:nvGraphicFramePr>
          <p:xfrm>
            <a:off x="1292" y="1525"/>
            <a:ext cx="2336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1" imgW="1968500" imgH="203200" progId="Equation.DSMT4">
                    <p:embed/>
                  </p:oleObj>
                </mc:Choice>
                <mc:Fallback>
                  <p:oleObj name="" r:id="rId1" imgW="1968500" imgH="203200" progId="Equation.DSMT4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92" y="1525"/>
                          <a:ext cx="2336" cy="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10" name="Object 14"/>
          <p:cNvGraphicFramePr/>
          <p:nvPr/>
        </p:nvGraphicFramePr>
        <p:xfrm>
          <a:off x="395288" y="2781300"/>
          <a:ext cx="8532812" cy="161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4394200" imgH="838200" progId="Equation.DSMT4">
                  <p:embed/>
                </p:oleObj>
              </mc:Choice>
              <mc:Fallback>
                <p:oleObj name="" r:id="rId3" imgW="4394200" imgH="8382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288" y="2781300"/>
                        <a:ext cx="8532812" cy="161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Rectangle 19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7417" name="Rectangle 21"/>
          <p:cNvSpPr/>
          <p:nvPr/>
        </p:nvSpPr>
        <p:spPr>
          <a:xfrm>
            <a:off x="0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" name="Group 23"/>
          <p:cNvGrpSpPr/>
          <p:nvPr/>
        </p:nvGrpSpPr>
        <p:grpSpPr>
          <a:xfrm>
            <a:off x="395288" y="4652963"/>
            <a:ext cx="8064500" cy="1441450"/>
            <a:chOff x="249" y="2795"/>
            <a:chExt cx="5080" cy="908"/>
          </a:xfrm>
        </p:grpSpPr>
        <p:sp>
          <p:nvSpPr>
            <p:cNvPr id="17419" name="Text Box 17"/>
            <p:cNvSpPr txBox="1"/>
            <p:nvPr/>
          </p:nvSpPr>
          <p:spPr>
            <a:xfrm>
              <a:off x="249" y="2840"/>
              <a:ext cx="50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3-12】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将                                 写成标准或与表达式。    </a:t>
              </a:r>
              <a:endPara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17411" name="Object 18"/>
            <p:cNvGraphicFramePr/>
            <p:nvPr/>
          </p:nvGraphicFramePr>
          <p:xfrm>
            <a:off x="1429" y="2795"/>
            <a:ext cx="181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5" imgW="1447800" imgH="241300" progId="Equation.DSMT4">
                    <p:embed/>
                  </p:oleObj>
                </mc:Choice>
                <mc:Fallback>
                  <p:oleObj name="" r:id="rId5" imgW="1447800" imgH="241300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429" y="2795"/>
                          <a:ext cx="1815" cy="2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2" name="Object 20"/>
            <p:cNvGraphicFramePr/>
            <p:nvPr/>
          </p:nvGraphicFramePr>
          <p:xfrm>
            <a:off x="612" y="3067"/>
            <a:ext cx="4445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7" imgW="3543300" imgH="508000" progId="Equation.DSMT4">
                    <p:embed/>
                  </p:oleObj>
                </mc:Choice>
                <mc:Fallback>
                  <p:oleObj name="" r:id="rId7" imgW="3543300" imgH="508000" progId="Equation.DSMT4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2" y="3067"/>
                          <a:ext cx="4445" cy="6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7" name="Text Box 3"/>
          <p:cNvSpPr txBox="1"/>
          <p:nvPr/>
        </p:nvSpPr>
        <p:spPr>
          <a:xfrm>
            <a:off x="611188" y="476250"/>
            <a:ext cx="57610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3.4.5 </a:t>
            </a:r>
            <a:r>
              <a:rPr lang="zh-CN" altLang="en-US" sz="2400" b="1" dirty="0">
                <a:latin typeface="Verdana" panose="020B0604030504040204" pitchFamily="34" charset="0"/>
              </a:rPr>
              <a:t>两种标准形式的相互转换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grpSp>
        <p:nvGrpSpPr>
          <p:cNvPr id="18438" name="Group 16"/>
          <p:cNvGrpSpPr/>
          <p:nvPr/>
        </p:nvGrpSpPr>
        <p:grpSpPr>
          <a:xfrm>
            <a:off x="539750" y="2060575"/>
            <a:ext cx="7848600" cy="1311275"/>
            <a:chOff x="340" y="1480"/>
            <a:chExt cx="4944" cy="826"/>
          </a:xfrm>
        </p:grpSpPr>
        <p:sp>
          <p:nvSpPr>
            <p:cNvPr id="18443" name="Text Box 5"/>
            <p:cNvSpPr txBox="1"/>
            <p:nvPr/>
          </p:nvSpPr>
          <p:spPr>
            <a:xfrm>
              <a:off x="340" y="1480"/>
              <a:ext cx="4944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Verdana" panose="020B0604030504040204" pitchFamily="34" charset="0"/>
                </a:rPr>
                <a:t>     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对于一个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n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变量的逻辑函数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F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，若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F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的标准与或式由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K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个最小项相或构成，则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F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的标准或与式一定由         个最大项相与构成，并且对于任何一组变量取值组合对应的序号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i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，若标准与或式中不含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m</a:t>
              </a:r>
              <a:r>
                <a:rPr lang="en-US" altLang="zh-CN" sz="2000" b="1" baseline="-25000" dirty="0">
                  <a:latin typeface="Verdana" panose="020B0604030504040204" pitchFamily="34" charset="0"/>
                </a:rPr>
                <a:t>i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，则标准或与式中一定含</a:t>
              </a:r>
              <a:r>
                <a:rPr lang="en-US" altLang="zh-CN" sz="2000" b="1" i="1" dirty="0">
                  <a:latin typeface="Verdana" panose="020B0604030504040204" pitchFamily="34" charset="0"/>
                </a:rPr>
                <a:t>M</a:t>
              </a:r>
              <a:r>
                <a:rPr lang="en-US" altLang="zh-CN" sz="2000" b="1" baseline="-25000" dirty="0">
                  <a:latin typeface="Verdana" panose="020B0604030504040204" pitchFamily="34" charset="0"/>
                </a:rPr>
                <a:t>i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。 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18436" name="Object 14"/>
            <p:cNvGraphicFramePr/>
            <p:nvPr/>
          </p:nvGraphicFramePr>
          <p:xfrm>
            <a:off x="2789" y="1706"/>
            <a:ext cx="431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1" imgW="444500" imgH="190500" progId="Equation.DSMT4">
                    <p:embed/>
                  </p:oleObj>
                </mc:Choice>
                <mc:Fallback>
                  <p:oleObj name="" r:id="rId1" imgW="444500" imgH="1905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89" y="1706"/>
                          <a:ext cx="431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39" name="Rectangle 19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8440" name="Rectangle 21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" name="Group 22"/>
          <p:cNvGrpSpPr/>
          <p:nvPr/>
        </p:nvGrpSpPr>
        <p:grpSpPr>
          <a:xfrm>
            <a:off x="611188" y="4005263"/>
            <a:ext cx="7704137" cy="1476375"/>
            <a:chOff x="385" y="2523"/>
            <a:chExt cx="4853" cy="930"/>
          </a:xfrm>
        </p:grpSpPr>
        <p:sp>
          <p:nvSpPr>
            <p:cNvPr id="18442" name="Text Box 17"/>
            <p:cNvSpPr txBox="1"/>
            <p:nvPr/>
          </p:nvSpPr>
          <p:spPr>
            <a:xfrm>
              <a:off x="385" y="2523"/>
              <a:ext cx="4853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3-13】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将标准与或表达式                                    表示为标准或与表达式。</a:t>
              </a:r>
              <a:endPara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18434" name="Object 18"/>
            <p:cNvGraphicFramePr/>
            <p:nvPr/>
          </p:nvGraphicFramePr>
          <p:xfrm>
            <a:off x="2699" y="2523"/>
            <a:ext cx="195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3" imgW="1600200" imgH="203200" progId="Equation.DSMT4">
                    <p:embed/>
                  </p:oleObj>
                </mc:Choice>
                <mc:Fallback>
                  <p:oleObj name="" r:id="rId3" imgW="1600200" imgH="203200" progId="Equation.DSMT4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99" y="2523"/>
                          <a:ext cx="1951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5" name="Object 20"/>
            <p:cNvGraphicFramePr/>
            <p:nvPr/>
          </p:nvGraphicFramePr>
          <p:xfrm>
            <a:off x="612" y="3158"/>
            <a:ext cx="399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5" imgW="2870200" imgH="215900" progId="Equation.DSMT4">
                    <p:embed/>
                  </p:oleObj>
                </mc:Choice>
                <mc:Fallback>
                  <p:oleObj name="" r:id="rId5" imgW="2870200" imgH="215900" progId="Equation.DSMT4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12" y="3158"/>
                          <a:ext cx="3992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9" name="Text Box 3"/>
          <p:cNvSpPr txBox="1"/>
          <p:nvPr/>
        </p:nvSpPr>
        <p:spPr>
          <a:xfrm>
            <a:off x="539750" y="404813"/>
            <a:ext cx="69135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3.4.6 </a:t>
            </a:r>
            <a:r>
              <a:rPr lang="zh-CN" altLang="en-US" sz="2400" b="1" dirty="0">
                <a:latin typeface="Verdana" panose="020B0604030504040204" pitchFamily="34" charset="0"/>
              </a:rPr>
              <a:t>逻辑函数表达式与真值表的相互转换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19460" name="Text Box 5"/>
          <p:cNvSpPr txBox="1"/>
          <p:nvPr/>
        </p:nvSpPr>
        <p:spPr>
          <a:xfrm>
            <a:off x="684213" y="1773238"/>
            <a:ext cx="49688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 1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．由真值表求对应的逻辑函数表达式</a:t>
            </a:r>
            <a:r>
              <a:rPr lang="zh-CN" altLang="en-US" sz="2000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660066"/>
              </a:solidFill>
              <a:latin typeface="Verdana" panose="020B0604030504040204" pitchFamily="34" charset="0"/>
            </a:endParaRPr>
          </a:p>
        </p:txBody>
      </p:sp>
      <p:sp>
        <p:nvSpPr>
          <p:cNvPr id="19461" name="Rectangle 7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9462" name="Rectangle 8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9463" name="Rectangle 14"/>
          <p:cNvSpPr/>
          <p:nvPr/>
        </p:nvSpPr>
        <p:spPr>
          <a:xfrm>
            <a:off x="0" y="3124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19458" name="Object 13"/>
          <p:cNvGraphicFramePr/>
          <p:nvPr/>
        </p:nvGraphicFramePr>
        <p:xfrm>
          <a:off x="827088" y="2349500"/>
          <a:ext cx="7920037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" imgW="4152900" imgH="635000" progId="Equation.DSMT4">
                  <p:embed/>
                </p:oleObj>
              </mc:Choice>
              <mc:Fallback>
                <p:oleObj name="" r:id="rId1" imgW="4152900" imgH="6350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2349500"/>
                        <a:ext cx="7920037" cy="1212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4" name="Group 75"/>
          <p:cNvGrpSpPr/>
          <p:nvPr/>
        </p:nvGrpSpPr>
        <p:grpSpPr>
          <a:xfrm>
            <a:off x="684213" y="3644900"/>
            <a:ext cx="7750175" cy="2924175"/>
            <a:chOff x="431" y="2478"/>
            <a:chExt cx="4882" cy="1842"/>
          </a:xfrm>
        </p:grpSpPr>
        <p:sp>
          <p:nvSpPr>
            <p:cNvPr id="19465" name="Rectangle 31"/>
            <p:cNvSpPr/>
            <p:nvPr/>
          </p:nvSpPr>
          <p:spPr>
            <a:xfrm>
              <a:off x="3970" y="2911"/>
              <a:ext cx="1343" cy="1409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/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7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6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5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4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3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2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1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0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9466" name="Rectangle 30"/>
            <p:cNvSpPr/>
            <p:nvPr/>
          </p:nvSpPr>
          <p:spPr>
            <a:xfrm>
              <a:off x="2711" y="2911"/>
              <a:ext cx="1259" cy="1409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/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0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1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2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3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4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5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6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m</a:t>
              </a:r>
              <a:r>
                <a:rPr lang="en-US" altLang="zh-CN" sz="1400" b="1" baseline="-30000" dirty="0">
                  <a:latin typeface="Arial" panose="020B0604020202020204" pitchFamily="34" charset="0"/>
                </a:rPr>
                <a:t>7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9467" name="Rectangle 29"/>
            <p:cNvSpPr/>
            <p:nvPr/>
          </p:nvSpPr>
          <p:spPr>
            <a:xfrm>
              <a:off x="1863" y="2911"/>
              <a:ext cx="848" cy="1409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/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0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1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1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1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0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1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0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0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9468" name="Rectangle 28"/>
            <p:cNvSpPr/>
            <p:nvPr/>
          </p:nvSpPr>
          <p:spPr>
            <a:xfrm>
              <a:off x="431" y="2911"/>
              <a:ext cx="1432" cy="1409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/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0   0   0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0   0   1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0   1   0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0   1   1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1   0   0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1   0   1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1   1   0</a:t>
              </a:r>
              <a:endParaRPr lang="en-US" altLang="zh-CN" sz="14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dirty="0">
                  <a:latin typeface="Arial" panose="020B0604020202020204" pitchFamily="34" charset="0"/>
                </a:rPr>
                <a:t>1   1   1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9469" name="Rectangle 27"/>
            <p:cNvSpPr/>
            <p:nvPr/>
          </p:nvSpPr>
          <p:spPr>
            <a:xfrm>
              <a:off x="3970" y="2720"/>
              <a:ext cx="1343" cy="191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/>
            <a:p>
              <a:pPr algn="ctr" eaLnBrk="0" hangingPunct="0">
                <a:spcBef>
                  <a:spcPct val="30000"/>
                </a:spcBef>
              </a:pPr>
              <a:r>
                <a:rPr lang="zh-CN" altLang="en-US" sz="1400" b="1" dirty="0">
                  <a:latin typeface="宋体" panose="02010600030101010101" pitchFamily="2" charset="-122"/>
                </a:rPr>
                <a:t>最大项</a:t>
              </a:r>
              <a:endParaRPr lang="zh-CN" altLang="en-US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9470" name="Rectangle 26"/>
            <p:cNvSpPr/>
            <p:nvPr/>
          </p:nvSpPr>
          <p:spPr>
            <a:xfrm>
              <a:off x="2711" y="2720"/>
              <a:ext cx="1259" cy="191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/>
            <a:p>
              <a:pPr algn="ctr" eaLnBrk="0" hangingPunct="0">
                <a:spcBef>
                  <a:spcPct val="30000"/>
                </a:spcBef>
              </a:pPr>
              <a:r>
                <a:rPr lang="zh-CN" altLang="en-US" sz="1400" b="1" dirty="0">
                  <a:latin typeface="宋体" panose="02010600030101010101" pitchFamily="2" charset="-122"/>
                </a:rPr>
                <a:t>最小项</a:t>
              </a:r>
              <a:endParaRPr lang="zh-CN" altLang="en-US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9471" name="Rectangle 25"/>
            <p:cNvSpPr/>
            <p:nvPr/>
          </p:nvSpPr>
          <p:spPr>
            <a:xfrm>
              <a:off x="1863" y="2720"/>
              <a:ext cx="848" cy="191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/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F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9472" name="Rectangle 24"/>
            <p:cNvSpPr/>
            <p:nvPr/>
          </p:nvSpPr>
          <p:spPr>
            <a:xfrm>
              <a:off x="431" y="2720"/>
              <a:ext cx="1432" cy="191"/>
            </a:xfrm>
            <a:prstGeom prst="rect">
              <a:avLst/>
            </a:prstGeom>
            <a:solidFill>
              <a:srgbClr val="FFFF99"/>
            </a:solidFill>
            <a:ln w="9525">
              <a:noFill/>
            </a:ln>
          </p:spPr>
          <p:txBody>
            <a:bodyPr/>
            <a:p>
              <a:pPr algn="ctr" eaLnBrk="0" hangingPunct="0">
                <a:spcBef>
                  <a:spcPct val="30000"/>
                </a:spcBef>
              </a:pPr>
              <a:r>
                <a:rPr lang="en-US" altLang="zh-CN" sz="1400" b="1" i="1" dirty="0">
                  <a:latin typeface="Arial" panose="020B0604020202020204" pitchFamily="34" charset="0"/>
                </a:rPr>
                <a:t>A   B   C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9473" name="Line 32"/>
            <p:cNvSpPr/>
            <p:nvPr/>
          </p:nvSpPr>
          <p:spPr>
            <a:xfrm>
              <a:off x="431" y="2720"/>
              <a:ext cx="4882" cy="0"/>
            </a:xfrm>
            <a:prstGeom prst="line">
              <a:avLst/>
            </a:prstGeom>
            <a:ln w="254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4" name="Line 33"/>
            <p:cNvSpPr/>
            <p:nvPr/>
          </p:nvSpPr>
          <p:spPr>
            <a:xfrm>
              <a:off x="431" y="4320"/>
              <a:ext cx="4882" cy="0"/>
            </a:xfrm>
            <a:prstGeom prst="line">
              <a:avLst/>
            </a:prstGeom>
            <a:ln w="254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5" name="Line 34"/>
            <p:cNvSpPr/>
            <p:nvPr/>
          </p:nvSpPr>
          <p:spPr>
            <a:xfrm>
              <a:off x="431" y="2720"/>
              <a:ext cx="0" cy="160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6" name="Line 35"/>
            <p:cNvSpPr/>
            <p:nvPr/>
          </p:nvSpPr>
          <p:spPr>
            <a:xfrm>
              <a:off x="5313" y="2720"/>
              <a:ext cx="0" cy="160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7" name="Line 38"/>
            <p:cNvSpPr/>
            <p:nvPr/>
          </p:nvSpPr>
          <p:spPr>
            <a:xfrm>
              <a:off x="431" y="2911"/>
              <a:ext cx="4882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8" name="Line 40"/>
            <p:cNvSpPr/>
            <p:nvPr/>
          </p:nvSpPr>
          <p:spPr>
            <a:xfrm>
              <a:off x="1863" y="2720"/>
              <a:ext cx="0" cy="160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9" name="Line 43"/>
            <p:cNvSpPr/>
            <p:nvPr/>
          </p:nvSpPr>
          <p:spPr>
            <a:xfrm>
              <a:off x="2711" y="2720"/>
              <a:ext cx="0" cy="160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0" name="Line 46"/>
            <p:cNvSpPr/>
            <p:nvPr/>
          </p:nvSpPr>
          <p:spPr>
            <a:xfrm>
              <a:off x="3970" y="2720"/>
              <a:ext cx="0" cy="160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1" name="Text Box 73"/>
            <p:cNvSpPr txBox="1"/>
            <p:nvPr/>
          </p:nvSpPr>
          <p:spPr>
            <a:xfrm>
              <a:off x="930" y="2478"/>
              <a:ext cx="367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表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3-3 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真值表 </a:t>
              </a:r>
              <a:endParaRPr lang="zh-CN" altLang="en-US" b="1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strips dir="r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7" name="Text Box 3"/>
          <p:cNvSpPr txBox="1"/>
          <p:nvPr/>
        </p:nvSpPr>
        <p:spPr>
          <a:xfrm>
            <a:off x="395288" y="188913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3.4.6 </a:t>
            </a:r>
            <a:r>
              <a:rPr lang="zh-CN" altLang="en-US" sz="2400" b="1" dirty="0">
                <a:latin typeface="Verdana" panose="020B0604030504040204" pitchFamily="34" charset="0"/>
              </a:rPr>
              <a:t>逻辑函数表达式与真值表的相互转换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20488" name="Text Box 4"/>
          <p:cNvSpPr txBox="1"/>
          <p:nvPr/>
        </p:nvSpPr>
        <p:spPr>
          <a:xfrm>
            <a:off x="900113" y="765175"/>
            <a:ext cx="49688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 2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．由逻辑函数表达式求对应的真值表</a:t>
            </a:r>
            <a:r>
              <a:rPr lang="zh-CN" altLang="en-US" sz="2000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660066"/>
              </a:solidFill>
              <a:latin typeface="Verdana" panose="020B0604030504040204" pitchFamily="34" charset="0"/>
            </a:endParaRPr>
          </a:p>
        </p:txBody>
      </p:sp>
      <p:sp>
        <p:nvSpPr>
          <p:cNvPr id="20489" name="Rectangle 5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490" name="Rectangle 6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491" name="Rectangle 7"/>
          <p:cNvSpPr/>
          <p:nvPr/>
        </p:nvSpPr>
        <p:spPr>
          <a:xfrm>
            <a:off x="0" y="3124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0492" name="Group 32"/>
          <p:cNvGrpSpPr/>
          <p:nvPr/>
        </p:nvGrpSpPr>
        <p:grpSpPr>
          <a:xfrm>
            <a:off x="684213" y="1989138"/>
            <a:ext cx="8281987" cy="1504950"/>
            <a:chOff x="385" y="1752"/>
            <a:chExt cx="5217" cy="948"/>
          </a:xfrm>
        </p:grpSpPr>
        <p:sp>
          <p:nvSpPr>
            <p:cNvPr id="20503" name="Oval 27"/>
            <p:cNvSpPr/>
            <p:nvPr/>
          </p:nvSpPr>
          <p:spPr>
            <a:xfrm>
              <a:off x="385" y="1979"/>
              <a:ext cx="635" cy="363"/>
            </a:xfrm>
            <a:prstGeom prst="ellipse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步骤</a:t>
              </a:r>
              <a:r>
                <a:rPr lang="zh-CN" altLang="en-US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 </a:t>
              </a:r>
              <a:endParaRPr lang="zh-CN" altLang="en-US" dirty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0504" name="Text Box 28"/>
            <p:cNvSpPr txBox="1"/>
            <p:nvPr/>
          </p:nvSpPr>
          <p:spPr>
            <a:xfrm>
              <a:off x="1247" y="1752"/>
              <a:ext cx="367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Verdana" panose="020B0604030504040204" pitchFamily="34" charset="0"/>
                </a:rPr>
                <a:t>在真值表中列出输入变量二进制值的所有可能取值组合 </a:t>
              </a:r>
              <a:endParaRPr lang="zh-CN" altLang="en-US" b="1" dirty="0">
                <a:latin typeface="Verdana" panose="020B0604030504040204" pitchFamily="34" charset="0"/>
              </a:endParaRPr>
            </a:p>
          </p:txBody>
        </p:sp>
        <p:sp>
          <p:nvSpPr>
            <p:cNvPr id="20505" name="Text Box 29"/>
            <p:cNvSpPr txBox="1"/>
            <p:nvPr/>
          </p:nvSpPr>
          <p:spPr>
            <a:xfrm>
              <a:off x="1247" y="2024"/>
              <a:ext cx="435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Verdana" panose="020B0604030504040204" pitchFamily="34" charset="0"/>
                </a:rPr>
                <a:t>将逻辑函数的与或（或与）表达式转换为标准与或（或与）形式</a:t>
              </a:r>
              <a:r>
                <a:rPr lang="zh-CN" altLang="en-US" dirty="0">
                  <a:latin typeface="Verdana" panose="020B0604030504040204" pitchFamily="34" charset="0"/>
                </a:rPr>
                <a:t> </a:t>
              </a: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20506" name="Text Box 30"/>
            <p:cNvSpPr txBox="1"/>
            <p:nvPr/>
          </p:nvSpPr>
          <p:spPr>
            <a:xfrm>
              <a:off x="1247" y="2296"/>
              <a:ext cx="4355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Verdana" panose="020B0604030504040204" pitchFamily="34" charset="0"/>
                </a:rPr>
                <a:t>将构成标准与或（或与）形式的每个最小项（最大项）对应的输出变量处填上</a:t>
              </a:r>
              <a:r>
                <a:rPr lang="en-US" altLang="zh-CN" b="1" dirty="0">
                  <a:latin typeface="Verdana" panose="020B0604030504040204" pitchFamily="34" charset="0"/>
                </a:rPr>
                <a:t>1</a:t>
              </a:r>
              <a:r>
                <a:rPr lang="zh-CN" altLang="en-US" b="1" dirty="0">
                  <a:latin typeface="Verdana" panose="020B0604030504040204" pitchFamily="34" charset="0"/>
                </a:rPr>
                <a:t>（</a:t>
              </a:r>
              <a:r>
                <a:rPr lang="en-US" altLang="zh-CN" b="1" dirty="0">
                  <a:latin typeface="Verdana" panose="020B0604030504040204" pitchFamily="34" charset="0"/>
                </a:rPr>
                <a:t>0</a:t>
              </a:r>
              <a:r>
                <a:rPr lang="zh-CN" altLang="en-US" b="1" dirty="0">
                  <a:latin typeface="Verdana" panose="020B0604030504040204" pitchFamily="34" charset="0"/>
                </a:rPr>
                <a:t>），其它填上</a:t>
              </a:r>
              <a:r>
                <a:rPr lang="en-US" altLang="zh-CN" b="1" dirty="0">
                  <a:latin typeface="Verdana" panose="020B0604030504040204" pitchFamily="34" charset="0"/>
                </a:rPr>
                <a:t>0</a:t>
              </a:r>
              <a:r>
                <a:rPr lang="zh-CN" altLang="en-US" b="1" dirty="0">
                  <a:latin typeface="Verdana" panose="020B0604030504040204" pitchFamily="34" charset="0"/>
                </a:rPr>
                <a:t>（</a:t>
              </a:r>
              <a:r>
                <a:rPr lang="en-US" altLang="zh-CN" b="1" dirty="0">
                  <a:latin typeface="Verdana" panose="020B0604030504040204" pitchFamily="34" charset="0"/>
                </a:rPr>
                <a:t>1</a:t>
              </a:r>
              <a:r>
                <a:rPr lang="zh-CN" altLang="en-US" b="1" dirty="0">
                  <a:latin typeface="Verdana" panose="020B0604030504040204" pitchFamily="34" charset="0"/>
                </a:rPr>
                <a:t>） </a:t>
              </a:r>
              <a:endParaRPr lang="zh-CN" altLang="en-US" b="1" dirty="0">
                <a:latin typeface="Verdana" panose="020B0604030504040204" pitchFamily="34" charset="0"/>
              </a:endParaRPr>
            </a:p>
          </p:txBody>
        </p:sp>
        <p:sp>
          <p:nvSpPr>
            <p:cNvPr id="20507" name="AutoShape 31"/>
            <p:cNvSpPr/>
            <p:nvPr/>
          </p:nvSpPr>
          <p:spPr>
            <a:xfrm>
              <a:off x="1066" y="1842"/>
              <a:ext cx="136" cy="726"/>
            </a:xfrm>
            <a:prstGeom prst="leftBrace">
              <a:avLst>
                <a:gd name="adj1" fmla="val 44485"/>
                <a:gd name="adj2" fmla="val 50000"/>
              </a:avLst>
            </a:prstGeom>
            <a:noFill/>
            <a:ln w="2857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sp>
        <p:nvSpPr>
          <p:cNvPr id="20493" name="Rectangle 34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494" name="Rectangle 36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495" name="Rectangle 39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496" name="Rectangle 41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497" name="Rectangle 43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" name="Group 47"/>
          <p:cNvGrpSpPr/>
          <p:nvPr/>
        </p:nvGrpSpPr>
        <p:grpSpPr>
          <a:xfrm>
            <a:off x="684213" y="3860800"/>
            <a:ext cx="8064500" cy="1925638"/>
            <a:chOff x="385" y="2659"/>
            <a:chExt cx="5080" cy="1213"/>
          </a:xfrm>
        </p:grpSpPr>
        <p:graphicFrame>
          <p:nvGraphicFramePr>
            <p:cNvPr id="20482" name="Object 33"/>
            <p:cNvGraphicFramePr/>
            <p:nvPr/>
          </p:nvGraphicFramePr>
          <p:xfrm>
            <a:off x="567" y="2840"/>
            <a:ext cx="127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1" imgW="965200" imgH="203200" progId="Equation.DSMT4">
                    <p:embed/>
                  </p:oleObj>
                </mc:Choice>
                <mc:Fallback>
                  <p:oleObj name="" r:id="rId1" imgW="965200" imgH="203200" progId="Equation.DSMT4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67" y="2840"/>
                          <a:ext cx="1270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3" name="Object 35"/>
            <p:cNvGraphicFramePr/>
            <p:nvPr/>
          </p:nvGraphicFramePr>
          <p:xfrm>
            <a:off x="1837" y="2840"/>
            <a:ext cx="1837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3" imgW="1371600" imgH="203200" progId="Equation.DSMT4">
                    <p:embed/>
                  </p:oleObj>
                </mc:Choice>
                <mc:Fallback>
                  <p:oleObj name="" r:id="rId3" imgW="1371600" imgH="203200" progId="Equation.DSMT4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37" y="2840"/>
                          <a:ext cx="1837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499" name="Group 44"/>
            <p:cNvGrpSpPr/>
            <p:nvPr/>
          </p:nvGrpSpPr>
          <p:grpSpPr>
            <a:xfrm>
              <a:off x="975" y="3158"/>
              <a:ext cx="3765" cy="258"/>
              <a:chOff x="385" y="3430"/>
              <a:chExt cx="3765" cy="258"/>
            </a:xfrm>
          </p:grpSpPr>
          <p:sp>
            <p:nvSpPr>
              <p:cNvPr id="20502" name="Text Box 37"/>
              <p:cNvSpPr txBox="1"/>
              <p:nvPr/>
            </p:nvSpPr>
            <p:spPr>
              <a:xfrm>
                <a:off x="703" y="3430"/>
                <a:ext cx="344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Verdana" panose="020B0604030504040204" pitchFamily="34" charset="0"/>
                  </a:rPr>
                  <a:t>：</a:t>
                </a:r>
                <a:r>
                  <a:rPr lang="en-US" altLang="zh-CN" sz="2000" b="1" dirty="0">
                    <a:latin typeface="Verdana" panose="020B0604030504040204" pitchFamily="34" charset="0"/>
                  </a:rPr>
                  <a:t>111</a:t>
                </a:r>
                <a:r>
                  <a:rPr lang="zh-CN" altLang="en-US" sz="2000" b="1" dirty="0">
                    <a:latin typeface="Verdana" panose="020B0604030504040204" pitchFamily="34" charset="0"/>
                  </a:rPr>
                  <a:t>；             ：</a:t>
                </a:r>
                <a:r>
                  <a:rPr lang="en-US" altLang="zh-CN" sz="2000" b="1" dirty="0">
                    <a:latin typeface="Verdana" panose="020B0604030504040204" pitchFamily="34" charset="0"/>
                  </a:rPr>
                  <a:t>110</a:t>
                </a:r>
                <a:r>
                  <a:rPr lang="zh-CN" altLang="en-US" sz="2000" b="1" dirty="0">
                    <a:latin typeface="Verdana" panose="020B0604030504040204" pitchFamily="34" charset="0"/>
                  </a:rPr>
                  <a:t>；          </a:t>
                </a:r>
                <a:r>
                  <a:rPr lang="en-US" altLang="zh-CN" sz="2000" b="1" dirty="0">
                    <a:latin typeface="Verdana" panose="020B0604030504040204" pitchFamily="34" charset="0"/>
                  </a:rPr>
                  <a:t>:011 </a:t>
                </a:r>
                <a:endParaRPr lang="en-US" altLang="zh-CN" sz="2000" b="1" dirty="0">
                  <a:latin typeface="Verdana" panose="020B0604030504040204" pitchFamily="34" charset="0"/>
                </a:endParaRPr>
              </a:p>
            </p:txBody>
          </p:sp>
          <p:graphicFrame>
            <p:nvGraphicFramePr>
              <p:cNvPr id="20484" name="Object 38"/>
              <p:cNvGraphicFramePr/>
              <p:nvPr/>
            </p:nvGraphicFramePr>
            <p:xfrm>
              <a:off x="385" y="3430"/>
              <a:ext cx="431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9" name="" r:id="rId5" imgW="354965" imgH="177800" progId="Equation.DSMT4">
                      <p:embed/>
                    </p:oleObj>
                  </mc:Choice>
                  <mc:Fallback>
                    <p:oleObj name="" r:id="rId5" imgW="354965" imgH="177800" progId="Equation.DSMT4">
                      <p:embed/>
                      <p:pic>
                        <p:nvPicPr>
                          <p:cNvPr id="0" name="图片 3138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85" y="3430"/>
                            <a:ext cx="431" cy="22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5" name="Object 40"/>
              <p:cNvGraphicFramePr/>
              <p:nvPr/>
            </p:nvGraphicFramePr>
            <p:xfrm>
              <a:off x="1655" y="3430"/>
              <a:ext cx="431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3" name="" r:id="rId7" imgW="355600" imgH="203200" progId="Equation.DSMT4">
                      <p:embed/>
                    </p:oleObj>
                  </mc:Choice>
                  <mc:Fallback>
                    <p:oleObj name="" r:id="rId7" imgW="355600" imgH="203200" progId="Equation.DSMT4">
                      <p:embed/>
                      <p:pic>
                        <p:nvPicPr>
                          <p:cNvPr id="0" name="图片 3132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655" y="3430"/>
                            <a:ext cx="431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86" name="Object 42"/>
              <p:cNvGraphicFramePr/>
              <p:nvPr/>
            </p:nvGraphicFramePr>
            <p:xfrm>
              <a:off x="2835" y="3430"/>
              <a:ext cx="454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7" name="" r:id="rId9" imgW="355600" imgH="203200" progId="Equation.DSMT4">
                      <p:embed/>
                    </p:oleObj>
                  </mc:Choice>
                  <mc:Fallback>
                    <p:oleObj name="" r:id="rId9" imgW="355600" imgH="203200" progId="Equation.DSMT4">
                      <p:embed/>
                      <p:pic>
                        <p:nvPicPr>
                          <p:cNvPr id="0" name="图片 3136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835" y="3430"/>
                            <a:ext cx="454" cy="25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500" name="Text Box 45"/>
            <p:cNvSpPr txBox="1"/>
            <p:nvPr/>
          </p:nvSpPr>
          <p:spPr>
            <a:xfrm>
              <a:off x="521" y="3430"/>
              <a:ext cx="4944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Verdana" panose="020B0604030504040204" pitchFamily="34" charset="0"/>
                </a:rPr>
                <a:t>在真值表中，输入变量二进制值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111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、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110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、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011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对应的输出变量处填上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1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，其它填上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0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即得该函数的真值表。 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20501" name="Text Box 46"/>
            <p:cNvSpPr txBox="1"/>
            <p:nvPr/>
          </p:nvSpPr>
          <p:spPr>
            <a:xfrm>
              <a:off x="385" y="2659"/>
              <a:ext cx="45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例， </a:t>
              </a:r>
              <a:endPara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400" b="1" dirty="0"/>
              <a:t>3.5 </a:t>
            </a:r>
            <a:r>
              <a:rPr lang="zh-CN" altLang="en-US" sz="4400" b="1" dirty="0"/>
              <a:t>逻辑代数化简法</a:t>
            </a:r>
            <a:r>
              <a:rPr lang="zh-CN" altLang="en-US" sz="4400" dirty="0"/>
              <a:t> </a:t>
            </a:r>
            <a:endParaRPr lang="zh-CN" altLang="en-US" sz="4400" dirty="0"/>
          </a:p>
        </p:txBody>
      </p:sp>
      <p:sp>
        <p:nvSpPr>
          <p:cNvPr id="21514" name="Text Box 3"/>
          <p:cNvSpPr txBox="1"/>
          <p:nvPr/>
        </p:nvSpPr>
        <p:spPr>
          <a:xfrm>
            <a:off x="611188" y="1773238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3.5.1 </a:t>
            </a:r>
            <a:r>
              <a:rPr lang="zh-CN" altLang="en-US" sz="2400" b="1" dirty="0">
                <a:latin typeface="Verdana" panose="020B0604030504040204" pitchFamily="34" charset="0"/>
              </a:rPr>
              <a:t>并项化简法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grpSp>
        <p:nvGrpSpPr>
          <p:cNvPr id="21515" name="Group 45"/>
          <p:cNvGrpSpPr/>
          <p:nvPr/>
        </p:nvGrpSpPr>
        <p:grpSpPr>
          <a:xfrm>
            <a:off x="539750" y="2276475"/>
            <a:ext cx="5689600" cy="892175"/>
            <a:chOff x="340" y="1434"/>
            <a:chExt cx="3584" cy="562"/>
          </a:xfrm>
        </p:grpSpPr>
        <p:sp>
          <p:nvSpPr>
            <p:cNvPr id="21520" name="Text Box 4"/>
            <p:cNvSpPr txBox="1"/>
            <p:nvPr/>
          </p:nvSpPr>
          <p:spPr>
            <a:xfrm>
              <a:off x="340" y="1434"/>
              <a:ext cx="31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3-14】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1511" name="Object 29"/>
            <p:cNvGraphicFramePr/>
            <p:nvPr/>
          </p:nvGraphicFramePr>
          <p:xfrm>
            <a:off x="1882" y="1434"/>
            <a:ext cx="1383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1" imgW="1066165" imgH="203200" progId="Equation.DSMT4">
                    <p:embed/>
                  </p:oleObj>
                </mc:Choice>
                <mc:Fallback>
                  <p:oleObj name="" r:id="rId1" imgW="1066165" imgH="203200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82" y="1434"/>
                          <a:ext cx="1383" cy="2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2" name="Object 31"/>
            <p:cNvGraphicFramePr/>
            <p:nvPr/>
          </p:nvGraphicFramePr>
          <p:xfrm>
            <a:off x="703" y="1706"/>
            <a:ext cx="322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3" imgW="2501900" imgH="228600" progId="Equation.DSMT4">
                    <p:embed/>
                  </p:oleObj>
                </mc:Choice>
                <mc:Fallback>
                  <p:oleObj name="" r:id="rId3" imgW="2501900" imgH="228600" progId="Equation.DSMT4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3" y="1706"/>
                          <a:ext cx="3221" cy="2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4"/>
          <p:cNvGrpSpPr/>
          <p:nvPr/>
        </p:nvGrpSpPr>
        <p:grpSpPr>
          <a:xfrm>
            <a:off x="611188" y="3357563"/>
            <a:ext cx="7921625" cy="963612"/>
            <a:chOff x="385" y="2115"/>
            <a:chExt cx="4990" cy="607"/>
          </a:xfrm>
        </p:grpSpPr>
        <p:sp>
          <p:nvSpPr>
            <p:cNvPr id="21519" name="Text Box 33"/>
            <p:cNvSpPr txBox="1"/>
            <p:nvPr/>
          </p:nvSpPr>
          <p:spPr>
            <a:xfrm>
              <a:off x="385" y="2160"/>
              <a:ext cx="31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3-15】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1509" name="Object 35"/>
            <p:cNvGraphicFramePr/>
            <p:nvPr/>
          </p:nvGraphicFramePr>
          <p:xfrm>
            <a:off x="1973" y="2115"/>
            <a:ext cx="1701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5" imgW="1409065" imgH="215900" progId="Equation.DSMT4">
                    <p:embed/>
                  </p:oleObj>
                </mc:Choice>
                <mc:Fallback>
                  <p:oleObj name="" r:id="rId5" imgW="1409065" imgH="215900" progId="Equation.DSMT4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73" y="2115"/>
                          <a:ext cx="1701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0" name="Object 37"/>
            <p:cNvGraphicFramePr/>
            <p:nvPr/>
          </p:nvGraphicFramePr>
          <p:xfrm>
            <a:off x="657" y="2432"/>
            <a:ext cx="4718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7" imgW="3937000" imgH="241300" progId="Equation.DSMT4">
                    <p:embed/>
                  </p:oleObj>
                </mc:Choice>
                <mc:Fallback>
                  <p:oleObj name="" r:id="rId7" imgW="3937000" imgH="241300" progId="Equation.DSMT4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7" y="2432"/>
                          <a:ext cx="4718" cy="2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3"/>
          <p:cNvGrpSpPr/>
          <p:nvPr/>
        </p:nvGrpSpPr>
        <p:grpSpPr>
          <a:xfrm>
            <a:off x="684213" y="4581525"/>
            <a:ext cx="7559675" cy="1452563"/>
            <a:chOff x="431" y="2886"/>
            <a:chExt cx="4762" cy="915"/>
          </a:xfrm>
        </p:grpSpPr>
        <p:sp>
          <p:nvSpPr>
            <p:cNvPr id="21518" name="Text Box 34"/>
            <p:cNvSpPr txBox="1"/>
            <p:nvPr/>
          </p:nvSpPr>
          <p:spPr>
            <a:xfrm>
              <a:off x="431" y="2931"/>
              <a:ext cx="31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3-16】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1507" name="Object 39"/>
            <p:cNvGraphicFramePr/>
            <p:nvPr/>
          </p:nvGraphicFramePr>
          <p:xfrm>
            <a:off x="1927" y="2886"/>
            <a:ext cx="2517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9" imgW="1981200" imgH="228600" progId="Equation.DSMT4">
                    <p:embed/>
                  </p:oleObj>
                </mc:Choice>
                <mc:Fallback>
                  <p:oleObj name="" r:id="rId9" imgW="1981200" imgH="228600" progId="Equation.DSMT4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27" y="2886"/>
                          <a:ext cx="2517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8" name="Object 41"/>
            <p:cNvGraphicFramePr/>
            <p:nvPr/>
          </p:nvGraphicFramePr>
          <p:xfrm>
            <a:off x="612" y="3203"/>
            <a:ext cx="4581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1" imgW="3733800" imgH="482600" progId="Equation.DSMT4">
                    <p:embed/>
                  </p:oleObj>
                </mc:Choice>
                <mc:Fallback>
                  <p:oleObj name="" r:id="rId11" imgW="3733800" imgH="482600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12" y="3203"/>
                          <a:ext cx="4581" cy="5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506" name="Object 46"/>
          <p:cNvGraphicFramePr/>
          <p:nvPr/>
        </p:nvGraphicFramePr>
        <p:xfrm>
          <a:off x="4500563" y="1773238"/>
          <a:ext cx="12239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3" imgW="609600" imgH="203200" progId="Equation.3">
                  <p:embed/>
                </p:oleObj>
              </mc:Choice>
              <mc:Fallback>
                <p:oleObj name="" r:id="rId13" imgW="609600" imgH="2032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00563" y="1773238"/>
                        <a:ext cx="1223962" cy="4064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8" name="Text Box 3"/>
          <p:cNvSpPr txBox="1"/>
          <p:nvPr/>
        </p:nvSpPr>
        <p:spPr>
          <a:xfrm>
            <a:off x="611188" y="333375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3.5.2 </a:t>
            </a:r>
            <a:r>
              <a:rPr lang="zh-CN" altLang="en-US" sz="2400" b="1" dirty="0">
                <a:latin typeface="Verdana" panose="020B0604030504040204" pitchFamily="34" charset="0"/>
              </a:rPr>
              <a:t>吸收化简法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grpSp>
        <p:nvGrpSpPr>
          <p:cNvPr id="22539" name="Group 32"/>
          <p:cNvGrpSpPr/>
          <p:nvPr/>
        </p:nvGrpSpPr>
        <p:grpSpPr>
          <a:xfrm>
            <a:off x="611188" y="1916113"/>
            <a:ext cx="5435600" cy="819150"/>
            <a:chOff x="340" y="1434"/>
            <a:chExt cx="3424" cy="516"/>
          </a:xfrm>
        </p:grpSpPr>
        <p:sp>
          <p:nvSpPr>
            <p:cNvPr id="22546" name="Text Box 5"/>
            <p:cNvSpPr txBox="1"/>
            <p:nvPr/>
          </p:nvSpPr>
          <p:spPr>
            <a:xfrm>
              <a:off x="340" y="1434"/>
              <a:ext cx="31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3-17】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2536" name="Object 18"/>
            <p:cNvGraphicFramePr/>
            <p:nvPr/>
          </p:nvGraphicFramePr>
          <p:xfrm>
            <a:off x="1927" y="1434"/>
            <a:ext cx="183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1" imgW="1536700" imgH="228600" progId="Equation.DSMT4">
                    <p:embed/>
                  </p:oleObj>
                </mc:Choice>
                <mc:Fallback>
                  <p:oleObj name="" r:id="rId1" imgW="1536700" imgH="228600" progId="Equation.DSMT4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27" y="1434"/>
                          <a:ext cx="1837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7" name="Object 20"/>
            <p:cNvGraphicFramePr/>
            <p:nvPr/>
          </p:nvGraphicFramePr>
          <p:xfrm>
            <a:off x="703" y="1661"/>
            <a:ext cx="2653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3" imgW="2171700" imgH="241300" progId="Equation.DSMT4">
                    <p:embed/>
                  </p:oleObj>
                </mc:Choice>
                <mc:Fallback>
                  <p:oleObj name="" r:id="rId3" imgW="2171700" imgH="241300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3" y="1661"/>
                          <a:ext cx="2653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40" name="Rectangle 2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539750" y="3141663"/>
            <a:ext cx="6875463" cy="1617662"/>
            <a:chOff x="385" y="2251"/>
            <a:chExt cx="4331" cy="1019"/>
          </a:xfrm>
        </p:grpSpPr>
        <p:sp>
          <p:nvSpPr>
            <p:cNvPr id="22545" name="Text Box 16"/>
            <p:cNvSpPr txBox="1"/>
            <p:nvPr/>
          </p:nvSpPr>
          <p:spPr>
            <a:xfrm>
              <a:off x="385" y="2296"/>
              <a:ext cx="31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3-18】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2534" name="Object 22"/>
            <p:cNvGraphicFramePr/>
            <p:nvPr/>
          </p:nvGraphicFramePr>
          <p:xfrm>
            <a:off x="1837" y="2251"/>
            <a:ext cx="2064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5" imgW="1676400" imgH="203200" progId="Equation.DSMT4">
                    <p:embed/>
                  </p:oleObj>
                </mc:Choice>
                <mc:Fallback>
                  <p:oleObj name="" r:id="rId5" imgW="1676400" imgH="203200" progId="Equation.DSMT4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37" y="2251"/>
                          <a:ext cx="2064" cy="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5" name="Object 24"/>
            <p:cNvGraphicFramePr/>
            <p:nvPr/>
          </p:nvGraphicFramePr>
          <p:xfrm>
            <a:off x="657" y="2523"/>
            <a:ext cx="4059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7" imgW="3390900" imgH="622300" progId="Equation.DSMT4">
                    <p:embed/>
                  </p:oleObj>
                </mc:Choice>
                <mc:Fallback>
                  <p:oleObj name="" r:id="rId7" imgW="3390900" imgH="622300" progId="Equation.DSMT4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7" y="2523"/>
                          <a:ext cx="4059" cy="7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1"/>
          <p:cNvGrpSpPr/>
          <p:nvPr/>
        </p:nvGrpSpPr>
        <p:grpSpPr>
          <a:xfrm>
            <a:off x="684213" y="4797425"/>
            <a:ext cx="6551612" cy="1436688"/>
            <a:chOff x="431" y="3143"/>
            <a:chExt cx="4127" cy="905"/>
          </a:xfrm>
        </p:grpSpPr>
        <p:sp>
          <p:nvSpPr>
            <p:cNvPr id="22544" name="Text Box 17"/>
            <p:cNvSpPr txBox="1"/>
            <p:nvPr/>
          </p:nvSpPr>
          <p:spPr>
            <a:xfrm>
              <a:off x="431" y="3203"/>
              <a:ext cx="31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3-19】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2532" name="Object 27"/>
            <p:cNvGraphicFramePr/>
            <p:nvPr/>
          </p:nvGraphicFramePr>
          <p:xfrm>
            <a:off x="1927" y="3143"/>
            <a:ext cx="2495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9" imgW="2032000" imgH="266700" progId="Equation.DSMT4">
                    <p:embed/>
                  </p:oleObj>
                </mc:Choice>
                <mc:Fallback>
                  <p:oleObj name="" r:id="rId9" imgW="2032000" imgH="266700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27" y="3143"/>
                          <a:ext cx="2495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3" name="Object 29"/>
            <p:cNvGraphicFramePr/>
            <p:nvPr/>
          </p:nvGraphicFramePr>
          <p:xfrm>
            <a:off x="657" y="3430"/>
            <a:ext cx="3901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11" imgW="3175000" imgH="508000" progId="Equation.DSMT4">
                    <p:embed/>
                  </p:oleObj>
                </mc:Choice>
                <mc:Fallback>
                  <p:oleObj name="" r:id="rId11" imgW="3175000" imgH="508000" progId="Equation.DSMT4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57" y="3430"/>
                          <a:ext cx="3901" cy="6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43" name="Rectangle 34"/>
          <p:cNvSpPr/>
          <p:nvPr/>
        </p:nvSpPr>
        <p:spPr>
          <a:xfrm>
            <a:off x="0" y="3352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22530" name="Object 33"/>
          <p:cNvGraphicFramePr/>
          <p:nvPr/>
        </p:nvGraphicFramePr>
        <p:xfrm>
          <a:off x="3995738" y="1052513"/>
          <a:ext cx="1476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3" imgW="735965" imgH="165100" progId="Equation.DSMT4">
                  <p:embed/>
                </p:oleObj>
              </mc:Choice>
              <mc:Fallback>
                <p:oleObj name="" r:id="rId13" imgW="735965" imgH="1651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95738" y="1052513"/>
                        <a:ext cx="1476375" cy="3333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5"/>
          <p:cNvGraphicFramePr/>
          <p:nvPr/>
        </p:nvGraphicFramePr>
        <p:xfrm>
          <a:off x="6300788" y="1052513"/>
          <a:ext cx="190817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5" imgW="977265" imgH="203200" progId="Equation.DSMT4">
                  <p:embed/>
                </p:oleObj>
              </mc:Choice>
              <mc:Fallback>
                <p:oleObj name="" r:id="rId15" imgW="977265" imgH="2032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00788" y="1052513"/>
                        <a:ext cx="1908175" cy="3889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9" name="Text Box 3"/>
          <p:cNvSpPr txBox="1"/>
          <p:nvPr/>
        </p:nvSpPr>
        <p:spPr>
          <a:xfrm>
            <a:off x="468313" y="476250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3.5.3 </a:t>
            </a:r>
            <a:r>
              <a:rPr lang="zh-CN" altLang="en-US" sz="2400" b="1" dirty="0">
                <a:latin typeface="Verdana" panose="020B0604030504040204" pitchFamily="34" charset="0"/>
              </a:rPr>
              <a:t>配项化简法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23560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3561" name="Group 25"/>
          <p:cNvGrpSpPr/>
          <p:nvPr/>
        </p:nvGrpSpPr>
        <p:grpSpPr>
          <a:xfrm>
            <a:off x="971550" y="2420938"/>
            <a:ext cx="6443663" cy="1858962"/>
            <a:chOff x="340" y="1389"/>
            <a:chExt cx="4059" cy="1171"/>
          </a:xfrm>
        </p:grpSpPr>
        <p:sp>
          <p:nvSpPr>
            <p:cNvPr id="23566" name="Text Box 5"/>
            <p:cNvSpPr txBox="1"/>
            <p:nvPr/>
          </p:nvSpPr>
          <p:spPr>
            <a:xfrm>
              <a:off x="340" y="1434"/>
              <a:ext cx="35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3-20】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3557" name="Object 21"/>
            <p:cNvGraphicFramePr/>
            <p:nvPr/>
          </p:nvGraphicFramePr>
          <p:xfrm>
            <a:off x="1882" y="1389"/>
            <a:ext cx="1519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1" imgW="1218565" imgH="203200" progId="Equation.DSMT4">
                    <p:embed/>
                  </p:oleObj>
                </mc:Choice>
                <mc:Fallback>
                  <p:oleObj name="" r:id="rId1" imgW="1218565" imgH="203200" progId="Equation.DSMT4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82" y="1389"/>
                          <a:ext cx="1519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8" name="Object 23"/>
            <p:cNvGraphicFramePr/>
            <p:nvPr/>
          </p:nvGraphicFramePr>
          <p:xfrm>
            <a:off x="612" y="1706"/>
            <a:ext cx="3787" cy="8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3" imgW="3124200" imgH="736600" progId="Equation.DSMT4">
                    <p:embed/>
                  </p:oleObj>
                </mc:Choice>
                <mc:Fallback>
                  <p:oleObj name="" r:id="rId3" imgW="3124200" imgH="736600" progId="Equation.DSMT4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12" y="1706"/>
                          <a:ext cx="3787" cy="8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0"/>
          <p:cNvGrpSpPr/>
          <p:nvPr/>
        </p:nvGrpSpPr>
        <p:grpSpPr>
          <a:xfrm>
            <a:off x="827088" y="4448175"/>
            <a:ext cx="7850188" cy="1916113"/>
            <a:chOff x="521" y="2940"/>
            <a:chExt cx="4945" cy="1207"/>
          </a:xfrm>
        </p:grpSpPr>
        <p:sp>
          <p:nvSpPr>
            <p:cNvPr id="23565" name="Text Box 17"/>
            <p:cNvSpPr txBox="1"/>
            <p:nvPr/>
          </p:nvSpPr>
          <p:spPr>
            <a:xfrm>
              <a:off x="521" y="2976"/>
              <a:ext cx="35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3-21】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3555" name="Object 26"/>
            <p:cNvGraphicFramePr/>
            <p:nvPr/>
          </p:nvGraphicFramePr>
          <p:xfrm>
            <a:off x="2064" y="2940"/>
            <a:ext cx="1859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5" imgW="1548765" imgH="203200" progId="Equation.DSMT4">
                    <p:embed/>
                  </p:oleObj>
                </mc:Choice>
                <mc:Fallback>
                  <p:oleObj name="" r:id="rId5" imgW="1548765" imgH="203200" progId="Equation.DSMT4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64" y="2940"/>
                          <a:ext cx="1859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6" name="Object 28"/>
            <p:cNvGraphicFramePr/>
            <p:nvPr/>
          </p:nvGraphicFramePr>
          <p:xfrm>
            <a:off x="748" y="3285"/>
            <a:ext cx="4718" cy="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7" imgW="4140200" imgH="749300" progId="Equation.DSMT4">
                    <p:embed/>
                  </p:oleObj>
                </mc:Choice>
                <mc:Fallback>
                  <p:oleObj name="" r:id="rId7" imgW="4140200" imgH="749300" progId="Equation.DSMT4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48" y="3285"/>
                          <a:ext cx="4718" cy="8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63" name="Text Box 31"/>
          <p:cNvSpPr txBox="1"/>
          <p:nvPr/>
        </p:nvSpPr>
        <p:spPr>
          <a:xfrm>
            <a:off x="611188" y="1773238"/>
            <a:ext cx="69135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方法 ①</a:t>
            </a:r>
            <a:r>
              <a:rPr lang="zh-CN" altLang="en-US" sz="2000" b="1" dirty="0">
                <a:latin typeface="Verdana" panose="020B0604030504040204" pitchFamily="34" charset="0"/>
              </a:rPr>
              <a:t>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23564" name="Rectangle 33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23554" name="Object 32"/>
          <p:cNvGraphicFramePr/>
          <p:nvPr/>
        </p:nvGraphicFramePr>
        <p:xfrm>
          <a:off x="1979613" y="1844675"/>
          <a:ext cx="125888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9" imgW="596900" imgH="190500" progId="Equation.DSMT4">
                  <p:embed/>
                </p:oleObj>
              </mc:Choice>
              <mc:Fallback>
                <p:oleObj name="" r:id="rId9" imgW="596900" imgH="190500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9613" y="1844675"/>
                        <a:ext cx="1258887" cy="4127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80" name="Text Box 3"/>
          <p:cNvSpPr txBox="1"/>
          <p:nvPr/>
        </p:nvSpPr>
        <p:spPr>
          <a:xfrm>
            <a:off x="468313" y="404813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3.5.3 </a:t>
            </a:r>
            <a:r>
              <a:rPr lang="zh-CN" altLang="en-US" sz="2400" b="1" dirty="0">
                <a:latin typeface="Verdana" panose="020B0604030504040204" pitchFamily="34" charset="0"/>
              </a:rPr>
              <a:t>配项化简法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2458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4582" name="Text Box 5"/>
          <p:cNvSpPr txBox="1"/>
          <p:nvPr/>
        </p:nvSpPr>
        <p:spPr>
          <a:xfrm>
            <a:off x="755650" y="2997200"/>
            <a:ext cx="5616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3-22】 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化简</a:t>
            </a:r>
            <a:r>
              <a: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24583" name="Rectangle 6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4584" name="Rectangle 7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4585" name="Rectangle 8"/>
          <p:cNvSpPr/>
          <p:nvPr/>
        </p:nvSpPr>
        <p:spPr>
          <a:xfrm>
            <a:off x="0" y="31003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4586" name="Rectangle 14"/>
          <p:cNvSpPr/>
          <p:nvPr/>
        </p:nvSpPr>
        <p:spPr>
          <a:xfrm>
            <a:off x="0" y="30861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4587" name="Text Box 19"/>
          <p:cNvSpPr txBox="1"/>
          <p:nvPr/>
        </p:nvSpPr>
        <p:spPr>
          <a:xfrm>
            <a:off x="1042988" y="1916113"/>
            <a:ext cx="38163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方法 ②      </a:t>
            </a:r>
            <a:r>
              <a:rPr lang="zh-CN" altLang="en-US" sz="2000" b="1" dirty="0">
                <a:latin typeface="Verdana" panose="020B0604030504040204" pitchFamily="34" charset="0"/>
              </a:rPr>
              <a:t>Ａ＋Ａ＝Ａ</a:t>
            </a:r>
            <a:r>
              <a:rPr lang="zh-CN" altLang="en-US" sz="2000" dirty="0">
                <a:latin typeface="Verdana" panose="020B0604030504040204" pitchFamily="34" charset="0"/>
              </a:rPr>
              <a:t> </a:t>
            </a:r>
            <a:r>
              <a:rPr lang="zh-CN" altLang="en-US" sz="2000" b="1" dirty="0">
                <a:latin typeface="Verdana" panose="020B0604030504040204" pitchFamily="34" charset="0"/>
              </a:rPr>
              <a:t> 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24588" name="Rectangle 21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24578" name="Object 20"/>
          <p:cNvGraphicFramePr/>
          <p:nvPr/>
        </p:nvGraphicFramePr>
        <p:xfrm>
          <a:off x="3348038" y="2997200"/>
          <a:ext cx="41402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" imgW="1955800" imgH="203200" progId="Equation.DSMT4">
                  <p:embed/>
                </p:oleObj>
              </mc:Choice>
              <mc:Fallback>
                <p:oleObj name="" r:id="rId1" imgW="1955800" imgH="2032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8038" y="2997200"/>
                        <a:ext cx="4140200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6" name="Object 22"/>
          <p:cNvGraphicFramePr/>
          <p:nvPr/>
        </p:nvGraphicFramePr>
        <p:xfrm>
          <a:off x="468313" y="3789363"/>
          <a:ext cx="849630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3" imgW="4508500" imgH="482600" progId="Equation.DSMT4">
                  <p:embed/>
                </p:oleObj>
              </mc:Choice>
              <mc:Fallback>
                <p:oleObj name="" r:id="rId3" imgW="4508500" imgH="4826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3789363"/>
                        <a:ext cx="8496300" cy="950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9" name="Text Box 3"/>
          <p:cNvSpPr txBox="1"/>
          <p:nvPr/>
        </p:nvSpPr>
        <p:spPr>
          <a:xfrm>
            <a:off x="539750" y="404813"/>
            <a:ext cx="69135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3.5.4 </a:t>
            </a:r>
            <a:r>
              <a:rPr lang="zh-CN" altLang="en-US" sz="2400" b="1" dirty="0">
                <a:latin typeface="Verdana" panose="020B0604030504040204" pitchFamily="34" charset="0"/>
              </a:rPr>
              <a:t>消去冗余项化简法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2561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25602" name="Object 15"/>
          <p:cNvGraphicFramePr/>
          <p:nvPr/>
        </p:nvGraphicFramePr>
        <p:xfrm>
          <a:off x="4932363" y="908050"/>
          <a:ext cx="31670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" imgW="1624965" imgH="215900" progId="Equation.DSMT4">
                  <p:embed/>
                </p:oleObj>
              </mc:Choice>
              <mc:Fallback>
                <p:oleObj name="" r:id="rId1" imgW="1624965" imgH="2159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32363" y="908050"/>
                        <a:ext cx="3167062" cy="4222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Rectangle 19"/>
          <p:cNvSpPr/>
          <p:nvPr/>
        </p:nvSpPr>
        <p:spPr>
          <a:xfrm>
            <a:off x="0" y="31146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5613" name="Rectangle 22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5614" name="Rectangle 24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" name="Group 25"/>
          <p:cNvGrpSpPr/>
          <p:nvPr/>
        </p:nvGrpSpPr>
        <p:grpSpPr>
          <a:xfrm>
            <a:off x="753428" y="2204403"/>
            <a:ext cx="6481762" cy="720725"/>
            <a:chOff x="340" y="2750"/>
            <a:chExt cx="4059" cy="497"/>
          </a:xfrm>
        </p:grpSpPr>
        <p:sp>
          <p:nvSpPr>
            <p:cNvPr id="25619" name="Text Box 17"/>
            <p:cNvSpPr txBox="1"/>
            <p:nvPr/>
          </p:nvSpPr>
          <p:spPr>
            <a:xfrm>
              <a:off x="340" y="2750"/>
              <a:ext cx="3538" cy="2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3-24】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5605" name="Object 21"/>
            <p:cNvGraphicFramePr/>
            <p:nvPr/>
          </p:nvGraphicFramePr>
          <p:xfrm>
            <a:off x="2018" y="2750"/>
            <a:ext cx="238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7" name="" r:id="rId3" imgW="1892300" imgH="228600" progId="Equation.DSMT4">
                    <p:embed/>
                  </p:oleObj>
                </mc:Choice>
                <mc:Fallback>
                  <p:oleObj name="" r:id="rId3" imgW="1892300" imgH="228600" progId="Equation.DSMT4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18" y="2750"/>
                          <a:ext cx="2381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6" name="Object 23"/>
            <p:cNvGraphicFramePr/>
            <p:nvPr/>
          </p:nvGraphicFramePr>
          <p:xfrm>
            <a:off x="975" y="2976"/>
            <a:ext cx="331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5" imgW="2882900" imgH="228600" progId="Equation.DSMT4">
                    <p:embed/>
                  </p:oleObj>
                </mc:Choice>
                <mc:Fallback>
                  <p:oleObj name="" r:id="rId5" imgW="2882900" imgH="228600" progId="Equation.DSMT4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75" y="2976"/>
                          <a:ext cx="3311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16" name="Rectangle 31"/>
          <p:cNvSpPr/>
          <p:nvPr/>
        </p:nvSpPr>
        <p:spPr>
          <a:xfrm>
            <a:off x="0" y="30003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4" name="Group 32"/>
          <p:cNvGrpSpPr/>
          <p:nvPr/>
        </p:nvGrpSpPr>
        <p:grpSpPr>
          <a:xfrm>
            <a:off x="745595" y="3290599"/>
            <a:ext cx="6766974" cy="2382053"/>
            <a:chOff x="430" y="2461"/>
            <a:chExt cx="4219" cy="1535"/>
          </a:xfrm>
        </p:grpSpPr>
        <p:sp>
          <p:nvSpPr>
            <p:cNvPr id="25618" name="Text Box 27"/>
            <p:cNvSpPr txBox="1"/>
            <p:nvPr/>
          </p:nvSpPr>
          <p:spPr>
            <a:xfrm>
              <a:off x="430" y="2461"/>
              <a:ext cx="421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3-25】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5603" name="Object 28"/>
            <p:cNvGraphicFramePr/>
            <p:nvPr/>
          </p:nvGraphicFramePr>
          <p:xfrm>
            <a:off x="1338" y="2830"/>
            <a:ext cx="2903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7" imgW="2616200" imgH="203200" progId="Equation.DSMT4">
                    <p:embed/>
                  </p:oleObj>
                </mc:Choice>
                <mc:Fallback>
                  <p:oleObj name="" r:id="rId7" imgW="2616200" imgH="203200" progId="Equation.DSMT4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38" y="2830"/>
                          <a:ext cx="2903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4" name="Object 30"/>
            <p:cNvGraphicFramePr/>
            <p:nvPr/>
          </p:nvGraphicFramePr>
          <p:xfrm>
            <a:off x="893" y="3200"/>
            <a:ext cx="3719" cy="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9" imgW="4089400" imgH="939800" progId="Equation.DSMT4">
                    <p:embed/>
                  </p:oleObj>
                </mc:Choice>
                <mc:Fallback>
                  <p:oleObj name="" r:id="rId9" imgW="4089400" imgH="939800" progId="Equation.DSMT4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93" y="3200"/>
                          <a:ext cx="3719" cy="7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8" name="Text Box 3"/>
          <p:cNvSpPr txBox="1"/>
          <p:nvPr/>
        </p:nvSpPr>
        <p:spPr>
          <a:xfrm>
            <a:off x="611188" y="476250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3.5.4 </a:t>
            </a:r>
            <a:r>
              <a:rPr lang="zh-CN" altLang="en-US" sz="2400" b="1" dirty="0">
                <a:latin typeface="Verdana" panose="020B0604030504040204" pitchFamily="34" charset="0"/>
              </a:rPr>
              <a:t>消去冗余项化简法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26629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6630" name="Rectangle 10"/>
          <p:cNvSpPr/>
          <p:nvPr/>
        </p:nvSpPr>
        <p:spPr>
          <a:xfrm>
            <a:off x="0" y="3324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6631" name="Rectangle 12"/>
          <p:cNvSpPr/>
          <p:nvPr/>
        </p:nvSpPr>
        <p:spPr>
          <a:xfrm>
            <a:off x="0" y="26527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6632" name="Group 13"/>
          <p:cNvGrpSpPr/>
          <p:nvPr/>
        </p:nvGrpSpPr>
        <p:grpSpPr>
          <a:xfrm>
            <a:off x="250825" y="2133600"/>
            <a:ext cx="8388350" cy="3709988"/>
            <a:chOff x="476" y="1888"/>
            <a:chExt cx="5284" cy="2337"/>
          </a:xfrm>
        </p:grpSpPr>
        <p:sp>
          <p:nvSpPr>
            <p:cNvPr id="26633" name="Text Box 5"/>
            <p:cNvSpPr txBox="1"/>
            <p:nvPr/>
          </p:nvSpPr>
          <p:spPr>
            <a:xfrm>
              <a:off x="476" y="1888"/>
              <a:ext cx="35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 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3-26】 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26626" name="Object 9"/>
            <p:cNvGraphicFramePr/>
            <p:nvPr/>
          </p:nvGraphicFramePr>
          <p:xfrm>
            <a:off x="1927" y="1888"/>
            <a:ext cx="3833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1" imgW="3162300" imgH="228600" progId="Equation.DSMT4">
                    <p:embed/>
                  </p:oleObj>
                </mc:Choice>
                <mc:Fallback>
                  <p:oleObj name="" r:id="rId1" imgW="3162300" imgH="228600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27" y="1888"/>
                          <a:ext cx="3833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27" name="Object 11"/>
            <p:cNvGraphicFramePr/>
            <p:nvPr/>
          </p:nvGraphicFramePr>
          <p:xfrm>
            <a:off x="884" y="2160"/>
            <a:ext cx="4309" cy="20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3" imgW="3479800" imgH="1727200" progId="Equation.DSMT4">
                    <p:embed/>
                  </p:oleObj>
                </mc:Choice>
                <mc:Fallback>
                  <p:oleObj name="" r:id="rId3" imgW="3479800" imgH="1727200" progId="Equation.DSMT4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84" y="2160"/>
                          <a:ext cx="4309" cy="20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4" name="Text Box 3"/>
          <p:cNvSpPr txBox="1"/>
          <p:nvPr/>
        </p:nvSpPr>
        <p:spPr>
          <a:xfrm>
            <a:off x="539750" y="620713"/>
            <a:ext cx="69135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3.5.4 </a:t>
            </a:r>
            <a:r>
              <a:rPr lang="zh-CN" altLang="en-US" sz="2400" b="1" dirty="0">
                <a:latin typeface="Verdana" panose="020B0604030504040204" pitchFamily="34" charset="0"/>
              </a:rPr>
              <a:t>消去冗余项化简法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2765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7656" name="Text Box 5"/>
          <p:cNvSpPr txBox="1"/>
          <p:nvPr/>
        </p:nvSpPr>
        <p:spPr>
          <a:xfrm>
            <a:off x="323850" y="1916113"/>
            <a:ext cx="5616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3-27】 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化简</a:t>
            </a:r>
            <a:r>
              <a: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27650" name="Object 12"/>
          <p:cNvGraphicFramePr/>
          <p:nvPr/>
        </p:nvGraphicFramePr>
        <p:xfrm>
          <a:off x="1476375" y="2636838"/>
          <a:ext cx="640873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" imgW="3352800" imgH="228600" progId="Equation.DSMT4">
                  <p:embed/>
                </p:oleObj>
              </mc:Choice>
              <mc:Fallback>
                <p:oleObj name="" r:id="rId1" imgW="3352800" imgH="2286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2636838"/>
                        <a:ext cx="6408738" cy="433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7" name="Group 22"/>
          <p:cNvGrpSpPr/>
          <p:nvPr/>
        </p:nvGrpSpPr>
        <p:grpSpPr>
          <a:xfrm>
            <a:off x="468313" y="3429000"/>
            <a:ext cx="5759450" cy="1246188"/>
            <a:chOff x="295" y="2160"/>
            <a:chExt cx="3628" cy="785"/>
          </a:xfrm>
        </p:grpSpPr>
        <p:sp>
          <p:nvSpPr>
            <p:cNvPr id="27660" name="Text Box 14"/>
            <p:cNvSpPr txBox="1"/>
            <p:nvPr/>
          </p:nvSpPr>
          <p:spPr>
            <a:xfrm>
              <a:off x="295" y="2160"/>
              <a:ext cx="35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解：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(1)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先求出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F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的对偶函数，并对其进行化简： </a:t>
              </a:r>
              <a:endParaRPr lang="zh-CN" altLang="en-US" sz="2000" b="1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27653" name="Object 15"/>
            <p:cNvGraphicFramePr/>
            <p:nvPr/>
          </p:nvGraphicFramePr>
          <p:xfrm>
            <a:off x="1111" y="2387"/>
            <a:ext cx="2812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3" imgW="2311400" imgH="457200" progId="Equation.DSMT4">
                    <p:embed/>
                  </p:oleObj>
                </mc:Choice>
                <mc:Fallback>
                  <p:oleObj name="" r:id="rId3" imgW="2311400" imgH="457200" progId="Equation.DSMT4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11" y="2387"/>
                          <a:ext cx="2812" cy="5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3"/>
          <p:cNvGrpSpPr/>
          <p:nvPr/>
        </p:nvGrpSpPr>
        <p:grpSpPr>
          <a:xfrm>
            <a:off x="684213" y="4724400"/>
            <a:ext cx="6624637" cy="987425"/>
            <a:chOff x="431" y="2976"/>
            <a:chExt cx="4173" cy="622"/>
          </a:xfrm>
        </p:grpSpPr>
        <p:sp>
          <p:nvSpPr>
            <p:cNvPr id="27659" name="Text Box 17"/>
            <p:cNvSpPr txBox="1"/>
            <p:nvPr/>
          </p:nvSpPr>
          <p:spPr>
            <a:xfrm>
              <a:off x="431" y="2976"/>
              <a:ext cx="417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chemeClr val="accent2"/>
                  </a:solidFill>
                  <a:latin typeface="Verdana" panose="020B0604030504040204" pitchFamily="34" charset="0"/>
                </a:rPr>
                <a:t>    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(2) 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求     的对偶函数，便得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F</a:t>
              </a:r>
              <a:r>
                <a:rPr lang="zh-CN" altLang="en-US" sz="2000" b="1" dirty="0">
                  <a:latin typeface="Verdana" panose="020B0604030504040204" pitchFamily="34" charset="0"/>
                </a:rPr>
                <a:t>的最简或与表达式</a:t>
              </a:r>
              <a:r>
                <a:rPr lang="en-US" altLang="zh-CN" sz="2000" b="1" dirty="0">
                  <a:latin typeface="Verdana" panose="020B0604030504040204" pitchFamily="34" charset="0"/>
                </a:rPr>
                <a:t>:</a:t>
              </a:r>
              <a:r>
                <a:rPr lang="en-US" altLang="zh-CN" sz="2000" dirty="0">
                  <a:latin typeface="Verdana" panose="020B0604030504040204" pitchFamily="34" charset="0"/>
                </a:rPr>
                <a:t> </a:t>
              </a:r>
              <a:endParaRPr lang="en-US" altLang="zh-CN" sz="2000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27651" name="Object 18"/>
            <p:cNvGraphicFramePr/>
            <p:nvPr/>
          </p:nvGraphicFramePr>
          <p:xfrm>
            <a:off x="1247" y="2976"/>
            <a:ext cx="22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5" imgW="203200" imgH="190500" progId="Equation.DSMT4">
                    <p:embed/>
                  </p:oleObj>
                </mc:Choice>
                <mc:Fallback>
                  <p:oleObj name="" r:id="rId5" imgW="203200" imgH="190500" progId="Equation.DSMT4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47" y="2976"/>
                          <a:ext cx="227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2" name="Object 20"/>
            <p:cNvGraphicFramePr/>
            <p:nvPr/>
          </p:nvGraphicFramePr>
          <p:xfrm>
            <a:off x="1247" y="3294"/>
            <a:ext cx="213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7" imgW="1688465" imgH="241300" progId="Equation.DSMT4">
                    <p:embed/>
                  </p:oleObj>
                </mc:Choice>
                <mc:Fallback>
                  <p:oleObj name="" r:id="rId7" imgW="1688465" imgH="241300" progId="Equation.DSMT4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47" y="3294"/>
                          <a:ext cx="2132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400" b="1" dirty="0"/>
              <a:t>3.6 </a:t>
            </a:r>
            <a:r>
              <a:rPr lang="zh-CN" altLang="en-US" sz="4400" b="1" dirty="0"/>
              <a:t>卡诺图化简法</a:t>
            </a:r>
            <a:r>
              <a:rPr lang="zh-CN" altLang="en-US" sz="4400" dirty="0"/>
              <a:t> </a:t>
            </a:r>
            <a:endParaRPr lang="zh-CN" altLang="en-US" sz="4400" dirty="0"/>
          </a:p>
        </p:txBody>
      </p:sp>
      <p:sp>
        <p:nvSpPr>
          <p:cNvPr id="28676" name="Text Box 3"/>
          <p:cNvSpPr txBox="1"/>
          <p:nvPr/>
        </p:nvSpPr>
        <p:spPr>
          <a:xfrm>
            <a:off x="611188" y="1773238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3.6.1 </a:t>
            </a:r>
            <a:r>
              <a:rPr lang="zh-CN" altLang="en-US" sz="2400" b="1" dirty="0">
                <a:latin typeface="Verdana" panose="020B0604030504040204" pitchFamily="34" charset="0"/>
              </a:rPr>
              <a:t>与或表达式的卡诺图表示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2867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8678" name="Text Box 5"/>
          <p:cNvSpPr txBox="1"/>
          <p:nvPr/>
        </p:nvSpPr>
        <p:spPr>
          <a:xfrm>
            <a:off x="323850" y="2276475"/>
            <a:ext cx="69119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3-28】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用卡诺图表示下面的标准与或表达式：</a:t>
            </a:r>
            <a:endParaRPr lang="zh-CN" altLang="en-US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28674" name="Object 15"/>
          <p:cNvGraphicFramePr/>
          <p:nvPr/>
        </p:nvGraphicFramePr>
        <p:xfrm>
          <a:off x="1763713" y="2636838"/>
          <a:ext cx="28432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" imgW="1511300" imgH="215900" progId="Equation.DSMT4">
                  <p:embed/>
                </p:oleObj>
              </mc:Choice>
              <mc:Fallback>
                <p:oleObj name="" r:id="rId1" imgW="1511300" imgH="2159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2636838"/>
                        <a:ext cx="2843212" cy="417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9" name="Group 118"/>
          <p:cNvGrpSpPr/>
          <p:nvPr/>
        </p:nvGrpSpPr>
        <p:grpSpPr>
          <a:xfrm>
            <a:off x="2627313" y="3213100"/>
            <a:ext cx="4319587" cy="2447925"/>
            <a:chOff x="930" y="2251"/>
            <a:chExt cx="2721" cy="1542"/>
          </a:xfrm>
        </p:grpSpPr>
        <p:grpSp>
          <p:nvGrpSpPr>
            <p:cNvPr id="28682" name="Group 109"/>
            <p:cNvGrpSpPr/>
            <p:nvPr/>
          </p:nvGrpSpPr>
          <p:grpSpPr>
            <a:xfrm>
              <a:off x="930" y="2251"/>
              <a:ext cx="1859" cy="1542"/>
              <a:chOff x="3470" y="2387"/>
              <a:chExt cx="1406" cy="1346"/>
            </a:xfrm>
          </p:grpSpPr>
          <p:sp>
            <p:nvSpPr>
              <p:cNvPr id="28691" name="Rectangle 47"/>
              <p:cNvSpPr/>
              <p:nvPr/>
            </p:nvSpPr>
            <p:spPr>
              <a:xfrm>
                <a:off x="4414" y="3497"/>
                <a:ext cx="462" cy="2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92" name="Rectangle 46"/>
              <p:cNvSpPr/>
              <p:nvPr/>
            </p:nvSpPr>
            <p:spPr>
              <a:xfrm>
                <a:off x="3991" y="3497"/>
                <a:ext cx="423" cy="2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93" name="Rectangle 45"/>
              <p:cNvSpPr/>
              <p:nvPr/>
            </p:nvSpPr>
            <p:spPr>
              <a:xfrm>
                <a:off x="3470" y="3497"/>
                <a:ext cx="521" cy="2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r>
                  <a:rPr lang="en-US" altLang="zh-CN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10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94" name="Rectangle 44"/>
              <p:cNvSpPr/>
              <p:nvPr/>
            </p:nvSpPr>
            <p:spPr>
              <a:xfrm>
                <a:off x="4414" y="3261"/>
                <a:ext cx="462" cy="2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95" name="Rectangle 43"/>
              <p:cNvSpPr/>
              <p:nvPr/>
            </p:nvSpPr>
            <p:spPr>
              <a:xfrm>
                <a:off x="3991" y="3261"/>
                <a:ext cx="423" cy="2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96" name="Rectangle 42"/>
              <p:cNvSpPr/>
              <p:nvPr/>
            </p:nvSpPr>
            <p:spPr>
              <a:xfrm>
                <a:off x="3470" y="3261"/>
                <a:ext cx="521" cy="2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r>
                  <a:rPr lang="en-US" altLang="zh-CN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11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97" name="Rectangle 41"/>
              <p:cNvSpPr/>
              <p:nvPr/>
            </p:nvSpPr>
            <p:spPr>
              <a:xfrm>
                <a:off x="4414" y="3026"/>
                <a:ext cx="462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98" name="Rectangle 40"/>
              <p:cNvSpPr/>
              <p:nvPr/>
            </p:nvSpPr>
            <p:spPr>
              <a:xfrm>
                <a:off x="3991" y="3026"/>
                <a:ext cx="423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99" name="Rectangle 39"/>
              <p:cNvSpPr/>
              <p:nvPr/>
            </p:nvSpPr>
            <p:spPr>
              <a:xfrm>
                <a:off x="3470" y="3026"/>
                <a:ext cx="521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r>
                  <a:rPr lang="en-US" altLang="zh-CN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01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00" name="Rectangle 38"/>
              <p:cNvSpPr/>
              <p:nvPr/>
            </p:nvSpPr>
            <p:spPr>
              <a:xfrm>
                <a:off x="4414" y="2790"/>
                <a:ext cx="462" cy="2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01" name="Rectangle 37"/>
              <p:cNvSpPr/>
              <p:nvPr/>
            </p:nvSpPr>
            <p:spPr>
              <a:xfrm>
                <a:off x="3991" y="2790"/>
                <a:ext cx="423" cy="2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02" name="Rectangle 36"/>
              <p:cNvSpPr/>
              <p:nvPr/>
            </p:nvSpPr>
            <p:spPr>
              <a:xfrm>
                <a:off x="3470" y="2790"/>
                <a:ext cx="521" cy="2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r>
                  <a:rPr lang="en-US" altLang="zh-CN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00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03" name="Rectangle 35"/>
              <p:cNvSpPr/>
              <p:nvPr/>
            </p:nvSpPr>
            <p:spPr>
              <a:xfrm>
                <a:off x="4414" y="2387"/>
                <a:ext cx="462" cy="4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04" name="Rectangle 34"/>
              <p:cNvSpPr/>
              <p:nvPr/>
            </p:nvSpPr>
            <p:spPr>
              <a:xfrm>
                <a:off x="3991" y="2387"/>
                <a:ext cx="423" cy="4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05" name="Rectangle 33"/>
              <p:cNvSpPr/>
              <p:nvPr/>
            </p:nvSpPr>
            <p:spPr>
              <a:xfrm>
                <a:off x="3470" y="2387"/>
                <a:ext cx="521" cy="4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r>
                  <a:rPr lang="en-US" altLang="zh-CN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   CD</a:t>
                </a:r>
                <a:endPara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AB</a:t>
                </a:r>
                <a:endParaRPr lang="en-US" altLang="zh-CN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06" name="Line 48"/>
              <p:cNvSpPr/>
              <p:nvPr/>
            </p:nvSpPr>
            <p:spPr>
              <a:xfrm>
                <a:off x="3470" y="2387"/>
                <a:ext cx="1406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7" name="Line 49"/>
              <p:cNvSpPr/>
              <p:nvPr/>
            </p:nvSpPr>
            <p:spPr>
              <a:xfrm>
                <a:off x="3470" y="3733"/>
                <a:ext cx="521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8" name="Line 50"/>
              <p:cNvSpPr/>
              <p:nvPr/>
            </p:nvSpPr>
            <p:spPr>
              <a:xfrm>
                <a:off x="3470" y="2387"/>
                <a:ext cx="0" cy="1346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09" name="Line 51"/>
              <p:cNvSpPr/>
              <p:nvPr/>
            </p:nvSpPr>
            <p:spPr>
              <a:xfrm>
                <a:off x="4876" y="2387"/>
                <a:ext cx="0" cy="403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0" name="Line 54"/>
              <p:cNvSpPr/>
              <p:nvPr/>
            </p:nvSpPr>
            <p:spPr>
              <a:xfrm>
                <a:off x="3470" y="2790"/>
                <a:ext cx="521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1" name="Line 56"/>
              <p:cNvSpPr/>
              <p:nvPr/>
            </p:nvSpPr>
            <p:spPr>
              <a:xfrm>
                <a:off x="3991" y="2387"/>
                <a:ext cx="0" cy="403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2" name="Line 58"/>
              <p:cNvSpPr/>
              <p:nvPr/>
            </p:nvSpPr>
            <p:spPr>
              <a:xfrm>
                <a:off x="3991" y="2790"/>
                <a:ext cx="885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3" name="Line 59"/>
              <p:cNvSpPr/>
              <p:nvPr/>
            </p:nvSpPr>
            <p:spPr>
              <a:xfrm>
                <a:off x="4414" y="2387"/>
                <a:ext cx="0" cy="403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4" name="Line 61"/>
              <p:cNvSpPr/>
              <p:nvPr/>
            </p:nvSpPr>
            <p:spPr>
              <a:xfrm>
                <a:off x="4876" y="2790"/>
                <a:ext cx="0" cy="94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5" name="Line 62"/>
              <p:cNvSpPr/>
              <p:nvPr/>
            </p:nvSpPr>
            <p:spPr>
              <a:xfrm>
                <a:off x="3470" y="3026"/>
                <a:ext cx="521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6" name="Line 64"/>
              <p:cNvSpPr/>
              <p:nvPr/>
            </p:nvSpPr>
            <p:spPr>
              <a:xfrm>
                <a:off x="3991" y="2790"/>
                <a:ext cx="0" cy="94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7" name="Line 66"/>
              <p:cNvSpPr/>
              <p:nvPr/>
            </p:nvSpPr>
            <p:spPr>
              <a:xfrm>
                <a:off x="3991" y="3026"/>
                <a:ext cx="885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8" name="Line 67"/>
              <p:cNvSpPr/>
              <p:nvPr/>
            </p:nvSpPr>
            <p:spPr>
              <a:xfrm>
                <a:off x="4414" y="2790"/>
                <a:ext cx="0" cy="94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19" name="Line 71"/>
              <p:cNvSpPr/>
              <p:nvPr/>
            </p:nvSpPr>
            <p:spPr>
              <a:xfrm>
                <a:off x="3470" y="3261"/>
                <a:ext cx="521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0" name="Line 75"/>
              <p:cNvSpPr/>
              <p:nvPr/>
            </p:nvSpPr>
            <p:spPr>
              <a:xfrm>
                <a:off x="3991" y="3261"/>
                <a:ext cx="885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1" name="Line 82"/>
              <p:cNvSpPr/>
              <p:nvPr/>
            </p:nvSpPr>
            <p:spPr>
              <a:xfrm>
                <a:off x="3470" y="3497"/>
                <a:ext cx="521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2" name="Line 86"/>
              <p:cNvSpPr/>
              <p:nvPr/>
            </p:nvSpPr>
            <p:spPr>
              <a:xfrm>
                <a:off x="3991" y="3497"/>
                <a:ext cx="885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3" name="Line 93"/>
              <p:cNvSpPr/>
              <p:nvPr/>
            </p:nvSpPr>
            <p:spPr>
              <a:xfrm>
                <a:off x="3991" y="3733"/>
                <a:ext cx="885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24" name="Line 108"/>
              <p:cNvSpPr/>
              <p:nvPr/>
            </p:nvSpPr>
            <p:spPr>
              <a:xfrm>
                <a:off x="3470" y="2387"/>
                <a:ext cx="499" cy="4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8683" name="Text Box 110"/>
            <p:cNvSpPr txBox="1"/>
            <p:nvPr/>
          </p:nvSpPr>
          <p:spPr>
            <a:xfrm>
              <a:off x="3152" y="2976"/>
              <a:ext cx="49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ABC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84" name="Text Box 111"/>
            <p:cNvSpPr txBox="1"/>
            <p:nvPr/>
          </p:nvSpPr>
          <p:spPr>
            <a:xfrm>
              <a:off x="3152" y="3249"/>
              <a:ext cx="49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ABC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85" name="Text Box 112"/>
            <p:cNvSpPr txBox="1"/>
            <p:nvPr/>
          </p:nvSpPr>
          <p:spPr>
            <a:xfrm>
              <a:off x="3152" y="3521"/>
              <a:ext cx="49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ABC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86" name="Line 113"/>
            <p:cNvSpPr/>
            <p:nvPr/>
          </p:nvSpPr>
          <p:spPr>
            <a:xfrm flipH="1" flipV="1">
              <a:off x="2835" y="3113"/>
              <a:ext cx="299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7" name="Line 114"/>
            <p:cNvSpPr/>
            <p:nvPr/>
          </p:nvSpPr>
          <p:spPr>
            <a:xfrm flipH="1" flipV="1">
              <a:off x="2835" y="3385"/>
              <a:ext cx="299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8" name="Line 115"/>
            <p:cNvSpPr/>
            <p:nvPr/>
          </p:nvSpPr>
          <p:spPr>
            <a:xfrm flipH="1" flipV="1">
              <a:off x="2835" y="3657"/>
              <a:ext cx="299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9" name="Line 116"/>
            <p:cNvSpPr/>
            <p:nvPr/>
          </p:nvSpPr>
          <p:spPr>
            <a:xfrm>
              <a:off x="3198" y="3022"/>
              <a:ext cx="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0" name="Line 117"/>
            <p:cNvSpPr/>
            <p:nvPr/>
          </p:nvSpPr>
          <p:spPr>
            <a:xfrm>
              <a:off x="3288" y="3566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8680" name="Text Box 119"/>
          <p:cNvSpPr txBox="1"/>
          <p:nvPr/>
        </p:nvSpPr>
        <p:spPr>
          <a:xfrm>
            <a:off x="2124075" y="5734050"/>
            <a:ext cx="417671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3-4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标准与或表达式的卡诺图 </a:t>
            </a:r>
            <a:endParaRPr lang="zh-CN" altLang="en-US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28681" name="Text Box 120"/>
          <p:cNvSpPr txBox="1"/>
          <p:nvPr/>
        </p:nvSpPr>
        <p:spPr>
          <a:xfrm>
            <a:off x="684213" y="3141663"/>
            <a:ext cx="50323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</a:t>
            </a:r>
            <a:endParaRPr lang="zh-CN" altLang="en-US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>
    <p:strips dir="r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700" name="Text Box 3"/>
          <p:cNvSpPr txBox="1"/>
          <p:nvPr/>
        </p:nvSpPr>
        <p:spPr>
          <a:xfrm>
            <a:off x="468313" y="188913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3.6.1 </a:t>
            </a:r>
            <a:r>
              <a:rPr lang="zh-CN" altLang="en-US" sz="2400" b="1" dirty="0">
                <a:latin typeface="Verdana" panose="020B0604030504040204" pitchFamily="34" charset="0"/>
              </a:rPr>
              <a:t>与或表达式的卡诺图表示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2970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9702" name="Text Box 5"/>
          <p:cNvSpPr txBox="1"/>
          <p:nvPr/>
        </p:nvSpPr>
        <p:spPr>
          <a:xfrm>
            <a:off x="323850" y="765175"/>
            <a:ext cx="6911975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3-29】 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用卡诺图表示逻辑函数：</a:t>
            </a:r>
            <a:endParaRPr lang="zh-CN" altLang="en-US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endParaRPr lang="zh-CN" altLang="en-US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</a:t>
            </a:r>
            <a:r>
              <a:rPr lang="zh-CN" altLang="en-US" dirty="0">
                <a:latin typeface="Verdana" panose="020B0604030504040204" pitchFamily="34" charset="0"/>
              </a:rPr>
              <a:t> </a:t>
            </a:r>
            <a:r>
              <a: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29703" name="Text Box 51"/>
          <p:cNvSpPr txBox="1"/>
          <p:nvPr/>
        </p:nvSpPr>
        <p:spPr>
          <a:xfrm>
            <a:off x="3995738" y="6308725"/>
            <a:ext cx="417671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3-5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非标准与或表达式的卡诺图例子</a:t>
            </a:r>
            <a:r>
              <a:rPr lang="zh-CN" altLang="en-US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29704" name="Rectangle 53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29698" name="Object 52"/>
          <p:cNvGraphicFramePr/>
          <p:nvPr/>
        </p:nvGraphicFramePr>
        <p:xfrm>
          <a:off x="4859338" y="765175"/>
          <a:ext cx="36004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" imgW="1981200" imgH="215900" progId="Equation.DSMT4">
                  <p:embed/>
                </p:oleObj>
              </mc:Choice>
              <mc:Fallback>
                <p:oleObj name="" r:id="rId1" imgW="1981200" imgH="2159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59338" y="765175"/>
                        <a:ext cx="360045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Rectangle 55"/>
          <p:cNvSpPr/>
          <p:nvPr/>
        </p:nvSpPr>
        <p:spPr>
          <a:xfrm>
            <a:off x="0" y="29670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29699" name="Object 54"/>
          <p:cNvGraphicFramePr/>
          <p:nvPr/>
        </p:nvGraphicFramePr>
        <p:xfrm>
          <a:off x="468313" y="1700213"/>
          <a:ext cx="8424862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3" imgW="4610100" imgH="1016000" progId="Equation.DSMT4">
                  <p:embed/>
                </p:oleObj>
              </mc:Choice>
              <mc:Fallback>
                <p:oleObj name="" r:id="rId3" imgW="4610100" imgH="10160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1700213"/>
                        <a:ext cx="8424862" cy="187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6" name="Picture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300" y="3357563"/>
            <a:ext cx="4248150" cy="2917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trips dir="r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3" name="Text Box 3"/>
          <p:cNvSpPr txBox="1"/>
          <p:nvPr/>
        </p:nvSpPr>
        <p:spPr>
          <a:xfrm>
            <a:off x="468313" y="333375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3.6.1 </a:t>
            </a:r>
            <a:r>
              <a:rPr lang="zh-CN" altLang="en-US" sz="2400" b="1" dirty="0">
                <a:latin typeface="Verdana" panose="020B0604030504040204" pitchFamily="34" charset="0"/>
              </a:rPr>
              <a:t>与或表达式的卡诺图表示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3072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0725" name="Text Box 5"/>
          <p:cNvSpPr txBox="1"/>
          <p:nvPr/>
        </p:nvSpPr>
        <p:spPr>
          <a:xfrm>
            <a:off x="395288" y="1916113"/>
            <a:ext cx="69119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3-30】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用卡诺图表示逻辑函数：</a:t>
            </a:r>
            <a:r>
              <a: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30726" name="Text Box 51"/>
          <p:cNvSpPr txBox="1"/>
          <p:nvPr/>
        </p:nvSpPr>
        <p:spPr>
          <a:xfrm>
            <a:off x="4643438" y="5734050"/>
            <a:ext cx="417671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3-6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非标准与或表达式的卡诺图</a:t>
            </a:r>
            <a:r>
              <a:rPr lang="zh-CN" altLang="en-US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30727" name="Rectangle 53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30722" name="Object 52"/>
          <p:cNvGraphicFramePr/>
          <p:nvPr/>
        </p:nvGraphicFramePr>
        <p:xfrm>
          <a:off x="4932363" y="1916113"/>
          <a:ext cx="16922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" imgW="876300" imgH="203200" progId="Equation.DSMT4">
                  <p:embed/>
                </p:oleObj>
              </mc:Choice>
              <mc:Fallback>
                <p:oleObj name="" r:id="rId1" imgW="876300" imgH="2032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32363" y="1916113"/>
                        <a:ext cx="1692275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Text Box 54"/>
          <p:cNvSpPr txBox="1"/>
          <p:nvPr/>
        </p:nvSpPr>
        <p:spPr>
          <a:xfrm>
            <a:off x="684213" y="2924175"/>
            <a:ext cx="3671887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</a:t>
            </a:r>
            <a:r>
              <a:rPr lang="zh-CN" altLang="en-US" sz="2000" b="1" dirty="0">
                <a:latin typeface="Verdana" panose="020B0604030504040204" pitchFamily="34" charset="0"/>
              </a:rPr>
              <a:t>在变量</a:t>
            </a:r>
            <a:r>
              <a:rPr lang="en-US" altLang="zh-CN" sz="2000" b="1" i="1" dirty="0">
                <a:latin typeface="Verdana" panose="020B0604030504040204" pitchFamily="34" charset="0"/>
              </a:rPr>
              <a:t>A</a:t>
            </a:r>
            <a:r>
              <a:rPr lang="zh-CN" altLang="en-US" sz="2000" b="1" i="1" dirty="0">
                <a:latin typeface="Verdana" panose="020B0604030504040204" pitchFamily="34" charset="0"/>
              </a:rPr>
              <a:t>、</a:t>
            </a:r>
            <a:r>
              <a:rPr lang="en-US" altLang="zh-CN" sz="2000" b="1" i="1" dirty="0">
                <a:latin typeface="Verdana" panose="020B0604030504040204" pitchFamily="34" charset="0"/>
              </a:rPr>
              <a:t>D</a:t>
            </a:r>
            <a:r>
              <a:rPr lang="zh-CN" altLang="en-US" sz="2000" b="1" dirty="0">
                <a:latin typeface="Verdana" panose="020B0604030504040204" pitchFamily="34" charset="0"/>
              </a:rPr>
              <a:t>取值均为</a:t>
            </a:r>
            <a:r>
              <a:rPr lang="en-US" altLang="zh-CN" sz="2000" b="1" dirty="0">
                <a:latin typeface="Verdana" panose="020B0604030504040204" pitchFamily="34" charset="0"/>
              </a:rPr>
              <a:t>00</a:t>
            </a:r>
            <a:r>
              <a:rPr lang="zh-CN" altLang="en-US" sz="2000" b="1" dirty="0">
                <a:latin typeface="Verdana" panose="020B0604030504040204" pitchFamily="34" charset="0"/>
              </a:rPr>
              <a:t>的所有方格中填入</a:t>
            </a:r>
            <a:r>
              <a:rPr lang="en-US" altLang="zh-CN" sz="2000" b="1" dirty="0"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latin typeface="Verdana" panose="020B0604030504040204" pitchFamily="34" charset="0"/>
              </a:rPr>
              <a:t>；在变量</a:t>
            </a:r>
            <a:r>
              <a:rPr lang="en-US" altLang="zh-CN" sz="2000" b="1" i="1" dirty="0">
                <a:latin typeface="Verdana" panose="020B0604030504040204" pitchFamily="34" charset="0"/>
              </a:rPr>
              <a:t>B</a:t>
            </a:r>
            <a:r>
              <a:rPr lang="zh-CN" altLang="en-US" sz="2000" b="1" i="1" dirty="0">
                <a:latin typeface="Verdana" panose="020B0604030504040204" pitchFamily="34" charset="0"/>
              </a:rPr>
              <a:t>、</a:t>
            </a:r>
            <a:r>
              <a:rPr lang="en-US" altLang="zh-CN" sz="2000" b="1" i="1" dirty="0">
                <a:latin typeface="Verdana" panose="020B0604030504040204" pitchFamily="34" charset="0"/>
              </a:rPr>
              <a:t>C</a:t>
            </a:r>
            <a:r>
              <a:rPr lang="zh-CN" altLang="en-US" sz="2000" b="1" dirty="0">
                <a:latin typeface="Verdana" panose="020B0604030504040204" pitchFamily="34" charset="0"/>
              </a:rPr>
              <a:t>取值分别为</a:t>
            </a:r>
            <a:r>
              <a:rPr lang="en-US" altLang="zh-CN" sz="2000" b="1" dirty="0">
                <a:latin typeface="Verdana" panose="020B0604030504040204" pitchFamily="34" charset="0"/>
              </a:rPr>
              <a:t>0</a:t>
            </a:r>
            <a:r>
              <a:rPr lang="zh-CN" altLang="en-US" sz="2000" b="1" dirty="0">
                <a:latin typeface="Verdana" panose="020B0604030504040204" pitchFamily="34" charset="0"/>
              </a:rPr>
              <a:t>、</a:t>
            </a:r>
            <a:r>
              <a:rPr lang="en-US" altLang="zh-CN" sz="2000" b="1" dirty="0"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latin typeface="Verdana" panose="020B0604030504040204" pitchFamily="34" charset="0"/>
              </a:rPr>
              <a:t>的所有方格中填入</a:t>
            </a:r>
            <a:r>
              <a:rPr lang="en-US" altLang="zh-CN" sz="2000" b="1" dirty="0"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latin typeface="Verdana" panose="020B0604030504040204" pitchFamily="34" charset="0"/>
              </a:rPr>
              <a:t>，其余方格中填入</a:t>
            </a:r>
            <a:r>
              <a:rPr lang="en-US" altLang="zh-CN" sz="2000" b="1" dirty="0">
                <a:latin typeface="Verdana" panose="020B0604030504040204" pitchFamily="34" charset="0"/>
              </a:rPr>
              <a:t>0</a:t>
            </a:r>
            <a:r>
              <a:rPr lang="zh-CN" altLang="en-US" sz="2000" b="1" dirty="0">
                <a:latin typeface="Verdana" panose="020B0604030504040204" pitchFamily="34" charset="0"/>
              </a:rPr>
              <a:t>。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pic>
        <p:nvPicPr>
          <p:cNvPr id="30729" name="Pictur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2781300"/>
            <a:ext cx="4248150" cy="2874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trips dir="r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Text Box 3"/>
          <p:cNvSpPr txBox="1"/>
          <p:nvPr/>
        </p:nvSpPr>
        <p:spPr>
          <a:xfrm>
            <a:off x="468313" y="549275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3.6.2 </a:t>
            </a:r>
            <a:r>
              <a:rPr lang="zh-CN" altLang="en-US" sz="2400" b="1" dirty="0">
                <a:latin typeface="Verdana" panose="020B0604030504040204" pitchFamily="34" charset="0"/>
              </a:rPr>
              <a:t>与或表达式的卡诺图化简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5222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2228" name="Text Box 5"/>
          <p:cNvSpPr txBox="1"/>
          <p:nvPr/>
        </p:nvSpPr>
        <p:spPr>
          <a:xfrm>
            <a:off x="900113" y="1773238"/>
            <a:ext cx="31686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 1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．卡诺图化简原理</a:t>
            </a:r>
            <a:r>
              <a:rPr lang="zh-CN" altLang="en-US" sz="2000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660066"/>
              </a:solidFill>
              <a:latin typeface="Verdana" panose="020B0604030504040204" pitchFamily="34" charset="0"/>
            </a:endParaRPr>
          </a:p>
        </p:txBody>
      </p:sp>
      <p:sp>
        <p:nvSpPr>
          <p:cNvPr id="52229" name="Text Box 6"/>
          <p:cNvSpPr txBox="1"/>
          <p:nvPr/>
        </p:nvSpPr>
        <p:spPr>
          <a:xfrm>
            <a:off x="2484438" y="6237288"/>
            <a:ext cx="4176712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3-7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逻辑相邻最小项的概念</a:t>
            </a:r>
            <a:r>
              <a:rPr lang="zh-CN" altLang="en-US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grpSp>
        <p:nvGrpSpPr>
          <p:cNvPr id="52230" name="Group 185"/>
          <p:cNvGrpSpPr/>
          <p:nvPr/>
        </p:nvGrpSpPr>
        <p:grpSpPr>
          <a:xfrm>
            <a:off x="1619250" y="2636838"/>
            <a:ext cx="6156325" cy="3024187"/>
            <a:chOff x="1066" y="1888"/>
            <a:chExt cx="3878" cy="1905"/>
          </a:xfrm>
        </p:grpSpPr>
        <p:sp>
          <p:nvSpPr>
            <p:cNvPr id="52231" name="Rectangle 61"/>
            <p:cNvSpPr/>
            <p:nvPr/>
          </p:nvSpPr>
          <p:spPr>
            <a:xfrm>
              <a:off x="4201" y="3430"/>
              <a:ext cx="743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32" name="Rectangle 60"/>
            <p:cNvSpPr/>
            <p:nvPr/>
          </p:nvSpPr>
          <p:spPr>
            <a:xfrm>
              <a:off x="3459" y="3430"/>
              <a:ext cx="742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33" name="Rectangle 59"/>
            <p:cNvSpPr/>
            <p:nvPr/>
          </p:nvSpPr>
          <p:spPr>
            <a:xfrm>
              <a:off x="2716" y="3430"/>
              <a:ext cx="743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34" name="Rectangle 58"/>
            <p:cNvSpPr/>
            <p:nvPr/>
          </p:nvSpPr>
          <p:spPr>
            <a:xfrm>
              <a:off x="1973" y="3430"/>
              <a:ext cx="743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35" name="Rectangle 57"/>
            <p:cNvSpPr/>
            <p:nvPr/>
          </p:nvSpPr>
          <p:spPr>
            <a:xfrm>
              <a:off x="1066" y="3430"/>
              <a:ext cx="907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36" name="Rectangle 56"/>
            <p:cNvSpPr/>
            <p:nvPr/>
          </p:nvSpPr>
          <p:spPr>
            <a:xfrm>
              <a:off x="4201" y="3067"/>
              <a:ext cx="743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37" name="Rectangle 55"/>
            <p:cNvSpPr/>
            <p:nvPr/>
          </p:nvSpPr>
          <p:spPr>
            <a:xfrm>
              <a:off x="3459" y="3067"/>
              <a:ext cx="742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38" name="Rectangle 54"/>
            <p:cNvSpPr/>
            <p:nvPr/>
          </p:nvSpPr>
          <p:spPr>
            <a:xfrm>
              <a:off x="2716" y="3067"/>
              <a:ext cx="743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39" name="Rectangle 53"/>
            <p:cNvSpPr/>
            <p:nvPr/>
          </p:nvSpPr>
          <p:spPr>
            <a:xfrm>
              <a:off x="1973" y="3067"/>
              <a:ext cx="743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40" name="Rectangle 52"/>
            <p:cNvSpPr/>
            <p:nvPr/>
          </p:nvSpPr>
          <p:spPr>
            <a:xfrm>
              <a:off x="1066" y="3067"/>
              <a:ext cx="907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41" name="Rectangle 51"/>
            <p:cNvSpPr/>
            <p:nvPr/>
          </p:nvSpPr>
          <p:spPr>
            <a:xfrm>
              <a:off x="4201" y="2704"/>
              <a:ext cx="743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42" name="Rectangle 50"/>
            <p:cNvSpPr/>
            <p:nvPr/>
          </p:nvSpPr>
          <p:spPr>
            <a:xfrm>
              <a:off x="3459" y="2704"/>
              <a:ext cx="742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43" name="Rectangle 49"/>
            <p:cNvSpPr/>
            <p:nvPr/>
          </p:nvSpPr>
          <p:spPr>
            <a:xfrm>
              <a:off x="2716" y="2704"/>
              <a:ext cx="743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44" name="Rectangle 48"/>
            <p:cNvSpPr/>
            <p:nvPr/>
          </p:nvSpPr>
          <p:spPr>
            <a:xfrm>
              <a:off x="1973" y="2704"/>
              <a:ext cx="743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45" name="Rectangle 47"/>
            <p:cNvSpPr/>
            <p:nvPr/>
          </p:nvSpPr>
          <p:spPr>
            <a:xfrm>
              <a:off x="1066" y="2704"/>
              <a:ext cx="907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46" name="Rectangle 46"/>
            <p:cNvSpPr/>
            <p:nvPr/>
          </p:nvSpPr>
          <p:spPr>
            <a:xfrm>
              <a:off x="4201" y="2329"/>
              <a:ext cx="743" cy="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47" name="Rectangle 45"/>
            <p:cNvSpPr/>
            <p:nvPr/>
          </p:nvSpPr>
          <p:spPr>
            <a:xfrm>
              <a:off x="3459" y="2329"/>
              <a:ext cx="742" cy="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48" name="Rectangle 44"/>
            <p:cNvSpPr/>
            <p:nvPr/>
          </p:nvSpPr>
          <p:spPr>
            <a:xfrm>
              <a:off x="2716" y="2329"/>
              <a:ext cx="743" cy="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49" name="Rectangle 43"/>
            <p:cNvSpPr/>
            <p:nvPr/>
          </p:nvSpPr>
          <p:spPr>
            <a:xfrm>
              <a:off x="1973" y="2329"/>
              <a:ext cx="743" cy="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50" name="Rectangle 42"/>
            <p:cNvSpPr/>
            <p:nvPr/>
          </p:nvSpPr>
          <p:spPr>
            <a:xfrm>
              <a:off x="1066" y="2329"/>
              <a:ext cx="907" cy="37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51" name="Rectangle 41"/>
            <p:cNvSpPr/>
            <p:nvPr/>
          </p:nvSpPr>
          <p:spPr>
            <a:xfrm>
              <a:off x="4201" y="1888"/>
              <a:ext cx="743" cy="4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52" name="Rectangle 40"/>
            <p:cNvSpPr/>
            <p:nvPr/>
          </p:nvSpPr>
          <p:spPr>
            <a:xfrm>
              <a:off x="3459" y="1888"/>
              <a:ext cx="742" cy="4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53" name="Rectangle 39"/>
            <p:cNvSpPr/>
            <p:nvPr/>
          </p:nvSpPr>
          <p:spPr>
            <a:xfrm>
              <a:off x="2716" y="1888"/>
              <a:ext cx="743" cy="4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54" name="Rectangle 38"/>
            <p:cNvSpPr/>
            <p:nvPr/>
          </p:nvSpPr>
          <p:spPr>
            <a:xfrm>
              <a:off x="1973" y="1888"/>
              <a:ext cx="743" cy="4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55" name="Rectangle 37"/>
            <p:cNvSpPr/>
            <p:nvPr/>
          </p:nvSpPr>
          <p:spPr>
            <a:xfrm>
              <a:off x="1066" y="1888"/>
              <a:ext cx="907" cy="4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      CD</a:t>
              </a:r>
              <a:endParaRPr lang="en-US" altLang="zh-CN" sz="20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eaLnBrk="0" hangingPunct="0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2256" name="Line 62"/>
            <p:cNvSpPr/>
            <p:nvPr/>
          </p:nvSpPr>
          <p:spPr>
            <a:xfrm>
              <a:off x="1066" y="1888"/>
              <a:ext cx="3878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7" name="Line 63"/>
            <p:cNvSpPr/>
            <p:nvPr/>
          </p:nvSpPr>
          <p:spPr>
            <a:xfrm>
              <a:off x="1066" y="3793"/>
              <a:ext cx="907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8" name="Line 64"/>
            <p:cNvSpPr/>
            <p:nvPr/>
          </p:nvSpPr>
          <p:spPr>
            <a:xfrm>
              <a:off x="1066" y="1888"/>
              <a:ext cx="0" cy="1905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9" name="Line 65"/>
            <p:cNvSpPr/>
            <p:nvPr/>
          </p:nvSpPr>
          <p:spPr>
            <a:xfrm>
              <a:off x="4944" y="1888"/>
              <a:ext cx="0" cy="441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0" name="Line 68"/>
            <p:cNvSpPr/>
            <p:nvPr/>
          </p:nvSpPr>
          <p:spPr>
            <a:xfrm>
              <a:off x="1066" y="2329"/>
              <a:ext cx="907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1" name="Line 70"/>
            <p:cNvSpPr/>
            <p:nvPr/>
          </p:nvSpPr>
          <p:spPr>
            <a:xfrm>
              <a:off x="1973" y="1888"/>
              <a:ext cx="0" cy="441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2" name="Line 72"/>
            <p:cNvSpPr/>
            <p:nvPr/>
          </p:nvSpPr>
          <p:spPr>
            <a:xfrm>
              <a:off x="1973" y="2329"/>
              <a:ext cx="2971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3" name="Line 73"/>
            <p:cNvSpPr/>
            <p:nvPr/>
          </p:nvSpPr>
          <p:spPr>
            <a:xfrm>
              <a:off x="2716" y="1888"/>
              <a:ext cx="0" cy="441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4" name="Line 76"/>
            <p:cNvSpPr/>
            <p:nvPr/>
          </p:nvSpPr>
          <p:spPr>
            <a:xfrm>
              <a:off x="3459" y="1888"/>
              <a:ext cx="0" cy="441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5" name="Line 79"/>
            <p:cNvSpPr/>
            <p:nvPr/>
          </p:nvSpPr>
          <p:spPr>
            <a:xfrm>
              <a:off x="4201" y="1888"/>
              <a:ext cx="0" cy="441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6" name="Line 81"/>
            <p:cNvSpPr/>
            <p:nvPr/>
          </p:nvSpPr>
          <p:spPr>
            <a:xfrm>
              <a:off x="4944" y="2329"/>
              <a:ext cx="0" cy="1464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7" name="Line 82"/>
            <p:cNvSpPr/>
            <p:nvPr/>
          </p:nvSpPr>
          <p:spPr>
            <a:xfrm>
              <a:off x="1066" y="2704"/>
              <a:ext cx="907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8" name="Line 84"/>
            <p:cNvSpPr/>
            <p:nvPr/>
          </p:nvSpPr>
          <p:spPr>
            <a:xfrm>
              <a:off x="1973" y="2329"/>
              <a:ext cx="0" cy="1464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9" name="Line 86"/>
            <p:cNvSpPr/>
            <p:nvPr/>
          </p:nvSpPr>
          <p:spPr>
            <a:xfrm>
              <a:off x="1973" y="2704"/>
              <a:ext cx="2971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0" name="Line 87"/>
            <p:cNvSpPr/>
            <p:nvPr/>
          </p:nvSpPr>
          <p:spPr>
            <a:xfrm>
              <a:off x="2716" y="2329"/>
              <a:ext cx="0" cy="1464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1" name="Line 91"/>
            <p:cNvSpPr/>
            <p:nvPr/>
          </p:nvSpPr>
          <p:spPr>
            <a:xfrm>
              <a:off x="3459" y="2329"/>
              <a:ext cx="0" cy="1464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2" name="Line 95"/>
            <p:cNvSpPr/>
            <p:nvPr/>
          </p:nvSpPr>
          <p:spPr>
            <a:xfrm>
              <a:off x="4201" y="2329"/>
              <a:ext cx="0" cy="1464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3" name="Line 99"/>
            <p:cNvSpPr/>
            <p:nvPr/>
          </p:nvSpPr>
          <p:spPr>
            <a:xfrm>
              <a:off x="1066" y="3067"/>
              <a:ext cx="907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4" name="Line 103"/>
            <p:cNvSpPr/>
            <p:nvPr/>
          </p:nvSpPr>
          <p:spPr>
            <a:xfrm>
              <a:off x="1973" y="3067"/>
              <a:ext cx="2971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5" name="Line 120"/>
            <p:cNvSpPr/>
            <p:nvPr/>
          </p:nvSpPr>
          <p:spPr>
            <a:xfrm>
              <a:off x="1066" y="3430"/>
              <a:ext cx="907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6" name="Line 124"/>
            <p:cNvSpPr/>
            <p:nvPr/>
          </p:nvSpPr>
          <p:spPr>
            <a:xfrm>
              <a:off x="1973" y="3430"/>
              <a:ext cx="2971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7" name="Line 141"/>
            <p:cNvSpPr/>
            <p:nvPr/>
          </p:nvSpPr>
          <p:spPr>
            <a:xfrm>
              <a:off x="1973" y="3793"/>
              <a:ext cx="2971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8" name="Line 180"/>
            <p:cNvSpPr/>
            <p:nvPr/>
          </p:nvSpPr>
          <p:spPr>
            <a:xfrm>
              <a:off x="1111" y="1888"/>
              <a:ext cx="862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9" name="Oval 181"/>
            <p:cNvSpPr/>
            <p:nvPr/>
          </p:nvSpPr>
          <p:spPr>
            <a:xfrm>
              <a:off x="2109" y="2387"/>
              <a:ext cx="408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52280" name="Oval 182"/>
            <p:cNvSpPr/>
            <p:nvPr/>
          </p:nvSpPr>
          <p:spPr>
            <a:xfrm>
              <a:off x="4377" y="2387"/>
              <a:ext cx="408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52281" name="Oval 183"/>
            <p:cNvSpPr/>
            <p:nvPr/>
          </p:nvSpPr>
          <p:spPr>
            <a:xfrm>
              <a:off x="2880" y="2387"/>
              <a:ext cx="408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52282" name="Oval 184"/>
            <p:cNvSpPr/>
            <p:nvPr/>
          </p:nvSpPr>
          <p:spPr>
            <a:xfrm>
              <a:off x="2880" y="3475"/>
              <a:ext cx="408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strips dir="r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Text Box 3"/>
          <p:cNvSpPr txBox="1"/>
          <p:nvPr/>
        </p:nvSpPr>
        <p:spPr>
          <a:xfrm>
            <a:off x="395288" y="404813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3.6.2 </a:t>
            </a:r>
            <a:r>
              <a:rPr lang="zh-CN" altLang="en-US" sz="2400" b="1" dirty="0">
                <a:latin typeface="Verdana" panose="020B0604030504040204" pitchFamily="34" charset="0"/>
              </a:rPr>
              <a:t>与或表达式的卡诺图化简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5325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3252" name="Text Box 5"/>
          <p:cNvSpPr txBox="1"/>
          <p:nvPr/>
        </p:nvSpPr>
        <p:spPr>
          <a:xfrm>
            <a:off x="827088" y="1916113"/>
            <a:ext cx="36004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 2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．卡诺图化简的步骤</a:t>
            </a:r>
            <a:r>
              <a:rPr lang="zh-CN" altLang="en-US" sz="2000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660066"/>
              </a:solidFill>
              <a:latin typeface="Verdana" panose="020B0604030504040204" pitchFamily="34" charset="0"/>
            </a:endParaRPr>
          </a:p>
        </p:txBody>
      </p:sp>
      <p:sp>
        <p:nvSpPr>
          <p:cNvPr id="53253" name="Text Box 60"/>
          <p:cNvSpPr txBox="1"/>
          <p:nvPr/>
        </p:nvSpPr>
        <p:spPr>
          <a:xfrm>
            <a:off x="900113" y="2924175"/>
            <a:ext cx="7559675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步骤</a:t>
            </a:r>
            <a:r>
              <a:rPr lang="en-US" altLang="zh-CN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000" b="1" dirty="0">
                <a:latin typeface="Verdana" panose="020B0604030504040204" pitchFamily="34" charset="0"/>
              </a:rPr>
              <a:t>：对卡诺图中的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en-US" altLang="zh-CN" sz="2000" b="1" dirty="0">
                <a:latin typeface="Verdana" panose="020B0604030504040204" pitchFamily="34" charset="0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进行分组，并将每组用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zh-CN" altLang="en-US" sz="2000" b="1" dirty="0">
                <a:latin typeface="Verdana" panose="020B0604030504040204" pitchFamily="34" charset="0"/>
              </a:rPr>
              <a:t>圈</a:t>
            </a:r>
            <a:r>
              <a:rPr lang="zh-CN" altLang="en-US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围起来。</a:t>
            </a:r>
            <a:endParaRPr lang="zh-CN" altLang="en-US" sz="2000" b="1" dirty="0">
              <a:latin typeface="Verdana" panose="020B0604030504040204" pitchFamily="34" charset="0"/>
            </a:endParaRPr>
          </a:p>
          <a:p>
            <a:pPr marL="457200" lvl="1" indent="457200"/>
            <a:r>
              <a:rPr lang="zh-CN" altLang="en-US" sz="2000" b="1" dirty="0">
                <a:latin typeface="Verdana" panose="020B0604030504040204" pitchFamily="34" charset="0"/>
              </a:rPr>
              <a:t>其中圈的</a:t>
            </a:r>
            <a:r>
              <a:rPr lang="zh-CN" altLang="en-US" sz="2000" b="1" dirty="0">
                <a:latin typeface="Verdana" panose="020B0604030504040204" pitchFamily="34" charset="0"/>
              </a:rPr>
              <a:t>边长必须是</a:t>
            </a:r>
            <a:r>
              <a:rPr lang="en-US" altLang="zh-CN" sz="2000" b="1" dirty="0">
                <a:latin typeface="Verdana" panose="020B0604030504040204" pitchFamily="34" charset="0"/>
              </a:rPr>
              <a:t>2</a:t>
            </a:r>
            <a:r>
              <a:rPr lang="zh-CN" altLang="en-US" sz="2000" b="1" dirty="0">
                <a:latin typeface="Verdana" panose="020B0604030504040204" pitchFamily="34" charset="0"/>
              </a:rPr>
              <a:t>的幂</a:t>
            </a:r>
            <a:r>
              <a:rPr lang="en-US" altLang="zh-CN" sz="2000" b="1" dirty="0">
                <a:latin typeface="Verdana" panose="020B0604030504040204" pitchFamily="34" charset="0"/>
              </a:rPr>
              <a:t>(1,2,4...)</a:t>
            </a:r>
            <a:r>
              <a:rPr lang="zh-CN" altLang="en-US" sz="2000" b="1" dirty="0">
                <a:latin typeface="Verdana" panose="020B0604030504040204" pitchFamily="34" charset="0"/>
              </a:rPr>
              <a:t>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86077" name="Text Box 61"/>
          <p:cNvSpPr txBox="1"/>
          <p:nvPr/>
        </p:nvSpPr>
        <p:spPr>
          <a:xfrm>
            <a:off x="972185" y="3860800"/>
            <a:ext cx="755967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步骤</a:t>
            </a:r>
            <a:r>
              <a:rPr lang="en-US" altLang="zh-CN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000" b="1" dirty="0">
                <a:latin typeface="Verdana" panose="020B0604030504040204" pitchFamily="34" charset="0"/>
              </a:rPr>
              <a:t>：由每个圈得到一个合并的与项</a:t>
            </a:r>
            <a:r>
              <a:rPr lang="en-US" altLang="zh-CN" sz="2000" b="1" dirty="0">
                <a:latin typeface="Verdana" panose="020B0604030504040204" pitchFamily="34" charset="0"/>
              </a:rPr>
              <a:t>(</a:t>
            </a:r>
            <a:r>
              <a:rPr lang="zh-CN" altLang="en-US" sz="2000" b="1" dirty="0">
                <a:latin typeface="Verdana" panose="020B0604030504040204" pitchFamily="34" charset="0"/>
              </a:rPr>
              <a:t>提取出圈里的所有共同项</a:t>
            </a:r>
            <a:r>
              <a:rPr lang="en-US" altLang="zh-CN" sz="2000" b="1" dirty="0">
                <a:latin typeface="Verdana" panose="020B0604030504040204" pitchFamily="34" charset="0"/>
              </a:rPr>
              <a:t>)</a:t>
            </a:r>
            <a:r>
              <a:rPr lang="zh-CN" altLang="en-US" sz="2000" b="1" dirty="0">
                <a:latin typeface="Verdana" panose="020B0604030504040204" pitchFamily="34" charset="0"/>
              </a:rPr>
              <a:t>。</a:t>
            </a:r>
            <a:r>
              <a:rPr lang="zh-CN" altLang="en-US" sz="2000" dirty="0">
                <a:latin typeface="Verdana" panose="020B0604030504040204" pitchFamily="34" charset="0"/>
              </a:rPr>
              <a:t> </a:t>
            </a:r>
            <a:endParaRPr lang="zh-CN" altLang="en-US" sz="2000" dirty="0">
              <a:latin typeface="Verdana" panose="020B0604030504040204" pitchFamily="34" charset="0"/>
            </a:endParaRPr>
          </a:p>
        </p:txBody>
      </p:sp>
      <p:sp>
        <p:nvSpPr>
          <p:cNvPr id="86078" name="Text Box 62"/>
          <p:cNvSpPr txBox="1"/>
          <p:nvPr/>
        </p:nvSpPr>
        <p:spPr>
          <a:xfrm>
            <a:off x="971550" y="4508500"/>
            <a:ext cx="75596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步骤</a:t>
            </a:r>
            <a:r>
              <a:rPr lang="en-US" altLang="zh-CN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3</a:t>
            </a:r>
            <a:r>
              <a:rPr lang="zh-CN" altLang="en-US" sz="2000" b="1" dirty="0">
                <a:latin typeface="Verdana" panose="020B0604030504040204" pitchFamily="34" charset="0"/>
              </a:rPr>
              <a:t>：将上一步各合并与项相加，即得所求的最简</a:t>
            </a:r>
            <a:r>
              <a:rPr lang="zh-CN" altLang="en-US" sz="2000" b="1" dirty="0">
                <a:latin typeface="Arial" panose="020B0604020202020204" pitchFamily="34" charset="0"/>
              </a:rPr>
              <a:t>“</a:t>
            </a:r>
            <a:r>
              <a:rPr lang="zh-CN" altLang="en-US" sz="2000" b="1" dirty="0">
                <a:latin typeface="Verdana" panose="020B0604030504040204" pitchFamily="34" charset="0"/>
              </a:rPr>
              <a:t>与或</a:t>
            </a:r>
            <a:r>
              <a:rPr lang="zh-CN" altLang="en-US" sz="2000" b="1" dirty="0">
                <a:latin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Verdana" panose="020B0604030504040204" pitchFamily="34" charset="0"/>
              </a:rPr>
              <a:t>表达式。 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1550" y="5372100"/>
            <a:ext cx="7428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</a:rPr>
              <a:t>注意：卡诺图中由变量生成的编码是按</a:t>
            </a:r>
            <a:r>
              <a:rPr lang="zh-CN" altLang="en-US" sz="2400" b="1">
                <a:solidFill>
                  <a:schemeClr val="accent2"/>
                </a:solidFill>
              </a:rPr>
              <a:t>格雷码</a:t>
            </a:r>
            <a:r>
              <a:rPr lang="zh-CN" altLang="en-US" sz="2400" b="1">
                <a:solidFill>
                  <a:schemeClr val="tx1"/>
                </a:solidFill>
              </a:rPr>
              <a:t>排序。</a:t>
            </a:r>
            <a:endParaRPr lang="zh-CN" altLang="en-US" sz="24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77" grpId="0"/>
      <p:bldP spid="8607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50" name="Text Box 3"/>
          <p:cNvSpPr txBox="1"/>
          <p:nvPr/>
        </p:nvSpPr>
        <p:spPr>
          <a:xfrm>
            <a:off x="468313" y="404813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3.6.2 </a:t>
            </a:r>
            <a:r>
              <a:rPr lang="zh-CN" altLang="en-US" sz="2400" b="1" dirty="0">
                <a:latin typeface="Verdana" panose="020B0604030504040204" pitchFamily="34" charset="0"/>
              </a:rPr>
              <a:t>与或表达式的卡诺图化简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3175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1752" name="Text Box 5"/>
          <p:cNvSpPr txBox="1"/>
          <p:nvPr/>
        </p:nvSpPr>
        <p:spPr>
          <a:xfrm>
            <a:off x="611188" y="1844675"/>
            <a:ext cx="8208962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3-31】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用卡诺图化简法求出逻辑函数：</a:t>
            </a:r>
            <a:endParaRPr lang="zh-CN" altLang="en-US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</a:rPr>
              <a:t>F</a:t>
            </a:r>
            <a:r>
              <a:rPr lang="zh-CN" altLang="en-US" sz="2000" b="1" dirty="0">
                <a:latin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</a:rPr>
              <a:t>A, B, C, D</a:t>
            </a:r>
            <a:r>
              <a:rPr lang="zh-CN" altLang="en-US" sz="2000" b="1" dirty="0">
                <a:latin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</a:rPr>
              <a:t>=Σm</a:t>
            </a:r>
            <a:r>
              <a:rPr lang="zh-CN" altLang="en-US" sz="2000" b="1" dirty="0">
                <a:latin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</a:rPr>
              <a:t>2, 4, 5, 6, 10, 11,12,13, 14, 15</a:t>
            </a:r>
            <a:r>
              <a:rPr lang="zh-CN" altLang="en-US" sz="2000" b="1" dirty="0">
                <a:latin typeface="Times New Roman" panose="02020603050405020304" pitchFamily="18" charset="0"/>
              </a:rPr>
              <a:t>）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的最简与或式。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 </a:t>
            </a:r>
            <a:endParaRPr lang="zh-CN" altLang="en-US" sz="2000" b="1" dirty="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3" name="Rectangle 6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1754" name="Rectangle 7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1755" name="Rectangle 8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1258888" y="2997200"/>
            <a:ext cx="5581650" cy="2527300"/>
            <a:chOff x="793" y="1888"/>
            <a:chExt cx="3516" cy="1592"/>
          </a:xfrm>
        </p:grpSpPr>
        <p:sp>
          <p:nvSpPr>
            <p:cNvPr id="31761" name="Text Box 10"/>
            <p:cNvSpPr txBox="1"/>
            <p:nvPr/>
          </p:nvSpPr>
          <p:spPr>
            <a:xfrm>
              <a:off x="1247" y="3249"/>
              <a:ext cx="263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图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3-8 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3-31</a:t>
              </a:r>
              <a:r>
                <a:rPr lang="zh-CN" altLang="en-US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的卡诺图</a:t>
              </a:r>
              <a:endParaRPr lang="zh-CN" altLang="en-US" b="1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31762" name="Group 11"/>
            <p:cNvGrpSpPr/>
            <p:nvPr/>
          </p:nvGrpSpPr>
          <p:grpSpPr>
            <a:xfrm>
              <a:off x="793" y="1888"/>
              <a:ext cx="3516" cy="1406"/>
              <a:chOff x="793" y="1979"/>
              <a:chExt cx="3516" cy="1406"/>
            </a:xfrm>
          </p:grpSpPr>
          <p:sp>
            <p:nvSpPr>
              <p:cNvPr id="31763" name="Rectangle 12"/>
              <p:cNvSpPr/>
              <p:nvPr/>
            </p:nvSpPr>
            <p:spPr>
              <a:xfrm>
                <a:off x="3154" y="3113"/>
                <a:ext cx="45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64" name="Rectangle 13"/>
              <p:cNvSpPr/>
              <p:nvPr/>
            </p:nvSpPr>
            <p:spPr>
              <a:xfrm>
                <a:off x="2702" y="3113"/>
                <a:ext cx="45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65" name="Rectangle 14"/>
              <p:cNvSpPr/>
              <p:nvPr/>
            </p:nvSpPr>
            <p:spPr>
              <a:xfrm>
                <a:off x="2251" y="3113"/>
                <a:ext cx="451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66" name="Rectangle 15"/>
              <p:cNvSpPr/>
              <p:nvPr/>
            </p:nvSpPr>
            <p:spPr>
              <a:xfrm>
                <a:off x="1799" y="3113"/>
                <a:ext cx="45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67" name="Rectangle 16"/>
              <p:cNvSpPr/>
              <p:nvPr/>
            </p:nvSpPr>
            <p:spPr>
              <a:xfrm>
                <a:off x="1247" y="3113"/>
                <a:ext cx="55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68" name="Rectangle 17"/>
              <p:cNvSpPr/>
              <p:nvPr/>
            </p:nvSpPr>
            <p:spPr>
              <a:xfrm>
                <a:off x="3154" y="2856"/>
                <a:ext cx="452" cy="2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69" name="Rectangle 18"/>
              <p:cNvSpPr/>
              <p:nvPr/>
            </p:nvSpPr>
            <p:spPr>
              <a:xfrm>
                <a:off x="2702" y="2856"/>
                <a:ext cx="452" cy="2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70" name="Rectangle 19"/>
              <p:cNvSpPr/>
              <p:nvPr/>
            </p:nvSpPr>
            <p:spPr>
              <a:xfrm>
                <a:off x="2251" y="2856"/>
                <a:ext cx="451" cy="2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71" name="Rectangle 20"/>
              <p:cNvSpPr/>
              <p:nvPr/>
            </p:nvSpPr>
            <p:spPr>
              <a:xfrm>
                <a:off x="1799" y="2856"/>
                <a:ext cx="452" cy="2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72" name="Rectangle 21"/>
              <p:cNvSpPr/>
              <p:nvPr/>
            </p:nvSpPr>
            <p:spPr>
              <a:xfrm>
                <a:off x="1247" y="2856"/>
                <a:ext cx="552" cy="2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73" name="Rectangle 22"/>
              <p:cNvSpPr/>
              <p:nvPr/>
            </p:nvSpPr>
            <p:spPr>
              <a:xfrm>
                <a:off x="3154" y="2614"/>
                <a:ext cx="452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74" name="Rectangle 23"/>
              <p:cNvSpPr/>
              <p:nvPr/>
            </p:nvSpPr>
            <p:spPr>
              <a:xfrm>
                <a:off x="2702" y="2614"/>
                <a:ext cx="452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75" name="Rectangle 24"/>
              <p:cNvSpPr/>
              <p:nvPr/>
            </p:nvSpPr>
            <p:spPr>
              <a:xfrm>
                <a:off x="2251" y="2614"/>
                <a:ext cx="451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76" name="Rectangle 25"/>
              <p:cNvSpPr/>
              <p:nvPr/>
            </p:nvSpPr>
            <p:spPr>
              <a:xfrm>
                <a:off x="1799" y="2614"/>
                <a:ext cx="452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77" name="Rectangle 26"/>
              <p:cNvSpPr/>
              <p:nvPr/>
            </p:nvSpPr>
            <p:spPr>
              <a:xfrm>
                <a:off x="1247" y="2614"/>
                <a:ext cx="552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78" name="Rectangle 27"/>
              <p:cNvSpPr/>
              <p:nvPr/>
            </p:nvSpPr>
            <p:spPr>
              <a:xfrm>
                <a:off x="3154" y="2372"/>
                <a:ext cx="452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79" name="Rectangle 28"/>
              <p:cNvSpPr/>
              <p:nvPr/>
            </p:nvSpPr>
            <p:spPr>
              <a:xfrm>
                <a:off x="2702" y="2372"/>
                <a:ext cx="452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80" name="Rectangle 29"/>
              <p:cNvSpPr/>
              <p:nvPr/>
            </p:nvSpPr>
            <p:spPr>
              <a:xfrm>
                <a:off x="2251" y="2372"/>
                <a:ext cx="451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81" name="Rectangle 30"/>
              <p:cNvSpPr/>
              <p:nvPr/>
            </p:nvSpPr>
            <p:spPr>
              <a:xfrm>
                <a:off x="1799" y="2372"/>
                <a:ext cx="452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82" name="Rectangle 31"/>
              <p:cNvSpPr/>
              <p:nvPr/>
            </p:nvSpPr>
            <p:spPr>
              <a:xfrm>
                <a:off x="1247" y="2372"/>
                <a:ext cx="552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83" name="Rectangle 32"/>
              <p:cNvSpPr/>
              <p:nvPr/>
            </p:nvSpPr>
            <p:spPr>
              <a:xfrm>
                <a:off x="3154" y="1979"/>
                <a:ext cx="452" cy="3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84" name="Rectangle 33"/>
              <p:cNvSpPr/>
              <p:nvPr/>
            </p:nvSpPr>
            <p:spPr>
              <a:xfrm>
                <a:off x="2702" y="1979"/>
                <a:ext cx="452" cy="3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85" name="Rectangle 34"/>
              <p:cNvSpPr/>
              <p:nvPr/>
            </p:nvSpPr>
            <p:spPr>
              <a:xfrm>
                <a:off x="2251" y="1979"/>
                <a:ext cx="451" cy="3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86" name="Rectangle 35"/>
              <p:cNvSpPr/>
              <p:nvPr/>
            </p:nvSpPr>
            <p:spPr>
              <a:xfrm>
                <a:off x="1799" y="1979"/>
                <a:ext cx="452" cy="3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87" name="Rectangle 36"/>
              <p:cNvSpPr/>
              <p:nvPr/>
            </p:nvSpPr>
            <p:spPr>
              <a:xfrm>
                <a:off x="1247" y="1979"/>
                <a:ext cx="552" cy="3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    CD</a:t>
                </a:r>
                <a:endParaRPr lang="en-US" altLang="zh-CN" sz="1600" b="1" dirty="0">
                  <a:latin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eaLnBrk="0" hangingPunct="0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AB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88" name="Line 37"/>
              <p:cNvSpPr/>
              <p:nvPr/>
            </p:nvSpPr>
            <p:spPr>
              <a:xfrm>
                <a:off x="1247" y="1979"/>
                <a:ext cx="2359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89" name="Line 38"/>
              <p:cNvSpPr/>
              <p:nvPr/>
            </p:nvSpPr>
            <p:spPr>
              <a:xfrm>
                <a:off x="1247" y="3385"/>
                <a:ext cx="552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90" name="Line 39"/>
              <p:cNvSpPr/>
              <p:nvPr/>
            </p:nvSpPr>
            <p:spPr>
              <a:xfrm>
                <a:off x="1247" y="1979"/>
                <a:ext cx="0" cy="1406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91" name="Line 40"/>
              <p:cNvSpPr/>
              <p:nvPr/>
            </p:nvSpPr>
            <p:spPr>
              <a:xfrm>
                <a:off x="3606" y="1979"/>
                <a:ext cx="0" cy="393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92" name="Line 41"/>
              <p:cNvSpPr/>
              <p:nvPr/>
            </p:nvSpPr>
            <p:spPr>
              <a:xfrm>
                <a:off x="1247" y="2372"/>
                <a:ext cx="552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93" name="Line 42"/>
              <p:cNvSpPr/>
              <p:nvPr/>
            </p:nvSpPr>
            <p:spPr>
              <a:xfrm>
                <a:off x="1799" y="1979"/>
                <a:ext cx="0" cy="393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94" name="Line 43"/>
              <p:cNvSpPr/>
              <p:nvPr/>
            </p:nvSpPr>
            <p:spPr>
              <a:xfrm>
                <a:off x="1799" y="2372"/>
                <a:ext cx="1807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95" name="Line 44"/>
              <p:cNvSpPr/>
              <p:nvPr/>
            </p:nvSpPr>
            <p:spPr>
              <a:xfrm>
                <a:off x="2251" y="1979"/>
                <a:ext cx="0" cy="393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96" name="Line 45"/>
              <p:cNvSpPr/>
              <p:nvPr/>
            </p:nvSpPr>
            <p:spPr>
              <a:xfrm>
                <a:off x="2702" y="1979"/>
                <a:ext cx="0" cy="393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97" name="Line 46"/>
              <p:cNvSpPr/>
              <p:nvPr/>
            </p:nvSpPr>
            <p:spPr>
              <a:xfrm>
                <a:off x="3154" y="1979"/>
                <a:ext cx="0" cy="393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98" name="Line 47"/>
              <p:cNvSpPr/>
              <p:nvPr/>
            </p:nvSpPr>
            <p:spPr>
              <a:xfrm>
                <a:off x="3606" y="2372"/>
                <a:ext cx="0" cy="101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99" name="Line 48"/>
              <p:cNvSpPr/>
              <p:nvPr/>
            </p:nvSpPr>
            <p:spPr>
              <a:xfrm>
                <a:off x="1247" y="2614"/>
                <a:ext cx="552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0" name="Line 49"/>
              <p:cNvSpPr/>
              <p:nvPr/>
            </p:nvSpPr>
            <p:spPr>
              <a:xfrm>
                <a:off x="1799" y="2372"/>
                <a:ext cx="0" cy="101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1" name="Line 50"/>
              <p:cNvSpPr/>
              <p:nvPr/>
            </p:nvSpPr>
            <p:spPr>
              <a:xfrm>
                <a:off x="1799" y="2614"/>
                <a:ext cx="1807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2" name="Line 51"/>
              <p:cNvSpPr/>
              <p:nvPr/>
            </p:nvSpPr>
            <p:spPr>
              <a:xfrm>
                <a:off x="2251" y="2372"/>
                <a:ext cx="0" cy="101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3" name="Line 52"/>
              <p:cNvSpPr/>
              <p:nvPr/>
            </p:nvSpPr>
            <p:spPr>
              <a:xfrm>
                <a:off x="2702" y="2372"/>
                <a:ext cx="0" cy="101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4" name="Line 53"/>
              <p:cNvSpPr/>
              <p:nvPr/>
            </p:nvSpPr>
            <p:spPr>
              <a:xfrm>
                <a:off x="3154" y="2372"/>
                <a:ext cx="0" cy="101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5" name="Line 54"/>
              <p:cNvSpPr/>
              <p:nvPr/>
            </p:nvSpPr>
            <p:spPr>
              <a:xfrm>
                <a:off x="1247" y="2856"/>
                <a:ext cx="552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6" name="Line 55"/>
              <p:cNvSpPr/>
              <p:nvPr/>
            </p:nvSpPr>
            <p:spPr>
              <a:xfrm>
                <a:off x="1799" y="2856"/>
                <a:ext cx="1807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7" name="Line 56"/>
              <p:cNvSpPr/>
              <p:nvPr/>
            </p:nvSpPr>
            <p:spPr>
              <a:xfrm>
                <a:off x="1247" y="3113"/>
                <a:ext cx="552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8" name="Line 57"/>
              <p:cNvSpPr/>
              <p:nvPr/>
            </p:nvSpPr>
            <p:spPr>
              <a:xfrm>
                <a:off x="1799" y="3113"/>
                <a:ext cx="1807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9" name="Line 58"/>
              <p:cNvSpPr/>
              <p:nvPr/>
            </p:nvSpPr>
            <p:spPr>
              <a:xfrm>
                <a:off x="1799" y="3385"/>
                <a:ext cx="1807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10" name="Line 59"/>
              <p:cNvSpPr/>
              <p:nvPr/>
            </p:nvSpPr>
            <p:spPr>
              <a:xfrm>
                <a:off x="1247" y="1979"/>
                <a:ext cx="590" cy="4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aphicFrame>
            <p:nvGraphicFramePr>
              <p:cNvPr id="31747" name="Object 60"/>
              <p:cNvGraphicFramePr/>
              <p:nvPr/>
            </p:nvGraphicFramePr>
            <p:xfrm>
              <a:off x="793" y="2704"/>
              <a:ext cx="227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4" name="" r:id="rId1" imgW="254000" imgH="215900" progId="Equation.DSMT4">
                      <p:embed/>
                    </p:oleObj>
                  </mc:Choice>
                  <mc:Fallback>
                    <p:oleObj name="" r:id="rId1" imgW="254000" imgH="215900" progId="Equation.DSMT4">
                      <p:embed/>
                      <p:pic>
                        <p:nvPicPr>
                          <p:cNvPr id="0" name="图片 3183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93" y="2704"/>
                            <a:ext cx="227" cy="1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48" name="Object 61"/>
              <p:cNvGraphicFramePr/>
              <p:nvPr/>
            </p:nvGraphicFramePr>
            <p:xfrm>
              <a:off x="3969" y="2432"/>
              <a:ext cx="249" cy="1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2" name="" r:id="rId3" imgW="279400" imgH="215900" progId="Equation.DSMT4">
                      <p:embed/>
                    </p:oleObj>
                  </mc:Choice>
                  <mc:Fallback>
                    <p:oleObj name="" r:id="rId3" imgW="279400" imgH="215900" progId="Equation.DSMT4">
                      <p:embed/>
                      <p:pic>
                        <p:nvPicPr>
                          <p:cNvPr id="0" name="图片 318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969" y="2432"/>
                            <a:ext cx="249" cy="19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49" name="Object 62"/>
              <p:cNvGraphicFramePr/>
              <p:nvPr/>
            </p:nvGraphicFramePr>
            <p:xfrm>
              <a:off x="3969" y="2931"/>
              <a:ext cx="340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3" name="" r:id="rId5" imgW="266065" imgH="177800" progId="Equation.DSMT4">
                      <p:embed/>
                    </p:oleObj>
                  </mc:Choice>
                  <mc:Fallback>
                    <p:oleObj name="" r:id="rId5" imgW="266065" imgH="177800" progId="Equation.DSMT4">
                      <p:embed/>
                      <p:pic>
                        <p:nvPicPr>
                          <p:cNvPr id="0" name="图片 3182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969" y="2931"/>
                            <a:ext cx="340" cy="18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811" name="AutoShape 63"/>
              <p:cNvSpPr/>
              <p:nvPr/>
            </p:nvSpPr>
            <p:spPr>
              <a:xfrm>
                <a:off x="1927" y="2659"/>
                <a:ext cx="680" cy="408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1812" name="AutoShape 64"/>
              <p:cNvSpPr/>
              <p:nvPr/>
            </p:nvSpPr>
            <p:spPr>
              <a:xfrm>
                <a:off x="2789" y="2931"/>
                <a:ext cx="726" cy="408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1813" name="AutoShape 65"/>
              <p:cNvSpPr/>
              <p:nvPr/>
            </p:nvSpPr>
            <p:spPr>
              <a:xfrm>
                <a:off x="3198" y="2387"/>
                <a:ext cx="272" cy="952"/>
              </a:xfrm>
              <a:prstGeom prst="roundRect">
                <a:avLst>
                  <a:gd name="adj" fmla="val 28194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1814" name="Line 66"/>
              <p:cNvSpPr/>
              <p:nvPr/>
            </p:nvSpPr>
            <p:spPr>
              <a:xfrm flipV="1">
                <a:off x="1111" y="2795"/>
                <a:ext cx="63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1815" name="Line 67"/>
              <p:cNvSpPr/>
              <p:nvPr/>
            </p:nvSpPr>
            <p:spPr>
              <a:xfrm flipH="1">
                <a:off x="3470" y="2523"/>
                <a:ext cx="4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1816" name="Line 68"/>
              <p:cNvSpPr/>
              <p:nvPr/>
            </p:nvSpPr>
            <p:spPr>
              <a:xfrm flipH="1">
                <a:off x="3515" y="3022"/>
                <a:ext cx="4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31757" name="Text Box 69"/>
          <p:cNvSpPr txBox="1"/>
          <p:nvPr/>
        </p:nvSpPr>
        <p:spPr>
          <a:xfrm>
            <a:off x="684213" y="2997200"/>
            <a:ext cx="7191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sp>
        <p:nvSpPr>
          <p:cNvPr id="31758" name="Rectangle 70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4" name="Group 71"/>
          <p:cNvGrpSpPr/>
          <p:nvPr/>
        </p:nvGrpSpPr>
        <p:grpSpPr>
          <a:xfrm>
            <a:off x="1476375" y="5734050"/>
            <a:ext cx="4103688" cy="401638"/>
            <a:chOff x="839" y="3657"/>
            <a:chExt cx="2585" cy="253"/>
          </a:xfrm>
        </p:grpSpPr>
        <p:sp>
          <p:nvSpPr>
            <p:cNvPr id="31760" name="Text Box 72"/>
            <p:cNvSpPr txBox="1"/>
            <p:nvPr/>
          </p:nvSpPr>
          <p:spPr>
            <a:xfrm>
              <a:off x="839" y="3657"/>
              <a:ext cx="204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F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A, B, C, D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）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= 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746" name="Object 73"/>
            <p:cNvGraphicFramePr/>
            <p:nvPr/>
          </p:nvGraphicFramePr>
          <p:xfrm>
            <a:off x="2200" y="3657"/>
            <a:ext cx="1224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7" imgW="965200" imgH="203200" progId="Equation.DSMT4">
                    <p:embed/>
                  </p:oleObj>
                </mc:Choice>
                <mc:Fallback>
                  <p:oleObj name="" r:id="rId7" imgW="965200" imgH="203200" progId="Equation.DSMT4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00" y="3657"/>
                          <a:ext cx="1224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776" name="Text Box 5"/>
          <p:cNvSpPr txBox="1"/>
          <p:nvPr/>
        </p:nvSpPr>
        <p:spPr>
          <a:xfrm>
            <a:off x="323850" y="188913"/>
            <a:ext cx="84248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3-32】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某逻辑电路的输入变量为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，它的真值表如表所示，用卡诺图化简法求出逻辑函数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F(A, B, C, D)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的最简与或表达式。</a:t>
            </a:r>
            <a:endParaRPr lang="zh-CN" altLang="en-US" sz="2000" b="1" dirty="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7" name="Text Box 184"/>
          <p:cNvSpPr txBox="1"/>
          <p:nvPr/>
        </p:nvSpPr>
        <p:spPr>
          <a:xfrm>
            <a:off x="323850" y="4292600"/>
            <a:ext cx="7191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32778" name="内容占位符 32777"/>
          <p:cNvGraphicFramePr/>
          <p:nvPr>
            <p:ph/>
          </p:nvPr>
        </p:nvGraphicFramePr>
        <p:xfrm>
          <a:off x="900113" y="1196975"/>
          <a:ext cx="7316788" cy="2541588"/>
        </p:xfrm>
        <a:graphic>
          <a:graphicData uri="http://schemas.openxmlformats.org/drawingml/2006/table">
            <a:tbl>
              <a:tblPr/>
              <a:tblGrid>
                <a:gridCol w="766763"/>
                <a:gridCol w="657225"/>
                <a:gridCol w="655637"/>
                <a:gridCol w="560388"/>
                <a:gridCol w="779462"/>
                <a:gridCol w="779463"/>
                <a:gridCol w="779462"/>
                <a:gridCol w="779463"/>
                <a:gridCol w="779462"/>
                <a:gridCol w="779463"/>
              </a:tblGrid>
              <a:tr h="2825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eaLnBrk="1" hangingPunct="1">
                        <a:buNone/>
                      </a:pPr>
                      <a:r>
                        <a:rPr lang="en-US" altLang="zh-CN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eaLnBrk="1" hangingPunct="1">
                        <a:buNone/>
                      </a:pPr>
                      <a:r>
                        <a:rPr lang="en-US" altLang="zh-CN" sz="1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altLang="zh-CN" sz="1200" b="1" i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841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825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841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825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841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825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841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469900" lvl="0" indent="-469900" algn="ctr" eaLnBrk="1" hangingPunct="1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200" b="1" dirty="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32890" name="Text Box 790"/>
          <p:cNvSpPr txBox="1"/>
          <p:nvPr/>
        </p:nvSpPr>
        <p:spPr>
          <a:xfrm>
            <a:off x="2771775" y="836613"/>
            <a:ext cx="244951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表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3-4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真值表 </a:t>
            </a:r>
            <a:endParaRPr lang="zh-CN" altLang="en-US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32891" name="Rectangle 792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32770" name="Object 791"/>
          <p:cNvGraphicFramePr/>
          <p:nvPr/>
        </p:nvGraphicFramePr>
        <p:xfrm>
          <a:off x="250825" y="5157788"/>
          <a:ext cx="39243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" imgW="1968500" imgH="203200" progId="Equation.DSMT4">
                  <p:embed/>
                </p:oleObj>
              </mc:Choice>
              <mc:Fallback>
                <p:oleObj name="" r:id="rId1" imgW="1968500" imgH="2032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5157788"/>
                        <a:ext cx="3924300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92" name="Rectangle 818"/>
          <p:cNvSpPr/>
          <p:nvPr/>
        </p:nvSpPr>
        <p:spPr>
          <a:xfrm>
            <a:off x="0" y="16192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893" name="Rectangle 819"/>
          <p:cNvSpPr/>
          <p:nvPr/>
        </p:nvSpPr>
        <p:spPr>
          <a:xfrm>
            <a:off x="0" y="161925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894" name="Rectangle 971"/>
          <p:cNvSpPr/>
          <p:nvPr/>
        </p:nvSpPr>
        <p:spPr>
          <a:xfrm>
            <a:off x="0" y="2986088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895" name="Rectangle 973"/>
          <p:cNvSpPr/>
          <p:nvPr/>
        </p:nvSpPr>
        <p:spPr>
          <a:xfrm>
            <a:off x="0" y="3167063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896" name="Rectangle 975"/>
          <p:cNvSpPr/>
          <p:nvPr/>
        </p:nvSpPr>
        <p:spPr>
          <a:xfrm>
            <a:off x="0" y="3319463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897" name="Rectangle 977"/>
          <p:cNvSpPr/>
          <p:nvPr/>
        </p:nvSpPr>
        <p:spPr>
          <a:xfrm>
            <a:off x="0" y="3481388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898" name="Text Box 988"/>
          <p:cNvSpPr txBox="1"/>
          <p:nvPr/>
        </p:nvSpPr>
        <p:spPr>
          <a:xfrm>
            <a:off x="2627313" y="6237288"/>
            <a:ext cx="28797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3-9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3-32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的卡诺图 </a:t>
            </a:r>
            <a:endParaRPr lang="zh-CN" altLang="en-US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grpSp>
        <p:nvGrpSpPr>
          <p:cNvPr id="32899" name="Group 990"/>
          <p:cNvGrpSpPr/>
          <p:nvPr/>
        </p:nvGrpSpPr>
        <p:grpSpPr>
          <a:xfrm>
            <a:off x="3492500" y="3860800"/>
            <a:ext cx="5435600" cy="2736850"/>
            <a:chOff x="2200" y="2432"/>
            <a:chExt cx="3424" cy="1724"/>
          </a:xfrm>
        </p:grpSpPr>
        <p:grpSp>
          <p:nvGrpSpPr>
            <p:cNvPr id="32900" name="Group 987"/>
            <p:cNvGrpSpPr/>
            <p:nvPr/>
          </p:nvGrpSpPr>
          <p:grpSpPr>
            <a:xfrm>
              <a:off x="2200" y="2432"/>
              <a:ext cx="3424" cy="1724"/>
              <a:chOff x="2200" y="2478"/>
              <a:chExt cx="3424" cy="1724"/>
            </a:xfrm>
          </p:grpSpPr>
          <p:graphicFrame>
            <p:nvGraphicFramePr>
              <p:cNvPr id="32771" name="Object 812"/>
              <p:cNvGraphicFramePr/>
              <p:nvPr/>
            </p:nvGraphicFramePr>
            <p:xfrm>
              <a:off x="2472" y="3022"/>
              <a:ext cx="249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0" name="" r:id="rId3" imgW="279400" imgH="215900" progId="Equation.DSMT4">
                      <p:embed/>
                    </p:oleObj>
                  </mc:Choice>
                  <mc:Fallback>
                    <p:oleObj name="" r:id="rId3" imgW="279400" imgH="215900" progId="Equation.DSMT4">
                      <p:embed/>
                      <p:pic>
                        <p:nvPicPr>
                          <p:cNvPr id="0" name="图片 317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472" y="3022"/>
                            <a:ext cx="249" cy="19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72" name="Object 810"/>
              <p:cNvGraphicFramePr/>
              <p:nvPr/>
            </p:nvGraphicFramePr>
            <p:xfrm>
              <a:off x="5103" y="3457"/>
              <a:ext cx="408" cy="1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7" name="" r:id="rId5" imgW="457200" imgH="177800" progId="Equation.DSMT4">
                      <p:embed/>
                    </p:oleObj>
                  </mc:Choice>
                  <mc:Fallback>
                    <p:oleObj name="" r:id="rId5" imgW="457200" imgH="177800" progId="Equation.DSMT4">
                      <p:embed/>
                      <p:pic>
                        <p:nvPicPr>
                          <p:cNvPr id="0" name="图片 3176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5103" y="3457"/>
                            <a:ext cx="408" cy="1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73" name="Object 808"/>
              <p:cNvGraphicFramePr/>
              <p:nvPr/>
            </p:nvGraphicFramePr>
            <p:xfrm>
              <a:off x="5057" y="3838"/>
              <a:ext cx="340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8" name="" r:id="rId7" imgW="355600" imgH="190500" progId="Equation.DSMT4">
                      <p:embed/>
                    </p:oleObj>
                  </mc:Choice>
                  <mc:Fallback>
                    <p:oleObj name="" r:id="rId7" imgW="355600" imgH="190500" progId="Equation.DSMT4">
                      <p:embed/>
                      <p:pic>
                        <p:nvPicPr>
                          <p:cNvPr id="0" name="图片 3177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057" y="3838"/>
                            <a:ext cx="340" cy="18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74" name="Object 796"/>
              <p:cNvGraphicFramePr/>
              <p:nvPr/>
            </p:nvGraphicFramePr>
            <p:xfrm>
              <a:off x="3696" y="3974"/>
              <a:ext cx="363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9" name="" r:id="rId9" imgW="355600" imgH="215900" progId="Equation.DSMT4">
                      <p:embed/>
                    </p:oleObj>
                  </mc:Choice>
                  <mc:Fallback>
                    <p:oleObj name="" r:id="rId9" imgW="355600" imgH="215900" progId="Equation.DSMT4">
                      <p:embed/>
                      <p:pic>
                        <p:nvPicPr>
                          <p:cNvPr id="0" name="图片 3178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696" y="3974"/>
                            <a:ext cx="363" cy="22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902" name="AutoShape 817"/>
              <p:cNvSpPr>
                <a:spLocks noChangeAspect="1" noTextEdit="1"/>
              </p:cNvSpPr>
              <p:nvPr/>
            </p:nvSpPr>
            <p:spPr>
              <a:xfrm>
                <a:off x="2200" y="2478"/>
                <a:ext cx="3424" cy="17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32903" name="Group 814"/>
              <p:cNvGrpSpPr/>
              <p:nvPr/>
            </p:nvGrpSpPr>
            <p:grpSpPr>
              <a:xfrm>
                <a:off x="3377" y="3607"/>
                <a:ext cx="303" cy="191"/>
                <a:chOff x="6991" y="4173"/>
                <a:chExt cx="446" cy="276"/>
              </a:xfrm>
            </p:grpSpPr>
            <p:sp>
              <p:nvSpPr>
                <p:cNvPr id="32967" name="AutoShape 816"/>
                <p:cNvSpPr/>
                <p:nvPr/>
              </p:nvSpPr>
              <p:spPr>
                <a:xfrm flipH="1">
                  <a:off x="6996" y="4191"/>
                  <a:ext cx="441" cy="231"/>
                </a:xfrm>
                <a:prstGeom prst="roundRect">
                  <a:avLst>
                    <a:gd name="adj" fmla="val 16667"/>
                  </a:avLst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2968" name="Rectangle 815"/>
                <p:cNvSpPr/>
                <p:nvPr/>
              </p:nvSpPr>
              <p:spPr>
                <a:xfrm>
                  <a:off x="6991" y="4173"/>
                  <a:ext cx="42" cy="27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sp>
            <p:nvSpPr>
              <p:cNvPr id="32904" name="Text Box 813"/>
              <p:cNvSpPr txBox="1"/>
              <p:nvPr/>
            </p:nvSpPr>
            <p:spPr>
              <a:xfrm>
                <a:off x="2825" y="2478"/>
                <a:ext cx="2164" cy="14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2905" name="Text Box 811"/>
              <p:cNvSpPr txBox="1"/>
              <p:nvPr/>
            </p:nvSpPr>
            <p:spPr>
              <a:xfrm>
                <a:off x="2455" y="2941"/>
                <a:ext cx="499" cy="3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2906" name="Text Box 809"/>
              <p:cNvSpPr txBox="1"/>
              <p:nvPr/>
            </p:nvSpPr>
            <p:spPr>
              <a:xfrm>
                <a:off x="4947" y="3372"/>
                <a:ext cx="677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2907" name="Text Box 807"/>
              <p:cNvSpPr txBox="1"/>
              <p:nvPr/>
            </p:nvSpPr>
            <p:spPr>
              <a:xfrm>
                <a:off x="4947" y="3767"/>
                <a:ext cx="575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2908" name="Freeform 806"/>
              <p:cNvSpPr/>
              <p:nvPr/>
            </p:nvSpPr>
            <p:spPr>
              <a:xfrm>
                <a:off x="3484" y="3780"/>
                <a:ext cx="1561" cy="133"/>
              </a:xfrm>
              <a:custGeom>
                <a:avLst/>
                <a:gdLst>
                  <a:gd name="txL" fmla="*/ 0 w 2048"/>
                  <a:gd name="txT" fmla="*/ 0 h 192"/>
                  <a:gd name="txR" fmla="*/ 2048 w 2048"/>
                  <a:gd name="txB" fmla="*/ 192 h 192"/>
                </a:gdLst>
                <a:ahLst/>
                <a:cxnLst>
                  <a:cxn ang="0">
                    <a:pos x="17" y="0"/>
                  </a:cxn>
                  <a:cxn ang="0">
                    <a:pos x="17" y="87"/>
                  </a:cxn>
                  <a:cxn ang="0">
                    <a:pos x="43" y="127"/>
                  </a:cxn>
                  <a:cxn ang="0">
                    <a:pos x="271" y="127"/>
                  </a:cxn>
                  <a:cxn ang="0">
                    <a:pos x="1561" y="127"/>
                  </a:cxn>
                </a:cxnLst>
                <a:rect l="txL" t="txT" r="txR" b="txB"/>
                <a:pathLst>
                  <a:path w="2048" h="192">
                    <a:moveTo>
                      <a:pt x="22" y="0"/>
                    </a:moveTo>
                    <a:cubicBezTo>
                      <a:pt x="19" y="48"/>
                      <a:pt x="16" y="96"/>
                      <a:pt x="22" y="126"/>
                    </a:cubicBezTo>
                    <a:cubicBezTo>
                      <a:pt x="28" y="156"/>
                      <a:pt x="0" y="174"/>
                      <a:pt x="56" y="183"/>
                    </a:cubicBezTo>
                    <a:cubicBezTo>
                      <a:pt x="112" y="192"/>
                      <a:pt x="24" y="183"/>
                      <a:pt x="356" y="183"/>
                    </a:cubicBezTo>
                    <a:cubicBezTo>
                      <a:pt x="688" y="183"/>
                      <a:pt x="1766" y="183"/>
                      <a:pt x="2048" y="183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2909" name="Line 805"/>
              <p:cNvSpPr/>
              <p:nvPr/>
            </p:nvSpPr>
            <p:spPr>
              <a:xfrm flipV="1">
                <a:off x="4712" y="3771"/>
                <a:ext cx="0" cy="14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sm" len="sm"/>
                <a:tailEnd type="triangle" w="med" len="med"/>
              </a:ln>
            </p:spPr>
          </p:sp>
          <p:sp>
            <p:nvSpPr>
              <p:cNvPr id="32910" name="Line 804"/>
              <p:cNvSpPr/>
              <p:nvPr/>
            </p:nvSpPr>
            <p:spPr>
              <a:xfrm flipH="1">
                <a:off x="4498" y="3559"/>
                <a:ext cx="539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911" name="AutoShape 803"/>
              <p:cNvSpPr/>
              <p:nvPr/>
            </p:nvSpPr>
            <p:spPr>
              <a:xfrm>
                <a:off x="4211" y="3427"/>
                <a:ext cx="279" cy="161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2912" name="AutoShape 802"/>
              <p:cNvSpPr/>
              <p:nvPr/>
            </p:nvSpPr>
            <p:spPr>
              <a:xfrm>
                <a:off x="3388" y="2939"/>
                <a:ext cx="260" cy="874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grpSp>
            <p:nvGrpSpPr>
              <p:cNvPr id="32913" name="Group 799"/>
              <p:cNvGrpSpPr/>
              <p:nvPr/>
            </p:nvGrpSpPr>
            <p:grpSpPr>
              <a:xfrm flipH="1">
                <a:off x="4606" y="3607"/>
                <a:ext cx="314" cy="191"/>
                <a:chOff x="6991" y="4173"/>
                <a:chExt cx="446" cy="276"/>
              </a:xfrm>
            </p:grpSpPr>
            <p:sp>
              <p:nvSpPr>
                <p:cNvPr id="32965" name="AutoShape 801"/>
                <p:cNvSpPr/>
                <p:nvPr/>
              </p:nvSpPr>
              <p:spPr>
                <a:xfrm flipH="1">
                  <a:off x="6996" y="4191"/>
                  <a:ext cx="441" cy="231"/>
                </a:xfrm>
                <a:prstGeom prst="roundRect">
                  <a:avLst>
                    <a:gd name="adj" fmla="val 16667"/>
                  </a:avLst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2966" name="Rectangle 800"/>
                <p:cNvSpPr/>
                <p:nvPr/>
              </p:nvSpPr>
              <p:spPr>
                <a:xfrm>
                  <a:off x="6991" y="4173"/>
                  <a:ext cx="42" cy="27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sp>
            <p:nvSpPr>
              <p:cNvPr id="32914" name="Line 798"/>
              <p:cNvSpPr/>
              <p:nvPr/>
            </p:nvSpPr>
            <p:spPr>
              <a:xfrm>
                <a:off x="2894" y="3108"/>
                <a:ext cx="482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915" name="Line 797"/>
              <p:cNvSpPr/>
              <p:nvPr/>
            </p:nvSpPr>
            <p:spPr>
              <a:xfrm flipH="1" flipV="1">
                <a:off x="3868" y="3325"/>
                <a:ext cx="9" cy="65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916" name="Text Box 795"/>
              <p:cNvSpPr txBox="1"/>
              <p:nvPr/>
            </p:nvSpPr>
            <p:spPr>
              <a:xfrm>
                <a:off x="3602" y="3933"/>
                <a:ext cx="781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endParaRPr lang="zh-CN" altLang="zh-CN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2917" name="AutoShape 794"/>
              <p:cNvSpPr/>
              <p:nvPr/>
            </p:nvSpPr>
            <p:spPr>
              <a:xfrm>
                <a:off x="3464" y="3170"/>
                <a:ext cx="594" cy="153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2918" name="Rectangle 870"/>
              <p:cNvSpPr/>
              <p:nvPr/>
            </p:nvSpPr>
            <p:spPr>
              <a:xfrm>
                <a:off x="4567" y="3612"/>
                <a:ext cx="400" cy="2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19" name="Rectangle 869"/>
              <p:cNvSpPr/>
              <p:nvPr/>
            </p:nvSpPr>
            <p:spPr>
              <a:xfrm>
                <a:off x="4145" y="3612"/>
                <a:ext cx="422" cy="2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20" name="Rectangle 868"/>
              <p:cNvSpPr/>
              <p:nvPr/>
            </p:nvSpPr>
            <p:spPr>
              <a:xfrm>
                <a:off x="3724" y="3612"/>
                <a:ext cx="421" cy="2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21" name="Rectangle 867"/>
              <p:cNvSpPr/>
              <p:nvPr/>
            </p:nvSpPr>
            <p:spPr>
              <a:xfrm>
                <a:off x="3303" y="3612"/>
                <a:ext cx="421" cy="2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22" name="Rectangle 866"/>
              <p:cNvSpPr/>
              <p:nvPr/>
            </p:nvSpPr>
            <p:spPr>
              <a:xfrm>
                <a:off x="2789" y="3612"/>
                <a:ext cx="514" cy="2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23" name="Rectangle 865"/>
              <p:cNvSpPr/>
              <p:nvPr/>
            </p:nvSpPr>
            <p:spPr>
              <a:xfrm>
                <a:off x="4567" y="3383"/>
                <a:ext cx="400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24" name="Rectangle 864"/>
              <p:cNvSpPr/>
              <p:nvPr/>
            </p:nvSpPr>
            <p:spPr>
              <a:xfrm>
                <a:off x="4145" y="3383"/>
                <a:ext cx="422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25" name="Rectangle 863"/>
              <p:cNvSpPr/>
              <p:nvPr/>
            </p:nvSpPr>
            <p:spPr>
              <a:xfrm>
                <a:off x="3724" y="3383"/>
                <a:ext cx="421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26" name="Rectangle 862"/>
              <p:cNvSpPr/>
              <p:nvPr/>
            </p:nvSpPr>
            <p:spPr>
              <a:xfrm>
                <a:off x="3303" y="3383"/>
                <a:ext cx="421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27" name="Rectangle 861"/>
              <p:cNvSpPr/>
              <p:nvPr/>
            </p:nvSpPr>
            <p:spPr>
              <a:xfrm>
                <a:off x="2789" y="3383"/>
                <a:ext cx="514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28" name="Rectangle 860"/>
              <p:cNvSpPr/>
              <p:nvPr/>
            </p:nvSpPr>
            <p:spPr>
              <a:xfrm>
                <a:off x="4567" y="3133"/>
                <a:ext cx="40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29" name="Rectangle 859"/>
              <p:cNvSpPr/>
              <p:nvPr/>
            </p:nvSpPr>
            <p:spPr>
              <a:xfrm>
                <a:off x="4145" y="3133"/>
                <a:ext cx="42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30" name="Rectangle 858"/>
              <p:cNvSpPr/>
              <p:nvPr/>
            </p:nvSpPr>
            <p:spPr>
              <a:xfrm>
                <a:off x="3724" y="3133"/>
                <a:ext cx="42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31" name="Rectangle 857"/>
              <p:cNvSpPr/>
              <p:nvPr/>
            </p:nvSpPr>
            <p:spPr>
              <a:xfrm>
                <a:off x="3303" y="3133"/>
                <a:ext cx="42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32" name="Rectangle 856"/>
              <p:cNvSpPr/>
              <p:nvPr/>
            </p:nvSpPr>
            <p:spPr>
              <a:xfrm>
                <a:off x="2789" y="3133"/>
                <a:ext cx="5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33" name="Rectangle 855"/>
              <p:cNvSpPr/>
              <p:nvPr/>
            </p:nvSpPr>
            <p:spPr>
              <a:xfrm>
                <a:off x="4567" y="2885"/>
                <a:ext cx="400" cy="2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34" name="Rectangle 854"/>
              <p:cNvSpPr/>
              <p:nvPr/>
            </p:nvSpPr>
            <p:spPr>
              <a:xfrm>
                <a:off x="4145" y="2885"/>
                <a:ext cx="422" cy="2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35" name="Rectangle 853"/>
              <p:cNvSpPr/>
              <p:nvPr/>
            </p:nvSpPr>
            <p:spPr>
              <a:xfrm>
                <a:off x="3724" y="2885"/>
                <a:ext cx="421" cy="2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36" name="Rectangle 852"/>
              <p:cNvSpPr/>
              <p:nvPr/>
            </p:nvSpPr>
            <p:spPr>
              <a:xfrm>
                <a:off x="3303" y="2885"/>
                <a:ext cx="421" cy="2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37" name="Rectangle 851"/>
              <p:cNvSpPr/>
              <p:nvPr/>
            </p:nvSpPr>
            <p:spPr>
              <a:xfrm>
                <a:off x="2789" y="2885"/>
                <a:ext cx="514" cy="2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38" name="Rectangle 850"/>
              <p:cNvSpPr/>
              <p:nvPr/>
            </p:nvSpPr>
            <p:spPr>
              <a:xfrm>
                <a:off x="4567" y="2478"/>
                <a:ext cx="400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39" name="Rectangle 849"/>
              <p:cNvSpPr/>
              <p:nvPr/>
            </p:nvSpPr>
            <p:spPr>
              <a:xfrm>
                <a:off x="4145" y="2478"/>
                <a:ext cx="422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40" name="Rectangle 848"/>
              <p:cNvSpPr/>
              <p:nvPr/>
            </p:nvSpPr>
            <p:spPr>
              <a:xfrm>
                <a:off x="3724" y="2478"/>
                <a:ext cx="421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01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41" name="Rectangle 847"/>
              <p:cNvSpPr/>
              <p:nvPr/>
            </p:nvSpPr>
            <p:spPr>
              <a:xfrm>
                <a:off x="3303" y="2478"/>
                <a:ext cx="421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00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42" name="Rectangle 846"/>
              <p:cNvSpPr/>
              <p:nvPr/>
            </p:nvSpPr>
            <p:spPr>
              <a:xfrm>
                <a:off x="2789" y="2478"/>
                <a:ext cx="514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    CD</a:t>
                </a:r>
                <a:endParaRPr lang="en-US" altLang="zh-CN" sz="1600" b="1" dirty="0">
                  <a:latin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eaLnBrk="0" hangingPunct="0"/>
                <a:r>
                  <a:rPr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AB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43" name="Line 871"/>
              <p:cNvSpPr/>
              <p:nvPr/>
            </p:nvSpPr>
            <p:spPr>
              <a:xfrm>
                <a:off x="2789" y="2478"/>
                <a:ext cx="2178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4" name="Line 872"/>
              <p:cNvSpPr/>
              <p:nvPr/>
            </p:nvSpPr>
            <p:spPr>
              <a:xfrm>
                <a:off x="2789" y="3838"/>
                <a:ext cx="514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5" name="Line 873"/>
              <p:cNvSpPr/>
              <p:nvPr/>
            </p:nvSpPr>
            <p:spPr>
              <a:xfrm>
                <a:off x="2789" y="2478"/>
                <a:ext cx="0" cy="136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6" name="Line 874"/>
              <p:cNvSpPr/>
              <p:nvPr/>
            </p:nvSpPr>
            <p:spPr>
              <a:xfrm>
                <a:off x="4967" y="2478"/>
                <a:ext cx="0" cy="407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7" name="Line 877"/>
              <p:cNvSpPr/>
              <p:nvPr/>
            </p:nvSpPr>
            <p:spPr>
              <a:xfrm>
                <a:off x="2789" y="2885"/>
                <a:ext cx="514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8" name="Line 879"/>
              <p:cNvSpPr/>
              <p:nvPr/>
            </p:nvSpPr>
            <p:spPr>
              <a:xfrm>
                <a:off x="3303" y="2478"/>
                <a:ext cx="0" cy="407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9" name="Line 881"/>
              <p:cNvSpPr/>
              <p:nvPr/>
            </p:nvSpPr>
            <p:spPr>
              <a:xfrm>
                <a:off x="3303" y="2885"/>
                <a:ext cx="1664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0" name="Line 882"/>
              <p:cNvSpPr/>
              <p:nvPr/>
            </p:nvSpPr>
            <p:spPr>
              <a:xfrm>
                <a:off x="3724" y="2478"/>
                <a:ext cx="0" cy="407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1" name="Line 885"/>
              <p:cNvSpPr/>
              <p:nvPr/>
            </p:nvSpPr>
            <p:spPr>
              <a:xfrm>
                <a:off x="4145" y="2478"/>
                <a:ext cx="0" cy="407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2" name="Line 888"/>
              <p:cNvSpPr/>
              <p:nvPr/>
            </p:nvSpPr>
            <p:spPr>
              <a:xfrm>
                <a:off x="4567" y="2478"/>
                <a:ext cx="0" cy="407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3" name="Line 890"/>
              <p:cNvSpPr/>
              <p:nvPr/>
            </p:nvSpPr>
            <p:spPr>
              <a:xfrm>
                <a:off x="4967" y="2885"/>
                <a:ext cx="0" cy="95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4" name="Line 891"/>
              <p:cNvSpPr/>
              <p:nvPr/>
            </p:nvSpPr>
            <p:spPr>
              <a:xfrm>
                <a:off x="2789" y="3133"/>
                <a:ext cx="514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5" name="Line 893"/>
              <p:cNvSpPr/>
              <p:nvPr/>
            </p:nvSpPr>
            <p:spPr>
              <a:xfrm>
                <a:off x="3303" y="2885"/>
                <a:ext cx="0" cy="95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6" name="Line 895"/>
              <p:cNvSpPr/>
              <p:nvPr/>
            </p:nvSpPr>
            <p:spPr>
              <a:xfrm>
                <a:off x="3303" y="3133"/>
                <a:ext cx="1664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7" name="Line 896"/>
              <p:cNvSpPr/>
              <p:nvPr/>
            </p:nvSpPr>
            <p:spPr>
              <a:xfrm>
                <a:off x="3724" y="2885"/>
                <a:ext cx="0" cy="95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8" name="Line 900"/>
              <p:cNvSpPr/>
              <p:nvPr/>
            </p:nvSpPr>
            <p:spPr>
              <a:xfrm>
                <a:off x="4145" y="2885"/>
                <a:ext cx="0" cy="95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9" name="Line 904"/>
              <p:cNvSpPr/>
              <p:nvPr/>
            </p:nvSpPr>
            <p:spPr>
              <a:xfrm>
                <a:off x="4567" y="2885"/>
                <a:ext cx="0" cy="953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0" name="Line 908"/>
              <p:cNvSpPr/>
              <p:nvPr/>
            </p:nvSpPr>
            <p:spPr>
              <a:xfrm>
                <a:off x="2789" y="3383"/>
                <a:ext cx="514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1" name="Line 912"/>
              <p:cNvSpPr/>
              <p:nvPr/>
            </p:nvSpPr>
            <p:spPr>
              <a:xfrm>
                <a:off x="3303" y="3383"/>
                <a:ext cx="1664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2" name="Line 929"/>
              <p:cNvSpPr/>
              <p:nvPr/>
            </p:nvSpPr>
            <p:spPr>
              <a:xfrm>
                <a:off x="2789" y="3612"/>
                <a:ext cx="514" cy="0"/>
              </a:xfrm>
              <a:prstGeom prst="line">
                <a:avLst/>
              </a:prstGeom>
              <a:ln w="9525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3" name="Line 933"/>
              <p:cNvSpPr/>
              <p:nvPr/>
            </p:nvSpPr>
            <p:spPr>
              <a:xfrm>
                <a:off x="3303" y="3612"/>
                <a:ext cx="1664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4" name="Line 950"/>
              <p:cNvSpPr/>
              <p:nvPr/>
            </p:nvSpPr>
            <p:spPr>
              <a:xfrm>
                <a:off x="3303" y="3838"/>
                <a:ext cx="1664" cy="0"/>
              </a:xfrm>
              <a:prstGeom prst="line">
                <a:avLst/>
              </a:prstGeom>
              <a:ln w="12700" cap="rnd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901" name="Line 989"/>
            <p:cNvSpPr/>
            <p:nvPr/>
          </p:nvSpPr>
          <p:spPr>
            <a:xfrm>
              <a:off x="2789" y="2432"/>
              <a:ext cx="499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7" name="Text Box 3"/>
          <p:cNvSpPr txBox="1"/>
          <p:nvPr/>
        </p:nvSpPr>
        <p:spPr>
          <a:xfrm>
            <a:off x="611188" y="476250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3.6.2 </a:t>
            </a:r>
            <a:r>
              <a:rPr lang="zh-CN" altLang="en-US" sz="2400" b="1" dirty="0">
                <a:latin typeface="Verdana" panose="020B0604030504040204" pitchFamily="34" charset="0"/>
              </a:rPr>
              <a:t>与或表达式的卡诺图化简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3379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799" name="Text Box 5"/>
          <p:cNvSpPr txBox="1"/>
          <p:nvPr/>
        </p:nvSpPr>
        <p:spPr>
          <a:xfrm>
            <a:off x="611188" y="2276475"/>
            <a:ext cx="8208962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3-33】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用卡诺图化简法求出逻辑函数：</a:t>
            </a:r>
            <a:endParaRPr lang="zh-CN" altLang="en-US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F(A, B, C, D) =Σm(0, 2, 3, 4, 6, 8, 10, 11, 12, 14) 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的最简与或式。</a:t>
            </a:r>
            <a:r>
              <a:rPr lang="zh-CN" altLang="en-US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  </a:t>
            </a:r>
            <a:endParaRPr lang="zh-CN" altLang="en-US" sz="2000" dirty="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0" name="Rectangle 6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801" name="Rectangle 7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802" name="Rectangle 8"/>
          <p:cNvSpPr/>
          <p:nvPr/>
        </p:nvSpPr>
        <p:spPr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803" name="Text Box 69"/>
          <p:cNvSpPr txBox="1"/>
          <p:nvPr/>
        </p:nvSpPr>
        <p:spPr>
          <a:xfrm>
            <a:off x="611188" y="2997200"/>
            <a:ext cx="7191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sp>
        <p:nvSpPr>
          <p:cNvPr id="33804" name="Rectangle 70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805" name="Rectangle 97"/>
          <p:cNvSpPr/>
          <p:nvPr/>
        </p:nvSpPr>
        <p:spPr>
          <a:xfrm>
            <a:off x="0" y="18129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806" name="Rectangle 98"/>
          <p:cNvSpPr/>
          <p:nvPr/>
        </p:nvSpPr>
        <p:spPr>
          <a:xfrm>
            <a:off x="0" y="1812925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807" name="Rectangle 250"/>
          <p:cNvSpPr/>
          <p:nvPr/>
        </p:nvSpPr>
        <p:spPr>
          <a:xfrm>
            <a:off x="0" y="3179763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808" name="Rectangle 252"/>
          <p:cNvSpPr/>
          <p:nvPr/>
        </p:nvSpPr>
        <p:spPr>
          <a:xfrm>
            <a:off x="0" y="3360738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3809" name="Group 259"/>
          <p:cNvGrpSpPr/>
          <p:nvPr/>
        </p:nvGrpSpPr>
        <p:grpSpPr>
          <a:xfrm>
            <a:off x="2987675" y="3068638"/>
            <a:ext cx="5507038" cy="3168650"/>
            <a:chOff x="1429" y="1842"/>
            <a:chExt cx="3469" cy="1996"/>
          </a:xfrm>
        </p:grpSpPr>
        <p:graphicFrame>
          <p:nvGraphicFramePr>
            <p:cNvPr id="33795" name="Object 83"/>
            <p:cNvGraphicFramePr/>
            <p:nvPr/>
          </p:nvGraphicFramePr>
          <p:xfrm>
            <a:off x="4150" y="3612"/>
            <a:ext cx="24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1" imgW="241300" imgH="215900" progId="Equation.DSMT4">
                    <p:embed/>
                  </p:oleObj>
                </mc:Choice>
                <mc:Fallback>
                  <p:oleObj name="" r:id="rId1" imgW="241300" imgH="215900" progId="Equation.DSMT4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150" y="3612"/>
                          <a:ext cx="24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6" name="Object 76"/>
            <p:cNvGraphicFramePr/>
            <p:nvPr/>
          </p:nvGraphicFramePr>
          <p:xfrm>
            <a:off x="1927" y="3430"/>
            <a:ext cx="17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3" imgW="165100" imgH="203200" progId="Equation.DSMT4">
                    <p:embed/>
                  </p:oleObj>
                </mc:Choice>
                <mc:Fallback>
                  <p:oleObj name="" r:id="rId3" imgW="165100" imgH="203200" progId="Equation.DSMT4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27" y="3430"/>
                          <a:ext cx="174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4" name="AutoShape 96"/>
            <p:cNvSpPr>
              <a:spLocks noChangeAspect="1" noTextEdit="1"/>
            </p:cNvSpPr>
            <p:nvPr/>
          </p:nvSpPr>
          <p:spPr>
            <a:xfrm>
              <a:off x="1429" y="1842"/>
              <a:ext cx="3469" cy="19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33815" name="Group 93"/>
            <p:cNvGrpSpPr/>
            <p:nvPr/>
          </p:nvGrpSpPr>
          <p:grpSpPr>
            <a:xfrm>
              <a:off x="2561" y="2322"/>
              <a:ext cx="391" cy="1172"/>
              <a:chOff x="4441" y="5498"/>
              <a:chExt cx="456" cy="1239"/>
            </a:xfrm>
          </p:grpSpPr>
          <p:sp>
            <p:nvSpPr>
              <p:cNvPr id="33880" name="AutoShape 95"/>
              <p:cNvSpPr/>
              <p:nvPr/>
            </p:nvSpPr>
            <p:spPr>
              <a:xfrm flipH="1">
                <a:off x="4536" y="5579"/>
                <a:ext cx="361" cy="1037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3881" name="Rectangle 94"/>
              <p:cNvSpPr/>
              <p:nvPr/>
            </p:nvSpPr>
            <p:spPr>
              <a:xfrm>
                <a:off x="4441" y="5498"/>
                <a:ext cx="116" cy="123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33816" name="AutoShape 92"/>
            <p:cNvSpPr/>
            <p:nvPr/>
          </p:nvSpPr>
          <p:spPr>
            <a:xfrm>
              <a:off x="3924" y="2403"/>
              <a:ext cx="396" cy="98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3817" name="Rectangle 91"/>
            <p:cNvSpPr/>
            <p:nvPr/>
          </p:nvSpPr>
          <p:spPr>
            <a:xfrm flipH="1">
              <a:off x="4254" y="2325"/>
              <a:ext cx="115" cy="117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grpSp>
          <p:nvGrpSpPr>
            <p:cNvPr id="33818" name="Group 88"/>
            <p:cNvGrpSpPr/>
            <p:nvPr/>
          </p:nvGrpSpPr>
          <p:grpSpPr>
            <a:xfrm flipV="1">
              <a:off x="3482" y="2302"/>
              <a:ext cx="711" cy="274"/>
              <a:chOff x="4261" y="7132"/>
              <a:chExt cx="739" cy="282"/>
            </a:xfrm>
          </p:grpSpPr>
          <p:sp>
            <p:nvSpPr>
              <p:cNvPr id="33878" name="AutoShape 90"/>
              <p:cNvSpPr/>
              <p:nvPr/>
            </p:nvSpPr>
            <p:spPr>
              <a:xfrm rot="-5400000" flipH="1">
                <a:off x="4519" y="6953"/>
                <a:ext cx="260" cy="618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3879" name="Rectangle 89"/>
              <p:cNvSpPr/>
              <p:nvPr/>
            </p:nvSpPr>
            <p:spPr>
              <a:xfrm rot="-5400000">
                <a:off x="4603" y="7017"/>
                <a:ext cx="54" cy="73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33819" name="Group 85"/>
            <p:cNvGrpSpPr/>
            <p:nvPr/>
          </p:nvGrpSpPr>
          <p:grpSpPr>
            <a:xfrm>
              <a:off x="3464" y="3198"/>
              <a:ext cx="711" cy="303"/>
              <a:chOff x="4261" y="7132"/>
              <a:chExt cx="739" cy="282"/>
            </a:xfrm>
          </p:grpSpPr>
          <p:sp>
            <p:nvSpPr>
              <p:cNvPr id="33876" name="AutoShape 87"/>
              <p:cNvSpPr/>
              <p:nvPr/>
            </p:nvSpPr>
            <p:spPr>
              <a:xfrm rot="-5400000" flipH="1">
                <a:off x="4519" y="6953"/>
                <a:ext cx="260" cy="618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3877" name="Rectangle 86"/>
              <p:cNvSpPr/>
              <p:nvPr/>
            </p:nvSpPr>
            <p:spPr>
              <a:xfrm rot="-5400000">
                <a:off x="4603" y="7017"/>
                <a:ext cx="54" cy="73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33820" name="Text Box 84"/>
            <p:cNvSpPr txBox="1"/>
            <p:nvPr/>
          </p:nvSpPr>
          <p:spPr>
            <a:xfrm>
              <a:off x="2170" y="1842"/>
              <a:ext cx="2109" cy="16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3821" name="Text Box 82"/>
            <p:cNvSpPr txBox="1"/>
            <p:nvPr/>
          </p:nvSpPr>
          <p:spPr>
            <a:xfrm>
              <a:off x="4033" y="3466"/>
              <a:ext cx="4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grpSp>
          <p:nvGrpSpPr>
            <p:cNvPr id="33822" name="Group 79"/>
            <p:cNvGrpSpPr/>
            <p:nvPr/>
          </p:nvGrpSpPr>
          <p:grpSpPr>
            <a:xfrm>
              <a:off x="4128" y="2467"/>
              <a:ext cx="164" cy="1112"/>
              <a:chOff x="6244" y="5660"/>
              <a:chExt cx="191" cy="1175"/>
            </a:xfrm>
          </p:grpSpPr>
          <p:sp>
            <p:nvSpPr>
              <p:cNvPr id="33874" name="Freeform 81"/>
              <p:cNvSpPr/>
              <p:nvPr/>
            </p:nvSpPr>
            <p:spPr>
              <a:xfrm rot="-5400000" flipH="1">
                <a:off x="5769" y="6169"/>
                <a:ext cx="1175" cy="156"/>
              </a:xfrm>
              <a:custGeom>
                <a:avLst/>
                <a:gdLst>
                  <a:gd name="txL" fmla="*/ 0 w 2048"/>
                  <a:gd name="txT" fmla="*/ 0 h 192"/>
                  <a:gd name="txR" fmla="*/ 2048 w 2048"/>
                  <a:gd name="txB" fmla="*/ 192 h 192"/>
                </a:gdLst>
                <a:ahLst/>
                <a:cxnLst>
                  <a:cxn ang="0">
                    <a:pos x="13" y="0"/>
                  </a:cxn>
                  <a:cxn ang="0">
                    <a:pos x="13" y="102"/>
                  </a:cxn>
                  <a:cxn ang="0">
                    <a:pos x="32" y="149"/>
                  </a:cxn>
                  <a:cxn ang="0">
                    <a:pos x="204" y="149"/>
                  </a:cxn>
                  <a:cxn ang="0">
                    <a:pos x="1175" y="149"/>
                  </a:cxn>
                </a:cxnLst>
                <a:rect l="txL" t="txT" r="txR" b="txB"/>
                <a:pathLst>
                  <a:path w="2048" h="192">
                    <a:moveTo>
                      <a:pt x="22" y="0"/>
                    </a:moveTo>
                    <a:cubicBezTo>
                      <a:pt x="19" y="48"/>
                      <a:pt x="16" y="96"/>
                      <a:pt x="22" y="126"/>
                    </a:cubicBezTo>
                    <a:cubicBezTo>
                      <a:pt x="28" y="156"/>
                      <a:pt x="0" y="174"/>
                      <a:pt x="56" y="183"/>
                    </a:cubicBezTo>
                    <a:cubicBezTo>
                      <a:pt x="112" y="192"/>
                      <a:pt x="24" y="183"/>
                      <a:pt x="356" y="183"/>
                    </a:cubicBezTo>
                    <a:cubicBezTo>
                      <a:pt x="688" y="183"/>
                      <a:pt x="1766" y="183"/>
                      <a:pt x="2048" y="183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3875" name="Line 80"/>
              <p:cNvSpPr/>
              <p:nvPr/>
            </p:nvSpPr>
            <p:spPr>
              <a:xfrm rot="-5400000" flipH="1" flipV="1">
                <a:off x="6332" y="6418"/>
                <a:ext cx="2" cy="17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sm" len="sm"/>
                <a:tailEnd type="triangle" w="med" len="med"/>
              </a:ln>
            </p:spPr>
          </p:sp>
        </p:grpSp>
        <p:sp>
          <p:nvSpPr>
            <p:cNvPr id="33823" name="Freeform 78"/>
            <p:cNvSpPr/>
            <p:nvPr/>
          </p:nvSpPr>
          <p:spPr>
            <a:xfrm flipH="1">
              <a:off x="2172" y="3385"/>
              <a:ext cx="1879" cy="187"/>
            </a:xfrm>
            <a:custGeom>
              <a:avLst/>
              <a:gdLst>
                <a:gd name="txL" fmla="*/ 0 w 2048"/>
                <a:gd name="txT" fmla="*/ 0 h 192"/>
                <a:gd name="txR" fmla="*/ 2048 w 2048"/>
                <a:gd name="txB" fmla="*/ 192 h 192"/>
              </a:gdLst>
              <a:ahLst/>
              <a:cxnLst>
                <a:cxn ang="0">
                  <a:pos x="20" y="0"/>
                </a:cxn>
                <a:cxn ang="0">
                  <a:pos x="20" y="123"/>
                </a:cxn>
                <a:cxn ang="0">
                  <a:pos x="51" y="178"/>
                </a:cxn>
                <a:cxn ang="0">
                  <a:pos x="327" y="178"/>
                </a:cxn>
                <a:cxn ang="0">
                  <a:pos x="1879" y="178"/>
                </a:cxn>
              </a:cxnLst>
              <a:rect l="txL" t="txT" r="txR" b="txB"/>
              <a:pathLst>
                <a:path w="2048" h="192">
                  <a:moveTo>
                    <a:pt x="22" y="0"/>
                  </a:moveTo>
                  <a:cubicBezTo>
                    <a:pt x="19" y="48"/>
                    <a:pt x="16" y="96"/>
                    <a:pt x="22" y="126"/>
                  </a:cubicBezTo>
                  <a:cubicBezTo>
                    <a:pt x="28" y="156"/>
                    <a:pt x="0" y="174"/>
                    <a:pt x="56" y="183"/>
                  </a:cubicBezTo>
                  <a:cubicBezTo>
                    <a:pt x="112" y="192"/>
                    <a:pt x="24" y="183"/>
                    <a:pt x="356" y="183"/>
                  </a:cubicBezTo>
                  <a:cubicBezTo>
                    <a:pt x="688" y="183"/>
                    <a:pt x="1766" y="183"/>
                    <a:pt x="2048" y="18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3824" name="Line 77"/>
            <p:cNvSpPr/>
            <p:nvPr/>
          </p:nvSpPr>
          <p:spPr>
            <a:xfrm flipH="1" flipV="1">
              <a:off x="2790" y="3365"/>
              <a:ext cx="8" cy="1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sm" len="sm"/>
              <a:tailEnd type="triangle" w="med" len="med"/>
            </a:ln>
          </p:spPr>
        </p:sp>
        <p:sp>
          <p:nvSpPr>
            <p:cNvPr id="33825" name="Text Box 75"/>
            <p:cNvSpPr txBox="1"/>
            <p:nvPr/>
          </p:nvSpPr>
          <p:spPr>
            <a:xfrm>
              <a:off x="1870" y="3402"/>
              <a:ext cx="37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3826" name="Rectangle 149"/>
            <p:cNvSpPr/>
            <p:nvPr/>
          </p:nvSpPr>
          <p:spPr>
            <a:xfrm>
              <a:off x="3869" y="3194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27" name="Rectangle 148"/>
            <p:cNvSpPr/>
            <p:nvPr/>
          </p:nvSpPr>
          <p:spPr>
            <a:xfrm>
              <a:off x="3452" y="3194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28" name="Rectangle 147"/>
            <p:cNvSpPr/>
            <p:nvPr/>
          </p:nvSpPr>
          <p:spPr>
            <a:xfrm>
              <a:off x="3035" y="3194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29" name="Rectangle 146"/>
            <p:cNvSpPr/>
            <p:nvPr/>
          </p:nvSpPr>
          <p:spPr>
            <a:xfrm>
              <a:off x="2618" y="3194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30" name="Rectangle 145"/>
            <p:cNvSpPr/>
            <p:nvPr/>
          </p:nvSpPr>
          <p:spPr>
            <a:xfrm>
              <a:off x="2109" y="3194"/>
              <a:ext cx="509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31" name="Rectangle 144"/>
            <p:cNvSpPr/>
            <p:nvPr/>
          </p:nvSpPr>
          <p:spPr>
            <a:xfrm>
              <a:off x="3869" y="2912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32" name="Rectangle 143"/>
            <p:cNvSpPr/>
            <p:nvPr/>
          </p:nvSpPr>
          <p:spPr>
            <a:xfrm>
              <a:off x="3452" y="2912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33" name="Rectangle 142"/>
            <p:cNvSpPr/>
            <p:nvPr/>
          </p:nvSpPr>
          <p:spPr>
            <a:xfrm>
              <a:off x="3035" y="2912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34" name="Rectangle 141"/>
            <p:cNvSpPr/>
            <p:nvPr/>
          </p:nvSpPr>
          <p:spPr>
            <a:xfrm>
              <a:off x="2618" y="2912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35" name="Rectangle 140"/>
            <p:cNvSpPr/>
            <p:nvPr/>
          </p:nvSpPr>
          <p:spPr>
            <a:xfrm>
              <a:off x="2109" y="2912"/>
              <a:ext cx="509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36" name="Rectangle 139"/>
            <p:cNvSpPr/>
            <p:nvPr/>
          </p:nvSpPr>
          <p:spPr>
            <a:xfrm>
              <a:off x="3869" y="2629"/>
              <a:ext cx="417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37" name="Rectangle 138"/>
            <p:cNvSpPr/>
            <p:nvPr/>
          </p:nvSpPr>
          <p:spPr>
            <a:xfrm>
              <a:off x="3452" y="2629"/>
              <a:ext cx="417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38" name="Rectangle 137"/>
            <p:cNvSpPr/>
            <p:nvPr/>
          </p:nvSpPr>
          <p:spPr>
            <a:xfrm>
              <a:off x="3035" y="2629"/>
              <a:ext cx="417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39" name="Rectangle 136"/>
            <p:cNvSpPr/>
            <p:nvPr/>
          </p:nvSpPr>
          <p:spPr>
            <a:xfrm>
              <a:off x="2618" y="2629"/>
              <a:ext cx="417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40" name="Rectangle 135"/>
            <p:cNvSpPr/>
            <p:nvPr/>
          </p:nvSpPr>
          <p:spPr>
            <a:xfrm>
              <a:off x="2109" y="2629"/>
              <a:ext cx="509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41" name="Rectangle 134"/>
            <p:cNvSpPr/>
            <p:nvPr/>
          </p:nvSpPr>
          <p:spPr>
            <a:xfrm>
              <a:off x="3869" y="2347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42" name="Rectangle 133"/>
            <p:cNvSpPr/>
            <p:nvPr/>
          </p:nvSpPr>
          <p:spPr>
            <a:xfrm>
              <a:off x="3452" y="2347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43" name="Rectangle 132"/>
            <p:cNvSpPr/>
            <p:nvPr/>
          </p:nvSpPr>
          <p:spPr>
            <a:xfrm>
              <a:off x="3035" y="2347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44" name="Rectangle 131"/>
            <p:cNvSpPr/>
            <p:nvPr/>
          </p:nvSpPr>
          <p:spPr>
            <a:xfrm>
              <a:off x="2618" y="2347"/>
              <a:ext cx="417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45" name="Rectangle 130"/>
            <p:cNvSpPr/>
            <p:nvPr/>
          </p:nvSpPr>
          <p:spPr>
            <a:xfrm>
              <a:off x="2109" y="2347"/>
              <a:ext cx="509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46" name="Rectangle 129"/>
            <p:cNvSpPr/>
            <p:nvPr/>
          </p:nvSpPr>
          <p:spPr>
            <a:xfrm>
              <a:off x="3869" y="1888"/>
              <a:ext cx="417" cy="4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b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47" name="Rectangle 128"/>
            <p:cNvSpPr/>
            <p:nvPr/>
          </p:nvSpPr>
          <p:spPr>
            <a:xfrm>
              <a:off x="3452" y="1888"/>
              <a:ext cx="417" cy="4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b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48" name="Rectangle 127"/>
            <p:cNvSpPr/>
            <p:nvPr/>
          </p:nvSpPr>
          <p:spPr>
            <a:xfrm>
              <a:off x="3035" y="1888"/>
              <a:ext cx="417" cy="4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b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49" name="Rectangle 126"/>
            <p:cNvSpPr/>
            <p:nvPr/>
          </p:nvSpPr>
          <p:spPr>
            <a:xfrm>
              <a:off x="2618" y="1888"/>
              <a:ext cx="417" cy="4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b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50" name="Rectangle 125"/>
            <p:cNvSpPr/>
            <p:nvPr/>
          </p:nvSpPr>
          <p:spPr>
            <a:xfrm>
              <a:off x="2109" y="1888"/>
              <a:ext cx="509" cy="4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  CD</a:t>
              </a:r>
              <a:endParaRPr lang="en-US" altLang="zh-CN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eaLnBrk="0" hangingPunct="0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51" name="Line 150"/>
            <p:cNvSpPr/>
            <p:nvPr/>
          </p:nvSpPr>
          <p:spPr>
            <a:xfrm>
              <a:off x="2109" y="1888"/>
              <a:ext cx="2177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2" name="Line 151"/>
            <p:cNvSpPr/>
            <p:nvPr/>
          </p:nvSpPr>
          <p:spPr>
            <a:xfrm>
              <a:off x="2109" y="3476"/>
              <a:ext cx="509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3" name="Line 152"/>
            <p:cNvSpPr/>
            <p:nvPr/>
          </p:nvSpPr>
          <p:spPr>
            <a:xfrm>
              <a:off x="2109" y="1888"/>
              <a:ext cx="0" cy="1588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4" name="Line 153"/>
            <p:cNvSpPr/>
            <p:nvPr/>
          </p:nvSpPr>
          <p:spPr>
            <a:xfrm>
              <a:off x="4286" y="1888"/>
              <a:ext cx="0" cy="459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5" name="Line 156"/>
            <p:cNvSpPr/>
            <p:nvPr/>
          </p:nvSpPr>
          <p:spPr>
            <a:xfrm>
              <a:off x="2109" y="2347"/>
              <a:ext cx="509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6" name="Line 158"/>
            <p:cNvSpPr/>
            <p:nvPr/>
          </p:nvSpPr>
          <p:spPr>
            <a:xfrm>
              <a:off x="2618" y="1888"/>
              <a:ext cx="0" cy="459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7" name="Line 160"/>
            <p:cNvSpPr/>
            <p:nvPr/>
          </p:nvSpPr>
          <p:spPr>
            <a:xfrm>
              <a:off x="2618" y="2347"/>
              <a:ext cx="1668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8" name="Line 161"/>
            <p:cNvSpPr/>
            <p:nvPr/>
          </p:nvSpPr>
          <p:spPr>
            <a:xfrm>
              <a:off x="3035" y="1888"/>
              <a:ext cx="0" cy="459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59" name="Line 164"/>
            <p:cNvSpPr/>
            <p:nvPr/>
          </p:nvSpPr>
          <p:spPr>
            <a:xfrm>
              <a:off x="3452" y="1888"/>
              <a:ext cx="0" cy="459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0" name="Line 167"/>
            <p:cNvSpPr/>
            <p:nvPr/>
          </p:nvSpPr>
          <p:spPr>
            <a:xfrm>
              <a:off x="3869" y="1888"/>
              <a:ext cx="0" cy="459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1" name="Line 169"/>
            <p:cNvSpPr/>
            <p:nvPr/>
          </p:nvSpPr>
          <p:spPr>
            <a:xfrm>
              <a:off x="4286" y="2347"/>
              <a:ext cx="0" cy="1129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2" name="Line 170"/>
            <p:cNvSpPr/>
            <p:nvPr/>
          </p:nvSpPr>
          <p:spPr>
            <a:xfrm>
              <a:off x="2109" y="2629"/>
              <a:ext cx="509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3" name="Line 172"/>
            <p:cNvSpPr/>
            <p:nvPr/>
          </p:nvSpPr>
          <p:spPr>
            <a:xfrm>
              <a:off x="2618" y="2347"/>
              <a:ext cx="0" cy="1129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4" name="Line 174"/>
            <p:cNvSpPr/>
            <p:nvPr/>
          </p:nvSpPr>
          <p:spPr>
            <a:xfrm>
              <a:off x="2618" y="2629"/>
              <a:ext cx="1668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5" name="Line 175"/>
            <p:cNvSpPr/>
            <p:nvPr/>
          </p:nvSpPr>
          <p:spPr>
            <a:xfrm>
              <a:off x="3035" y="2347"/>
              <a:ext cx="0" cy="1129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6" name="Line 179"/>
            <p:cNvSpPr/>
            <p:nvPr/>
          </p:nvSpPr>
          <p:spPr>
            <a:xfrm>
              <a:off x="3452" y="2347"/>
              <a:ext cx="0" cy="1129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7" name="Line 183"/>
            <p:cNvSpPr/>
            <p:nvPr/>
          </p:nvSpPr>
          <p:spPr>
            <a:xfrm>
              <a:off x="3869" y="2347"/>
              <a:ext cx="0" cy="1129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8" name="Line 187"/>
            <p:cNvSpPr/>
            <p:nvPr/>
          </p:nvSpPr>
          <p:spPr>
            <a:xfrm>
              <a:off x="2109" y="2912"/>
              <a:ext cx="509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69" name="Line 191"/>
            <p:cNvSpPr/>
            <p:nvPr/>
          </p:nvSpPr>
          <p:spPr>
            <a:xfrm>
              <a:off x="2618" y="2912"/>
              <a:ext cx="1668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70" name="Line 208"/>
            <p:cNvSpPr/>
            <p:nvPr/>
          </p:nvSpPr>
          <p:spPr>
            <a:xfrm>
              <a:off x="2109" y="3194"/>
              <a:ext cx="509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71" name="Line 212"/>
            <p:cNvSpPr/>
            <p:nvPr/>
          </p:nvSpPr>
          <p:spPr>
            <a:xfrm>
              <a:off x="2618" y="3194"/>
              <a:ext cx="1668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72" name="Line 229"/>
            <p:cNvSpPr/>
            <p:nvPr/>
          </p:nvSpPr>
          <p:spPr>
            <a:xfrm>
              <a:off x="2618" y="3476"/>
              <a:ext cx="1668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73" name="Line 258"/>
            <p:cNvSpPr/>
            <p:nvPr/>
          </p:nvSpPr>
          <p:spPr>
            <a:xfrm>
              <a:off x="2109" y="1888"/>
              <a:ext cx="499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810" name="Text Box 260"/>
          <p:cNvSpPr txBox="1"/>
          <p:nvPr/>
        </p:nvSpPr>
        <p:spPr>
          <a:xfrm>
            <a:off x="3924300" y="6237288"/>
            <a:ext cx="38163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3-10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3-33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的卡诺图 </a:t>
            </a:r>
            <a:endParaRPr lang="zh-CN" altLang="en-US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33811" name="Rectangle 263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3812" name="Group 264"/>
          <p:cNvGrpSpPr/>
          <p:nvPr/>
        </p:nvGrpSpPr>
        <p:grpSpPr>
          <a:xfrm>
            <a:off x="755650" y="4076700"/>
            <a:ext cx="3097213" cy="1004888"/>
            <a:chOff x="295" y="2568"/>
            <a:chExt cx="1951" cy="633"/>
          </a:xfrm>
        </p:grpSpPr>
        <p:sp>
          <p:nvSpPr>
            <p:cNvPr id="33813" name="Text Box 261"/>
            <p:cNvSpPr txBox="1"/>
            <p:nvPr/>
          </p:nvSpPr>
          <p:spPr>
            <a:xfrm>
              <a:off x="295" y="2568"/>
              <a:ext cx="1951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F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</a:t>
              </a:r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= 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3794" name="Object 262"/>
            <p:cNvGraphicFramePr/>
            <p:nvPr/>
          </p:nvGraphicFramePr>
          <p:xfrm>
            <a:off x="567" y="2886"/>
            <a:ext cx="63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5" imgW="508000" imgH="215900" progId="Equation.DSMT4">
                    <p:embed/>
                  </p:oleObj>
                </mc:Choice>
                <mc:Fallback>
                  <p:oleObj name="" r:id="rId5" imgW="508000" imgH="215900" progId="Equation.DSMT4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7" y="2886"/>
                          <a:ext cx="635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9" name="Text Box 3"/>
          <p:cNvSpPr txBox="1"/>
          <p:nvPr/>
        </p:nvSpPr>
        <p:spPr>
          <a:xfrm>
            <a:off x="395288" y="549275"/>
            <a:ext cx="6913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Verdana" panose="020B0604030504040204" pitchFamily="34" charset="0"/>
              </a:rPr>
              <a:t>3.6.3  </a:t>
            </a:r>
            <a:r>
              <a:rPr lang="zh-CN" altLang="en-US" sz="2400" b="1" dirty="0">
                <a:latin typeface="Verdana" panose="020B0604030504040204" pitchFamily="34" charset="0"/>
              </a:rPr>
              <a:t>或与表达式的卡诺图化简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3482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4821" name="Text Box 5"/>
          <p:cNvSpPr txBox="1"/>
          <p:nvPr/>
        </p:nvSpPr>
        <p:spPr>
          <a:xfrm>
            <a:off x="611188" y="1700213"/>
            <a:ext cx="82089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 1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．或与表达式的卡诺图表示</a:t>
            </a:r>
            <a:r>
              <a:rPr lang="zh-CN" altLang="en-US" sz="2000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660066"/>
              </a:solidFill>
              <a:latin typeface="Verdana" panose="020B0604030504040204" pitchFamily="34" charset="0"/>
            </a:endParaRPr>
          </a:p>
        </p:txBody>
      </p:sp>
      <p:sp>
        <p:nvSpPr>
          <p:cNvPr id="34822" name="Text Box 9"/>
          <p:cNvSpPr txBox="1"/>
          <p:nvPr/>
        </p:nvSpPr>
        <p:spPr>
          <a:xfrm>
            <a:off x="611188" y="3141663"/>
            <a:ext cx="7191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sp>
        <p:nvSpPr>
          <p:cNvPr id="34823" name="Rectangle 12"/>
          <p:cNvSpPr/>
          <p:nvPr/>
        </p:nvSpPr>
        <p:spPr>
          <a:xfrm>
            <a:off x="0" y="1812925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4824" name="Text Box 86"/>
          <p:cNvSpPr txBox="1"/>
          <p:nvPr/>
        </p:nvSpPr>
        <p:spPr>
          <a:xfrm>
            <a:off x="2339975" y="5876925"/>
            <a:ext cx="38163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3-11 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标准或与表达式的卡诺图</a:t>
            </a:r>
            <a:endParaRPr lang="zh-CN" altLang="en-US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34825" name="Text Box 91"/>
          <p:cNvSpPr txBox="1"/>
          <p:nvPr/>
        </p:nvSpPr>
        <p:spPr>
          <a:xfrm>
            <a:off x="611188" y="2349500"/>
            <a:ext cx="82089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3-34】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用卡诺图表示下面的标准或与表达式：</a:t>
            </a:r>
            <a:endParaRPr lang="zh-CN" altLang="en-US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34818" name="Object 92"/>
          <p:cNvGraphicFramePr/>
          <p:nvPr/>
        </p:nvGraphicFramePr>
        <p:xfrm>
          <a:off x="1692275" y="2781300"/>
          <a:ext cx="590391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" imgW="3060700" imgH="241300" progId="Equation.DSMT4">
                  <p:embed/>
                </p:oleObj>
              </mc:Choice>
              <mc:Fallback>
                <p:oleObj name="" r:id="rId1" imgW="3060700" imgH="2413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2275" y="2781300"/>
                        <a:ext cx="5903913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AutoShape 94"/>
          <p:cNvSpPr>
            <a:spLocks noChangeAspect="1"/>
          </p:cNvSpPr>
          <p:nvPr/>
        </p:nvSpPr>
        <p:spPr>
          <a:xfrm>
            <a:off x="0" y="5543550"/>
            <a:ext cx="2486025" cy="1524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4827" name="Rectangle 110"/>
          <p:cNvSpPr/>
          <p:nvPr/>
        </p:nvSpPr>
        <p:spPr>
          <a:xfrm>
            <a:off x="0" y="-211137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4828" name="Rectangle 111"/>
          <p:cNvSpPr/>
          <p:nvPr/>
        </p:nvSpPr>
        <p:spPr>
          <a:xfrm>
            <a:off x="0" y="-211137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4829" name="Rectangle 226"/>
          <p:cNvSpPr/>
          <p:nvPr/>
        </p:nvSpPr>
        <p:spPr>
          <a:xfrm>
            <a:off x="0" y="55435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4830" name="Rectangle 227"/>
          <p:cNvSpPr/>
          <p:nvPr/>
        </p:nvSpPr>
        <p:spPr>
          <a:xfrm>
            <a:off x="0" y="70675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Arial" panose="020B0604020202020204" pitchFamily="34" charset="0"/>
            </a:endParaRPr>
          </a:p>
        </p:txBody>
      </p:sp>
      <p:grpSp>
        <p:nvGrpSpPr>
          <p:cNvPr id="34831" name="Group 372"/>
          <p:cNvGrpSpPr/>
          <p:nvPr/>
        </p:nvGrpSpPr>
        <p:grpSpPr>
          <a:xfrm>
            <a:off x="323850" y="3068638"/>
            <a:ext cx="6948488" cy="2762250"/>
            <a:chOff x="0" y="2117"/>
            <a:chExt cx="4377" cy="1740"/>
          </a:xfrm>
        </p:grpSpPr>
        <p:sp>
          <p:nvSpPr>
            <p:cNvPr id="34832" name="Rectangle 259"/>
            <p:cNvSpPr/>
            <p:nvPr/>
          </p:nvSpPr>
          <p:spPr>
            <a:xfrm>
              <a:off x="2245" y="3593"/>
              <a:ext cx="58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33" name="Rectangle 258"/>
            <p:cNvSpPr/>
            <p:nvPr/>
          </p:nvSpPr>
          <p:spPr>
            <a:xfrm>
              <a:off x="1662" y="3593"/>
              <a:ext cx="583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zh-CN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34834" name="Rectangle 257"/>
            <p:cNvSpPr/>
            <p:nvPr/>
          </p:nvSpPr>
          <p:spPr>
            <a:xfrm>
              <a:off x="1066" y="3593"/>
              <a:ext cx="59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35" name="Rectangle 256"/>
            <p:cNvSpPr/>
            <p:nvPr/>
          </p:nvSpPr>
          <p:spPr>
            <a:xfrm>
              <a:off x="2245" y="3338"/>
              <a:ext cx="58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zh-CN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34836" name="Rectangle 255"/>
            <p:cNvSpPr/>
            <p:nvPr/>
          </p:nvSpPr>
          <p:spPr>
            <a:xfrm>
              <a:off x="1662" y="3338"/>
              <a:ext cx="583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37" name="Rectangle 254"/>
            <p:cNvSpPr/>
            <p:nvPr/>
          </p:nvSpPr>
          <p:spPr>
            <a:xfrm>
              <a:off x="1066" y="3338"/>
              <a:ext cx="59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38" name="Rectangle 253"/>
            <p:cNvSpPr/>
            <p:nvPr/>
          </p:nvSpPr>
          <p:spPr>
            <a:xfrm>
              <a:off x="2245" y="3083"/>
              <a:ext cx="58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zh-CN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34839" name="Rectangle 252"/>
            <p:cNvSpPr/>
            <p:nvPr/>
          </p:nvSpPr>
          <p:spPr>
            <a:xfrm>
              <a:off x="1662" y="3083"/>
              <a:ext cx="583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40" name="Rectangle 251"/>
            <p:cNvSpPr/>
            <p:nvPr/>
          </p:nvSpPr>
          <p:spPr>
            <a:xfrm>
              <a:off x="1066" y="3083"/>
              <a:ext cx="59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41" name="Rectangle 250"/>
            <p:cNvSpPr/>
            <p:nvPr/>
          </p:nvSpPr>
          <p:spPr>
            <a:xfrm>
              <a:off x="2245" y="2828"/>
              <a:ext cx="58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zh-CN" sz="2000" b="1" dirty="0">
                <a:latin typeface="Verdana" panose="020B0604030504040204" pitchFamily="34" charset="0"/>
              </a:endParaRPr>
            </a:p>
          </p:txBody>
        </p:sp>
        <p:sp>
          <p:nvSpPr>
            <p:cNvPr id="34842" name="Rectangle 249"/>
            <p:cNvSpPr/>
            <p:nvPr/>
          </p:nvSpPr>
          <p:spPr>
            <a:xfrm>
              <a:off x="1662" y="2828"/>
              <a:ext cx="583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43" name="Rectangle 248"/>
            <p:cNvSpPr/>
            <p:nvPr/>
          </p:nvSpPr>
          <p:spPr>
            <a:xfrm>
              <a:off x="1066" y="2828"/>
              <a:ext cx="59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44" name="Rectangle 247"/>
            <p:cNvSpPr/>
            <p:nvPr/>
          </p:nvSpPr>
          <p:spPr>
            <a:xfrm>
              <a:off x="2245" y="2387"/>
              <a:ext cx="584" cy="4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marL="469900" indent="-469900"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45" name="Rectangle 246"/>
            <p:cNvSpPr/>
            <p:nvPr/>
          </p:nvSpPr>
          <p:spPr>
            <a:xfrm>
              <a:off x="1662" y="2387"/>
              <a:ext cx="583" cy="4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marL="469900" indent="-469900"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46" name="Rectangle 245"/>
            <p:cNvSpPr/>
            <p:nvPr/>
          </p:nvSpPr>
          <p:spPr>
            <a:xfrm>
              <a:off x="1066" y="2387"/>
              <a:ext cx="596" cy="44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  C</a:t>
              </a:r>
              <a:endParaRPr lang="en-US" altLang="zh-CN" sz="20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marL="469900" indent="-469900" eaLnBrk="0" hangingPunct="0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4847" name="Line 260"/>
            <p:cNvSpPr/>
            <p:nvPr/>
          </p:nvSpPr>
          <p:spPr>
            <a:xfrm>
              <a:off x="1066" y="2387"/>
              <a:ext cx="176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8" name="Line 261"/>
            <p:cNvSpPr/>
            <p:nvPr/>
          </p:nvSpPr>
          <p:spPr>
            <a:xfrm>
              <a:off x="1066" y="3848"/>
              <a:ext cx="596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9" name="Line 262"/>
            <p:cNvSpPr/>
            <p:nvPr/>
          </p:nvSpPr>
          <p:spPr>
            <a:xfrm>
              <a:off x="1066" y="2387"/>
              <a:ext cx="0" cy="1461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0" name="Line 263"/>
            <p:cNvSpPr/>
            <p:nvPr/>
          </p:nvSpPr>
          <p:spPr>
            <a:xfrm>
              <a:off x="2829" y="2387"/>
              <a:ext cx="0" cy="441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1" name="Line 266"/>
            <p:cNvSpPr/>
            <p:nvPr/>
          </p:nvSpPr>
          <p:spPr>
            <a:xfrm>
              <a:off x="1066" y="2828"/>
              <a:ext cx="596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2" name="Line 268"/>
            <p:cNvSpPr/>
            <p:nvPr/>
          </p:nvSpPr>
          <p:spPr>
            <a:xfrm>
              <a:off x="1662" y="2387"/>
              <a:ext cx="0" cy="441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3" name="Line 270"/>
            <p:cNvSpPr/>
            <p:nvPr/>
          </p:nvSpPr>
          <p:spPr>
            <a:xfrm>
              <a:off x="1662" y="2828"/>
              <a:ext cx="1167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4" name="Line 271"/>
            <p:cNvSpPr/>
            <p:nvPr/>
          </p:nvSpPr>
          <p:spPr>
            <a:xfrm>
              <a:off x="2245" y="2387"/>
              <a:ext cx="0" cy="441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5" name="Line 273"/>
            <p:cNvSpPr/>
            <p:nvPr/>
          </p:nvSpPr>
          <p:spPr>
            <a:xfrm>
              <a:off x="2829" y="2828"/>
              <a:ext cx="0" cy="10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6" name="Line 274"/>
            <p:cNvSpPr/>
            <p:nvPr/>
          </p:nvSpPr>
          <p:spPr>
            <a:xfrm>
              <a:off x="1066" y="3083"/>
              <a:ext cx="596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7" name="Line 276"/>
            <p:cNvSpPr/>
            <p:nvPr/>
          </p:nvSpPr>
          <p:spPr>
            <a:xfrm>
              <a:off x="1662" y="2828"/>
              <a:ext cx="0" cy="10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8" name="Line 278"/>
            <p:cNvSpPr/>
            <p:nvPr/>
          </p:nvSpPr>
          <p:spPr>
            <a:xfrm>
              <a:off x="1662" y="3083"/>
              <a:ext cx="1167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9" name="Line 279"/>
            <p:cNvSpPr/>
            <p:nvPr/>
          </p:nvSpPr>
          <p:spPr>
            <a:xfrm>
              <a:off x="2245" y="2828"/>
              <a:ext cx="0" cy="10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0" name="Line 283"/>
            <p:cNvSpPr/>
            <p:nvPr/>
          </p:nvSpPr>
          <p:spPr>
            <a:xfrm>
              <a:off x="1066" y="3338"/>
              <a:ext cx="596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1" name="Line 287"/>
            <p:cNvSpPr/>
            <p:nvPr/>
          </p:nvSpPr>
          <p:spPr>
            <a:xfrm>
              <a:off x="1662" y="3338"/>
              <a:ext cx="1167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2" name="Line 294"/>
            <p:cNvSpPr/>
            <p:nvPr/>
          </p:nvSpPr>
          <p:spPr>
            <a:xfrm>
              <a:off x="1066" y="3593"/>
              <a:ext cx="596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3" name="Line 298"/>
            <p:cNvSpPr/>
            <p:nvPr/>
          </p:nvSpPr>
          <p:spPr>
            <a:xfrm>
              <a:off x="1662" y="3593"/>
              <a:ext cx="1167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4" name="Line 305"/>
            <p:cNvSpPr/>
            <p:nvPr/>
          </p:nvSpPr>
          <p:spPr>
            <a:xfrm>
              <a:off x="1662" y="3848"/>
              <a:ext cx="1167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5" name="Rectangle 14"/>
            <p:cNvSpPr/>
            <p:nvPr/>
          </p:nvSpPr>
          <p:spPr>
            <a:xfrm>
              <a:off x="0" y="2117"/>
              <a:ext cx="0" cy="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4866" name="Rectangle 338"/>
            <p:cNvSpPr/>
            <p:nvPr/>
          </p:nvSpPr>
          <p:spPr>
            <a:xfrm>
              <a:off x="3697" y="3587"/>
              <a:ext cx="680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A+B+C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4867" name="Rectangle 337"/>
            <p:cNvSpPr/>
            <p:nvPr/>
          </p:nvSpPr>
          <p:spPr>
            <a:xfrm>
              <a:off x="3016" y="3587"/>
              <a:ext cx="681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101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4868" name="Rectangle 336"/>
            <p:cNvSpPr/>
            <p:nvPr/>
          </p:nvSpPr>
          <p:spPr>
            <a:xfrm>
              <a:off x="3697" y="3338"/>
              <a:ext cx="680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A+B+C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4869" name="Rectangle 335"/>
            <p:cNvSpPr/>
            <p:nvPr/>
          </p:nvSpPr>
          <p:spPr>
            <a:xfrm>
              <a:off x="3016" y="3338"/>
              <a:ext cx="681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110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4870" name="Rectangle 334"/>
            <p:cNvSpPr/>
            <p:nvPr/>
          </p:nvSpPr>
          <p:spPr>
            <a:xfrm>
              <a:off x="3697" y="3089"/>
              <a:ext cx="680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A+B+C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4871" name="Rectangle 333"/>
            <p:cNvSpPr/>
            <p:nvPr/>
          </p:nvSpPr>
          <p:spPr>
            <a:xfrm>
              <a:off x="3016" y="3089"/>
              <a:ext cx="681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010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4872" name="Rectangle 332"/>
            <p:cNvSpPr/>
            <p:nvPr/>
          </p:nvSpPr>
          <p:spPr>
            <a:xfrm>
              <a:off x="3697" y="2840"/>
              <a:ext cx="680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A+B+C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4873" name="Rectangle 331"/>
            <p:cNvSpPr/>
            <p:nvPr/>
          </p:nvSpPr>
          <p:spPr>
            <a:xfrm>
              <a:off x="3016" y="2840"/>
              <a:ext cx="681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469900" indent="-469900" algn="ctr"/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000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4874" name="Line 339"/>
            <p:cNvSpPr/>
            <p:nvPr/>
          </p:nvSpPr>
          <p:spPr>
            <a:xfrm>
              <a:off x="3016" y="2840"/>
              <a:ext cx="1361" cy="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34875" name="Line 340"/>
            <p:cNvSpPr/>
            <p:nvPr/>
          </p:nvSpPr>
          <p:spPr>
            <a:xfrm>
              <a:off x="3016" y="3857"/>
              <a:ext cx="1361" cy="0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34876" name="Line 341"/>
            <p:cNvSpPr/>
            <p:nvPr/>
          </p:nvSpPr>
          <p:spPr>
            <a:xfrm>
              <a:off x="3016" y="2840"/>
              <a:ext cx="0" cy="1017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34877" name="Line 342"/>
            <p:cNvSpPr/>
            <p:nvPr/>
          </p:nvSpPr>
          <p:spPr>
            <a:xfrm>
              <a:off x="4377" y="2840"/>
              <a:ext cx="0" cy="1017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34878" name="Line 355"/>
            <p:cNvSpPr/>
            <p:nvPr/>
          </p:nvSpPr>
          <p:spPr>
            <a:xfrm flipH="1">
              <a:off x="2064" y="2976"/>
              <a:ext cx="1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79" name="Line 358"/>
            <p:cNvSpPr/>
            <p:nvPr/>
          </p:nvSpPr>
          <p:spPr>
            <a:xfrm flipH="1">
              <a:off x="2064" y="3203"/>
              <a:ext cx="1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80" name="Line 359"/>
            <p:cNvSpPr/>
            <p:nvPr/>
          </p:nvSpPr>
          <p:spPr>
            <a:xfrm flipH="1">
              <a:off x="2109" y="3475"/>
              <a:ext cx="1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81" name="Line 360"/>
            <p:cNvSpPr/>
            <p:nvPr/>
          </p:nvSpPr>
          <p:spPr>
            <a:xfrm flipH="1">
              <a:off x="2653" y="3702"/>
              <a:ext cx="5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82" name="Line 362"/>
            <p:cNvSpPr/>
            <p:nvPr/>
          </p:nvSpPr>
          <p:spPr>
            <a:xfrm>
              <a:off x="3969" y="3113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3" name="Line 364"/>
            <p:cNvSpPr/>
            <p:nvPr/>
          </p:nvSpPr>
          <p:spPr>
            <a:xfrm>
              <a:off x="3787" y="3385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4" name="Line 365"/>
            <p:cNvSpPr/>
            <p:nvPr/>
          </p:nvSpPr>
          <p:spPr>
            <a:xfrm>
              <a:off x="3969" y="3385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5" name="Line 366"/>
            <p:cNvSpPr/>
            <p:nvPr/>
          </p:nvSpPr>
          <p:spPr>
            <a:xfrm>
              <a:off x="4195" y="3612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6" name="Line 367"/>
            <p:cNvSpPr/>
            <p:nvPr/>
          </p:nvSpPr>
          <p:spPr>
            <a:xfrm>
              <a:off x="3787" y="3612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7" name="Line 371"/>
            <p:cNvSpPr/>
            <p:nvPr/>
          </p:nvSpPr>
          <p:spPr>
            <a:xfrm>
              <a:off x="1066" y="2387"/>
              <a:ext cx="589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strips dir="r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6" name="Text Box 5"/>
          <p:cNvSpPr txBox="1"/>
          <p:nvPr/>
        </p:nvSpPr>
        <p:spPr>
          <a:xfrm>
            <a:off x="539750" y="1989138"/>
            <a:ext cx="82089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 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3-35】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用卡诺图化简下面或与表达式： </a:t>
            </a:r>
            <a:endParaRPr lang="zh-CN" altLang="en-US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35847" name="Text Box 6"/>
          <p:cNvSpPr txBox="1"/>
          <p:nvPr/>
        </p:nvSpPr>
        <p:spPr>
          <a:xfrm>
            <a:off x="611188" y="3141663"/>
            <a:ext cx="7191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sp>
        <p:nvSpPr>
          <p:cNvPr id="35848" name="Text Box 9"/>
          <p:cNvSpPr txBox="1"/>
          <p:nvPr/>
        </p:nvSpPr>
        <p:spPr>
          <a:xfrm>
            <a:off x="3492500" y="6165850"/>
            <a:ext cx="38163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3-12 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3-35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的卡诺图</a:t>
            </a:r>
            <a:endParaRPr lang="zh-CN" altLang="en-US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35849" name="Text Box 10"/>
          <p:cNvSpPr txBox="1"/>
          <p:nvPr/>
        </p:nvSpPr>
        <p:spPr>
          <a:xfrm>
            <a:off x="539750" y="476250"/>
            <a:ext cx="82089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 2</a:t>
            </a:r>
            <a:r>
              <a:rPr lang="zh-CN" altLang="en-US" sz="2000" b="1" dirty="0">
                <a:solidFill>
                  <a:srgbClr val="660066"/>
                </a:solidFill>
                <a:latin typeface="Verdana" panose="020B0604030504040204" pitchFamily="34" charset="0"/>
              </a:rPr>
              <a:t>．或与表达式的卡诺图化简</a:t>
            </a:r>
            <a:r>
              <a:rPr lang="zh-CN" altLang="en-US" sz="2000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endParaRPr lang="zh-CN" altLang="en-US" sz="2000" dirty="0">
              <a:solidFill>
                <a:srgbClr val="660066"/>
              </a:solidFill>
              <a:latin typeface="Verdana" panose="020B0604030504040204" pitchFamily="34" charset="0"/>
            </a:endParaRPr>
          </a:p>
        </p:txBody>
      </p:sp>
      <p:sp>
        <p:nvSpPr>
          <p:cNvPr id="35850" name="AutoShape 12"/>
          <p:cNvSpPr>
            <a:spLocks noChangeAspect="1"/>
          </p:cNvSpPr>
          <p:nvPr/>
        </p:nvSpPr>
        <p:spPr>
          <a:xfrm>
            <a:off x="0" y="5543550"/>
            <a:ext cx="2486025" cy="1524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5851" name="Rectangle 16"/>
          <p:cNvSpPr/>
          <p:nvPr/>
        </p:nvSpPr>
        <p:spPr>
          <a:xfrm>
            <a:off x="0" y="55435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5852" name="Rectangle 76"/>
          <p:cNvSpPr/>
          <p:nvPr/>
        </p:nvSpPr>
        <p:spPr>
          <a:xfrm>
            <a:off x="0" y="3324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35842" name="Object 75"/>
          <p:cNvGraphicFramePr/>
          <p:nvPr/>
        </p:nvGraphicFramePr>
        <p:xfrm>
          <a:off x="1692275" y="2492375"/>
          <a:ext cx="64087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" imgW="3060700" imgH="241300" progId="Equation.DSMT4">
                  <p:embed/>
                </p:oleObj>
              </mc:Choice>
              <mc:Fallback>
                <p:oleObj name="" r:id="rId1" imgW="3060700" imgH="2413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2275" y="2492375"/>
                        <a:ext cx="6408738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3" name="Text Box 78"/>
          <p:cNvSpPr txBox="1"/>
          <p:nvPr/>
        </p:nvSpPr>
        <p:spPr>
          <a:xfrm>
            <a:off x="4375150" y="5986463"/>
            <a:ext cx="2439988" cy="4794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0" hangingPunct="0"/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35854" name="Rectangle 92"/>
          <p:cNvSpPr/>
          <p:nvPr/>
        </p:nvSpPr>
        <p:spPr>
          <a:xfrm>
            <a:off x="0" y="1776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5855" name="Group 189"/>
          <p:cNvGrpSpPr/>
          <p:nvPr/>
        </p:nvGrpSpPr>
        <p:grpSpPr>
          <a:xfrm>
            <a:off x="4500563" y="3284538"/>
            <a:ext cx="3432175" cy="2682875"/>
            <a:chOff x="2554" y="2115"/>
            <a:chExt cx="2162" cy="1690"/>
          </a:xfrm>
        </p:grpSpPr>
        <p:graphicFrame>
          <p:nvGraphicFramePr>
            <p:cNvPr id="35844" name="Object 88"/>
            <p:cNvGraphicFramePr/>
            <p:nvPr/>
          </p:nvGraphicFramePr>
          <p:xfrm>
            <a:off x="3923" y="3075"/>
            <a:ext cx="4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3" imgW="393065" imgH="215900" progId="Equation.DSMT4">
                    <p:embed/>
                  </p:oleObj>
                </mc:Choice>
                <mc:Fallback>
                  <p:oleObj name="" r:id="rId3" imgW="393065" imgH="215900" progId="Equation.DSMT4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23" y="3075"/>
                          <a:ext cx="409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5" name="Object 86"/>
            <p:cNvGraphicFramePr/>
            <p:nvPr/>
          </p:nvGraphicFramePr>
          <p:xfrm>
            <a:off x="3923" y="3430"/>
            <a:ext cx="793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5" imgW="634365" imgH="215900" progId="Equation.DSMT4">
                    <p:embed/>
                  </p:oleObj>
                </mc:Choice>
                <mc:Fallback>
                  <p:oleObj name="" r:id="rId5" imgW="634365" imgH="215900" progId="Equation.DSMT4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23" y="3430"/>
                          <a:ext cx="793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6" name="Text Box 90"/>
            <p:cNvSpPr txBox="1"/>
            <p:nvPr/>
          </p:nvSpPr>
          <p:spPr>
            <a:xfrm>
              <a:off x="2554" y="2160"/>
              <a:ext cx="1238" cy="16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5857" name="Text Box 89"/>
            <p:cNvSpPr txBox="1"/>
            <p:nvPr/>
          </p:nvSpPr>
          <p:spPr>
            <a:xfrm>
              <a:off x="3791" y="2624"/>
              <a:ext cx="536" cy="35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A+C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5858" name="Text Box 87"/>
            <p:cNvSpPr txBox="1"/>
            <p:nvPr/>
          </p:nvSpPr>
          <p:spPr>
            <a:xfrm>
              <a:off x="3739" y="3057"/>
              <a:ext cx="538" cy="3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5859" name="Text Box 85"/>
            <p:cNvSpPr txBox="1"/>
            <p:nvPr/>
          </p:nvSpPr>
          <p:spPr>
            <a:xfrm>
              <a:off x="3745" y="3354"/>
              <a:ext cx="813" cy="4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5860" name="AutoShape 84"/>
            <p:cNvSpPr/>
            <p:nvPr/>
          </p:nvSpPr>
          <p:spPr>
            <a:xfrm>
              <a:off x="3061" y="2684"/>
              <a:ext cx="191" cy="46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5861" name="AutoShape 83"/>
            <p:cNvSpPr/>
            <p:nvPr/>
          </p:nvSpPr>
          <p:spPr>
            <a:xfrm>
              <a:off x="3077" y="2984"/>
              <a:ext cx="190" cy="461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5862" name="AutoShape 82"/>
            <p:cNvSpPr/>
            <p:nvPr/>
          </p:nvSpPr>
          <p:spPr>
            <a:xfrm>
              <a:off x="3412" y="3496"/>
              <a:ext cx="191" cy="199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5863" name="Line 81"/>
            <p:cNvSpPr/>
            <p:nvPr/>
          </p:nvSpPr>
          <p:spPr>
            <a:xfrm flipH="1">
              <a:off x="3268" y="2879"/>
              <a:ext cx="567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5864" name="Line 80"/>
            <p:cNvSpPr/>
            <p:nvPr/>
          </p:nvSpPr>
          <p:spPr>
            <a:xfrm flipH="1">
              <a:off x="3253" y="3252"/>
              <a:ext cx="568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5865" name="Line 79"/>
            <p:cNvSpPr/>
            <p:nvPr/>
          </p:nvSpPr>
          <p:spPr>
            <a:xfrm flipH="1">
              <a:off x="3620" y="3576"/>
              <a:ext cx="216" cy="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5866" name="Rectangle 124"/>
            <p:cNvSpPr/>
            <p:nvPr/>
          </p:nvSpPr>
          <p:spPr>
            <a:xfrm>
              <a:off x="3366" y="3470"/>
              <a:ext cx="376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67" name="Rectangle 123"/>
            <p:cNvSpPr/>
            <p:nvPr/>
          </p:nvSpPr>
          <p:spPr>
            <a:xfrm>
              <a:off x="2991" y="3470"/>
              <a:ext cx="375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68" name="Rectangle 122"/>
            <p:cNvSpPr/>
            <p:nvPr/>
          </p:nvSpPr>
          <p:spPr>
            <a:xfrm>
              <a:off x="2608" y="3470"/>
              <a:ext cx="383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69" name="Rectangle 121"/>
            <p:cNvSpPr/>
            <p:nvPr/>
          </p:nvSpPr>
          <p:spPr>
            <a:xfrm>
              <a:off x="3366" y="3182"/>
              <a:ext cx="3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70" name="Rectangle 120"/>
            <p:cNvSpPr/>
            <p:nvPr/>
          </p:nvSpPr>
          <p:spPr>
            <a:xfrm>
              <a:off x="2991" y="3182"/>
              <a:ext cx="3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71" name="Rectangle 119"/>
            <p:cNvSpPr/>
            <p:nvPr/>
          </p:nvSpPr>
          <p:spPr>
            <a:xfrm>
              <a:off x="2608" y="3182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72" name="Rectangle 118"/>
            <p:cNvSpPr/>
            <p:nvPr/>
          </p:nvSpPr>
          <p:spPr>
            <a:xfrm>
              <a:off x="3366" y="2894"/>
              <a:ext cx="3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73" name="Rectangle 117"/>
            <p:cNvSpPr/>
            <p:nvPr/>
          </p:nvSpPr>
          <p:spPr>
            <a:xfrm>
              <a:off x="2991" y="2894"/>
              <a:ext cx="3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74" name="Rectangle 116"/>
            <p:cNvSpPr/>
            <p:nvPr/>
          </p:nvSpPr>
          <p:spPr>
            <a:xfrm>
              <a:off x="2608" y="2894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75" name="Rectangle 115"/>
            <p:cNvSpPr/>
            <p:nvPr/>
          </p:nvSpPr>
          <p:spPr>
            <a:xfrm>
              <a:off x="3366" y="2607"/>
              <a:ext cx="37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76" name="Rectangle 114"/>
            <p:cNvSpPr/>
            <p:nvPr/>
          </p:nvSpPr>
          <p:spPr>
            <a:xfrm>
              <a:off x="2991" y="2607"/>
              <a:ext cx="375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77" name="Rectangle 113"/>
            <p:cNvSpPr/>
            <p:nvPr/>
          </p:nvSpPr>
          <p:spPr>
            <a:xfrm>
              <a:off x="2608" y="2607"/>
              <a:ext cx="383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78" name="Rectangle 112"/>
            <p:cNvSpPr/>
            <p:nvPr/>
          </p:nvSpPr>
          <p:spPr>
            <a:xfrm>
              <a:off x="3366" y="2115"/>
              <a:ext cx="376" cy="4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b" anchorCtr="0"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79" name="Rectangle 111"/>
            <p:cNvSpPr/>
            <p:nvPr/>
          </p:nvSpPr>
          <p:spPr>
            <a:xfrm>
              <a:off x="2991" y="2115"/>
              <a:ext cx="375" cy="4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b" anchorCtr="0"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80" name="Rectangle 110"/>
            <p:cNvSpPr/>
            <p:nvPr/>
          </p:nvSpPr>
          <p:spPr>
            <a:xfrm>
              <a:off x="2608" y="2115"/>
              <a:ext cx="383" cy="49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 C</a:t>
              </a:r>
              <a:endParaRPr lang="en-US" altLang="zh-CN" sz="2000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eaLnBrk="0" hangingPunct="0"/>
              <a:r>
                <a:rPr lang="en-US" altLang="zh-CN" sz="20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81" name="Line 125"/>
            <p:cNvSpPr/>
            <p:nvPr/>
          </p:nvSpPr>
          <p:spPr>
            <a:xfrm>
              <a:off x="2608" y="2115"/>
              <a:ext cx="113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2" name="Line 126"/>
            <p:cNvSpPr/>
            <p:nvPr/>
          </p:nvSpPr>
          <p:spPr>
            <a:xfrm>
              <a:off x="2608" y="3748"/>
              <a:ext cx="38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3" name="Line 127"/>
            <p:cNvSpPr/>
            <p:nvPr/>
          </p:nvSpPr>
          <p:spPr>
            <a:xfrm>
              <a:off x="2608" y="2115"/>
              <a:ext cx="0" cy="163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4" name="Line 128"/>
            <p:cNvSpPr/>
            <p:nvPr/>
          </p:nvSpPr>
          <p:spPr>
            <a:xfrm>
              <a:off x="3742" y="2115"/>
              <a:ext cx="0" cy="492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5" name="Line 131"/>
            <p:cNvSpPr/>
            <p:nvPr/>
          </p:nvSpPr>
          <p:spPr>
            <a:xfrm>
              <a:off x="2608" y="2607"/>
              <a:ext cx="38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6" name="Line 133"/>
            <p:cNvSpPr/>
            <p:nvPr/>
          </p:nvSpPr>
          <p:spPr>
            <a:xfrm>
              <a:off x="2991" y="2115"/>
              <a:ext cx="0" cy="492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7" name="Line 135"/>
            <p:cNvSpPr/>
            <p:nvPr/>
          </p:nvSpPr>
          <p:spPr>
            <a:xfrm>
              <a:off x="2991" y="2607"/>
              <a:ext cx="751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8" name="Line 136"/>
            <p:cNvSpPr/>
            <p:nvPr/>
          </p:nvSpPr>
          <p:spPr>
            <a:xfrm>
              <a:off x="3366" y="2115"/>
              <a:ext cx="0" cy="492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9" name="Line 138"/>
            <p:cNvSpPr/>
            <p:nvPr/>
          </p:nvSpPr>
          <p:spPr>
            <a:xfrm>
              <a:off x="3742" y="2607"/>
              <a:ext cx="0" cy="1141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0" name="Line 139"/>
            <p:cNvSpPr/>
            <p:nvPr/>
          </p:nvSpPr>
          <p:spPr>
            <a:xfrm>
              <a:off x="2608" y="2894"/>
              <a:ext cx="38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1" name="Line 141"/>
            <p:cNvSpPr/>
            <p:nvPr/>
          </p:nvSpPr>
          <p:spPr>
            <a:xfrm>
              <a:off x="2991" y="2607"/>
              <a:ext cx="0" cy="1141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2" name="Line 143"/>
            <p:cNvSpPr/>
            <p:nvPr/>
          </p:nvSpPr>
          <p:spPr>
            <a:xfrm>
              <a:off x="2991" y="2894"/>
              <a:ext cx="751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3" name="Line 144"/>
            <p:cNvSpPr/>
            <p:nvPr/>
          </p:nvSpPr>
          <p:spPr>
            <a:xfrm>
              <a:off x="3366" y="2607"/>
              <a:ext cx="0" cy="1141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4" name="Line 148"/>
            <p:cNvSpPr/>
            <p:nvPr/>
          </p:nvSpPr>
          <p:spPr>
            <a:xfrm>
              <a:off x="2608" y="3182"/>
              <a:ext cx="38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5" name="Line 152"/>
            <p:cNvSpPr/>
            <p:nvPr/>
          </p:nvSpPr>
          <p:spPr>
            <a:xfrm>
              <a:off x="2991" y="3182"/>
              <a:ext cx="751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6" name="Line 159"/>
            <p:cNvSpPr/>
            <p:nvPr/>
          </p:nvSpPr>
          <p:spPr>
            <a:xfrm>
              <a:off x="2608" y="3470"/>
              <a:ext cx="383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7" name="Line 163"/>
            <p:cNvSpPr/>
            <p:nvPr/>
          </p:nvSpPr>
          <p:spPr>
            <a:xfrm>
              <a:off x="2991" y="3470"/>
              <a:ext cx="751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8" name="Line 170"/>
            <p:cNvSpPr/>
            <p:nvPr/>
          </p:nvSpPr>
          <p:spPr>
            <a:xfrm>
              <a:off x="2991" y="3748"/>
              <a:ext cx="751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9" name="Line 188"/>
            <p:cNvSpPr/>
            <p:nvPr/>
          </p:nvSpPr>
          <p:spPr>
            <a:xfrm>
              <a:off x="2608" y="2115"/>
              <a:ext cx="363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35843" name="Object 190"/>
          <p:cNvGraphicFramePr/>
          <p:nvPr/>
        </p:nvGraphicFramePr>
        <p:xfrm>
          <a:off x="250825" y="4941888"/>
          <a:ext cx="374491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7" imgW="1905000" imgH="241300" progId="Equation.DSMT4">
                  <p:embed/>
                </p:oleObj>
              </mc:Choice>
              <mc:Fallback>
                <p:oleObj name="" r:id="rId7" imgW="1905000" imgH="241300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825" y="4941888"/>
                        <a:ext cx="3744913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71" name="Text Box 5"/>
          <p:cNvSpPr txBox="1"/>
          <p:nvPr/>
        </p:nvSpPr>
        <p:spPr>
          <a:xfrm>
            <a:off x="539750" y="3789363"/>
            <a:ext cx="7191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sp>
        <p:nvSpPr>
          <p:cNvPr id="36872" name="Text Box 8"/>
          <p:cNvSpPr txBox="1"/>
          <p:nvPr/>
        </p:nvSpPr>
        <p:spPr>
          <a:xfrm>
            <a:off x="2627313" y="6165850"/>
            <a:ext cx="38163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3-13 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3-36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的卡诺图</a:t>
            </a:r>
            <a:r>
              <a:rPr lang="zh-CN" altLang="en-US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endParaRPr lang="zh-CN" altLang="en-US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36873" name="Text Box 9"/>
          <p:cNvSpPr txBox="1"/>
          <p:nvPr/>
        </p:nvSpPr>
        <p:spPr>
          <a:xfrm>
            <a:off x="468313" y="476250"/>
            <a:ext cx="8208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r>
              <a:rPr lang="en-US" altLang="zh-CN" sz="2400" b="1" dirty="0">
                <a:latin typeface="Verdana" panose="020B0604030504040204" pitchFamily="34" charset="0"/>
              </a:rPr>
              <a:t>3.6.4 </a:t>
            </a:r>
            <a:r>
              <a:rPr lang="zh-CN" altLang="en-US" sz="2400" b="1" dirty="0">
                <a:latin typeface="Verdana" panose="020B0604030504040204" pitchFamily="34" charset="0"/>
              </a:rPr>
              <a:t>含无关项逻辑函数的化简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36874" name="AutoShape 10"/>
          <p:cNvSpPr>
            <a:spLocks noChangeAspect="1"/>
          </p:cNvSpPr>
          <p:nvPr/>
        </p:nvSpPr>
        <p:spPr>
          <a:xfrm>
            <a:off x="0" y="5543550"/>
            <a:ext cx="2486025" cy="1524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6875" name="Rectangle 14"/>
          <p:cNvSpPr/>
          <p:nvPr/>
        </p:nvSpPr>
        <p:spPr>
          <a:xfrm>
            <a:off x="0" y="55435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6876" name="Rectangle 20"/>
          <p:cNvSpPr/>
          <p:nvPr/>
        </p:nvSpPr>
        <p:spPr>
          <a:xfrm>
            <a:off x="0" y="1776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6877" name="Rectangle 76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6878" name="Group 77"/>
          <p:cNvGrpSpPr/>
          <p:nvPr/>
        </p:nvGrpSpPr>
        <p:grpSpPr>
          <a:xfrm>
            <a:off x="827088" y="1557338"/>
            <a:ext cx="6769100" cy="895350"/>
            <a:chOff x="521" y="1344"/>
            <a:chExt cx="4264" cy="564"/>
          </a:xfrm>
        </p:grpSpPr>
        <p:sp>
          <p:nvSpPr>
            <p:cNvPr id="36935" name="Text Box 4"/>
            <p:cNvSpPr txBox="1"/>
            <p:nvPr/>
          </p:nvSpPr>
          <p:spPr>
            <a:xfrm>
              <a:off x="521" y="1525"/>
              <a:ext cx="331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000" b="1" dirty="0">
                  <a:latin typeface="Verdana" panose="020B0604030504040204" pitchFamily="34" charset="0"/>
                </a:rPr>
                <a:t>最小项表达式：                               或者</a:t>
              </a:r>
              <a:r>
                <a:rPr lang="zh-CN" altLang="en-US" sz="2000" dirty="0">
                  <a:latin typeface="Verdana" panose="020B0604030504040204" pitchFamily="34" charset="0"/>
                </a:rPr>
                <a:t>  </a:t>
              </a:r>
              <a:endParaRPr lang="zh-CN" altLang="en-US" sz="2000" dirty="0">
                <a:latin typeface="Verdana" panose="020B0604030504040204" pitchFamily="34" charset="0"/>
              </a:endParaRPr>
            </a:p>
          </p:txBody>
        </p:sp>
        <p:graphicFrame>
          <p:nvGraphicFramePr>
            <p:cNvPr id="36869" name="Object 73"/>
            <p:cNvGraphicFramePr/>
            <p:nvPr/>
          </p:nvGraphicFramePr>
          <p:xfrm>
            <a:off x="1701" y="1525"/>
            <a:ext cx="154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1" imgW="1129665" imgH="203200" progId="Equation.DSMT4">
                    <p:embed/>
                  </p:oleObj>
                </mc:Choice>
                <mc:Fallback>
                  <p:oleObj name="" r:id="rId1" imgW="1129665" imgH="203200" progId="Equation.DSMT4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01" y="1525"/>
                          <a:ext cx="1543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0" name="Object 75"/>
            <p:cNvGraphicFramePr/>
            <p:nvPr/>
          </p:nvGraphicFramePr>
          <p:xfrm>
            <a:off x="3787" y="1344"/>
            <a:ext cx="998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3" imgW="787400" imgH="457200" progId="Equation.DSMT4">
                    <p:embed/>
                  </p:oleObj>
                </mc:Choice>
                <mc:Fallback>
                  <p:oleObj name="" r:id="rId3" imgW="787400" imgH="457200" progId="Equation.DSMT4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87" y="1344"/>
                          <a:ext cx="998" cy="5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79" name="Text Box 78"/>
          <p:cNvSpPr txBox="1"/>
          <p:nvPr/>
        </p:nvSpPr>
        <p:spPr>
          <a:xfrm>
            <a:off x="684213" y="2708275"/>
            <a:ext cx="76327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3-36】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化简下列函数：</a:t>
            </a:r>
            <a:endParaRPr lang="zh-CN" altLang="en-US" sz="2000" b="1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F(A, B, C, D) = Σ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000" b="1" dirty="0">
                <a:latin typeface="Times New Roman" panose="02020603050405020304" pitchFamily="18" charset="0"/>
              </a:rPr>
              <a:t>(0, 3, 4, 7, 11) +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</a:rPr>
              <a:t> (8, 9, 12, 13, 14, 15)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 </a:t>
            </a:r>
            <a:endParaRPr lang="en-US" altLang="zh-CN" sz="2000" b="1" dirty="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0" name="Rectangle 89"/>
          <p:cNvSpPr/>
          <p:nvPr/>
        </p:nvSpPr>
        <p:spPr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6881" name="Group 255"/>
          <p:cNvGrpSpPr/>
          <p:nvPr/>
        </p:nvGrpSpPr>
        <p:grpSpPr>
          <a:xfrm>
            <a:off x="3203575" y="3716338"/>
            <a:ext cx="2955925" cy="2471737"/>
            <a:chOff x="2018" y="2341"/>
            <a:chExt cx="1862" cy="1557"/>
          </a:xfrm>
        </p:grpSpPr>
        <p:graphicFrame>
          <p:nvGraphicFramePr>
            <p:cNvPr id="36867" name="Object 84"/>
            <p:cNvGraphicFramePr/>
            <p:nvPr/>
          </p:nvGraphicFramePr>
          <p:xfrm>
            <a:off x="2517" y="3701"/>
            <a:ext cx="249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" name="" r:id="rId5" imgW="279400" imgH="215900" progId="Equation.DSMT4">
                    <p:embed/>
                  </p:oleObj>
                </mc:Choice>
                <mc:Fallback>
                  <p:oleObj name="" r:id="rId5" imgW="279400" imgH="215900" progId="Equation.DSMT4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17" y="3701"/>
                          <a:ext cx="249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68" name="Object 82"/>
            <p:cNvGraphicFramePr/>
            <p:nvPr/>
          </p:nvGraphicFramePr>
          <p:xfrm>
            <a:off x="3152" y="3702"/>
            <a:ext cx="249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7" name="" r:id="rId7" imgW="253365" imgH="177800" progId="Equation.DSMT4">
                    <p:embed/>
                  </p:oleObj>
                </mc:Choice>
                <mc:Fallback>
                  <p:oleObj name="" r:id="rId7" imgW="253365" imgH="177800" progId="Equation.DSMT4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152" y="3702"/>
                          <a:ext cx="249" cy="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3" name="Text Box 87"/>
            <p:cNvSpPr txBox="1"/>
            <p:nvPr/>
          </p:nvSpPr>
          <p:spPr>
            <a:xfrm>
              <a:off x="2018" y="2341"/>
              <a:ext cx="1862" cy="13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6884" name="AutoShape 86"/>
            <p:cNvSpPr/>
            <p:nvPr/>
          </p:nvSpPr>
          <p:spPr>
            <a:xfrm>
              <a:off x="3247" y="2780"/>
              <a:ext cx="210" cy="86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6885" name="AutoShape 85"/>
            <p:cNvSpPr/>
            <p:nvPr/>
          </p:nvSpPr>
          <p:spPr>
            <a:xfrm>
              <a:off x="2552" y="2780"/>
              <a:ext cx="210" cy="86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6886" name="Text Box 83"/>
            <p:cNvSpPr txBox="1"/>
            <p:nvPr/>
          </p:nvSpPr>
          <p:spPr>
            <a:xfrm>
              <a:off x="2426" y="3616"/>
              <a:ext cx="479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6887" name="Rectangle 141"/>
            <p:cNvSpPr/>
            <p:nvPr/>
          </p:nvSpPr>
          <p:spPr>
            <a:xfrm>
              <a:off x="3515" y="3445"/>
              <a:ext cx="272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88" name="Rectangle 140"/>
            <p:cNvSpPr/>
            <p:nvPr/>
          </p:nvSpPr>
          <p:spPr>
            <a:xfrm>
              <a:off x="3144" y="3445"/>
              <a:ext cx="371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89" name="Rectangle 139"/>
            <p:cNvSpPr/>
            <p:nvPr/>
          </p:nvSpPr>
          <p:spPr>
            <a:xfrm>
              <a:off x="2823" y="3445"/>
              <a:ext cx="321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90" name="Rectangle 138"/>
            <p:cNvSpPr/>
            <p:nvPr/>
          </p:nvSpPr>
          <p:spPr>
            <a:xfrm>
              <a:off x="2501" y="3445"/>
              <a:ext cx="322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91" name="Rectangle 137"/>
            <p:cNvSpPr/>
            <p:nvPr/>
          </p:nvSpPr>
          <p:spPr>
            <a:xfrm>
              <a:off x="2109" y="3445"/>
              <a:ext cx="392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92" name="Rectangle 136"/>
            <p:cNvSpPr/>
            <p:nvPr/>
          </p:nvSpPr>
          <p:spPr>
            <a:xfrm>
              <a:off x="3515" y="3212"/>
              <a:ext cx="27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93" name="Rectangle 135"/>
            <p:cNvSpPr/>
            <p:nvPr/>
          </p:nvSpPr>
          <p:spPr>
            <a:xfrm>
              <a:off x="3144" y="3212"/>
              <a:ext cx="371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94" name="Rectangle 134"/>
            <p:cNvSpPr/>
            <p:nvPr/>
          </p:nvSpPr>
          <p:spPr>
            <a:xfrm>
              <a:off x="2823" y="3212"/>
              <a:ext cx="321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95" name="Rectangle 133"/>
            <p:cNvSpPr/>
            <p:nvPr/>
          </p:nvSpPr>
          <p:spPr>
            <a:xfrm>
              <a:off x="2501" y="3212"/>
              <a:ext cx="32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96" name="Rectangle 132"/>
            <p:cNvSpPr/>
            <p:nvPr/>
          </p:nvSpPr>
          <p:spPr>
            <a:xfrm>
              <a:off x="2109" y="3212"/>
              <a:ext cx="39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97" name="Rectangle 131"/>
            <p:cNvSpPr/>
            <p:nvPr/>
          </p:nvSpPr>
          <p:spPr>
            <a:xfrm>
              <a:off x="3515" y="2978"/>
              <a:ext cx="272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98" name="Rectangle 130"/>
            <p:cNvSpPr/>
            <p:nvPr/>
          </p:nvSpPr>
          <p:spPr>
            <a:xfrm>
              <a:off x="3144" y="2978"/>
              <a:ext cx="371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899" name="Rectangle 129"/>
            <p:cNvSpPr/>
            <p:nvPr/>
          </p:nvSpPr>
          <p:spPr>
            <a:xfrm>
              <a:off x="2823" y="2978"/>
              <a:ext cx="321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00" name="Rectangle 128"/>
            <p:cNvSpPr/>
            <p:nvPr/>
          </p:nvSpPr>
          <p:spPr>
            <a:xfrm>
              <a:off x="2501" y="2978"/>
              <a:ext cx="322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01" name="Rectangle 127"/>
            <p:cNvSpPr/>
            <p:nvPr/>
          </p:nvSpPr>
          <p:spPr>
            <a:xfrm>
              <a:off x="2109" y="2978"/>
              <a:ext cx="392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02" name="Rectangle 126"/>
            <p:cNvSpPr/>
            <p:nvPr/>
          </p:nvSpPr>
          <p:spPr>
            <a:xfrm>
              <a:off x="3515" y="2744"/>
              <a:ext cx="272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03" name="Rectangle 125"/>
            <p:cNvSpPr/>
            <p:nvPr/>
          </p:nvSpPr>
          <p:spPr>
            <a:xfrm>
              <a:off x="3144" y="2744"/>
              <a:ext cx="371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04" name="Rectangle 124"/>
            <p:cNvSpPr/>
            <p:nvPr/>
          </p:nvSpPr>
          <p:spPr>
            <a:xfrm>
              <a:off x="2823" y="2744"/>
              <a:ext cx="321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05" name="Rectangle 123"/>
            <p:cNvSpPr/>
            <p:nvPr/>
          </p:nvSpPr>
          <p:spPr>
            <a:xfrm>
              <a:off x="2501" y="2744"/>
              <a:ext cx="322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06" name="Rectangle 122"/>
            <p:cNvSpPr/>
            <p:nvPr/>
          </p:nvSpPr>
          <p:spPr>
            <a:xfrm>
              <a:off x="2109" y="2744"/>
              <a:ext cx="392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07" name="Rectangle 121"/>
            <p:cNvSpPr/>
            <p:nvPr/>
          </p:nvSpPr>
          <p:spPr>
            <a:xfrm>
              <a:off x="3515" y="2341"/>
              <a:ext cx="272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08" name="Rectangle 120"/>
            <p:cNvSpPr/>
            <p:nvPr/>
          </p:nvSpPr>
          <p:spPr>
            <a:xfrm>
              <a:off x="3144" y="2341"/>
              <a:ext cx="371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09" name="Rectangle 119"/>
            <p:cNvSpPr/>
            <p:nvPr/>
          </p:nvSpPr>
          <p:spPr>
            <a:xfrm>
              <a:off x="2823" y="2341"/>
              <a:ext cx="321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10" name="Rectangle 118"/>
            <p:cNvSpPr/>
            <p:nvPr/>
          </p:nvSpPr>
          <p:spPr>
            <a:xfrm>
              <a:off x="2501" y="2341"/>
              <a:ext cx="322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11" name="Rectangle 117"/>
            <p:cNvSpPr/>
            <p:nvPr/>
          </p:nvSpPr>
          <p:spPr>
            <a:xfrm>
              <a:off x="2109" y="2341"/>
              <a:ext cx="392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CD</a:t>
              </a:r>
              <a:endParaRPr lang="en-US" altLang="zh-CN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eaLnBrk="0" hangingPunct="0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6912" name="Line 142"/>
            <p:cNvSpPr/>
            <p:nvPr/>
          </p:nvSpPr>
          <p:spPr>
            <a:xfrm>
              <a:off x="2109" y="2341"/>
              <a:ext cx="1678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3" name="Line 143"/>
            <p:cNvSpPr/>
            <p:nvPr/>
          </p:nvSpPr>
          <p:spPr>
            <a:xfrm>
              <a:off x="2109" y="3679"/>
              <a:ext cx="392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4" name="Line 144"/>
            <p:cNvSpPr/>
            <p:nvPr/>
          </p:nvSpPr>
          <p:spPr>
            <a:xfrm>
              <a:off x="2109" y="2341"/>
              <a:ext cx="0" cy="1338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5" name="Line 145"/>
            <p:cNvSpPr/>
            <p:nvPr/>
          </p:nvSpPr>
          <p:spPr>
            <a:xfrm>
              <a:off x="3787" y="2341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6" name="Line 148"/>
            <p:cNvSpPr/>
            <p:nvPr/>
          </p:nvSpPr>
          <p:spPr>
            <a:xfrm>
              <a:off x="2109" y="2744"/>
              <a:ext cx="392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7" name="Line 150"/>
            <p:cNvSpPr/>
            <p:nvPr/>
          </p:nvSpPr>
          <p:spPr>
            <a:xfrm>
              <a:off x="2501" y="2341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8" name="Line 152"/>
            <p:cNvSpPr/>
            <p:nvPr/>
          </p:nvSpPr>
          <p:spPr>
            <a:xfrm>
              <a:off x="2501" y="2744"/>
              <a:ext cx="1286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19" name="Line 153"/>
            <p:cNvSpPr/>
            <p:nvPr/>
          </p:nvSpPr>
          <p:spPr>
            <a:xfrm>
              <a:off x="2823" y="2341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0" name="Line 156"/>
            <p:cNvSpPr/>
            <p:nvPr/>
          </p:nvSpPr>
          <p:spPr>
            <a:xfrm>
              <a:off x="3144" y="2341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1" name="Line 159"/>
            <p:cNvSpPr/>
            <p:nvPr/>
          </p:nvSpPr>
          <p:spPr>
            <a:xfrm>
              <a:off x="3515" y="2341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2" name="Line 161"/>
            <p:cNvSpPr/>
            <p:nvPr/>
          </p:nvSpPr>
          <p:spPr>
            <a:xfrm>
              <a:off x="3787" y="2744"/>
              <a:ext cx="0" cy="935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3" name="Line 162"/>
            <p:cNvSpPr/>
            <p:nvPr/>
          </p:nvSpPr>
          <p:spPr>
            <a:xfrm>
              <a:off x="2109" y="2978"/>
              <a:ext cx="392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4" name="Line 164"/>
            <p:cNvSpPr/>
            <p:nvPr/>
          </p:nvSpPr>
          <p:spPr>
            <a:xfrm>
              <a:off x="2501" y="2744"/>
              <a:ext cx="0" cy="935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5" name="Line 166"/>
            <p:cNvSpPr/>
            <p:nvPr/>
          </p:nvSpPr>
          <p:spPr>
            <a:xfrm>
              <a:off x="2501" y="2978"/>
              <a:ext cx="1286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6" name="Line 167"/>
            <p:cNvSpPr/>
            <p:nvPr/>
          </p:nvSpPr>
          <p:spPr>
            <a:xfrm>
              <a:off x="2823" y="2744"/>
              <a:ext cx="0" cy="935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7" name="Line 171"/>
            <p:cNvSpPr/>
            <p:nvPr/>
          </p:nvSpPr>
          <p:spPr>
            <a:xfrm>
              <a:off x="3144" y="2744"/>
              <a:ext cx="0" cy="935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8" name="Line 175"/>
            <p:cNvSpPr/>
            <p:nvPr/>
          </p:nvSpPr>
          <p:spPr>
            <a:xfrm>
              <a:off x="3515" y="2744"/>
              <a:ext cx="0" cy="935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9" name="Line 179"/>
            <p:cNvSpPr/>
            <p:nvPr/>
          </p:nvSpPr>
          <p:spPr>
            <a:xfrm>
              <a:off x="2109" y="3212"/>
              <a:ext cx="392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0" name="Line 183"/>
            <p:cNvSpPr/>
            <p:nvPr/>
          </p:nvSpPr>
          <p:spPr>
            <a:xfrm>
              <a:off x="2501" y="3212"/>
              <a:ext cx="1286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1" name="Line 200"/>
            <p:cNvSpPr/>
            <p:nvPr/>
          </p:nvSpPr>
          <p:spPr>
            <a:xfrm>
              <a:off x="2109" y="3445"/>
              <a:ext cx="392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2" name="Line 204"/>
            <p:cNvSpPr/>
            <p:nvPr/>
          </p:nvSpPr>
          <p:spPr>
            <a:xfrm>
              <a:off x="2501" y="3445"/>
              <a:ext cx="1286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3" name="Line 221"/>
            <p:cNvSpPr/>
            <p:nvPr/>
          </p:nvSpPr>
          <p:spPr>
            <a:xfrm>
              <a:off x="2501" y="3679"/>
              <a:ext cx="1286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34" name="Line 252"/>
            <p:cNvSpPr/>
            <p:nvPr/>
          </p:nvSpPr>
          <p:spPr>
            <a:xfrm>
              <a:off x="2109" y="2341"/>
              <a:ext cx="408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6882" name="Rectangle 257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36866" name="Object 256"/>
          <p:cNvGraphicFramePr/>
          <p:nvPr/>
        </p:nvGraphicFramePr>
        <p:xfrm>
          <a:off x="1116013" y="4797425"/>
          <a:ext cx="16922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9" imgW="876300" imgH="203200" progId="Equation.DSMT4">
                  <p:embed/>
                </p:oleObj>
              </mc:Choice>
              <mc:Fallback>
                <p:oleObj name="" r:id="rId9" imgW="876300" imgH="203200" progId="Equation.DSMT4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6013" y="4797425"/>
                        <a:ext cx="1692275" cy="401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4" name="Rectangle 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895" name="Text Box 4"/>
          <p:cNvSpPr txBox="1"/>
          <p:nvPr/>
        </p:nvSpPr>
        <p:spPr>
          <a:xfrm>
            <a:off x="684213" y="3068638"/>
            <a:ext cx="7191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sp>
        <p:nvSpPr>
          <p:cNvPr id="37896" name="Rectangle 5"/>
          <p:cNvSpPr/>
          <p:nvPr/>
        </p:nvSpPr>
        <p:spPr>
          <a:xfrm>
            <a:off x="0" y="1812925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897" name="Rectangle 6"/>
          <p:cNvSpPr/>
          <p:nvPr/>
        </p:nvSpPr>
        <p:spPr>
          <a:xfrm>
            <a:off x="0" y="3179763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898" name="Text Box 7"/>
          <p:cNvSpPr txBox="1"/>
          <p:nvPr/>
        </p:nvSpPr>
        <p:spPr>
          <a:xfrm>
            <a:off x="3419475" y="6165850"/>
            <a:ext cx="38163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3-14 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3-37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的卡诺图</a:t>
            </a:r>
            <a:endParaRPr lang="zh-CN" altLang="en-US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37899" name="Text Box 8"/>
          <p:cNvSpPr txBox="1"/>
          <p:nvPr/>
        </p:nvSpPr>
        <p:spPr>
          <a:xfrm>
            <a:off x="395288" y="549275"/>
            <a:ext cx="8208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r>
              <a:rPr lang="en-US" altLang="zh-CN" sz="2400" b="1" dirty="0">
                <a:latin typeface="Verdana" panose="020B0604030504040204" pitchFamily="34" charset="0"/>
              </a:rPr>
              <a:t>3.6.4 </a:t>
            </a:r>
            <a:r>
              <a:rPr lang="zh-CN" altLang="en-US" sz="2400" b="1" dirty="0">
                <a:latin typeface="Verdana" panose="020B0604030504040204" pitchFamily="34" charset="0"/>
              </a:rPr>
              <a:t>含无关项逻辑函数的化简 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  <p:sp>
        <p:nvSpPr>
          <p:cNvPr id="37900" name="Rectangle 10"/>
          <p:cNvSpPr/>
          <p:nvPr/>
        </p:nvSpPr>
        <p:spPr>
          <a:xfrm>
            <a:off x="0" y="-211137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01" name="Rectangle 11"/>
          <p:cNvSpPr/>
          <p:nvPr/>
        </p:nvSpPr>
        <p:spPr>
          <a:xfrm>
            <a:off x="0" y="-211137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02" name="Rectangle 12"/>
          <p:cNvSpPr/>
          <p:nvPr/>
        </p:nvSpPr>
        <p:spPr>
          <a:xfrm>
            <a:off x="0" y="213360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03" name="Rectangle 14"/>
          <p:cNvSpPr/>
          <p:nvPr/>
        </p:nvSpPr>
        <p:spPr>
          <a:xfrm>
            <a:off x="0" y="1776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04" name="Rectangle 15"/>
          <p:cNvSpPr/>
          <p:nvPr/>
        </p:nvSpPr>
        <p:spPr>
          <a:xfrm>
            <a:off x="0" y="1776413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05" name="Rectangle 16"/>
          <p:cNvSpPr/>
          <p:nvPr/>
        </p:nvSpPr>
        <p:spPr>
          <a:xfrm>
            <a:off x="0" y="314325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06" name="Rectangle 17"/>
          <p:cNvSpPr/>
          <p:nvPr/>
        </p:nvSpPr>
        <p:spPr>
          <a:xfrm>
            <a:off x="0" y="333375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07" name="Rectangle 18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08" name="Rectangle 24"/>
          <p:cNvSpPr/>
          <p:nvPr/>
        </p:nvSpPr>
        <p:spPr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09" name="Rectangle 25"/>
          <p:cNvSpPr/>
          <p:nvPr/>
        </p:nvSpPr>
        <p:spPr>
          <a:xfrm>
            <a:off x="0" y="175260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10" name="Rectangle 26"/>
          <p:cNvSpPr/>
          <p:nvPr/>
        </p:nvSpPr>
        <p:spPr>
          <a:xfrm>
            <a:off x="0" y="3119438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911" name="Rectangle 27"/>
          <p:cNvSpPr/>
          <p:nvPr/>
        </p:nvSpPr>
        <p:spPr>
          <a:xfrm>
            <a:off x="0" y="3338513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7912" name="Group 91"/>
          <p:cNvGrpSpPr/>
          <p:nvPr/>
        </p:nvGrpSpPr>
        <p:grpSpPr>
          <a:xfrm>
            <a:off x="539750" y="1916113"/>
            <a:ext cx="7632700" cy="854075"/>
            <a:chOff x="385" y="1480"/>
            <a:chExt cx="4808" cy="538"/>
          </a:xfrm>
        </p:grpSpPr>
        <p:sp>
          <p:nvSpPr>
            <p:cNvPr id="37976" name="Text Box 23"/>
            <p:cNvSpPr txBox="1"/>
            <p:nvPr/>
          </p:nvSpPr>
          <p:spPr>
            <a:xfrm>
              <a:off x="385" y="1480"/>
              <a:ext cx="4808" cy="5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【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例</a:t>
              </a:r>
              <a:r>
                <a:rPr lang="en-US" altLang="zh-CN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3-37】</a:t>
              </a: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化简函数：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r>
                <a:rPr lang="zh-CN" altLang="en-US" sz="2000" b="1" dirty="0">
                  <a:solidFill>
                    <a:srgbClr val="006600"/>
                  </a:solidFill>
                  <a:latin typeface="Times New Roman" panose="02020603050405020304" pitchFamily="18" charset="0"/>
                </a:rPr>
                <a:t>：</a:t>
              </a:r>
              <a:endPara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6600"/>
                  </a:solidFill>
                  <a:latin typeface="Verdana" panose="020B0604030504040204" pitchFamily="34" charset="0"/>
                </a:rPr>
                <a:t>已知约束条件为：</a:t>
              </a:r>
              <a:r>
                <a:rPr lang="zh-CN" altLang="en-US" sz="2000" dirty="0">
                  <a:solidFill>
                    <a:srgbClr val="006600"/>
                  </a:solidFill>
                  <a:latin typeface="Verdana" panose="020B0604030504040204" pitchFamily="34" charset="0"/>
                </a:rPr>
                <a:t> </a:t>
              </a:r>
              <a:endParaRPr lang="zh-CN" altLang="en-US" sz="2000" dirty="0">
                <a:solidFill>
                  <a:srgbClr val="006600"/>
                </a:solidFill>
                <a:latin typeface="Verdana" panose="020B0604030504040204" pitchFamily="34" charset="0"/>
              </a:endParaRPr>
            </a:p>
          </p:txBody>
        </p:sp>
        <p:graphicFrame>
          <p:nvGraphicFramePr>
            <p:cNvPr id="37892" name="Object 85"/>
            <p:cNvGraphicFramePr/>
            <p:nvPr/>
          </p:nvGraphicFramePr>
          <p:xfrm>
            <a:off x="2426" y="1480"/>
            <a:ext cx="2608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1" imgW="2070100" imgH="203200" progId="Equation.DSMT4">
                    <p:embed/>
                  </p:oleObj>
                </mc:Choice>
                <mc:Fallback>
                  <p:oleObj name="" r:id="rId1" imgW="2070100" imgH="203200" progId="Equation.DSMT4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26" y="1480"/>
                          <a:ext cx="2608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3" name="Object 87"/>
            <p:cNvGraphicFramePr/>
            <p:nvPr/>
          </p:nvGraphicFramePr>
          <p:xfrm>
            <a:off x="1837" y="1752"/>
            <a:ext cx="106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3" imgW="837565" imgH="177800" progId="Equation.DSMT4">
                    <p:embed/>
                  </p:oleObj>
                </mc:Choice>
                <mc:Fallback>
                  <p:oleObj name="" r:id="rId3" imgW="837565" imgH="177800" progId="Equation.DSMT4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37" y="1752"/>
                          <a:ext cx="1066" cy="2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890" name="Object 89"/>
          <p:cNvGraphicFramePr/>
          <p:nvPr/>
        </p:nvGraphicFramePr>
        <p:xfrm>
          <a:off x="1476375" y="2852738"/>
          <a:ext cx="748823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5" imgW="4737100" imgH="431800" progId="Equation.DSMT4">
                  <p:embed/>
                </p:oleObj>
              </mc:Choice>
              <mc:Fallback>
                <p:oleObj name="" r:id="rId5" imgW="4737100" imgH="431800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6375" y="2852738"/>
                        <a:ext cx="7488238" cy="79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3" name="Rectangle 110"/>
          <p:cNvSpPr/>
          <p:nvPr/>
        </p:nvSpPr>
        <p:spPr>
          <a:xfrm>
            <a:off x="0" y="2008188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7914" name="Group 270"/>
          <p:cNvGrpSpPr/>
          <p:nvPr/>
        </p:nvGrpSpPr>
        <p:grpSpPr>
          <a:xfrm>
            <a:off x="4067175" y="3860800"/>
            <a:ext cx="3046413" cy="2252663"/>
            <a:chOff x="2331" y="2432"/>
            <a:chExt cx="1919" cy="1419"/>
          </a:xfrm>
        </p:grpSpPr>
        <p:sp>
          <p:nvSpPr>
            <p:cNvPr id="37916" name="Rectangle 161"/>
            <p:cNvSpPr/>
            <p:nvPr/>
          </p:nvSpPr>
          <p:spPr>
            <a:xfrm>
              <a:off x="3856" y="3560"/>
              <a:ext cx="33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17" name="Rectangle 160"/>
            <p:cNvSpPr/>
            <p:nvPr/>
          </p:nvSpPr>
          <p:spPr>
            <a:xfrm>
              <a:off x="3517" y="3560"/>
              <a:ext cx="33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18" name="Rectangle 159"/>
            <p:cNvSpPr/>
            <p:nvPr/>
          </p:nvSpPr>
          <p:spPr>
            <a:xfrm>
              <a:off x="3179" y="3560"/>
              <a:ext cx="33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19" name="Rectangle 158"/>
            <p:cNvSpPr/>
            <p:nvPr/>
          </p:nvSpPr>
          <p:spPr>
            <a:xfrm>
              <a:off x="2840" y="3560"/>
              <a:ext cx="33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20" name="Rectangle 157"/>
            <p:cNvSpPr/>
            <p:nvPr/>
          </p:nvSpPr>
          <p:spPr>
            <a:xfrm>
              <a:off x="2426" y="3560"/>
              <a:ext cx="414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21" name="Rectangle 156"/>
            <p:cNvSpPr/>
            <p:nvPr/>
          </p:nvSpPr>
          <p:spPr>
            <a:xfrm>
              <a:off x="3856" y="3318"/>
              <a:ext cx="33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22" name="Rectangle 155"/>
            <p:cNvSpPr/>
            <p:nvPr/>
          </p:nvSpPr>
          <p:spPr>
            <a:xfrm>
              <a:off x="3517" y="3318"/>
              <a:ext cx="33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23" name="Rectangle 154"/>
            <p:cNvSpPr/>
            <p:nvPr/>
          </p:nvSpPr>
          <p:spPr>
            <a:xfrm>
              <a:off x="3179" y="3318"/>
              <a:ext cx="33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24" name="Rectangle 153"/>
            <p:cNvSpPr/>
            <p:nvPr/>
          </p:nvSpPr>
          <p:spPr>
            <a:xfrm>
              <a:off x="2840" y="3318"/>
              <a:ext cx="33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25" name="Rectangle 152"/>
            <p:cNvSpPr/>
            <p:nvPr/>
          </p:nvSpPr>
          <p:spPr>
            <a:xfrm>
              <a:off x="2426" y="3318"/>
              <a:ext cx="414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26" name="Rectangle 151"/>
            <p:cNvSpPr/>
            <p:nvPr/>
          </p:nvSpPr>
          <p:spPr>
            <a:xfrm>
              <a:off x="3856" y="3076"/>
              <a:ext cx="33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27" name="Rectangle 150"/>
            <p:cNvSpPr/>
            <p:nvPr/>
          </p:nvSpPr>
          <p:spPr>
            <a:xfrm>
              <a:off x="3517" y="3076"/>
              <a:ext cx="33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28" name="Rectangle 149"/>
            <p:cNvSpPr/>
            <p:nvPr/>
          </p:nvSpPr>
          <p:spPr>
            <a:xfrm>
              <a:off x="3179" y="3076"/>
              <a:ext cx="33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29" name="Rectangle 148"/>
            <p:cNvSpPr/>
            <p:nvPr/>
          </p:nvSpPr>
          <p:spPr>
            <a:xfrm>
              <a:off x="2840" y="3076"/>
              <a:ext cx="339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30" name="Rectangle 147"/>
            <p:cNvSpPr/>
            <p:nvPr/>
          </p:nvSpPr>
          <p:spPr>
            <a:xfrm>
              <a:off x="2426" y="3076"/>
              <a:ext cx="414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31" name="Rectangle 146"/>
            <p:cNvSpPr/>
            <p:nvPr/>
          </p:nvSpPr>
          <p:spPr>
            <a:xfrm>
              <a:off x="3856" y="2835"/>
              <a:ext cx="339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32" name="Rectangle 145"/>
            <p:cNvSpPr/>
            <p:nvPr/>
          </p:nvSpPr>
          <p:spPr>
            <a:xfrm>
              <a:off x="3517" y="2835"/>
              <a:ext cx="339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33" name="Rectangle 144"/>
            <p:cNvSpPr/>
            <p:nvPr/>
          </p:nvSpPr>
          <p:spPr>
            <a:xfrm>
              <a:off x="3179" y="2835"/>
              <a:ext cx="338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34" name="Rectangle 143"/>
            <p:cNvSpPr/>
            <p:nvPr/>
          </p:nvSpPr>
          <p:spPr>
            <a:xfrm>
              <a:off x="2840" y="2835"/>
              <a:ext cx="339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35" name="Rectangle 142"/>
            <p:cNvSpPr/>
            <p:nvPr/>
          </p:nvSpPr>
          <p:spPr>
            <a:xfrm>
              <a:off x="2426" y="2835"/>
              <a:ext cx="414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36" name="Rectangle 141"/>
            <p:cNvSpPr/>
            <p:nvPr/>
          </p:nvSpPr>
          <p:spPr>
            <a:xfrm>
              <a:off x="3856" y="2432"/>
              <a:ext cx="339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37" name="Rectangle 140"/>
            <p:cNvSpPr/>
            <p:nvPr/>
          </p:nvSpPr>
          <p:spPr>
            <a:xfrm>
              <a:off x="3517" y="2432"/>
              <a:ext cx="339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38" name="Rectangle 139"/>
            <p:cNvSpPr/>
            <p:nvPr/>
          </p:nvSpPr>
          <p:spPr>
            <a:xfrm>
              <a:off x="3179" y="2432"/>
              <a:ext cx="338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39" name="Rectangle 138"/>
            <p:cNvSpPr/>
            <p:nvPr/>
          </p:nvSpPr>
          <p:spPr>
            <a:xfrm>
              <a:off x="2840" y="2432"/>
              <a:ext cx="339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40" name="Rectangle 137"/>
            <p:cNvSpPr/>
            <p:nvPr/>
          </p:nvSpPr>
          <p:spPr>
            <a:xfrm>
              <a:off x="2426" y="2432"/>
              <a:ext cx="414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 CD</a:t>
              </a:r>
              <a:endParaRPr lang="en-US" altLang="zh-CN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eaLnBrk="0" hangingPunct="0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7941" name="Line 162"/>
            <p:cNvSpPr/>
            <p:nvPr/>
          </p:nvSpPr>
          <p:spPr>
            <a:xfrm>
              <a:off x="2426" y="2432"/>
              <a:ext cx="1769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2" name="Line 163"/>
            <p:cNvSpPr/>
            <p:nvPr/>
          </p:nvSpPr>
          <p:spPr>
            <a:xfrm>
              <a:off x="2426" y="3802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3" name="Line 164"/>
            <p:cNvSpPr/>
            <p:nvPr/>
          </p:nvSpPr>
          <p:spPr>
            <a:xfrm>
              <a:off x="2426" y="2432"/>
              <a:ext cx="0" cy="137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4" name="Line 165"/>
            <p:cNvSpPr/>
            <p:nvPr/>
          </p:nvSpPr>
          <p:spPr>
            <a:xfrm>
              <a:off x="4195" y="2432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5" name="Line 168"/>
            <p:cNvSpPr/>
            <p:nvPr/>
          </p:nvSpPr>
          <p:spPr>
            <a:xfrm>
              <a:off x="2426" y="2835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6" name="Line 170"/>
            <p:cNvSpPr/>
            <p:nvPr/>
          </p:nvSpPr>
          <p:spPr>
            <a:xfrm>
              <a:off x="2840" y="2432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7" name="Line 172"/>
            <p:cNvSpPr/>
            <p:nvPr/>
          </p:nvSpPr>
          <p:spPr>
            <a:xfrm>
              <a:off x="2840" y="2835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8" name="Line 173"/>
            <p:cNvSpPr/>
            <p:nvPr/>
          </p:nvSpPr>
          <p:spPr>
            <a:xfrm>
              <a:off x="3179" y="2432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9" name="Line 176"/>
            <p:cNvSpPr/>
            <p:nvPr/>
          </p:nvSpPr>
          <p:spPr>
            <a:xfrm>
              <a:off x="3517" y="2432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0" name="Line 179"/>
            <p:cNvSpPr/>
            <p:nvPr/>
          </p:nvSpPr>
          <p:spPr>
            <a:xfrm>
              <a:off x="3856" y="2432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1" name="Line 181"/>
            <p:cNvSpPr/>
            <p:nvPr/>
          </p:nvSpPr>
          <p:spPr>
            <a:xfrm>
              <a:off x="4195" y="2835"/>
              <a:ext cx="0" cy="9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2" name="Line 182"/>
            <p:cNvSpPr/>
            <p:nvPr/>
          </p:nvSpPr>
          <p:spPr>
            <a:xfrm>
              <a:off x="2426" y="3076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3" name="Line 184"/>
            <p:cNvSpPr/>
            <p:nvPr/>
          </p:nvSpPr>
          <p:spPr>
            <a:xfrm>
              <a:off x="2840" y="2835"/>
              <a:ext cx="0" cy="9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4" name="Line 186"/>
            <p:cNvSpPr/>
            <p:nvPr/>
          </p:nvSpPr>
          <p:spPr>
            <a:xfrm>
              <a:off x="2840" y="3076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5" name="Line 187"/>
            <p:cNvSpPr/>
            <p:nvPr/>
          </p:nvSpPr>
          <p:spPr>
            <a:xfrm>
              <a:off x="3179" y="2835"/>
              <a:ext cx="0" cy="9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6" name="Line 191"/>
            <p:cNvSpPr/>
            <p:nvPr/>
          </p:nvSpPr>
          <p:spPr>
            <a:xfrm>
              <a:off x="3517" y="2835"/>
              <a:ext cx="0" cy="9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7" name="Line 195"/>
            <p:cNvSpPr/>
            <p:nvPr/>
          </p:nvSpPr>
          <p:spPr>
            <a:xfrm>
              <a:off x="3856" y="2835"/>
              <a:ext cx="0" cy="967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8" name="Line 199"/>
            <p:cNvSpPr/>
            <p:nvPr/>
          </p:nvSpPr>
          <p:spPr>
            <a:xfrm>
              <a:off x="2426" y="3318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59" name="Line 203"/>
            <p:cNvSpPr/>
            <p:nvPr/>
          </p:nvSpPr>
          <p:spPr>
            <a:xfrm>
              <a:off x="2840" y="3318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0" name="Line 220"/>
            <p:cNvSpPr/>
            <p:nvPr/>
          </p:nvSpPr>
          <p:spPr>
            <a:xfrm>
              <a:off x="2426" y="3560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1" name="Line 224"/>
            <p:cNvSpPr/>
            <p:nvPr/>
          </p:nvSpPr>
          <p:spPr>
            <a:xfrm>
              <a:off x="2840" y="3560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2" name="Line 241"/>
            <p:cNvSpPr/>
            <p:nvPr/>
          </p:nvSpPr>
          <p:spPr>
            <a:xfrm>
              <a:off x="2840" y="3802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3" name="AutoShape 107"/>
            <p:cNvSpPr/>
            <p:nvPr/>
          </p:nvSpPr>
          <p:spPr>
            <a:xfrm flipV="1">
              <a:off x="3944" y="3615"/>
              <a:ext cx="217" cy="208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7964" name="Rectangle 106"/>
            <p:cNvSpPr/>
            <p:nvPr/>
          </p:nvSpPr>
          <p:spPr>
            <a:xfrm flipV="1">
              <a:off x="3931" y="3789"/>
              <a:ext cx="242" cy="5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7965" name="AutoShape 104"/>
            <p:cNvSpPr/>
            <p:nvPr/>
          </p:nvSpPr>
          <p:spPr>
            <a:xfrm>
              <a:off x="2855" y="2828"/>
              <a:ext cx="217" cy="249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7966" name="Rectangle 103"/>
            <p:cNvSpPr/>
            <p:nvPr/>
          </p:nvSpPr>
          <p:spPr>
            <a:xfrm>
              <a:off x="2842" y="2805"/>
              <a:ext cx="242" cy="6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7967" name="Text Box 101"/>
            <p:cNvSpPr txBox="1"/>
            <p:nvPr/>
          </p:nvSpPr>
          <p:spPr>
            <a:xfrm>
              <a:off x="2331" y="2432"/>
              <a:ext cx="1919" cy="141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7968" name="AutoShape 100"/>
            <p:cNvSpPr/>
            <p:nvPr/>
          </p:nvSpPr>
          <p:spPr>
            <a:xfrm>
              <a:off x="3586" y="2896"/>
              <a:ext cx="537" cy="849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7969" name="AutoShape 98"/>
            <p:cNvSpPr/>
            <p:nvPr/>
          </p:nvSpPr>
          <p:spPr>
            <a:xfrm>
              <a:off x="3930" y="2825"/>
              <a:ext cx="217" cy="251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7970" name="Rectangle 97"/>
            <p:cNvSpPr/>
            <p:nvPr/>
          </p:nvSpPr>
          <p:spPr>
            <a:xfrm>
              <a:off x="3917" y="2802"/>
              <a:ext cx="242" cy="64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7971" name="AutoShape 95"/>
            <p:cNvSpPr/>
            <p:nvPr/>
          </p:nvSpPr>
          <p:spPr>
            <a:xfrm flipV="1">
              <a:off x="2878" y="3609"/>
              <a:ext cx="217" cy="222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7972" name="Rectangle 94"/>
            <p:cNvSpPr/>
            <p:nvPr/>
          </p:nvSpPr>
          <p:spPr>
            <a:xfrm flipV="1">
              <a:off x="2865" y="3795"/>
              <a:ext cx="242" cy="5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7973" name="Line 267"/>
            <p:cNvSpPr/>
            <p:nvPr/>
          </p:nvSpPr>
          <p:spPr>
            <a:xfrm>
              <a:off x="2426" y="2432"/>
              <a:ext cx="409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4" name="Line 268"/>
            <p:cNvSpPr/>
            <p:nvPr/>
          </p:nvSpPr>
          <p:spPr>
            <a:xfrm>
              <a:off x="2835" y="2840"/>
              <a:ext cx="13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5" name="Line 269"/>
            <p:cNvSpPr/>
            <p:nvPr/>
          </p:nvSpPr>
          <p:spPr>
            <a:xfrm>
              <a:off x="2835" y="3793"/>
              <a:ext cx="13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7915" name="Rectangle 272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37891" name="Object 271"/>
          <p:cNvGraphicFramePr/>
          <p:nvPr/>
        </p:nvGraphicFramePr>
        <p:xfrm>
          <a:off x="1476375" y="4941888"/>
          <a:ext cx="16922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7" imgW="774065" imgH="203200" progId="Equation.DSMT4">
                  <p:embed/>
                </p:oleObj>
              </mc:Choice>
              <mc:Fallback>
                <p:oleObj name="" r:id="rId7" imgW="774065" imgH="203200" progId="Equation.DSMT4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6375" y="4941888"/>
                        <a:ext cx="1692275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Rectangle 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16" name="Text Box 4"/>
          <p:cNvSpPr txBox="1"/>
          <p:nvPr/>
        </p:nvSpPr>
        <p:spPr>
          <a:xfrm>
            <a:off x="684213" y="3068638"/>
            <a:ext cx="7191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Verdana" panose="020B0604030504040204" pitchFamily="34" charset="0"/>
              </a:rPr>
              <a:t>解： </a:t>
            </a:r>
            <a:endParaRPr lang="zh-CN" altLang="en-US" sz="20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sp>
        <p:nvSpPr>
          <p:cNvPr id="38917" name="Rectangle 5"/>
          <p:cNvSpPr/>
          <p:nvPr/>
        </p:nvSpPr>
        <p:spPr>
          <a:xfrm>
            <a:off x="0" y="1812925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18" name="Rectangle 6"/>
          <p:cNvSpPr/>
          <p:nvPr/>
        </p:nvSpPr>
        <p:spPr>
          <a:xfrm>
            <a:off x="0" y="3179763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19" name="Text Box 7"/>
          <p:cNvSpPr txBox="1"/>
          <p:nvPr/>
        </p:nvSpPr>
        <p:spPr>
          <a:xfrm>
            <a:off x="4211638" y="5589588"/>
            <a:ext cx="38163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图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3-15  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b="1" dirty="0">
                <a:solidFill>
                  <a:srgbClr val="006600"/>
                </a:solidFill>
                <a:latin typeface="Verdana" panose="020B0604030504040204" pitchFamily="34" charset="0"/>
              </a:rPr>
              <a:t>3-38</a:t>
            </a:r>
            <a:r>
              <a:rPr lang="zh-CN" altLang="en-US" b="1" dirty="0">
                <a:solidFill>
                  <a:srgbClr val="006600"/>
                </a:solidFill>
                <a:latin typeface="Verdana" panose="020B0604030504040204" pitchFamily="34" charset="0"/>
              </a:rPr>
              <a:t>的卡诺图</a:t>
            </a:r>
            <a:endParaRPr lang="zh-CN" altLang="en-US" b="1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38920" name="Text Box 8"/>
          <p:cNvSpPr txBox="1"/>
          <p:nvPr/>
        </p:nvSpPr>
        <p:spPr>
          <a:xfrm>
            <a:off x="468313" y="549275"/>
            <a:ext cx="8208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660066"/>
                </a:solidFill>
                <a:latin typeface="Verdana" panose="020B0604030504040204" pitchFamily="34" charset="0"/>
              </a:rPr>
              <a:t> </a:t>
            </a:r>
            <a:r>
              <a:rPr lang="en-US" altLang="zh-CN" sz="2400" b="1" dirty="0">
                <a:latin typeface="Verdana" panose="020B0604030504040204" pitchFamily="34" charset="0"/>
              </a:rPr>
              <a:t>3.6.5 </a:t>
            </a:r>
            <a:r>
              <a:rPr lang="zh-CN" altLang="en-US" sz="2400" b="1" dirty="0">
                <a:latin typeface="Verdana" panose="020B0604030504040204" pitchFamily="34" charset="0"/>
              </a:rPr>
              <a:t>多输出逻辑函数的化简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38921" name="Rectangle 9"/>
          <p:cNvSpPr/>
          <p:nvPr/>
        </p:nvSpPr>
        <p:spPr>
          <a:xfrm>
            <a:off x="0" y="-211137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22" name="Rectangle 10"/>
          <p:cNvSpPr/>
          <p:nvPr/>
        </p:nvSpPr>
        <p:spPr>
          <a:xfrm>
            <a:off x="0" y="-211137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23" name="Rectangle 11"/>
          <p:cNvSpPr/>
          <p:nvPr/>
        </p:nvSpPr>
        <p:spPr>
          <a:xfrm>
            <a:off x="0" y="213360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24" name="Rectangle 12"/>
          <p:cNvSpPr/>
          <p:nvPr/>
        </p:nvSpPr>
        <p:spPr>
          <a:xfrm>
            <a:off x="0" y="17764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25" name="Rectangle 13"/>
          <p:cNvSpPr/>
          <p:nvPr/>
        </p:nvSpPr>
        <p:spPr>
          <a:xfrm>
            <a:off x="0" y="1776413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26" name="Rectangle 14"/>
          <p:cNvSpPr/>
          <p:nvPr/>
        </p:nvSpPr>
        <p:spPr>
          <a:xfrm>
            <a:off x="0" y="314325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27" name="Rectangle 15"/>
          <p:cNvSpPr/>
          <p:nvPr/>
        </p:nvSpPr>
        <p:spPr>
          <a:xfrm>
            <a:off x="0" y="333375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28" name="Rectangle 17"/>
          <p:cNvSpPr/>
          <p:nvPr/>
        </p:nvSpPr>
        <p:spPr>
          <a:xfrm>
            <a:off x="0" y="17526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29" name="Rectangle 18"/>
          <p:cNvSpPr/>
          <p:nvPr/>
        </p:nvSpPr>
        <p:spPr>
          <a:xfrm>
            <a:off x="0" y="175260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30" name="Rectangle 19"/>
          <p:cNvSpPr/>
          <p:nvPr/>
        </p:nvSpPr>
        <p:spPr>
          <a:xfrm>
            <a:off x="0" y="3119438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31" name="Rectangle 20"/>
          <p:cNvSpPr/>
          <p:nvPr/>
        </p:nvSpPr>
        <p:spPr>
          <a:xfrm>
            <a:off x="0" y="3338513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32" name="Text Box 22"/>
          <p:cNvSpPr txBox="1"/>
          <p:nvPr/>
        </p:nvSpPr>
        <p:spPr>
          <a:xfrm>
            <a:off x="539750" y="1773238"/>
            <a:ext cx="76327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【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例</a:t>
            </a:r>
            <a:r>
              <a:rPr lang="en-US" altLang="zh-CN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3-38】 </a:t>
            </a:r>
            <a:r>
              <a:rPr lang="zh-CN" altLang="en-US" sz="2000" b="1" dirty="0">
                <a:solidFill>
                  <a:srgbClr val="006600"/>
                </a:solidFill>
                <a:latin typeface="Verdana" panose="020B0604030504040204" pitchFamily="34" charset="0"/>
              </a:rPr>
              <a:t>化简下面多输出函数：</a:t>
            </a:r>
            <a:endParaRPr lang="zh-CN" altLang="en-US" sz="2000" b="1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                  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F1=Σm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11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13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14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15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2000" b="1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                  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F2=Σm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13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14</a:t>
            </a:r>
            <a:r>
              <a:rPr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rgbClr val="006600"/>
                </a:solidFill>
                <a:latin typeface="Times New Roman" panose="02020603050405020304" pitchFamily="18" charset="0"/>
              </a:rPr>
              <a:t> </a:t>
            </a:r>
            <a:endParaRPr lang="zh-CN" altLang="en-US" sz="2000" dirty="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3" name="Rectangle 27"/>
          <p:cNvSpPr/>
          <p:nvPr/>
        </p:nvSpPr>
        <p:spPr>
          <a:xfrm>
            <a:off x="0" y="2008188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34" name="Rectangle 103"/>
          <p:cNvSpPr/>
          <p:nvPr/>
        </p:nvSpPr>
        <p:spPr>
          <a:xfrm>
            <a:off x="0" y="1192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35" name="Rectangle 104"/>
          <p:cNvSpPr/>
          <p:nvPr/>
        </p:nvSpPr>
        <p:spPr>
          <a:xfrm>
            <a:off x="0" y="1192213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36" name="Rectangle 257"/>
          <p:cNvSpPr/>
          <p:nvPr/>
        </p:nvSpPr>
        <p:spPr>
          <a:xfrm>
            <a:off x="0" y="255905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38937" name="Group 423"/>
          <p:cNvGrpSpPr/>
          <p:nvPr/>
        </p:nvGrpSpPr>
        <p:grpSpPr>
          <a:xfrm>
            <a:off x="2484438" y="2924175"/>
            <a:ext cx="6408737" cy="2527300"/>
            <a:chOff x="930" y="2296"/>
            <a:chExt cx="4037" cy="1592"/>
          </a:xfrm>
        </p:grpSpPr>
        <p:sp>
          <p:nvSpPr>
            <p:cNvPr id="38939" name="Rectangle 155"/>
            <p:cNvSpPr/>
            <p:nvPr/>
          </p:nvSpPr>
          <p:spPr>
            <a:xfrm>
              <a:off x="2360" y="338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40" name="Rectangle 154"/>
            <p:cNvSpPr/>
            <p:nvPr/>
          </p:nvSpPr>
          <p:spPr>
            <a:xfrm>
              <a:off x="2022" y="338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41" name="Rectangle 153"/>
            <p:cNvSpPr/>
            <p:nvPr/>
          </p:nvSpPr>
          <p:spPr>
            <a:xfrm>
              <a:off x="1682" y="3389"/>
              <a:ext cx="34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42" name="Rectangle 152"/>
            <p:cNvSpPr/>
            <p:nvPr/>
          </p:nvSpPr>
          <p:spPr>
            <a:xfrm>
              <a:off x="1344" y="338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43" name="Rectangle 151"/>
            <p:cNvSpPr/>
            <p:nvPr/>
          </p:nvSpPr>
          <p:spPr>
            <a:xfrm>
              <a:off x="930" y="3389"/>
              <a:ext cx="41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44" name="Rectangle 150"/>
            <p:cNvSpPr/>
            <p:nvPr/>
          </p:nvSpPr>
          <p:spPr>
            <a:xfrm>
              <a:off x="2360" y="315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45" name="Rectangle 149"/>
            <p:cNvSpPr/>
            <p:nvPr/>
          </p:nvSpPr>
          <p:spPr>
            <a:xfrm>
              <a:off x="2022" y="315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46" name="Rectangle 148"/>
            <p:cNvSpPr/>
            <p:nvPr/>
          </p:nvSpPr>
          <p:spPr>
            <a:xfrm>
              <a:off x="1682" y="3159"/>
              <a:ext cx="34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47" name="Rectangle 147"/>
            <p:cNvSpPr/>
            <p:nvPr/>
          </p:nvSpPr>
          <p:spPr>
            <a:xfrm>
              <a:off x="1344" y="315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48" name="Rectangle 146"/>
            <p:cNvSpPr/>
            <p:nvPr/>
          </p:nvSpPr>
          <p:spPr>
            <a:xfrm>
              <a:off x="930" y="3159"/>
              <a:ext cx="41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49" name="Rectangle 145"/>
            <p:cNvSpPr/>
            <p:nvPr/>
          </p:nvSpPr>
          <p:spPr>
            <a:xfrm>
              <a:off x="2360" y="292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50" name="Rectangle 144"/>
            <p:cNvSpPr/>
            <p:nvPr/>
          </p:nvSpPr>
          <p:spPr>
            <a:xfrm>
              <a:off x="2022" y="292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51" name="Rectangle 143"/>
            <p:cNvSpPr/>
            <p:nvPr/>
          </p:nvSpPr>
          <p:spPr>
            <a:xfrm>
              <a:off x="1682" y="2929"/>
              <a:ext cx="34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52" name="Rectangle 142"/>
            <p:cNvSpPr/>
            <p:nvPr/>
          </p:nvSpPr>
          <p:spPr>
            <a:xfrm>
              <a:off x="1344" y="292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53" name="Rectangle 141"/>
            <p:cNvSpPr/>
            <p:nvPr/>
          </p:nvSpPr>
          <p:spPr>
            <a:xfrm>
              <a:off x="930" y="2929"/>
              <a:ext cx="41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54" name="Rectangle 140"/>
            <p:cNvSpPr/>
            <p:nvPr/>
          </p:nvSpPr>
          <p:spPr>
            <a:xfrm>
              <a:off x="2360" y="269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55" name="Rectangle 139"/>
            <p:cNvSpPr/>
            <p:nvPr/>
          </p:nvSpPr>
          <p:spPr>
            <a:xfrm>
              <a:off x="2022" y="269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56" name="Rectangle 138"/>
            <p:cNvSpPr/>
            <p:nvPr/>
          </p:nvSpPr>
          <p:spPr>
            <a:xfrm>
              <a:off x="1682" y="2699"/>
              <a:ext cx="34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57" name="Rectangle 137"/>
            <p:cNvSpPr/>
            <p:nvPr/>
          </p:nvSpPr>
          <p:spPr>
            <a:xfrm>
              <a:off x="1344" y="269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58" name="Rectangle 136"/>
            <p:cNvSpPr/>
            <p:nvPr/>
          </p:nvSpPr>
          <p:spPr>
            <a:xfrm>
              <a:off x="930" y="2699"/>
              <a:ext cx="41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59" name="Rectangle 135"/>
            <p:cNvSpPr/>
            <p:nvPr/>
          </p:nvSpPr>
          <p:spPr>
            <a:xfrm>
              <a:off x="2360" y="2296"/>
              <a:ext cx="339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60" name="Rectangle 134"/>
            <p:cNvSpPr/>
            <p:nvPr/>
          </p:nvSpPr>
          <p:spPr>
            <a:xfrm>
              <a:off x="2022" y="2296"/>
              <a:ext cx="338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61" name="Rectangle 133"/>
            <p:cNvSpPr/>
            <p:nvPr/>
          </p:nvSpPr>
          <p:spPr>
            <a:xfrm>
              <a:off x="1682" y="2296"/>
              <a:ext cx="340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62" name="Rectangle 132"/>
            <p:cNvSpPr/>
            <p:nvPr/>
          </p:nvSpPr>
          <p:spPr>
            <a:xfrm>
              <a:off x="1344" y="2296"/>
              <a:ext cx="338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63" name="Rectangle 131"/>
            <p:cNvSpPr/>
            <p:nvPr/>
          </p:nvSpPr>
          <p:spPr>
            <a:xfrm>
              <a:off x="930" y="2296"/>
              <a:ext cx="414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 CD</a:t>
              </a:r>
              <a:endParaRPr lang="en-US" altLang="zh-CN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eaLnBrk="0" hangingPunct="0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64" name="Line 156"/>
            <p:cNvSpPr/>
            <p:nvPr/>
          </p:nvSpPr>
          <p:spPr>
            <a:xfrm>
              <a:off x="930" y="2296"/>
              <a:ext cx="1769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5" name="Line 157"/>
            <p:cNvSpPr/>
            <p:nvPr/>
          </p:nvSpPr>
          <p:spPr>
            <a:xfrm>
              <a:off x="930" y="3619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6" name="Line 158"/>
            <p:cNvSpPr/>
            <p:nvPr/>
          </p:nvSpPr>
          <p:spPr>
            <a:xfrm>
              <a:off x="930" y="2296"/>
              <a:ext cx="0" cy="132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7" name="Line 159"/>
            <p:cNvSpPr/>
            <p:nvPr/>
          </p:nvSpPr>
          <p:spPr>
            <a:xfrm>
              <a:off x="2699" y="2296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8" name="Line 162"/>
            <p:cNvSpPr/>
            <p:nvPr/>
          </p:nvSpPr>
          <p:spPr>
            <a:xfrm>
              <a:off x="930" y="2699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69" name="Line 164"/>
            <p:cNvSpPr/>
            <p:nvPr/>
          </p:nvSpPr>
          <p:spPr>
            <a:xfrm>
              <a:off x="1344" y="2296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0" name="Line 166"/>
            <p:cNvSpPr/>
            <p:nvPr/>
          </p:nvSpPr>
          <p:spPr>
            <a:xfrm>
              <a:off x="1344" y="2699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1" name="Line 167"/>
            <p:cNvSpPr/>
            <p:nvPr/>
          </p:nvSpPr>
          <p:spPr>
            <a:xfrm>
              <a:off x="1682" y="2296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2" name="Line 170"/>
            <p:cNvSpPr/>
            <p:nvPr/>
          </p:nvSpPr>
          <p:spPr>
            <a:xfrm>
              <a:off x="2022" y="2296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3" name="Line 173"/>
            <p:cNvSpPr/>
            <p:nvPr/>
          </p:nvSpPr>
          <p:spPr>
            <a:xfrm>
              <a:off x="2360" y="2296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4" name="Line 175"/>
            <p:cNvSpPr/>
            <p:nvPr/>
          </p:nvSpPr>
          <p:spPr>
            <a:xfrm>
              <a:off x="2699" y="2699"/>
              <a:ext cx="0" cy="9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5" name="Line 176"/>
            <p:cNvSpPr/>
            <p:nvPr/>
          </p:nvSpPr>
          <p:spPr>
            <a:xfrm>
              <a:off x="930" y="2929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6" name="Line 178"/>
            <p:cNvSpPr/>
            <p:nvPr/>
          </p:nvSpPr>
          <p:spPr>
            <a:xfrm>
              <a:off x="1344" y="2699"/>
              <a:ext cx="0" cy="9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7" name="Line 180"/>
            <p:cNvSpPr/>
            <p:nvPr/>
          </p:nvSpPr>
          <p:spPr>
            <a:xfrm>
              <a:off x="1344" y="2929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8" name="Line 181"/>
            <p:cNvSpPr/>
            <p:nvPr/>
          </p:nvSpPr>
          <p:spPr>
            <a:xfrm>
              <a:off x="1682" y="2699"/>
              <a:ext cx="0" cy="9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79" name="Line 185"/>
            <p:cNvSpPr/>
            <p:nvPr/>
          </p:nvSpPr>
          <p:spPr>
            <a:xfrm>
              <a:off x="2022" y="2699"/>
              <a:ext cx="0" cy="9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0" name="Line 189"/>
            <p:cNvSpPr/>
            <p:nvPr/>
          </p:nvSpPr>
          <p:spPr>
            <a:xfrm>
              <a:off x="2360" y="2699"/>
              <a:ext cx="0" cy="9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1" name="Line 193"/>
            <p:cNvSpPr/>
            <p:nvPr/>
          </p:nvSpPr>
          <p:spPr>
            <a:xfrm>
              <a:off x="930" y="3159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2" name="Line 197"/>
            <p:cNvSpPr/>
            <p:nvPr/>
          </p:nvSpPr>
          <p:spPr>
            <a:xfrm>
              <a:off x="1344" y="3159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3" name="Line 214"/>
            <p:cNvSpPr/>
            <p:nvPr/>
          </p:nvSpPr>
          <p:spPr>
            <a:xfrm>
              <a:off x="930" y="3389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4" name="Line 218"/>
            <p:cNvSpPr/>
            <p:nvPr/>
          </p:nvSpPr>
          <p:spPr>
            <a:xfrm>
              <a:off x="1344" y="3389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5" name="Line 235"/>
            <p:cNvSpPr/>
            <p:nvPr/>
          </p:nvSpPr>
          <p:spPr>
            <a:xfrm>
              <a:off x="1344" y="3619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86" name="Rectangle 308"/>
            <p:cNvSpPr/>
            <p:nvPr/>
          </p:nvSpPr>
          <p:spPr>
            <a:xfrm>
              <a:off x="4355" y="338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87" name="Rectangle 307"/>
            <p:cNvSpPr/>
            <p:nvPr/>
          </p:nvSpPr>
          <p:spPr>
            <a:xfrm>
              <a:off x="4016" y="338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88" name="Rectangle 306"/>
            <p:cNvSpPr/>
            <p:nvPr/>
          </p:nvSpPr>
          <p:spPr>
            <a:xfrm>
              <a:off x="3678" y="338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89" name="Rectangle 305"/>
            <p:cNvSpPr/>
            <p:nvPr/>
          </p:nvSpPr>
          <p:spPr>
            <a:xfrm>
              <a:off x="3339" y="338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90" name="Rectangle 304"/>
            <p:cNvSpPr/>
            <p:nvPr/>
          </p:nvSpPr>
          <p:spPr>
            <a:xfrm>
              <a:off x="2925" y="3389"/>
              <a:ext cx="41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91" name="Rectangle 303"/>
            <p:cNvSpPr/>
            <p:nvPr/>
          </p:nvSpPr>
          <p:spPr>
            <a:xfrm>
              <a:off x="4355" y="315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92" name="Rectangle 302"/>
            <p:cNvSpPr/>
            <p:nvPr/>
          </p:nvSpPr>
          <p:spPr>
            <a:xfrm>
              <a:off x="4016" y="315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93" name="Rectangle 301"/>
            <p:cNvSpPr/>
            <p:nvPr/>
          </p:nvSpPr>
          <p:spPr>
            <a:xfrm>
              <a:off x="3678" y="315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94" name="Rectangle 300"/>
            <p:cNvSpPr/>
            <p:nvPr/>
          </p:nvSpPr>
          <p:spPr>
            <a:xfrm>
              <a:off x="3339" y="315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95" name="Rectangle 299"/>
            <p:cNvSpPr/>
            <p:nvPr/>
          </p:nvSpPr>
          <p:spPr>
            <a:xfrm>
              <a:off x="2925" y="3159"/>
              <a:ext cx="41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96" name="Rectangle 298"/>
            <p:cNvSpPr/>
            <p:nvPr/>
          </p:nvSpPr>
          <p:spPr>
            <a:xfrm>
              <a:off x="4355" y="292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97" name="Rectangle 297"/>
            <p:cNvSpPr/>
            <p:nvPr/>
          </p:nvSpPr>
          <p:spPr>
            <a:xfrm>
              <a:off x="4016" y="292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98" name="Rectangle 296"/>
            <p:cNvSpPr/>
            <p:nvPr/>
          </p:nvSpPr>
          <p:spPr>
            <a:xfrm>
              <a:off x="3678" y="292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8999" name="Rectangle 295"/>
            <p:cNvSpPr/>
            <p:nvPr/>
          </p:nvSpPr>
          <p:spPr>
            <a:xfrm>
              <a:off x="3339" y="292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00" name="Rectangle 294"/>
            <p:cNvSpPr/>
            <p:nvPr/>
          </p:nvSpPr>
          <p:spPr>
            <a:xfrm>
              <a:off x="2925" y="2929"/>
              <a:ext cx="41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01" name="Rectangle 293"/>
            <p:cNvSpPr/>
            <p:nvPr/>
          </p:nvSpPr>
          <p:spPr>
            <a:xfrm>
              <a:off x="4355" y="269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02" name="Rectangle 292"/>
            <p:cNvSpPr/>
            <p:nvPr/>
          </p:nvSpPr>
          <p:spPr>
            <a:xfrm>
              <a:off x="4016" y="269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03" name="Rectangle 291"/>
            <p:cNvSpPr/>
            <p:nvPr/>
          </p:nvSpPr>
          <p:spPr>
            <a:xfrm>
              <a:off x="3678" y="2699"/>
              <a:ext cx="33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04" name="Rectangle 290"/>
            <p:cNvSpPr/>
            <p:nvPr/>
          </p:nvSpPr>
          <p:spPr>
            <a:xfrm>
              <a:off x="3339" y="2699"/>
              <a:ext cx="339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05" name="Rectangle 289"/>
            <p:cNvSpPr/>
            <p:nvPr/>
          </p:nvSpPr>
          <p:spPr>
            <a:xfrm>
              <a:off x="2925" y="2699"/>
              <a:ext cx="41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06" name="Rectangle 288"/>
            <p:cNvSpPr/>
            <p:nvPr/>
          </p:nvSpPr>
          <p:spPr>
            <a:xfrm>
              <a:off x="4355" y="2296"/>
              <a:ext cx="339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07" name="Rectangle 287"/>
            <p:cNvSpPr/>
            <p:nvPr/>
          </p:nvSpPr>
          <p:spPr>
            <a:xfrm>
              <a:off x="4016" y="2296"/>
              <a:ext cx="339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08" name="Rectangle 286"/>
            <p:cNvSpPr/>
            <p:nvPr/>
          </p:nvSpPr>
          <p:spPr>
            <a:xfrm>
              <a:off x="3678" y="2296"/>
              <a:ext cx="338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09" name="Rectangle 285"/>
            <p:cNvSpPr/>
            <p:nvPr/>
          </p:nvSpPr>
          <p:spPr>
            <a:xfrm>
              <a:off x="3339" y="2296"/>
              <a:ext cx="339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10" name="Rectangle 284"/>
            <p:cNvSpPr/>
            <p:nvPr/>
          </p:nvSpPr>
          <p:spPr>
            <a:xfrm>
              <a:off x="2925" y="2296"/>
              <a:ext cx="414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/>
            <a:p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  CD</a:t>
              </a:r>
              <a:endParaRPr lang="en-US" altLang="zh-CN" b="1" dirty="0">
                <a:latin typeface="Verdana" panose="020B0604030504040204" pitchFamily="34" charset="0"/>
                <a:cs typeface="Times New Roman" panose="02020603050405020304" pitchFamily="18" charset="0"/>
              </a:endParaRPr>
            </a:p>
            <a:p>
              <a:pPr eaLnBrk="0" hangingPunct="0"/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9011" name="Line 309"/>
            <p:cNvSpPr/>
            <p:nvPr/>
          </p:nvSpPr>
          <p:spPr>
            <a:xfrm>
              <a:off x="2925" y="2296"/>
              <a:ext cx="1769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2" name="Line 310"/>
            <p:cNvSpPr/>
            <p:nvPr/>
          </p:nvSpPr>
          <p:spPr>
            <a:xfrm>
              <a:off x="2925" y="3619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3" name="Line 311"/>
            <p:cNvSpPr/>
            <p:nvPr/>
          </p:nvSpPr>
          <p:spPr>
            <a:xfrm>
              <a:off x="2925" y="2296"/>
              <a:ext cx="0" cy="132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4" name="Line 312"/>
            <p:cNvSpPr/>
            <p:nvPr/>
          </p:nvSpPr>
          <p:spPr>
            <a:xfrm>
              <a:off x="4694" y="2296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5" name="Line 315"/>
            <p:cNvSpPr/>
            <p:nvPr/>
          </p:nvSpPr>
          <p:spPr>
            <a:xfrm>
              <a:off x="2925" y="2699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6" name="Line 317"/>
            <p:cNvSpPr/>
            <p:nvPr/>
          </p:nvSpPr>
          <p:spPr>
            <a:xfrm>
              <a:off x="3339" y="2296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7" name="Line 319"/>
            <p:cNvSpPr/>
            <p:nvPr/>
          </p:nvSpPr>
          <p:spPr>
            <a:xfrm>
              <a:off x="3339" y="2699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8" name="Line 320"/>
            <p:cNvSpPr/>
            <p:nvPr/>
          </p:nvSpPr>
          <p:spPr>
            <a:xfrm>
              <a:off x="3678" y="2296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19" name="Line 323"/>
            <p:cNvSpPr/>
            <p:nvPr/>
          </p:nvSpPr>
          <p:spPr>
            <a:xfrm>
              <a:off x="4016" y="2296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0" name="Line 326"/>
            <p:cNvSpPr/>
            <p:nvPr/>
          </p:nvSpPr>
          <p:spPr>
            <a:xfrm>
              <a:off x="4355" y="2296"/>
              <a:ext cx="0" cy="403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1" name="Line 328"/>
            <p:cNvSpPr/>
            <p:nvPr/>
          </p:nvSpPr>
          <p:spPr>
            <a:xfrm>
              <a:off x="4694" y="2699"/>
              <a:ext cx="0" cy="9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2" name="Line 329"/>
            <p:cNvSpPr/>
            <p:nvPr/>
          </p:nvSpPr>
          <p:spPr>
            <a:xfrm>
              <a:off x="2925" y="2929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3" name="Line 331"/>
            <p:cNvSpPr/>
            <p:nvPr/>
          </p:nvSpPr>
          <p:spPr>
            <a:xfrm>
              <a:off x="3339" y="2699"/>
              <a:ext cx="0" cy="9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4" name="Line 333"/>
            <p:cNvSpPr/>
            <p:nvPr/>
          </p:nvSpPr>
          <p:spPr>
            <a:xfrm>
              <a:off x="3339" y="2929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5" name="Line 334"/>
            <p:cNvSpPr/>
            <p:nvPr/>
          </p:nvSpPr>
          <p:spPr>
            <a:xfrm>
              <a:off x="3678" y="2699"/>
              <a:ext cx="0" cy="9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6" name="Line 338"/>
            <p:cNvSpPr/>
            <p:nvPr/>
          </p:nvSpPr>
          <p:spPr>
            <a:xfrm>
              <a:off x="4016" y="2699"/>
              <a:ext cx="0" cy="9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7" name="Line 342"/>
            <p:cNvSpPr/>
            <p:nvPr/>
          </p:nvSpPr>
          <p:spPr>
            <a:xfrm>
              <a:off x="4355" y="2699"/>
              <a:ext cx="0" cy="92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8" name="Line 346"/>
            <p:cNvSpPr/>
            <p:nvPr/>
          </p:nvSpPr>
          <p:spPr>
            <a:xfrm>
              <a:off x="2925" y="3159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29" name="Line 350"/>
            <p:cNvSpPr/>
            <p:nvPr/>
          </p:nvSpPr>
          <p:spPr>
            <a:xfrm>
              <a:off x="3339" y="3159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0" name="Line 367"/>
            <p:cNvSpPr/>
            <p:nvPr/>
          </p:nvSpPr>
          <p:spPr>
            <a:xfrm>
              <a:off x="2925" y="3389"/>
              <a:ext cx="414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1" name="Line 371"/>
            <p:cNvSpPr/>
            <p:nvPr/>
          </p:nvSpPr>
          <p:spPr>
            <a:xfrm>
              <a:off x="3339" y="3389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2" name="Line 388"/>
            <p:cNvSpPr/>
            <p:nvPr/>
          </p:nvSpPr>
          <p:spPr>
            <a:xfrm>
              <a:off x="3339" y="3619"/>
              <a:ext cx="1355" cy="0"/>
            </a:xfrm>
            <a:prstGeom prst="line">
              <a:avLst/>
            </a:prstGeom>
            <a:ln w="12700" cap="rnd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3" name="Text Box 416"/>
            <p:cNvSpPr txBox="1"/>
            <p:nvPr/>
          </p:nvSpPr>
          <p:spPr>
            <a:xfrm>
              <a:off x="930" y="3657"/>
              <a:ext cx="403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1" dirty="0">
                  <a:latin typeface="Verdana" panose="020B0604030504040204" pitchFamily="34" charset="0"/>
                </a:rPr>
                <a:t>(a)  F1</a:t>
              </a:r>
              <a:r>
                <a:rPr lang="zh-CN" altLang="en-US" b="1" dirty="0">
                  <a:latin typeface="Verdana" panose="020B0604030504040204" pitchFamily="34" charset="0"/>
                </a:rPr>
                <a:t>的卡诺图                       </a:t>
              </a:r>
              <a:r>
                <a:rPr lang="en-US" altLang="zh-CN" b="1" dirty="0">
                  <a:latin typeface="Verdana" panose="020B0604030504040204" pitchFamily="34" charset="0"/>
                </a:rPr>
                <a:t>(b)  F2</a:t>
              </a:r>
              <a:r>
                <a:rPr lang="zh-CN" altLang="en-US" b="1" dirty="0">
                  <a:latin typeface="Verdana" panose="020B0604030504040204" pitchFamily="34" charset="0"/>
                </a:rPr>
                <a:t>的卡诺图 </a:t>
              </a:r>
              <a:endParaRPr lang="zh-CN" altLang="en-US" b="1" dirty="0">
                <a:latin typeface="Verdana" panose="020B0604030504040204" pitchFamily="34" charset="0"/>
              </a:endParaRPr>
            </a:p>
          </p:txBody>
        </p:sp>
        <p:sp>
          <p:nvSpPr>
            <p:cNvPr id="39034" name="AutoShape 417"/>
            <p:cNvSpPr/>
            <p:nvPr/>
          </p:nvSpPr>
          <p:spPr>
            <a:xfrm>
              <a:off x="2109" y="2750"/>
              <a:ext cx="499" cy="816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9035" name="AutoShape 418"/>
            <p:cNvSpPr/>
            <p:nvPr/>
          </p:nvSpPr>
          <p:spPr>
            <a:xfrm>
              <a:off x="1429" y="3203"/>
              <a:ext cx="545" cy="136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9036" name="AutoShape 419"/>
            <p:cNvSpPr/>
            <p:nvPr/>
          </p:nvSpPr>
          <p:spPr>
            <a:xfrm>
              <a:off x="4377" y="2750"/>
              <a:ext cx="273" cy="816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9037" name="AutoShape 420"/>
            <p:cNvSpPr/>
            <p:nvPr/>
          </p:nvSpPr>
          <p:spPr>
            <a:xfrm>
              <a:off x="3424" y="3203"/>
              <a:ext cx="545" cy="136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39038" name="Line 421"/>
            <p:cNvSpPr/>
            <p:nvPr/>
          </p:nvSpPr>
          <p:spPr>
            <a:xfrm>
              <a:off x="930" y="2296"/>
              <a:ext cx="408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039" name="Line 422"/>
            <p:cNvSpPr/>
            <p:nvPr/>
          </p:nvSpPr>
          <p:spPr>
            <a:xfrm>
              <a:off x="2925" y="2296"/>
              <a:ext cx="409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938" name="Rectangle 425"/>
          <p:cNvSpPr/>
          <p:nvPr/>
        </p:nvSpPr>
        <p:spPr>
          <a:xfrm>
            <a:off x="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38914" name="Object 424"/>
          <p:cNvGraphicFramePr/>
          <p:nvPr/>
        </p:nvGraphicFramePr>
        <p:xfrm>
          <a:off x="1116013" y="6237288"/>
          <a:ext cx="43211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1" imgW="2247900" imgH="254000" progId="Equation.DSMT4">
                  <p:embed/>
                </p:oleObj>
              </mc:Choice>
              <mc:Fallback>
                <p:oleObj name="" r:id="rId1" imgW="2247900" imgH="254000" progId="Equation.DSMT4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6237288"/>
                        <a:ext cx="4321175" cy="476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u"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COMMONDATA" val="eyJoZGlkIjoiMWQ2ZTIxOWE1Y2RhZTg0ZmE3YTgxZmQzOWUzNmRjMGIifQ=="/>
  <p:tag name="commondata" val="eyJoZGlkIjoiMjYxZWE3Mjg1ZGFhZDM4OTg1ZTdmNzQ2NGJlZTJjOWMifQ==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6884</Words>
  <Application>WPS 演示</Application>
  <PresentationFormat>全屏显示(4:3)</PresentationFormat>
  <Paragraphs>1450</Paragraphs>
  <Slides>50</Slides>
  <Notes>44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139</vt:i4>
      </vt:variant>
      <vt:variant>
        <vt:lpstr>幻灯片标题</vt:lpstr>
      </vt:variant>
      <vt:variant>
        <vt:i4>50</vt:i4>
      </vt:variant>
    </vt:vector>
  </HeadingPairs>
  <TitlesOfParts>
    <vt:vector size="198" baseType="lpstr">
      <vt:lpstr>Arial</vt:lpstr>
      <vt:lpstr>宋体</vt:lpstr>
      <vt:lpstr>Wingdings</vt:lpstr>
      <vt:lpstr>Verdana</vt:lpstr>
      <vt:lpstr>Times New Roman</vt:lpstr>
      <vt:lpstr>Arial</vt:lpstr>
      <vt:lpstr>微软雅黑</vt:lpstr>
      <vt:lpstr>Arial Unicode MS</vt:lpstr>
      <vt:lpstr>Profile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第3章 </vt:lpstr>
      <vt:lpstr>课程安排</vt:lpstr>
      <vt:lpstr>教学总体目标</vt:lpstr>
      <vt:lpstr>教学能力目标</vt:lpstr>
      <vt:lpstr>教学素质目标</vt:lpstr>
      <vt:lpstr>教学知识目标</vt:lpstr>
      <vt:lpstr>3.1  概 述 </vt:lpstr>
      <vt:lpstr>3.2 逻辑代数的运算规则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逻辑函数表述方法 </vt:lpstr>
      <vt:lpstr>PowerPoint 演示文稿</vt:lpstr>
      <vt:lpstr>PowerPoint 演示文稿</vt:lpstr>
      <vt:lpstr>3.4 逻辑函数的标准形式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3.5 逻辑代数化简法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3.6 卡诺图化简法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</dc:title>
  <dc:creator>owner</dc:creator>
  <cp:lastModifiedBy>谢一峰</cp:lastModifiedBy>
  <cp:revision>42</cp:revision>
  <dcterms:created xsi:type="dcterms:W3CDTF">2008-09-04T06:48:00Z</dcterms:created>
  <dcterms:modified xsi:type="dcterms:W3CDTF">2024-12-11T10:55:23Z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421FE2A898FD4444BF8DCD58A9726A75_12</vt:lpwstr>
  </property>
  <property fmtid="{D5CDD505-2E9C-101B-9397-08002B2CF9AE}" pid="3" name="KSOProductBuildVer">
    <vt:lpwstr>2052-12.1.0.19302</vt:lpwstr>
  </property>
</Properties>
</file>