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77" r:id="rId7"/>
    <p:sldId id="278" r:id="rId8"/>
    <p:sldId id="279" r:id="rId9"/>
    <p:sldId id="280" r:id="rId10"/>
    <p:sldId id="281" r:id="rId11"/>
    <p:sldId id="282" r:id="rId12"/>
    <p:sldId id="283" r:id="rId13"/>
    <p:sldId id="284" r:id="rId14"/>
    <p:sldId id="285" r:id="rId15"/>
    <p:sldId id="286" r:id="rId16"/>
    <p:sldId id="287" r:id="rId17"/>
  </p:sldIdLst>
  <p:sldSz cx="12192000" cy="6858000"/>
  <p:notesSz cx="6858000" cy="9144000"/>
  <p:custDataLst>
    <p:tags r:id="rId21"/>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1986"/>
    <p:restoredTop sz="94692"/>
  </p:normalViewPr>
  <p:slideViewPr>
    <p:cSldViewPr showGuides="1">
      <p:cViewPr varScale="1">
        <p:scale>
          <a:sx n="106" d="100"/>
          <a:sy n="106" d="100"/>
        </p:scale>
        <p:origin x="1000" y="17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4.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a:latin typeface="Arial" panose="020B0604020202020204" pitchFamily="3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1558925" y="1052513"/>
            <a:ext cx="7772400" cy="1143000"/>
          </a:xfrm>
        </p:spPr>
        <p:txBody>
          <a:bodyPr vert="horz" wrap="square" lIns="91440" tIns="45720" rIns="91440" bIns="45720" anchor="ctr" anchorCtr="0"/>
          <a:p>
            <a:pPr eaLnBrk="1" hangingPunct="1">
              <a:buClrTx/>
              <a:buSzTx/>
              <a:buFontTx/>
            </a:pPr>
            <a:r>
              <a:rPr lang="en-US" altLang="zh-CN"/>
              <a:t>3.2 RC</a:t>
            </a:r>
            <a:r>
              <a:rPr lang="zh-CN" altLang="en-US"/>
              <a:t>电路</a:t>
            </a:r>
            <a:endParaRPr lang="zh-CN" altLang="en-US"/>
          </a:p>
        </p:txBody>
      </p:sp>
      <p:sp>
        <p:nvSpPr>
          <p:cNvPr id="3074" name="Text Box 3">
            <a:hlinkClick r:id="" action="ppaction://hlinkshowjump?jump=nextslide"/>
          </p:cNvPr>
          <p:cNvSpPr txBox="1"/>
          <p:nvPr/>
        </p:nvSpPr>
        <p:spPr>
          <a:xfrm>
            <a:off x="3216275" y="2636838"/>
            <a:ext cx="6880225" cy="3538220"/>
          </a:xfrm>
          <a:prstGeom prst="rect">
            <a:avLst/>
          </a:prstGeom>
          <a:noFill/>
          <a:ln w="9525">
            <a:noFill/>
          </a:ln>
        </p:spPr>
        <p:txBody>
          <a:bodyPr wrap="square" anchor="t" anchorCtr="0">
            <a:spAutoFit/>
          </a:bodyPr>
          <a:p>
            <a:pPr>
              <a:spcBef>
                <a:spcPct val="50000"/>
              </a:spcBef>
            </a:pPr>
            <a:r>
              <a:rPr lang="zh-CN" altLang="en-US" sz="3200" b="1">
                <a:latin typeface="隶书" pitchFamily="49" charset="-122"/>
                <a:ea typeface="隶书" pitchFamily="49" charset="-122"/>
              </a:rPr>
              <a:t>一、什么是</a:t>
            </a:r>
            <a:r>
              <a:rPr lang="en-US" altLang="zh-CN" sz="3200" b="1">
                <a:latin typeface="隶书" pitchFamily="49" charset="-122"/>
                <a:ea typeface="隶书" pitchFamily="49" charset="-122"/>
              </a:rPr>
              <a:t>RC</a:t>
            </a:r>
            <a:r>
              <a:rPr lang="zh-CN" altLang="en-US" sz="3200" b="1">
                <a:latin typeface="隶书" pitchFamily="49" charset="-122"/>
                <a:ea typeface="隶书" pitchFamily="49" charset="-122"/>
              </a:rPr>
              <a:t>电路</a:t>
            </a:r>
            <a:endParaRPr lang="zh-CN" altLang="en-US" sz="3200" b="1">
              <a:latin typeface="隶书" pitchFamily="49" charset="-122"/>
              <a:ea typeface="隶书" pitchFamily="49" charset="-122"/>
            </a:endParaRPr>
          </a:p>
          <a:p>
            <a:pPr>
              <a:spcBef>
                <a:spcPct val="50000"/>
              </a:spcBef>
            </a:pPr>
            <a:r>
              <a:rPr lang="zh-CN" altLang="en-US" sz="3200" b="1">
                <a:latin typeface="隶书" pitchFamily="49" charset="-122"/>
                <a:ea typeface="隶书" pitchFamily="49" charset="-122"/>
              </a:rPr>
              <a:t>二、</a:t>
            </a:r>
            <a:r>
              <a:rPr lang="en-US" altLang="zh-CN" sz="3200" b="1">
                <a:latin typeface="隶书" pitchFamily="49" charset="-122"/>
                <a:ea typeface="隶书" pitchFamily="49" charset="-122"/>
              </a:rPr>
              <a:t>RC</a:t>
            </a:r>
            <a:r>
              <a:rPr lang="zh-CN" altLang="en-US" sz="3200" b="1">
                <a:latin typeface="隶书" pitchFamily="49" charset="-122"/>
                <a:ea typeface="隶书" pitchFamily="49" charset="-122"/>
              </a:rPr>
              <a:t>充、放电</a:t>
            </a:r>
            <a:r>
              <a:rPr lang="zh-CN" altLang="en-US" sz="3200" b="1">
                <a:latin typeface="隶书" pitchFamily="49" charset="-122"/>
                <a:ea typeface="隶书" pitchFamily="49" charset="-122"/>
              </a:rPr>
              <a:t>电路</a:t>
            </a:r>
            <a:endParaRPr lang="zh-CN" altLang="en-US" sz="3200" b="1">
              <a:latin typeface="隶书" pitchFamily="49" charset="-122"/>
              <a:ea typeface="隶书" pitchFamily="49" charset="-122"/>
            </a:endParaRPr>
          </a:p>
          <a:p>
            <a:pPr>
              <a:spcBef>
                <a:spcPct val="50000"/>
              </a:spcBef>
            </a:pPr>
            <a:r>
              <a:rPr lang="zh-CN" altLang="en-US" sz="3200" b="1">
                <a:latin typeface="隶书" pitchFamily="49" charset="-122"/>
                <a:ea typeface="隶书" pitchFamily="49" charset="-122"/>
              </a:rPr>
              <a:t>三、</a:t>
            </a:r>
            <a:r>
              <a:rPr lang="en-US" altLang="zh-CN" sz="3200" b="1">
                <a:latin typeface="隶书" pitchFamily="49" charset="-122"/>
                <a:ea typeface="隶书" pitchFamily="49" charset="-122"/>
              </a:rPr>
              <a:t>RC</a:t>
            </a:r>
            <a:r>
              <a:rPr lang="zh-CN" altLang="en-US" sz="3200" b="1">
                <a:latin typeface="隶书" pitchFamily="49" charset="-122"/>
                <a:ea typeface="隶书" pitchFamily="49" charset="-122"/>
              </a:rPr>
              <a:t>积分</a:t>
            </a:r>
            <a:r>
              <a:rPr lang="zh-CN" altLang="en-US" sz="3200" b="1">
                <a:latin typeface="隶书" pitchFamily="49" charset="-122"/>
                <a:ea typeface="隶书" pitchFamily="49" charset="-122"/>
              </a:rPr>
              <a:t>电路</a:t>
            </a:r>
            <a:endParaRPr lang="zh-CN" altLang="en-US" sz="3200" b="1">
              <a:latin typeface="隶书" pitchFamily="49" charset="-122"/>
              <a:ea typeface="隶书" pitchFamily="49" charset="-122"/>
            </a:endParaRPr>
          </a:p>
          <a:p>
            <a:pPr>
              <a:spcBef>
                <a:spcPct val="50000"/>
              </a:spcBef>
            </a:pPr>
            <a:r>
              <a:rPr lang="zh-CN" altLang="en-US" sz="3200" b="1">
                <a:latin typeface="隶书" pitchFamily="49" charset="-122"/>
                <a:ea typeface="隶书" pitchFamily="49" charset="-122"/>
              </a:rPr>
              <a:t>四、</a:t>
            </a:r>
            <a:r>
              <a:rPr lang="en-US" altLang="zh-CN" sz="3200" b="1">
                <a:latin typeface="隶书" pitchFamily="49" charset="-122"/>
                <a:ea typeface="隶书" pitchFamily="49" charset="-122"/>
              </a:rPr>
              <a:t>RC</a:t>
            </a:r>
            <a:r>
              <a:rPr lang="zh-CN" altLang="en-US" sz="3200" b="1">
                <a:latin typeface="隶书" pitchFamily="49" charset="-122"/>
                <a:ea typeface="隶书" pitchFamily="49" charset="-122"/>
              </a:rPr>
              <a:t>微分</a:t>
            </a:r>
            <a:r>
              <a:rPr lang="zh-CN" altLang="en-US" sz="3200" b="1">
                <a:latin typeface="隶书" pitchFamily="49" charset="-122"/>
                <a:ea typeface="隶书" pitchFamily="49" charset="-122"/>
              </a:rPr>
              <a:t>电路</a:t>
            </a:r>
            <a:endParaRPr lang="zh-CN" altLang="en-US" sz="3200" b="1">
              <a:latin typeface="隶书" pitchFamily="49" charset="-122"/>
              <a:ea typeface="隶书" pitchFamily="49" charset="-122"/>
            </a:endParaRPr>
          </a:p>
          <a:p>
            <a:pPr>
              <a:spcBef>
                <a:spcPct val="50000"/>
              </a:spcBef>
            </a:pPr>
            <a:endParaRPr lang="zh-CN" altLang="en-US" sz="3200" b="1">
              <a:latin typeface="隶书" pitchFamily="49" charset="-122"/>
              <a:ea typeface="隶书"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一、什么是</a:t>
            </a:r>
            <a:r>
              <a:rPr lang="en-US" altLang="zh-CN" sz="3600" b="1">
                <a:solidFill>
                  <a:schemeClr val="tx1"/>
                </a:solidFill>
                <a:latin typeface="宋体" panose="02010600030101010101" pitchFamily="2" charset="-122"/>
                <a:ea typeface="隶书" pitchFamily="49" charset="-122"/>
              </a:rPr>
              <a:t>RC</a:t>
            </a:r>
            <a:r>
              <a:rPr lang="zh-CN" altLang="en-US" sz="3600" b="1">
                <a:solidFill>
                  <a:schemeClr val="tx1"/>
                </a:solidFill>
                <a:latin typeface="宋体" panose="02010600030101010101" pitchFamily="2" charset="-122"/>
                <a:ea typeface="隶书" pitchFamily="49" charset="-122"/>
              </a:rPr>
              <a:t>电路</a:t>
            </a:r>
            <a:endParaRPr lang="zh-CN" altLang="en-US"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1343660" y="1844675"/>
            <a:ext cx="9686925" cy="255333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宋体" panose="02010600030101010101" pitchFamily="2" charset="-122"/>
              </a:rPr>
              <a:t>RC电路是指由电阻R和电容C组成的电路，它是脉冲产生和整形电路中常用到的电路。</a:t>
            </a:r>
            <a:endParaRPr lang="zh-CN" altLang="en-US" sz="3200" b="1">
              <a:latin typeface="Times New Roman" panose="02020603050405020304" pitchFamily="18" charset="0"/>
              <a:ea typeface="宋体" panose="02010600030101010101" pitchFamily="2" charset="-122"/>
            </a:endParaRPr>
          </a:p>
          <a:p>
            <a:endParaRPr lang="zh-CN" altLang="en-US" sz="3200" b="1">
              <a:latin typeface="Times New Roman" panose="02020603050405020304" pitchFamily="18" charset="0"/>
              <a:ea typeface="宋体" panose="02010600030101010101" pitchFamily="2" charset="-122"/>
            </a:endParaRPr>
          </a:p>
          <a:p>
            <a:pPr indent="457200"/>
            <a:r>
              <a:rPr lang="zh-CN" altLang="en-US" sz="3200" b="1">
                <a:latin typeface="Times New Roman" panose="02020603050405020304" pitchFamily="18" charset="0"/>
                <a:ea typeface="宋体" panose="02010600030101010101" pitchFamily="2" charset="-122"/>
              </a:rPr>
              <a:t>常见的有RC充、放电电路、RC积分电路和RC微分电路。接下来进行详细讲解。</a:t>
            </a:r>
            <a:endParaRPr lang="zh-CN" altLang="en-US" sz="32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二、</a:t>
            </a:r>
            <a:r>
              <a:rPr lang="en-US" altLang="zh-CN" sz="3600" b="1">
                <a:solidFill>
                  <a:schemeClr val="tx1"/>
                </a:solidFill>
                <a:latin typeface="宋体" panose="02010600030101010101" pitchFamily="2" charset="-122"/>
                <a:ea typeface="隶书" pitchFamily="49" charset="-122"/>
              </a:rPr>
              <a:t>RC</a:t>
            </a:r>
            <a:r>
              <a:rPr lang="zh-CN" altLang="en-US" sz="3600" b="1">
                <a:solidFill>
                  <a:schemeClr val="tx1"/>
                </a:solidFill>
                <a:latin typeface="宋体" panose="02010600030101010101" pitchFamily="2" charset="-122"/>
                <a:ea typeface="隶书" pitchFamily="49" charset="-122"/>
              </a:rPr>
              <a:t>充、放电</a:t>
            </a:r>
            <a:r>
              <a:rPr lang="zh-CN" altLang="en-US" sz="3600" b="1">
                <a:solidFill>
                  <a:schemeClr val="tx1"/>
                </a:solidFill>
                <a:latin typeface="宋体" panose="02010600030101010101" pitchFamily="2" charset="-122"/>
                <a:ea typeface="隶书" pitchFamily="49" charset="-122"/>
              </a:rPr>
              <a:t>电路</a:t>
            </a:r>
            <a:endParaRPr lang="zh-CN" altLang="en-US"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532255"/>
            <a:ext cx="8458200" cy="829945"/>
          </a:xfrm>
          <a:prstGeom prst="rect">
            <a:avLst/>
          </a:prstGeom>
          <a:noFill/>
          <a:ln w="9525">
            <a:noFill/>
          </a:ln>
        </p:spPr>
        <p:txBody>
          <a:bodyPr anchor="t" anchorCtr="0">
            <a:spAutoFit/>
          </a:bodyPr>
          <a:p>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RC充、放电电路如下图所示，下面通过充电和放电两个过程来分析此电路。</a:t>
            </a:r>
            <a:endParaRPr lang="zh-CN" altLang="en-US" sz="2400" b="1">
              <a:latin typeface="Times New Roman" panose="02020603050405020304" pitchFamily="18" charset="0"/>
              <a:ea typeface="宋体" panose="02010600030101010101" pitchFamily="2" charset="-122"/>
            </a:endParaRPr>
          </a:p>
        </p:txBody>
      </p:sp>
      <p:pic>
        <p:nvPicPr>
          <p:cNvPr id="2" name="图片 1" descr="ec2d37c8e26842ad8022d15410b5517e"/>
          <p:cNvPicPr>
            <a:picLocks noChangeAspect="1"/>
          </p:cNvPicPr>
          <p:nvPr/>
        </p:nvPicPr>
        <p:blipFill>
          <a:blip r:embed="rId1"/>
          <a:stretch>
            <a:fillRect/>
          </a:stretch>
        </p:blipFill>
        <p:spPr>
          <a:xfrm>
            <a:off x="3714750" y="2708910"/>
            <a:ext cx="4762500" cy="2200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二、</a:t>
            </a:r>
            <a:r>
              <a:rPr lang="en-US" altLang="zh-CN" sz="3600" b="1">
                <a:solidFill>
                  <a:schemeClr val="tx1"/>
                </a:solidFill>
                <a:latin typeface="宋体" panose="02010600030101010101" pitchFamily="2" charset="-122"/>
                <a:ea typeface="隶书" pitchFamily="49" charset="-122"/>
              </a:rPr>
              <a:t>RC</a:t>
            </a:r>
            <a:r>
              <a:rPr lang="zh-CN" altLang="en-US" sz="3600" b="1">
                <a:solidFill>
                  <a:schemeClr val="tx1"/>
                </a:solidFill>
                <a:latin typeface="宋体" panose="02010600030101010101" pitchFamily="2" charset="-122"/>
                <a:ea typeface="隶书" pitchFamily="49" charset="-122"/>
              </a:rPr>
              <a:t>充、放电</a:t>
            </a:r>
            <a:r>
              <a:rPr lang="zh-CN" altLang="en-US" sz="3600" b="1">
                <a:solidFill>
                  <a:schemeClr val="tx1"/>
                </a:solidFill>
                <a:latin typeface="宋体" panose="02010600030101010101" pitchFamily="2" charset="-122"/>
                <a:ea typeface="隶书" pitchFamily="49" charset="-122"/>
              </a:rPr>
              <a:t>电路</a:t>
            </a:r>
            <a:endParaRPr lang="zh-CN" altLang="en-US"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532255"/>
            <a:ext cx="8458200" cy="460375"/>
          </a:xfrm>
          <a:prstGeom prst="rect">
            <a:avLst/>
          </a:prstGeom>
          <a:noFill/>
          <a:ln w="9525">
            <a:noFill/>
          </a:ln>
        </p:spPr>
        <p:txBody>
          <a:bodyPr anchor="t" anchorCtr="0">
            <a:spAutoFit/>
          </a:bodyPr>
          <a:p>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RC充电电路如下图所示</a:t>
            </a:r>
            <a:endParaRPr lang="zh-CN" altLang="en-US" sz="2400" b="1">
              <a:latin typeface="Times New Roman" panose="02020603050405020304" pitchFamily="18" charset="0"/>
              <a:ea typeface="宋体" panose="02010600030101010101" pitchFamily="2" charset="-122"/>
            </a:endParaRPr>
          </a:p>
        </p:txBody>
      </p:sp>
      <p:pic>
        <p:nvPicPr>
          <p:cNvPr id="3" name="图片 2" descr="3088fde315e64f3692d5939216c166ec"/>
          <p:cNvPicPr>
            <a:picLocks noChangeAspect="1"/>
          </p:cNvPicPr>
          <p:nvPr/>
        </p:nvPicPr>
        <p:blipFill>
          <a:blip r:embed="rId1"/>
          <a:stretch>
            <a:fillRect/>
          </a:stretch>
        </p:blipFill>
        <p:spPr>
          <a:xfrm>
            <a:off x="2207895" y="2438400"/>
            <a:ext cx="8343900" cy="3162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2" name="Text Box 8"/>
          <p:cNvSpPr txBox="1"/>
          <p:nvPr/>
        </p:nvSpPr>
        <p:spPr>
          <a:xfrm>
            <a:off x="191135" y="2493010"/>
            <a:ext cx="11661775" cy="3661410"/>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sz="2400" b="1">
                <a:latin typeface="Times New Roman" panose="02020603050405020304" pitchFamily="18" charset="0"/>
                <a:ea typeface="宋体" panose="02010600030101010101" pitchFamily="2" charset="-122"/>
              </a:rPr>
              <a:t>​</a:t>
            </a:r>
            <a:r>
              <a:rPr sz="1600" b="1">
                <a:latin typeface="Times New Roman" panose="02020603050405020304" pitchFamily="18" charset="0"/>
                <a:ea typeface="宋体" panose="02010600030101010101" pitchFamily="2" charset="-122"/>
              </a:rPr>
              <a:t>由上图分析：</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将上图a中开关S置于“1”处，电源E开始通过电阻R对电容C充电，由于刚开始充电时电容两端没有电荷，故电容两端电压为0V，即Uo=0V。从图a中可以看出UR+Uo=E，因为Uo=0V，所以刚开始时UR=E，充电电流I=UR/R，该电流很大，它对电容C充电很快。</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随着电容不断被充电，它两端的电压Uo很快上升，电阻R两端电压UR不断减小，当电容两端充得电压Uo=E时，电阻两端的电压UR=0V，充电结束。充电时电容两端电压变化曲线如上图（b）所示。电容充电速度与RC的大小有关：即R的阻值越大，充电越慢，反之越快；C的容量越大，充电越慢，反之越快。为了衡量RC电路充电快慢，常采用一个时间常数τ（念作“tao”），时间常数是指R和C的乘积，即：τ=RC，τ的单位是秒（s），R的单位是欧姆（Ω），C的单位是法拉（F）。</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RC充电电路在刚开始充电时充电电流大，以后慢慢减小，经过t=0.7τ，电容上充得的电压Uo约有0.5E（即Uo≈0.5E），通常规定在t=(3～5)τ时，Uo≈E，充电过程基本结束。另外，RC充电电路时间常数τ越大，充电时间越长，反之则时间越短。</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p:txBody>
      </p:sp>
      <p:pic>
        <p:nvPicPr>
          <p:cNvPr id="3" name="图片 2" descr="3088fde315e64f3692d5939216c166ec"/>
          <p:cNvPicPr>
            <a:picLocks noChangeAspect="1"/>
          </p:cNvPicPr>
          <p:nvPr/>
        </p:nvPicPr>
        <p:blipFill>
          <a:blip r:embed="rId1"/>
          <a:stretch>
            <a:fillRect/>
          </a:stretch>
        </p:blipFill>
        <p:spPr>
          <a:xfrm>
            <a:off x="1055370" y="45085"/>
            <a:ext cx="5995670" cy="2272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二、</a:t>
            </a:r>
            <a:r>
              <a:rPr lang="en-US" altLang="zh-CN" sz="3600" b="1">
                <a:solidFill>
                  <a:schemeClr val="tx1"/>
                </a:solidFill>
                <a:latin typeface="宋体" panose="02010600030101010101" pitchFamily="2" charset="-122"/>
                <a:ea typeface="隶书" pitchFamily="49" charset="-122"/>
              </a:rPr>
              <a:t>RC</a:t>
            </a:r>
            <a:r>
              <a:rPr lang="zh-CN" altLang="en-US" sz="3600" b="1">
                <a:solidFill>
                  <a:schemeClr val="tx1"/>
                </a:solidFill>
                <a:latin typeface="宋体" panose="02010600030101010101" pitchFamily="2" charset="-122"/>
                <a:ea typeface="隶书" pitchFamily="49" charset="-122"/>
              </a:rPr>
              <a:t>充、放电</a:t>
            </a:r>
            <a:r>
              <a:rPr lang="zh-CN" altLang="en-US" sz="3600" b="1">
                <a:solidFill>
                  <a:schemeClr val="tx1"/>
                </a:solidFill>
                <a:latin typeface="宋体" panose="02010600030101010101" pitchFamily="2" charset="-122"/>
                <a:ea typeface="隶书" pitchFamily="49" charset="-122"/>
              </a:rPr>
              <a:t>电路</a:t>
            </a:r>
            <a:endParaRPr lang="zh-CN" altLang="en-US"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532255"/>
            <a:ext cx="8458200" cy="460375"/>
          </a:xfrm>
          <a:prstGeom prst="rect">
            <a:avLst/>
          </a:prstGeom>
          <a:noFill/>
          <a:ln w="9525">
            <a:noFill/>
          </a:ln>
        </p:spPr>
        <p:txBody>
          <a:bodyPr anchor="t" anchorCtr="0">
            <a:spAutoFit/>
          </a:bodyPr>
          <a:p>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RC</a:t>
            </a:r>
            <a:r>
              <a:rPr lang="zh-CN" altLang="en-US" sz="2400" b="1">
                <a:latin typeface="Times New Roman" panose="02020603050405020304" pitchFamily="18" charset="0"/>
                <a:ea typeface="宋体" panose="02010600030101010101" pitchFamily="2" charset="-122"/>
              </a:rPr>
              <a:t>放电路如下图所示</a:t>
            </a:r>
            <a:endParaRPr lang="zh-CN" altLang="en-US" sz="2400" b="1">
              <a:latin typeface="Times New Roman" panose="02020603050405020304" pitchFamily="18" charset="0"/>
              <a:ea typeface="宋体" panose="02010600030101010101" pitchFamily="2" charset="-122"/>
            </a:endParaRPr>
          </a:p>
        </p:txBody>
      </p:sp>
      <p:pic>
        <p:nvPicPr>
          <p:cNvPr id="2" name="图片 1" descr="44148be673df4932b43681e7626ee856"/>
          <p:cNvPicPr>
            <a:picLocks noChangeAspect="1"/>
          </p:cNvPicPr>
          <p:nvPr/>
        </p:nvPicPr>
        <p:blipFill>
          <a:blip r:embed="rId1"/>
          <a:stretch>
            <a:fillRect/>
          </a:stretch>
        </p:blipFill>
        <p:spPr>
          <a:xfrm>
            <a:off x="2279650" y="2348865"/>
            <a:ext cx="8191500" cy="2847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44148be673df4932b43681e7626ee856"/>
          <p:cNvPicPr>
            <a:picLocks noChangeAspect="1"/>
          </p:cNvPicPr>
          <p:nvPr/>
        </p:nvPicPr>
        <p:blipFill>
          <a:blip r:embed="rId1"/>
          <a:stretch>
            <a:fillRect/>
          </a:stretch>
        </p:blipFill>
        <p:spPr>
          <a:xfrm>
            <a:off x="1271905" y="332740"/>
            <a:ext cx="5972810" cy="2076450"/>
          </a:xfrm>
          <a:prstGeom prst="rect">
            <a:avLst/>
          </a:prstGeom>
        </p:spPr>
      </p:pic>
      <p:sp>
        <p:nvSpPr>
          <p:cNvPr id="4" name="Text Box 8"/>
          <p:cNvSpPr txBox="1"/>
          <p:nvPr>
            <p:custDataLst>
              <p:tags r:id="rId2"/>
            </p:custDataLst>
          </p:nvPr>
        </p:nvSpPr>
        <p:spPr>
          <a:xfrm>
            <a:off x="191135" y="2493010"/>
            <a:ext cx="11661775" cy="3784600"/>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b="1">
                <a:latin typeface="Times New Roman" panose="02020603050405020304" pitchFamily="18" charset="0"/>
                <a:ea typeface="宋体" panose="02010600030101010101" pitchFamily="2" charset="-122"/>
              </a:rPr>
              <a:t>由上图分析：</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电容C充电后，将开关S置于“2”处，电容C开始通过电阻R放电，由于刚开始放电时电容两端电压为E，即Uo=E，放电电流I=Uo/R，该电流很大，电容C放电很快。随着电容不断放电，它两端的电压Uo很快下降，因为Uo不断下降，故放电电流也很快减小，当电容两端电压Uo=0V时，放电电流也为0A，放电结束。</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放电时电容两端电压变化曲线如上图（b）所示。电容放电速度与RC的大小有关：R的阻值越大，放电越慢，反之越快；C的容量越大，放电越慢，反之越快。</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RC放电电路在刚开始放电时放电电流大，以后慢慢减小，经过t=0.7τ，电容上的电压Uo约下降到0.5E（即Uo≈0.5E），经过t=（3～5）τ，Uo≈0V，放电过程基本结束；RC放电电路的时间常数τ越大，放电时间越长，反之则时间越短。</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三、</a:t>
            </a:r>
            <a:r>
              <a:rPr sz="3600" b="1">
                <a:solidFill>
                  <a:schemeClr val="tx1"/>
                </a:solidFill>
                <a:latin typeface="宋体" panose="02010600030101010101" pitchFamily="2" charset="-122"/>
                <a:ea typeface="隶书" pitchFamily="49" charset="-122"/>
              </a:rPr>
              <a:t>RC积分电路</a:t>
            </a:r>
            <a:endParaRPr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532255"/>
            <a:ext cx="9671050" cy="2676525"/>
          </a:xfrm>
          <a:prstGeom prst="rect">
            <a:avLst/>
          </a:prstGeom>
          <a:noFill/>
          <a:ln w="9525">
            <a:noFill/>
          </a:ln>
        </p:spPr>
        <p:txBody>
          <a:bodyPr wrap="square" anchor="t" anchorCtr="0">
            <a:spAutoFit/>
          </a:bodyPr>
          <a:p>
            <a:r>
              <a:rPr sz="2400" b="1">
                <a:latin typeface="Times New Roman" panose="02020603050405020304" pitchFamily="18" charset="0"/>
                <a:ea typeface="宋体" panose="02010600030101010101" pitchFamily="2" charset="-122"/>
              </a:rPr>
              <a:t>（1）RC积分电路的作用</a:t>
            </a:r>
            <a:endParaRPr sz="2400" b="1">
              <a:latin typeface="Times New Roman" panose="02020603050405020304" pitchFamily="18" charset="0"/>
              <a:ea typeface="宋体" panose="02010600030101010101" pitchFamily="2" charset="-122"/>
            </a:endParaRPr>
          </a:p>
          <a:p>
            <a:endParaRPr sz="2400" b="1">
              <a:latin typeface="Times New Roman" panose="02020603050405020304" pitchFamily="18" charset="0"/>
              <a:ea typeface="宋体" panose="02010600030101010101" pitchFamily="2" charset="-122"/>
            </a:endParaRPr>
          </a:p>
          <a:p>
            <a:pPr marL="457200" lvl="1" indent="457200"/>
            <a:r>
              <a:rPr lang="zh-CN" sz="2400" b="1">
                <a:latin typeface="Times New Roman" panose="02020603050405020304" pitchFamily="18" charset="0"/>
                <a:ea typeface="宋体" panose="02010600030101010101" pitchFamily="2" charset="-122"/>
              </a:rPr>
              <a:t>作用</a:t>
            </a:r>
            <a:r>
              <a:rPr lang="en-US" altLang="zh-CN" sz="2400" b="1">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a:t>
            </a:r>
            <a:r>
              <a:rPr sz="2400" b="1">
                <a:latin typeface="Times New Roman" panose="02020603050405020304" pitchFamily="18" charset="0"/>
                <a:ea typeface="宋体" panose="02010600030101010101" pitchFamily="2" charset="-122"/>
              </a:rPr>
              <a:t>RC积分电路能将矩形波转变成三角波（或锯齿波）。</a:t>
            </a:r>
            <a:endParaRPr sz="2400" b="1">
              <a:latin typeface="Times New Roman" panose="02020603050405020304" pitchFamily="18" charset="0"/>
              <a:ea typeface="宋体" panose="02010600030101010101" pitchFamily="2" charset="-122"/>
            </a:endParaRPr>
          </a:p>
          <a:p>
            <a:pPr marL="457200" lvl="1" indent="457200"/>
            <a:endParaRPr sz="2400" b="1">
              <a:latin typeface="Times New Roman" panose="02020603050405020304" pitchFamily="18" charset="0"/>
              <a:ea typeface="宋体" panose="02010600030101010101" pitchFamily="2" charset="-122"/>
            </a:endParaRPr>
          </a:p>
          <a:p>
            <a:pPr marL="457200" lvl="1" indent="457200"/>
            <a:r>
              <a:rPr lang="zh-CN" sz="2400" b="1">
                <a:latin typeface="Times New Roman" panose="02020603050405020304" pitchFamily="18" charset="0"/>
                <a:ea typeface="宋体" panose="02010600030101010101" pitchFamily="2" charset="-122"/>
              </a:rPr>
              <a:t>作用</a:t>
            </a:r>
            <a:r>
              <a:rPr lang="en-US" altLang="zh-CN" sz="2400" b="1">
                <a:latin typeface="Times New Roman" panose="02020603050405020304" pitchFamily="18" charset="0"/>
                <a:ea typeface="宋体" panose="02010600030101010101" pitchFamily="2" charset="-122"/>
              </a:rPr>
              <a:t>2</a:t>
            </a:r>
            <a:r>
              <a:rPr lang="zh-CN" altLang="en-US" sz="2400" b="1">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作为无源低通滤波器</a:t>
            </a:r>
            <a:endParaRPr lang="zh-CN" altLang="en-US" sz="2400" b="1">
              <a:latin typeface="Times New Roman" panose="02020603050405020304" pitchFamily="18" charset="0"/>
              <a:ea typeface="宋体" panose="02010600030101010101" pitchFamily="2" charset="-122"/>
            </a:endParaRPr>
          </a:p>
          <a:p>
            <a:pPr marL="457200" lvl="1" indent="457200"/>
            <a:endParaRPr sz="2400" b="1">
              <a:latin typeface="Times New Roman" panose="02020603050405020304" pitchFamily="18" charset="0"/>
              <a:ea typeface="宋体" panose="02010600030101010101" pitchFamily="2" charset="-122"/>
            </a:endParaRPr>
          </a:p>
          <a:p>
            <a:pPr marL="457200" lvl="1" indent="457200"/>
            <a:endParaRPr sz="2400" b="1">
              <a:latin typeface="Times New Roman" panose="02020603050405020304" pitchFamily="18" charset="0"/>
              <a:ea typeface="宋体" panose="02010600030101010101" pitchFamily="2" charset="-122"/>
            </a:endParaRPr>
          </a:p>
        </p:txBody>
      </p:sp>
      <p:pic>
        <p:nvPicPr>
          <p:cNvPr id="3" name="图片 2" descr="u=815941366,3614897777&amp;fm=253&amp;fmt=auto&amp;app=138&amp;f=JPEG"/>
          <p:cNvPicPr>
            <a:picLocks noChangeAspect="1"/>
          </p:cNvPicPr>
          <p:nvPr/>
        </p:nvPicPr>
        <p:blipFill>
          <a:blip r:embed="rId1"/>
          <a:stretch>
            <a:fillRect/>
          </a:stretch>
        </p:blipFill>
        <p:spPr>
          <a:xfrm>
            <a:off x="3935730" y="3573145"/>
            <a:ext cx="4733290" cy="2359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119380" y="18859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三、</a:t>
            </a:r>
            <a:r>
              <a:rPr sz="3600" b="1">
                <a:solidFill>
                  <a:schemeClr val="tx1"/>
                </a:solidFill>
                <a:latin typeface="宋体" panose="02010600030101010101" pitchFamily="2" charset="-122"/>
                <a:ea typeface="隶书" pitchFamily="49" charset="-122"/>
              </a:rPr>
              <a:t>RC积分电路</a:t>
            </a:r>
            <a:endParaRPr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268730"/>
            <a:ext cx="8458200" cy="1198880"/>
          </a:xfrm>
          <a:prstGeom prst="rect">
            <a:avLst/>
          </a:prstGeom>
          <a:noFill/>
          <a:ln w="9525">
            <a:noFill/>
          </a:ln>
        </p:spPr>
        <p:txBody>
          <a:bodyPr anchor="t" anchorCtr="0">
            <a:spAutoFit/>
          </a:bodyPr>
          <a:p>
            <a:r>
              <a:rPr sz="2400" b="1">
                <a:latin typeface="Times New Roman" panose="02020603050405020304" pitchFamily="18" charset="0"/>
                <a:ea typeface="宋体" panose="02010600030101010101" pitchFamily="2" charset="-122"/>
              </a:rPr>
              <a:t>（2）电路图</a:t>
            </a:r>
            <a:endParaRPr sz="2400" b="1">
              <a:latin typeface="Times New Roman" panose="02020603050405020304" pitchFamily="18" charset="0"/>
              <a:ea typeface="宋体" panose="02010600030101010101" pitchFamily="2" charset="-122"/>
            </a:endParaRPr>
          </a:p>
          <a:p>
            <a:pPr indent="457200"/>
            <a:r>
              <a:rPr sz="2400" b="1">
                <a:latin typeface="Times New Roman" panose="02020603050405020304" pitchFamily="18" charset="0"/>
                <a:ea typeface="宋体" panose="02010600030101010101" pitchFamily="2" charset="-122"/>
              </a:rPr>
              <a:t>RC积分电路如下图（a）所示，给积分电路输入下图（b）所示的矩形脉冲Ui时，它就会输出三角波Uo：</a:t>
            </a:r>
            <a:endParaRPr sz="2400" b="1">
              <a:latin typeface="Times New Roman" panose="02020603050405020304" pitchFamily="18" charset="0"/>
              <a:ea typeface="宋体" panose="02010600030101010101" pitchFamily="2" charset="-122"/>
            </a:endParaRPr>
          </a:p>
        </p:txBody>
      </p:sp>
      <p:pic>
        <p:nvPicPr>
          <p:cNvPr id="2" name="图片 1" descr="d6fd4d1465664781a5bf7fddf3e4404b"/>
          <p:cNvPicPr>
            <a:picLocks noChangeAspect="1"/>
          </p:cNvPicPr>
          <p:nvPr/>
        </p:nvPicPr>
        <p:blipFill>
          <a:blip r:embed="rId1"/>
          <a:stretch>
            <a:fillRect/>
          </a:stretch>
        </p:blipFill>
        <p:spPr>
          <a:xfrm>
            <a:off x="2534285" y="2507615"/>
            <a:ext cx="6099175" cy="34556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d6fd4d1465664781a5bf7fddf3e4404b"/>
          <p:cNvPicPr>
            <a:picLocks noChangeAspect="1"/>
          </p:cNvPicPr>
          <p:nvPr/>
        </p:nvPicPr>
        <p:blipFill>
          <a:blip r:embed="rId1"/>
          <a:stretch>
            <a:fillRect/>
          </a:stretch>
        </p:blipFill>
        <p:spPr>
          <a:xfrm>
            <a:off x="1343660" y="188595"/>
            <a:ext cx="5890260" cy="2169795"/>
          </a:xfrm>
          <a:prstGeom prst="rect">
            <a:avLst/>
          </a:prstGeom>
        </p:spPr>
      </p:pic>
      <p:sp>
        <p:nvSpPr>
          <p:cNvPr id="4" name="Text Box 8"/>
          <p:cNvSpPr txBox="1"/>
          <p:nvPr>
            <p:custDataLst>
              <p:tags r:id="rId2"/>
            </p:custDataLst>
          </p:nvPr>
        </p:nvSpPr>
        <p:spPr>
          <a:xfrm>
            <a:off x="191135" y="2493010"/>
            <a:ext cx="11661775" cy="4154170"/>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sz="2400" b="1">
                <a:latin typeface="Times New Roman" panose="02020603050405020304" pitchFamily="18" charset="0"/>
                <a:ea typeface="宋体" panose="02010600030101010101" pitchFamily="2" charset="-122"/>
              </a:rPr>
              <a:t>​</a:t>
            </a:r>
            <a:r>
              <a:rPr sz="1600" b="1">
                <a:latin typeface="Times New Roman" panose="02020603050405020304" pitchFamily="18" charset="0"/>
                <a:ea typeface="宋体" panose="02010600030101010101" pitchFamily="2" charset="-122"/>
              </a:rPr>
              <a:t>​由上图分析：</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积分电路工作过程说明如下。</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在0～t1期间，矩形脉冲为低电平，输入电压Ui=0V，无电压对电容C充电，故输出电压Uo=0V。</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在t1～t2期间，矩形脉冲为高电平，输入电压Ui的极性是上正下负，它经R对C充电，在C上充得上正下负的电压Uo，随着充电的进行，电压Uo慢慢升，因为积分电路的时间常数τ=RC远大于脉冲的宽度tw，所以t2时刻，电容C上的电压Uo无法充到矩形脉冲的幅度值Vm。</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在t2～t4期间，矩形脉冲又为低电平，电容C上的上正下负电压开始往后级电路（未画出）放电，随着放电的进行，电压Uo慢慢下降，t3时刻电容放电完毕，Uo=0V，由于电容已放完电，故在t3～t4期间Uo始终为0V。t4时刻以后，电路重复上述过程，从而在输出端得到上图（b）所示的三角波Uo即是所需要转换的信号。</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a:p>
            <a:r>
              <a:rPr sz="1600" b="1">
                <a:latin typeface="Times New Roman" panose="02020603050405020304" pitchFamily="18" charset="0"/>
                <a:ea typeface="宋体" panose="02010600030101010101" pitchFamily="2" charset="-122"/>
              </a:rPr>
              <a:t>积分电路正常工作应满足：电路的时间常数τ应远大于输入矩形脉冲的脉冲宽度tw，即τ&gt;&gt;tw，通常τ≥3tw时就可认为满足该条件。</a:t>
            </a:r>
            <a:endParaRPr sz="1600"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119380" y="18859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四、</a:t>
            </a:r>
            <a:r>
              <a:rPr sz="3600" b="1">
                <a:solidFill>
                  <a:schemeClr val="tx1"/>
                </a:solidFill>
                <a:latin typeface="宋体" panose="02010600030101010101" pitchFamily="2" charset="-122"/>
                <a:ea typeface="隶书" pitchFamily="49" charset="-122"/>
              </a:rPr>
              <a:t>RC微分电路</a:t>
            </a:r>
            <a:endParaRPr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268730"/>
            <a:ext cx="9775825" cy="1938020"/>
          </a:xfrm>
          <a:prstGeom prst="rect">
            <a:avLst/>
          </a:prstGeom>
          <a:noFill/>
          <a:ln w="9525">
            <a:noFill/>
          </a:ln>
        </p:spPr>
        <p:txBody>
          <a:bodyPr wrap="square" anchor="t" anchorCtr="0">
            <a:spAutoFit/>
          </a:bodyPr>
          <a:p>
            <a:r>
              <a:rPr sz="2400" b="1">
                <a:latin typeface="Times New Roman" panose="02020603050405020304" pitchFamily="18" charset="0"/>
                <a:ea typeface="宋体" panose="02010600030101010101" pitchFamily="2" charset="-122"/>
              </a:rPr>
              <a:t>（1）RC微分电路的作用</a:t>
            </a:r>
            <a:endParaRPr sz="2400" b="1">
              <a:latin typeface="Times New Roman" panose="02020603050405020304" pitchFamily="18" charset="0"/>
              <a:ea typeface="宋体" panose="02010600030101010101" pitchFamily="2" charset="-122"/>
            </a:endParaRPr>
          </a:p>
          <a:p>
            <a:endParaRPr lang="zh-CN" sz="2400" b="1">
              <a:latin typeface="Times New Roman" panose="02020603050405020304" pitchFamily="18" charset="0"/>
              <a:ea typeface="宋体" panose="02010600030101010101" pitchFamily="2" charset="-122"/>
            </a:endParaRPr>
          </a:p>
          <a:p>
            <a:r>
              <a:rPr lang="zh-CN" sz="2400" b="1">
                <a:latin typeface="Times New Roman" panose="02020603050405020304" pitchFamily="18" charset="0"/>
                <a:ea typeface="宋体" panose="02010600030101010101" pitchFamily="2" charset="-122"/>
              </a:rPr>
              <a:t>作用一：</a:t>
            </a:r>
            <a:r>
              <a:rPr sz="2400" b="1">
                <a:latin typeface="Times New Roman" panose="02020603050405020304" pitchFamily="18" charset="0"/>
                <a:ea typeface="宋体" panose="02010600030101010101" pitchFamily="2" charset="-122"/>
              </a:rPr>
              <a:t>RC微分电路能将矩形脉冲转变成宽度很窄的尖峰脉冲信号。</a:t>
            </a:r>
            <a:endParaRPr sz="2400" b="1">
              <a:latin typeface="Times New Roman" panose="02020603050405020304" pitchFamily="18" charset="0"/>
              <a:ea typeface="宋体" panose="02010600030101010101" pitchFamily="2" charset="-122"/>
            </a:endParaRPr>
          </a:p>
          <a:p>
            <a:endParaRPr sz="2400" b="1">
              <a:latin typeface="Times New Roman" panose="02020603050405020304" pitchFamily="18" charset="0"/>
              <a:ea typeface="宋体" panose="02010600030101010101" pitchFamily="2" charset="-122"/>
            </a:endParaRPr>
          </a:p>
          <a:p>
            <a:r>
              <a:rPr lang="zh-CN" sz="2400" b="1">
                <a:latin typeface="Times New Roman" panose="02020603050405020304" pitchFamily="18" charset="0"/>
                <a:ea typeface="宋体" panose="02010600030101010101" pitchFamily="2" charset="-122"/>
              </a:rPr>
              <a:t>作用二：作用无源高通滤波</a:t>
            </a:r>
            <a:r>
              <a:rPr lang="zh-CN" sz="2400" b="1">
                <a:latin typeface="Times New Roman" panose="02020603050405020304" pitchFamily="18" charset="0"/>
                <a:ea typeface="宋体" panose="02010600030101010101" pitchFamily="2" charset="-122"/>
              </a:rPr>
              <a:t>器</a:t>
            </a:r>
            <a:endParaRPr lang="zh-CN" sz="2400" b="1">
              <a:latin typeface="Times New Roman" panose="02020603050405020304" pitchFamily="18" charset="0"/>
              <a:ea typeface="宋体" panose="02010600030101010101" pitchFamily="2" charset="-122"/>
            </a:endParaRPr>
          </a:p>
        </p:txBody>
      </p:sp>
      <p:pic>
        <p:nvPicPr>
          <p:cNvPr id="3" name="图片 2" descr="0e2869a2cd4227fe93bac76fab06ade7"/>
          <p:cNvPicPr>
            <a:picLocks noChangeAspect="1"/>
          </p:cNvPicPr>
          <p:nvPr/>
        </p:nvPicPr>
        <p:blipFill>
          <a:blip r:embed="rId1"/>
          <a:stretch>
            <a:fillRect/>
          </a:stretch>
        </p:blipFill>
        <p:spPr>
          <a:xfrm>
            <a:off x="3800475" y="3429000"/>
            <a:ext cx="4151630" cy="2374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119380" y="18859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itchFamily="49" charset="-122"/>
              </a:rPr>
              <a:t>四、</a:t>
            </a:r>
            <a:r>
              <a:rPr sz="3600" b="1">
                <a:solidFill>
                  <a:schemeClr val="tx1"/>
                </a:solidFill>
                <a:latin typeface="宋体" panose="02010600030101010101" pitchFamily="2" charset="-122"/>
                <a:ea typeface="隶书" pitchFamily="49" charset="-122"/>
              </a:rPr>
              <a:t>RC</a:t>
            </a:r>
            <a:r>
              <a:rPr lang="zh-CN" sz="3600" b="1">
                <a:solidFill>
                  <a:schemeClr val="tx1"/>
                </a:solidFill>
                <a:latin typeface="宋体" panose="02010600030101010101" pitchFamily="2" charset="-122"/>
                <a:ea typeface="隶书" pitchFamily="49" charset="-122"/>
              </a:rPr>
              <a:t>微</a:t>
            </a:r>
            <a:r>
              <a:rPr sz="3600" b="1">
                <a:solidFill>
                  <a:schemeClr val="tx1"/>
                </a:solidFill>
                <a:latin typeface="宋体" panose="02010600030101010101" pitchFamily="2" charset="-122"/>
                <a:ea typeface="隶书" pitchFamily="49" charset="-122"/>
              </a:rPr>
              <a:t>分电路</a:t>
            </a:r>
            <a:endParaRPr sz="3600" b="1">
              <a:solidFill>
                <a:schemeClr val="tx1"/>
              </a:solidFill>
              <a:latin typeface="宋体" panose="02010600030101010101" pitchFamily="2" charset="-122"/>
              <a:ea typeface="隶书" pitchFamily="49" charset="-122"/>
            </a:endParaRPr>
          </a:p>
        </p:txBody>
      </p:sp>
      <p:sp>
        <p:nvSpPr>
          <p:cNvPr id="6152" name="Text Box 8"/>
          <p:cNvSpPr txBox="1"/>
          <p:nvPr/>
        </p:nvSpPr>
        <p:spPr>
          <a:xfrm>
            <a:off x="983615" y="1268730"/>
            <a:ext cx="8458200" cy="1568450"/>
          </a:xfrm>
          <a:prstGeom prst="rect">
            <a:avLst/>
          </a:prstGeom>
          <a:noFill/>
          <a:ln w="9525">
            <a:noFill/>
          </a:ln>
        </p:spPr>
        <p:txBody>
          <a:bodyPr anchor="t" anchorCtr="0">
            <a:spAutoFit/>
          </a:bodyPr>
          <a:p>
            <a:r>
              <a:rPr sz="2400" b="1">
                <a:latin typeface="Times New Roman" panose="02020603050405020304" pitchFamily="18" charset="0"/>
                <a:ea typeface="宋体" panose="02010600030101010101" pitchFamily="2" charset="-122"/>
              </a:rPr>
              <a:t>（2）电路图</a:t>
            </a:r>
            <a:endParaRPr sz="2400" b="1">
              <a:latin typeface="Times New Roman" panose="02020603050405020304" pitchFamily="18" charset="0"/>
              <a:ea typeface="宋体" panose="02010600030101010101" pitchFamily="2" charset="-122"/>
            </a:endParaRPr>
          </a:p>
          <a:p>
            <a:r>
              <a:rPr sz="2400" b="1">
                <a:latin typeface="Times New Roman" panose="02020603050405020304" pitchFamily="18" charset="0"/>
                <a:ea typeface="宋体" panose="02010600030101010101" pitchFamily="2" charset="-122"/>
              </a:rPr>
              <a:t>RC微分电路如下图（a）所示，给微分电路输入下图（b）所示的矩形脉冲Ui时，RC微分电路的的电路输出端就会输出尖峰脉冲信号Uo。</a:t>
            </a:r>
            <a:endParaRPr sz="2400" b="1">
              <a:latin typeface="Times New Roman" panose="02020603050405020304" pitchFamily="18" charset="0"/>
              <a:ea typeface="宋体" panose="02010600030101010101" pitchFamily="2" charset="-122"/>
            </a:endParaRPr>
          </a:p>
        </p:txBody>
      </p:sp>
      <p:pic>
        <p:nvPicPr>
          <p:cNvPr id="3" name="图片 2" descr="717cbc743869495cb395dabe95a41ac5"/>
          <p:cNvPicPr>
            <a:picLocks noChangeAspect="1"/>
          </p:cNvPicPr>
          <p:nvPr/>
        </p:nvPicPr>
        <p:blipFill>
          <a:blip r:embed="rId1"/>
          <a:stretch>
            <a:fillRect/>
          </a:stretch>
        </p:blipFill>
        <p:spPr>
          <a:xfrm>
            <a:off x="3288030" y="2564765"/>
            <a:ext cx="6420485" cy="38830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717cbc743869495cb395dabe95a41ac5"/>
          <p:cNvPicPr>
            <a:picLocks noChangeAspect="1"/>
          </p:cNvPicPr>
          <p:nvPr/>
        </p:nvPicPr>
        <p:blipFill>
          <a:blip r:embed="rId1"/>
          <a:stretch>
            <a:fillRect/>
          </a:stretch>
        </p:blipFill>
        <p:spPr>
          <a:xfrm>
            <a:off x="407670" y="188595"/>
            <a:ext cx="7632065" cy="2183765"/>
          </a:xfrm>
          <a:prstGeom prst="rect">
            <a:avLst/>
          </a:prstGeom>
        </p:spPr>
      </p:pic>
      <p:sp>
        <p:nvSpPr>
          <p:cNvPr id="4" name="Text Box 8"/>
          <p:cNvSpPr txBox="1"/>
          <p:nvPr>
            <p:custDataLst>
              <p:tags r:id="rId2"/>
            </p:custDataLst>
          </p:nvPr>
        </p:nvSpPr>
        <p:spPr>
          <a:xfrm>
            <a:off x="191135" y="2493010"/>
            <a:ext cx="11661775" cy="375348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b="1">
                <a:latin typeface="Times New Roman" panose="02020603050405020304" pitchFamily="18" charset="0"/>
                <a:ea typeface="宋体" panose="02010600030101010101" pitchFamily="2" charset="-122"/>
              </a:rPr>
              <a:t>由上图分析：</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电路工作过程说明如下。</a:t>
            </a:r>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在0～t1期间，矩形脉冲为低电平，输入电压Ui=0V，无电流流过电容和电阻，故电阻R两端电压Uo=0V。</a:t>
            </a:r>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在t1～t2期间，矩形脉冲为高电平，输入电压Ui的极性是上正下负，在t1时刻，由于电容C还没被充电，故电容两端的电压UC=0V，而电阻R两端的Uo=Vm，t1时刻后Ui开始对电容电，由于该电路的时间常数很小，因此电容充电速度很快，电压UC（左正右负）很快上升到Vm，该电压保持为Vm到t2时刻，而电阻R两端的电压Uo很快下降到0V。即在t1～t2期间，R两端得到一个正的尖峰脉冲电压Uo。</a:t>
            </a:r>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endParaRPr b="1">
              <a:latin typeface="Times New Roman" panose="02020603050405020304" pitchFamily="18" charset="0"/>
              <a:ea typeface="宋体" panose="02010600030101010101" pitchFamily="2" charset="-122"/>
            </a:endParaRPr>
          </a:p>
          <a:p>
            <a:r>
              <a:rPr b="1">
                <a:latin typeface="Times New Roman" panose="02020603050405020304" pitchFamily="18" charset="0"/>
                <a:ea typeface="宋体" panose="02010600030101010101" pitchFamily="2" charset="-122"/>
              </a:rPr>
              <a:t>微分电路正常工作应满足的条件：电路的时间常数τ应远小于输入矩形脉冲的脉冲宽度tw，即τ&lt;&lt;tw,通常τ≤1/5tw时就可认为满足该条件。</a:t>
            </a:r>
            <a:endParaRPr b="1">
              <a:latin typeface="Times New Roman" panose="02020603050405020304" pitchFamily="18" charset="0"/>
              <a:ea typeface="宋体" panose="02010600030101010101" pitchFamily="2" charset="-122"/>
            </a:endParaRPr>
          </a:p>
          <a:p>
            <a:endParaRPr sz="16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COMMONDATA" val="eyJoZGlkIjoiMWQ2ZTIxOWE1Y2RhZTg0ZmE3YTgxZmQzOWUzNmRjMG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2086</Words>
  <Application>WPS 演示</Application>
  <PresentationFormat>宽屏</PresentationFormat>
  <Paragraphs>95</Paragraphs>
  <Slides>13</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13</vt:i4>
      </vt:variant>
    </vt:vector>
  </HeadingPairs>
  <TitlesOfParts>
    <vt:vector size="22" baseType="lpstr">
      <vt:lpstr>Arial</vt:lpstr>
      <vt:lpstr>宋体</vt:lpstr>
      <vt:lpstr>Wingdings</vt:lpstr>
      <vt:lpstr>隶书</vt:lpstr>
      <vt:lpstr>微软雅黑</vt:lpstr>
      <vt:lpstr>Times New Roman</vt:lpstr>
      <vt:lpstr>Arial Unicode MS</vt:lpstr>
      <vt:lpstr>默认设计模板</vt:lpstr>
      <vt:lpstr>1_默认设计模板</vt:lpstr>
      <vt:lpstr>3.2 RC电路</vt:lpstr>
      <vt:lpstr>一、什么是RC电路</vt:lpstr>
      <vt:lpstr>二、RC充、放电电路</vt:lpstr>
      <vt:lpstr>二、RC充、放电电路</vt:lpstr>
      <vt:lpstr>PowerPoint 演示文稿</vt:lpstr>
      <vt:lpstr>二、RC充、放电电路</vt:lpstr>
      <vt:lpstr>PowerPoint 演示文稿</vt:lpstr>
      <vt:lpstr>三、RC积分电路</vt:lpstr>
      <vt:lpstr>三、RC积分电路</vt:lpstr>
      <vt:lpstr>PowerPoint 演示文稿</vt:lpstr>
      <vt:lpstr>四、RC微分电路</vt:lpstr>
      <vt:lpstr>四、RC微分电路</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第二讲 半导体基础知识</dc:title>
  <dc:creator>微软用户</dc:creator>
  <cp:lastModifiedBy>Administrator</cp:lastModifiedBy>
  <cp:revision>25</cp:revision>
  <dcterms:created xsi:type="dcterms:W3CDTF">2013-09-02T02:51:00Z</dcterms:created>
  <dcterms:modified xsi:type="dcterms:W3CDTF">2023-09-07T02:09:16Z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E11A2F4858534ACBBB333C817AB78429_12</vt:lpwstr>
  </property>
  <property fmtid="{D5CDD505-2E9C-101B-9397-08002B2CF9AE}" pid="3" name="KSOProductBuildVer">
    <vt:lpwstr>2052-12.1.0.15374</vt:lpwstr>
  </property>
</Properties>
</file>