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7" r:id="rId4"/>
    <p:sldId id="279" r:id="rId6"/>
    <p:sldId id="258" r:id="rId7"/>
    <p:sldId id="277" r:id="rId8"/>
    <p:sldId id="280" r:id="rId9"/>
    <p:sldId id="278" r:id="rId10"/>
    <p:sldId id="281" r:id="rId11"/>
    <p:sldId id="282" r:id="rId12"/>
    <p:sldId id="283" r:id="rId13"/>
    <p:sldId id="284" r:id="rId14"/>
    <p:sldId id="290" r:id="rId15"/>
    <p:sldId id="285" r:id="rId16"/>
    <p:sldId id="286" r:id="rId17"/>
  </p:sldIdLst>
  <p:sldSz cx="12192000" cy="6858000"/>
  <p:notesSz cx="6858000" cy="9144000"/>
  <p:custDataLst>
    <p:tags r:id="rId21"/>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1986"/>
    <p:restoredTop sz="94692"/>
  </p:normalViewPr>
  <p:slideViewPr>
    <p:cSldViewPr showGuides="1">
      <p:cViewPr varScale="1">
        <p:scale>
          <a:sx n="106" d="100"/>
          <a:sy n="106" d="100"/>
        </p:scale>
        <p:origin x="1000" y="176"/>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gs" Target="tags/tag126.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10.emf"/><Relationship Id="rId4" Type="http://schemas.openxmlformats.org/officeDocument/2006/relationships/image" Target="../media/image9.emf"/><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16.emf"/><Relationship Id="rId4" Type="http://schemas.openxmlformats.org/officeDocument/2006/relationships/image" Target="../media/image15.emf"/><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image" Target="../media/image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Rot="1" noTextEdit="1"/>
          </p:cNvSpPr>
          <p:nvPr>
            <p:ph type="sldImg"/>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p:cNvSpPr>
          <p:nvPr>
            <p:ph type="body" sz="quarter"/>
          </p:nvPr>
        </p:nvSpPr>
        <p:spPr>
          <a:xfrm>
            <a:off x="685800" y="4343400"/>
            <a:ext cx="5486400" cy="4114800"/>
          </a:xfrm>
          <a:prstGeom prst="rect">
            <a:avLst/>
          </a:prstGeom>
          <a:noFill/>
          <a:ln w="9525">
            <a:noFill/>
          </a:ln>
        </p:spPr>
        <p:txBody>
          <a:bodyPr vert="horz" wrap="square" lIns="91440" tIns="45720" rIns="91440" bIns="45720"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strike="noStrike" noProof="1">
                <a:latin typeface="Arial" panose="020B0604020202020204" pitchFamily="34" charset="0"/>
                <a:ea typeface="宋体" panose="02010600030101010101" pitchFamily="2" charset="-122"/>
                <a:cs typeface="+mn-cs"/>
              </a:rPr>
            </a:fld>
            <a:endParaRPr lang="en-US" altLang="zh-CN"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a:fld>
            <a:endParaRPr lang="en-US" altLang="zh-CN"/>
          </a:p>
        </p:txBody>
      </p:sp>
      <p:sp>
        <p:nvSpPr>
          <p:cNvPr id="4098" name="Rectangle 2"/>
          <p:cNvSpPr>
            <a:spLocks noRot="1" noTextEdit="1"/>
          </p:cNvSpPr>
          <p:nvPr>
            <p:ph type="sldImg"/>
          </p:nvPr>
        </p:nvSpPr>
        <p:spPr/>
      </p:sp>
      <p:sp>
        <p:nvSpPr>
          <p:cNvPr id="4099" name="Rectangle 3"/>
          <p:cNvSpPr>
            <a:spLocks noGrp="1"/>
          </p:cNvSpPr>
          <p:nvPr>
            <p:ph type="body"/>
          </p:nvPr>
        </p:nvSpPr>
        <p:spPr>
          <a:xfrm>
            <a:off x="914400" y="4343400"/>
            <a:ext cx="5029200" cy="4114800"/>
          </a:xfrm>
        </p:spPr>
        <p:txBody>
          <a:bodyPr wrap="square" lIns="91440" tIns="45720" rIns="91440" bIns="45720" anchor="t" anchorCtr="0"/>
          <a:p>
            <a:pPr lvl="0" eaLnBrk="1" hangingPunct="1"/>
            <a:r>
              <a:rPr lang="zh-CN" altLang="en-US"/>
              <a:t>本讲主要介绍有关半导体的基本知识，为讲清半导体器件的工作原理作准备。</a:t>
            </a:r>
            <a:endParaRPr lang="zh-CN" altLang="en-US"/>
          </a:p>
          <a:p>
            <a:pPr lvl="0" eaLnBrk="1" hangingPunct="1"/>
            <a:r>
              <a:rPr lang="zh-CN" altLang="en-US" b="1"/>
              <a:t>讲课思路</a:t>
            </a:r>
            <a:r>
              <a:rPr lang="zh-CN" altLang="en-US"/>
              <a:t>：需讲清楚为什么由导电性能居中的半导体→导电性能极差的本征半导体→导电性能可控的杂质半导体→具有单向导电性的</a:t>
            </a:r>
            <a:r>
              <a:rPr lang="en-US" altLang="zh-CN"/>
              <a:t>PN</a:t>
            </a:r>
            <a:r>
              <a:rPr lang="zh-CN" altLang="en-US"/>
              <a:t>结。</a:t>
            </a:r>
            <a:endParaRPr lang="zh-CN" altLang="en-US"/>
          </a:p>
          <a:p>
            <a:pPr lvl="0" eaLnBrk="1" hangingPunct="1"/>
            <a:r>
              <a:rPr lang="zh-CN" altLang="en-US"/>
              <a:t>并说明温度对载流子数目及浓度的影响，为阐明半导体器件的温度稳定性差打下伏笔；说明</a:t>
            </a:r>
            <a:r>
              <a:rPr lang="en-US" altLang="zh-CN"/>
              <a:t>PN</a:t>
            </a:r>
            <a:r>
              <a:rPr lang="zh-CN" altLang="en-US"/>
              <a:t>结的电容效应，为阐明半导体器件的最高工作频率和模拟电子电路的频率响应打下伏笔。</a:t>
            </a:r>
            <a:endParaRPr lang="zh-CN" altLang="en-US"/>
          </a:p>
          <a:p>
            <a:pPr lvl="0" eaLnBrk="1" hangingPunct="1"/>
            <a:r>
              <a:rPr lang="zh-CN" altLang="en-US" b="1">
                <a:solidFill>
                  <a:srgbClr val="FF3300"/>
                </a:solidFill>
              </a:rPr>
              <a:t>使学生掌握的基本术语：</a:t>
            </a:r>
            <a:r>
              <a:rPr lang="zh-CN" altLang="en-US"/>
              <a:t>本征半导体、自由电子和空穴、复合、</a:t>
            </a:r>
            <a:r>
              <a:rPr lang="en-US" altLang="zh-CN"/>
              <a:t>N</a:t>
            </a:r>
            <a:r>
              <a:rPr lang="zh-CN" altLang="en-US"/>
              <a:t>型半导体和</a:t>
            </a:r>
            <a:r>
              <a:rPr lang="en-US" altLang="zh-CN"/>
              <a:t>P</a:t>
            </a:r>
            <a:r>
              <a:rPr lang="zh-CN" altLang="en-US"/>
              <a:t>型半导体、扩散运动和漂移运动、动态平衡、</a:t>
            </a:r>
            <a:r>
              <a:rPr lang="en-US" altLang="zh-CN"/>
              <a:t>PN</a:t>
            </a:r>
            <a:r>
              <a:rPr lang="zh-CN" altLang="en-US"/>
              <a:t>结的单向导电性、结电容</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a:fld>
            <a:endParaRPr lang="en-US" altLang="zh-CN"/>
          </a:p>
        </p:txBody>
      </p:sp>
      <p:sp>
        <p:nvSpPr>
          <p:cNvPr id="4098" name="Rectangle 2"/>
          <p:cNvSpPr>
            <a:spLocks noRot="1" noTextEdit="1"/>
          </p:cNvSpPr>
          <p:nvPr>
            <p:ph type="sldImg"/>
          </p:nvPr>
        </p:nvSpPr>
        <p:spPr/>
      </p:sp>
      <p:sp>
        <p:nvSpPr>
          <p:cNvPr id="4099" name="Rectangle 3"/>
          <p:cNvSpPr>
            <a:spLocks noGrp="1"/>
          </p:cNvSpPr>
          <p:nvPr>
            <p:ph type="body"/>
          </p:nvPr>
        </p:nvSpPr>
        <p:spPr>
          <a:xfrm>
            <a:off x="914400" y="4343400"/>
            <a:ext cx="5029200" cy="4114800"/>
          </a:xfrm>
        </p:spPr>
        <p:txBody>
          <a:bodyPr wrap="square" lIns="91440" tIns="45720" rIns="91440" bIns="45720" anchor="t" anchorCtr="0"/>
          <a:p>
            <a:pPr lvl="0" eaLnBrk="1" hangingPunct="1"/>
            <a:r>
              <a:rPr lang="zh-CN" altLang="en-US"/>
              <a:t>本讲主要介绍有关半导体的基本知识，为讲清半导体器件的工作原理作准备。</a:t>
            </a:r>
            <a:endParaRPr lang="zh-CN" altLang="en-US"/>
          </a:p>
          <a:p>
            <a:pPr lvl="0" eaLnBrk="1" hangingPunct="1"/>
            <a:r>
              <a:rPr lang="zh-CN" altLang="en-US" b="1"/>
              <a:t>讲课思路</a:t>
            </a:r>
            <a:r>
              <a:rPr lang="zh-CN" altLang="en-US"/>
              <a:t>：需讲清楚为什么由导电性能居中的半导体→导电性能极差的本征半导体→导电性能可控的杂质半导体→具有单向导电性的</a:t>
            </a:r>
            <a:r>
              <a:rPr lang="en-US" altLang="zh-CN"/>
              <a:t>PN</a:t>
            </a:r>
            <a:r>
              <a:rPr lang="zh-CN" altLang="en-US"/>
              <a:t>结。</a:t>
            </a:r>
            <a:endParaRPr lang="zh-CN" altLang="en-US"/>
          </a:p>
          <a:p>
            <a:pPr lvl="0" eaLnBrk="1" hangingPunct="1"/>
            <a:r>
              <a:rPr lang="zh-CN" altLang="en-US"/>
              <a:t>并说明温度对载流子数目及浓度的影响，为阐明半导体器件的温度稳定性差打下伏笔；说明</a:t>
            </a:r>
            <a:r>
              <a:rPr lang="en-US" altLang="zh-CN"/>
              <a:t>PN</a:t>
            </a:r>
            <a:r>
              <a:rPr lang="zh-CN" altLang="en-US"/>
              <a:t>结的电容效应，为阐明半导体器件的最高工作频率和模拟电子电路的频率响应打下伏笔。</a:t>
            </a:r>
            <a:endParaRPr lang="zh-CN" altLang="en-US"/>
          </a:p>
          <a:p>
            <a:pPr lvl="0" eaLnBrk="1" hangingPunct="1"/>
            <a:r>
              <a:rPr lang="zh-CN" altLang="en-US" b="1">
                <a:solidFill>
                  <a:srgbClr val="FF3300"/>
                </a:solidFill>
              </a:rPr>
              <a:t>使学生掌握的基本术语：</a:t>
            </a:r>
            <a:r>
              <a:rPr lang="zh-CN" altLang="en-US"/>
              <a:t>本征半导体、自由电子和空穴、复合、</a:t>
            </a:r>
            <a:r>
              <a:rPr lang="en-US" altLang="zh-CN"/>
              <a:t>N</a:t>
            </a:r>
            <a:r>
              <a:rPr lang="zh-CN" altLang="en-US"/>
              <a:t>型半导体和</a:t>
            </a:r>
            <a:r>
              <a:rPr lang="en-US" altLang="zh-CN"/>
              <a:t>P</a:t>
            </a:r>
            <a:r>
              <a:rPr lang="zh-CN" altLang="en-US"/>
              <a:t>型半导体、扩散运动和漂移运动、动态平衡、</a:t>
            </a:r>
            <a:r>
              <a:rPr lang="en-US" altLang="zh-CN"/>
              <a:t>PN</a:t>
            </a:r>
            <a:r>
              <a:rPr lang="zh-CN" altLang="en-US"/>
              <a:t>结的单向导电性、结电容</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a:fld>
            <a:endParaRPr lang="en-US" altLang="zh-CN"/>
          </a:p>
        </p:txBody>
      </p:sp>
      <p:sp>
        <p:nvSpPr>
          <p:cNvPr id="4098" name="Rectangle 2"/>
          <p:cNvSpPr>
            <a:spLocks noRot="1" noTextEdit="1"/>
          </p:cNvSpPr>
          <p:nvPr>
            <p:ph type="sldImg"/>
          </p:nvPr>
        </p:nvSpPr>
        <p:spPr/>
      </p:sp>
      <p:sp>
        <p:nvSpPr>
          <p:cNvPr id="4099" name="Rectangle 3"/>
          <p:cNvSpPr>
            <a:spLocks noGrp="1"/>
          </p:cNvSpPr>
          <p:nvPr>
            <p:ph type="body"/>
          </p:nvPr>
        </p:nvSpPr>
        <p:spPr>
          <a:xfrm>
            <a:off x="914400" y="4343400"/>
            <a:ext cx="5029200" cy="4114800"/>
          </a:xfrm>
        </p:spPr>
        <p:txBody>
          <a:bodyPr wrap="square" lIns="91440" tIns="45720" rIns="91440" bIns="45720" anchor="t" anchorCtr="0"/>
          <a:p>
            <a:pPr lvl="0" eaLnBrk="1" hangingPunct="1"/>
            <a:r>
              <a:rPr lang="zh-CN" altLang="en-US"/>
              <a:t>本讲主要介绍有关半导体的基本知识，为讲清半导体器件的工作原理作准备。</a:t>
            </a:r>
            <a:endParaRPr lang="zh-CN" altLang="en-US"/>
          </a:p>
          <a:p>
            <a:pPr lvl="0" eaLnBrk="1" hangingPunct="1"/>
            <a:r>
              <a:rPr lang="zh-CN" altLang="en-US" b="1"/>
              <a:t>讲课思路</a:t>
            </a:r>
            <a:r>
              <a:rPr lang="zh-CN" altLang="en-US"/>
              <a:t>：需讲清楚为什么由导电性能居中的半导体→导电性能极差的本征半导体→导电性能可控的杂质半导体→具有单向导电性的</a:t>
            </a:r>
            <a:r>
              <a:rPr lang="en-US" altLang="zh-CN"/>
              <a:t>PN</a:t>
            </a:r>
            <a:r>
              <a:rPr lang="zh-CN" altLang="en-US"/>
              <a:t>结。</a:t>
            </a:r>
            <a:endParaRPr lang="zh-CN" altLang="en-US"/>
          </a:p>
          <a:p>
            <a:pPr lvl="0" eaLnBrk="1" hangingPunct="1"/>
            <a:r>
              <a:rPr lang="zh-CN" altLang="en-US"/>
              <a:t>并说明温度对载流子数目及浓度的影响，为阐明半导体器件的温度稳定性差打下伏笔；说明</a:t>
            </a:r>
            <a:r>
              <a:rPr lang="en-US" altLang="zh-CN"/>
              <a:t>PN</a:t>
            </a:r>
            <a:r>
              <a:rPr lang="zh-CN" altLang="en-US"/>
              <a:t>结的电容效应，为阐明半导体器件的最高工作频率和模拟电子电路的频率响应打下伏笔。</a:t>
            </a:r>
            <a:endParaRPr lang="zh-CN" altLang="en-US"/>
          </a:p>
          <a:p>
            <a:pPr lvl="0" eaLnBrk="1" hangingPunct="1"/>
            <a:r>
              <a:rPr lang="zh-CN" altLang="en-US" b="1">
                <a:solidFill>
                  <a:srgbClr val="FF3300"/>
                </a:solidFill>
              </a:rPr>
              <a:t>使学生掌握的基本术语：</a:t>
            </a:r>
            <a:r>
              <a:rPr lang="zh-CN" altLang="en-US"/>
              <a:t>本征半导体、自由电子和空穴、复合、</a:t>
            </a:r>
            <a:r>
              <a:rPr lang="en-US" altLang="zh-CN"/>
              <a:t>N</a:t>
            </a:r>
            <a:r>
              <a:rPr lang="zh-CN" altLang="en-US"/>
              <a:t>型半导体和</a:t>
            </a:r>
            <a:r>
              <a:rPr lang="en-US" altLang="zh-CN"/>
              <a:t>P</a:t>
            </a:r>
            <a:r>
              <a:rPr lang="zh-CN" altLang="en-US"/>
              <a:t>型半导体、扩散运动和漂移运动、动态平衡、</a:t>
            </a:r>
            <a:r>
              <a:rPr lang="en-US" altLang="zh-CN"/>
              <a:t>PN</a:t>
            </a:r>
            <a:r>
              <a:rPr lang="zh-CN" altLang="en-US"/>
              <a:t>结的单向导电性、结电容</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a:fld>
            <a:endParaRPr lang="en-US" altLang="zh-CN"/>
          </a:p>
        </p:txBody>
      </p:sp>
      <p:sp>
        <p:nvSpPr>
          <p:cNvPr id="4098" name="Rectangle 2"/>
          <p:cNvSpPr>
            <a:spLocks noRot="1" noTextEdit="1"/>
          </p:cNvSpPr>
          <p:nvPr>
            <p:ph type="sldImg"/>
          </p:nvPr>
        </p:nvSpPr>
        <p:spPr/>
      </p:sp>
      <p:sp>
        <p:nvSpPr>
          <p:cNvPr id="4099" name="Rectangle 3"/>
          <p:cNvSpPr>
            <a:spLocks noGrp="1"/>
          </p:cNvSpPr>
          <p:nvPr>
            <p:ph type="body"/>
          </p:nvPr>
        </p:nvSpPr>
        <p:spPr>
          <a:xfrm>
            <a:off x="914400" y="4343400"/>
            <a:ext cx="5029200" cy="4114800"/>
          </a:xfrm>
        </p:spPr>
        <p:txBody>
          <a:bodyPr wrap="square" lIns="91440" tIns="45720" rIns="91440" bIns="45720" anchor="t" anchorCtr="0"/>
          <a:p>
            <a:pPr lvl="0" eaLnBrk="1" hangingPunct="1"/>
            <a:r>
              <a:rPr lang="zh-CN" altLang="en-US"/>
              <a:t>本讲主要介绍有关半导体的基本知识，为讲清半导体器件的工作原理作准备。</a:t>
            </a:r>
            <a:endParaRPr lang="zh-CN" altLang="en-US"/>
          </a:p>
          <a:p>
            <a:pPr lvl="0" eaLnBrk="1" hangingPunct="1"/>
            <a:r>
              <a:rPr lang="zh-CN" altLang="en-US" b="1"/>
              <a:t>讲课思路</a:t>
            </a:r>
            <a:r>
              <a:rPr lang="zh-CN" altLang="en-US"/>
              <a:t>：需讲清楚为什么由导电性能居中的半导体→导电性能极差的本征半导体→导电性能可控的杂质半导体→具有单向导电性的</a:t>
            </a:r>
            <a:r>
              <a:rPr lang="en-US" altLang="zh-CN"/>
              <a:t>PN</a:t>
            </a:r>
            <a:r>
              <a:rPr lang="zh-CN" altLang="en-US"/>
              <a:t>结。</a:t>
            </a:r>
            <a:endParaRPr lang="zh-CN" altLang="en-US"/>
          </a:p>
          <a:p>
            <a:pPr lvl="0" eaLnBrk="1" hangingPunct="1"/>
            <a:r>
              <a:rPr lang="zh-CN" altLang="en-US"/>
              <a:t>并说明温度对载流子数目及浓度的影响，为阐明半导体器件的温度稳定性差打下伏笔；说明</a:t>
            </a:r>
            <a:r>
              <a:rPr lang="en-US" altLang="zh-CN"/>
              <a:t>PN</a:t>
            </a:r>
            <a:r>
              <a:rPr lang="zh-CN" altLang="en-US"/>
              <a:t>结的电容效应，为阐明半导体器件的最高工作频率和模拟电子电路的频率响应打下伏笔。</a:t>
            </a:r>
            <a:endParaRPr lang="zh-CN" altLang="en-US"/>
          </a:p>
          <a:p>
            <a:pPr lvl="0" eaLnBrk="1" hangingPunct="1"/>
            <a:r>
              <a:rPr lang="zh-CN" altLang="en-US" b="1">
                <a:solidFill>
                  <a:srgbClr val="FF3300"/>
                </a:solidFill>
              </a:rPr>
              <a:t>使学生掌握的基本术语：</a:t>
            </a:r>
            <a:r>
              <a:rPr lang="zh-CN" altLang="en-US"/>
              <a:t>本征半导体、自由电子和空穴、复合、</a:t>
            </a:r>
            <a:r>
              <a:rPr lang="en-US" altLang="zh-CN"/>
              <a:t>N</a:t>
            </a:r>
            <a:r>
              <a:rPr lang="zh-CN" altLang="en-US"/>
              <a:t>型半导体和</a:t>
            </a:r>
            <a:r>
              <a:rPr lang="en-US" altLang="zh-CN"/>
              <a:t>P</a:t>
            </a:r>
            <a:r>
              <a:rPr lang="zh-CN" altLang="en-US"/>
              <a:t>型半导体、扩散运动和漂移运动、动态平衡、</a:t>
            </a:r>
            <a:r>
              <a:rPr lang="en-US" altLang="zh-CN"/>
              <a:t>PN</a:t>
            </a:r>
            <a:r>
              <a:rPr lang="zh-CN" altLang="en-US"/>
              <a:t>结的单向导电性、结电容</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a:fld>
            <a:endParaRPr lang="en-US" altLang="zh-CN"/>
          </a:p>
        </p:txBody>
      </p:sp>
      <p:sp>
        <p:nvSpPr>
          <p:cNvPr id="4098" name="Rectangle 2"/>
          <p:cNvSpPr>
            <a:spLocks noRot="1" noTextEdit="1"/>
          </p:cNvSpPr>
          <p:nvPr>
            <p:ph type="sldImg"/>
          </p:nvPr>
        </p:nvSpPr>
        <p:spPr/>
      </p:sp>
      <p:sp>
        <p:nvSpPr>
          <p:cNvPr id="4099" name="Rectangle 3"/>
          <p:cNvSpPr>
            <a:spLocks noGrp="1"/>
          </p:cNvSpPr>
          <p:nvPr>
            <p:ph type="body"/>
          </p:nvPr>
        </p:nvSpPr>
        <p:spPr>
          <a:xfrm>
            <a:off x="914400" y="4343400"/>
            <a:ext cx="5029200" cy="4114800"/>
          </a:xfrm>
        </p:spPr>
        <p:txBody>
          <a:bodyPr wrap="square" lIns="91440" tIns="45720" rIns="91440" bIns="45720" anchor="t" anchorCtr="0"/>
          <a:p>
            <a:pPr lvl="0" eaLnBrk="1" hangingPunct="1"/>
            <a:r>
              <a:rPr lang="zh-CN" altLang="en-US"/>
              <a:t>本讲主要介绍有关半导体的基本知识，为讲清半导体器件的工作原理作准备。</a:t>
            </a:r>
            <a:endParaRPr lang="zh-CN" altLang="en-US"/>
          </a:p>
          <a:p>
            <a:pPr lvl="0" eaLnBrk="1" hangingPunct="1"/>
            <a:r>
              <a:rPr lang="zh-CN" altLang="en-US" b="1"/>
              <a:t>讲课思路</a:t>
            </a:r>
            <a:r>
              <a:rPr lang="zh-CN" altLang="en-US"/>
              <a:t>：需讲清楚为什么由导电性能居中的半导体→导电性能极差的本征半导体→导电性能可控的杂质半导体→具有单向导电性的</a:t>
            </a:r>
            <a:r>
              <a:rPr lang="en-US" altLang="zh-CN"/>
              <a:t>PN</a:t>
            </a:r>
            <a:r>
              <a:rPr lang="zh-CN" altLang="en-US"/>
              <a:t>结。</a:t>
            </a:r>
            <a:endParaRPr lang="zh-CN" altLang="en-US"/>
          </a:p>
          <a:p>
            <a:pPr lvl="0" eaLnBrk="1" hangingPunct="1"/>
            <a:r>
              <a:rPr lang="zh-CN" altLang="en-US"/>
              <a:t>并说明温度对载流子数目及浓度的影响，为阐明半导体器件的温度稳定性差打下伏笔；说明</a:t>
            </a:r>
            <a:r>
              <a:rPr lang="en-US" altLang="zh-CN"/>
              <a:t>PN</a:t>
            </a:r>
            <a:r>
              <a:rPr lang="zh-CN" altLang="en-US"/>
              <a:t>结的电容效应，为阐明半导体器件的最高工作频率和模拟电子电路的频率响应打下伏笔。</a:t>
            </a:r>
            <a:endParaRPr lang="zh-CN" altLang="en-US"/>
          </a:p>
          <a:p>
            <a:pPr lvl="0" eaLnBrk="1" hangingPunct="1"/>
            <a:r>
              <a:rPr lang="zh-CN" altLang="en-US" b="1">
                <a:solidFill>
                  <a:srgbClr val="FF3300"/>
                </a:solidFill>
              </a:rPr>
              <a:t>使学生掌握的基本术语：</a:t>
            </a:r>
            <a:r>
              <a:rPr lang="zh-CN" altLang="en-US"/>
              <a:t>本征半导体、自由电子和空穴、复合、</a:t>
            </a:r>
            <a:r>
              <a:rPr lang="en-US" altLang="zh-CN"/>
              <a:t>N</a:t>
            </a:r>
            <a:r>
              <a:rPr lang="zh-CN" altLang="en-US"/>
              <a:t>型半导体和</a:t>
            </a:r>
            <a:r>
              <a:rPr lang="en-US" altLang="zh-CN"/>
              <a:t>P</a:t>
            </a:r>
            <a:r>
              <a:rPr lang="zh-CN" altLang="en-US"/>
              <a:t>型半导体、扩散运动和漂移运动、动态平衡、</a:t>
            </a:r>
            <a:r>
              <a:rPr lang="en-US" altLang="zh-CN"/>
              <a:t>PN</a:t>
            </a:r>
            <a:r>
              <a:rPr lang="zh-CN" altLang="en-US"/>
              <a:t>结的单向导电性、结电容</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9"/>
            <a:ext cx="8026400" cy="58515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9"/>
            <a:ext cx="8026400" cy="58515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609600" y="274638"/>
            <a:ext cx="109728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pic>
        <p:nvPicPr>
          <p:cNvPr id="1031" name="图片 2"/>
          <p:cNvPicPr>
            <a:picLocks noChangeAspect="1"/>
          </p:cNvPicPr>
          <p:nvPr userDrawn="1"/>
        </p:nvPicPr>
        <p:blipFill>
          <a:blip r:embed="rId12"/>
          <a:stretch>
            <a:fillRect/>
          </a:stretch>
        </p:blipFill>
        <p:spPr>
          <a:xfrm>
            <a:off x="10609263" y="68263"/>
            <a:ext cx="1454150" cy="57943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609600" y="274638"/>
            <a:ext cx="109728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pic>
        <p:nvPicPr>
          <p:cNvPr id="1031" name="图片 2"/>
          <p:cNvPicPr>
            <a:picLocks noChangeAspect="1"/>
          </p:cNvPicPr>
          <p:nvPr userDrawn="1"/>
        </p:nvPicPr>
        <p:blipFill>
          <a:blip r:embed="rId12"/>
          <a:stretch>
            <a:fillRect/>
          </a:stretch>
        </p:blipFill>
        <p:spPr>
          <a:xfrm>
            <a:off x="10609263" y="68263"/>
            <a:ext cx="1454150" cy="57943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tags" Target="../tags/tag4.xml"/><Relationship Id="rId7" Type="http://schemas.openxmlformats.org/officeDocument/2006/relationships/image" Target="../media/image3.wmf"/><Relationship Id="rId6" Type="http://schemas.openxmlformats.org/officeDocument/2006/relationships/oleObject" Target="../embeddings/oleObject2.bin"/><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2.wmf"/><Relationship Id="rId25" Type="http://schemas.openxmlformats.org/officeDocument/2006/relationships/vmlDrawing" Target="../drawings/vmlDrawing1.vml"/><Relationship Id="rId24" Type="http://schemas.openxmlformats.org/officeDocument/2006/relationships/slideLayout" Target="../slideLayouts/slideLayout2.xml"/><Relationship Id="rId23" Type="http://schemas.openxmlformats.org/officeDocument/2006/relationships/tags" Target="../tags/tag19.xml"/><Relationship Id="rId22" Type="http://schemas.openxmlformats.org/officeDocument/2006/relationships/tags" Target="../tags/tag18.xml"/><Relationship Id="rId21" Type="http://schemas.openxmlformats.org/officeDocument/2006/relationships/tags" Target="../tags/tag17.xml"/><Relationship Id="rId20" Type="http://schemas.openxmlformats.org/officeDocument/2006/relationships/tags" Target="../tags/tag16.xml"/><Relationship Id="rId2" Type="http://schemas.openxmlformats.org/officeDocument/2006/relationships/oleObject" Target="../embeddings/oleObject1.bin"/><Relationship Id="rId19" Type="http://schemas.openxmlformats.org/officeDocument/2006/relationships/tags" Target="../tags/tag15.xml"/><Relationship Id="rId18" Type="http://schemas.openxmlformats.org/officeDocument/2006/relationships/tags" Target="../tags/tag14.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image" Target="../media/image3.wmf"/><Relationship Id="rId22" Type="http://schemas.openxmlformats.org/officeDocument/2006/relationships/vmlDrawing" Target="../drawings/vmlDrawing2.vml"/><Relationship Id="rId21" Type="http://schemas.openxmlformats.org/officeDocument/2006/relationships/slideLayout" Target="../slideLayouts/slideLayout13.xml"/><Relationship Id="rId20" Type="http://schemas.openxmlformats.org/officeDocument/2006/relationships/tags" Target="../tags/tag37.xml"/><Relationship Id="rId2" Type="http://schemas.openxmlformats.org/officeDocument/2006/relationships/oleObject" Target="../embeddings/oleObject3.bin"/><Relationship Id="rId19" Type="http://schemas.openxmlformats.org/officeDocument/2006/relationships/tags" Target="../tags/tag36.xml"/><Relationship Id="rId18" Type="http://schemas.openxmlformats.org/officeDocument/2006/relationships/tags" Target="../tags/tag35.xml"/><Relationship Id="rId17" Type="http://schemas.openxmlformats.org/officeDocument/2006/relationships/tags" Target="../tags/tag34.xml"/><Relationship Id="rId16" Type="http://schemas.openxmlformats.org/officeDocument/2006/relationships/tags" Target="../tags/tag33.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7" Type="http://schemas.openxmlformats.org/officeDocument/2006/relationships/vmlDrawing" Target="../drawings/vmlDrawing3.vml"/><Relationship Id="rId16" Type="http://schemas.openxmlformats.org/officeDocument/2006/relationships/slideLayout" Target="../slideLayouts/slideLayout13.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image" Target="../media/image4.emf"/><Relationship Id="rId10" Type="http://schemas.openxmlformats.org/officeDocument/2006/relationships/oleObject" Target="../embeddings/oleObject4.bin"/><Relationship Id="rId1" Type="http://schemas.openxmlformats.org/officeDocument/2006/relationships/tags" Target="../tags/tag38.xml"/></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1" Type="http://schemas.openxmlformats.org/officeDocument/2006/relationships/vmlDrawing" Target="../drawings/vmlDrawing4.vml"/><Relationship Id="rId40" Type="http://schemas.openxmlformats.org/officeDocument/2006/relationships/slideLayout" Target="../slideLayouts/slideLayout13.xml"/><Relationship Id="rId4" Type="http://schemas.openxmlformats.org/officeDocument/2006/relationships/tags" Target="../tags/tag54.xml"/><Relationship Id="rId39" Type="http://schemas.openxmlformats.org/officeDocument/2006/relationships/tags" Target="../tags/tag78.xml"/><Relationship Id="rId38" Type="http://schemas.openxmlformats.org/officeDocument/2006/relationships/tags" Target="../tags/tag77.xml"/><Relationship Id="rId37" Type="http://schemas.openxmlformats.org/officeDocument/2006/relationships/image" Target="../media/image10.emf"/><Relationship Id="rId36" Type="http://schemas.openxmlformats.org/officeDocument/2006/relationships/oleObject" Target="../embeddings/oleObject9.bin"/><Relationship Id="rId35" Type="http://schemas.openxmlformats.org/officeDocument/2006/relationships/tags" Target="../tags/tag76.xml"/><Relationship Id="rId34" Type="http://schemas.openxmlformats.org/officeDocument/2006/relationships/tags" Target="../tags/tag75.xml"/><Relationship Id="rId33" Type="http://schemas.openxmlformats.org/officeDocument/2006/relationships/image" Target="../media/image9.emf"/><Relationship Id="rId32" Type="http://schemas.openxmlformats.org/officeDocument/2006/relationships/oleObject" Target="../embeddings/oleObject8.bin"/><Relationship Id="rId31" Type="http://schemas.openxmlformats.org/officeDocument/2006/relationships/tags" Target="../tags/tag74.xml"/><Relationship Id="rId30" Type="http://schemas.openxmlformats.org/officeDocument/2006/relationships/tags" Target="../tags/tag73.xml"/><Relationship Id="rId3" Type="http://schemas.openxmlformats.org/officeDocument/2006/relationships/tags" Target="../tags/tag53.xml"/><Relationship Id="rId29" Type="http://schemas.openxmlformats.org/officeDocument/2006/relationships/image" Target="../media/image8.emf"/><Relationship Id="rId28" Type="http://schemas.openxmlformats.org/officeDocument/2006/relationships/oleObject" Target="../embeddings/oleObject7.bin"/><Relationship Id="rId27" Type="http://schemas.openxmlformats.org/officeDocument/2006/relationships/tags" Target="../tags/tag72.xml"/><Relationship Id="rId26" Type="http://schemas.openxmlformats.org/officeDocument/2006/relationships/tags" Target="../tags/tag71.xml"/><Relationship Id="rId25" Type="http://schemas.openxmlformats.org/officeDocument/2006/relationships/tags" Target="../tags/tag70.xml"/><Relationship Id="rId24" Type="http://schemas.openxmlformats.org/officeDocument/2006/relationships/tags" Target="../tags/tag69.xml"/><Relationship Id="rId23" Type="http://schemas.openxmlformats.org/officeDocument/2006/relationships/tags" Target="../tags/tag68.xml"/><Relationship Id="rId22" Type="http://schemas.openxmlformats.org/officeDocument/2006/relationships/image" Target="../media/image7.emf"/><Relationship Id="rId21" Type="http://schemas.openxmlformats.org/officeDocument/2006/relationships/oleObject" Target="../embeddings/oleObject6.bin"/><Relationship Id="rId20" Type="http://schemas.openxmlformats.org/officeDocument/2006/relationships/tags" Target="../tags/tag67.xml"/><Relationship Id="rId2" Type="http://schemas.openxmlformats.org/officeDocument/2006/relationships/tags" Target="../tags/tag52.xml"/><Relationship Id="rId19" Type="http://schemas.openxmlformats.org/officeDocument/2006/relationships/tags" Target="../tags/tag66.xml"/><Relationship Id="rId18" Type="http://schemas.openxmlformats.org/officeDocument/2006/relationships/tags" Target="../tags/tag65.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image" Target="../media/image6.jpeg"/><Relationship Id="rId11" Type="http://schemas.openxmlformats.org/officeDocument/2006/relationships/tags" Target="../tags/tag59.xml"/><Relationship Id="rId10" Type="http://schemas.openxmlformats.org/officeDocument/2006/relationships/image" Target="../media/image5.emf"/><Relationship Id="rId1" Type="http://schemas.openxmlformats.org/officeDocument/2006/relationships/tags" Target="../tags/tag51.xml"/></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10.bin"/><Relationship Id="rId8" Type="http://schemas.openxmlformats.org/officeDocument/2006/relationships/tags" Target="../tags/tag86.xml"/><Relationship Id="rId7" Type="http://schemas.openxmlformats.org/officeDocument/2006/relationships/tags" Target="../tags/tag85.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8" Type="http://schemas.openxmlformats.org/officeDocument/2006/relationships/vmlDrawing" Target="../drawings/vmlDrawing5.vml"/><Relationship Id="rId17" Type="http://schemas.openxmlformats.org/officeDocument/2006/relationships/slideLayout" Target="../slideLayouts/slideLayout13.xml"/><Relationship Id="rId16" Type="http://schemas.openxmlformats.org/officeDocument/2006/relationships/tags" Target="../tags/tag92.xml"/><Relationship Id="rId15" Type="http://schemas.openxmlformats.org/officeDocument/2006/relationships/tags" Target="../tags/tag91.xml"/><Relationship Id="rId14" Type="http://schemas.openxmlformats.org/officeDocument/2006/relationships/tags" Target="../tags/tag90.xml"/><Relationship Id="rId13" Type="http://schemas.openxmlformats.org/officeDocument/2006/relationships/tags" Target="../tags/tag89.xml"/><Relationship Id="rId12" Type="http://schemas.openxmlformats.org/officeDocument/2006/relationships/tags" Target="../tags/tag88.xml"/><Relationship Id="rId11" Type="http://schemas.openxmlformats.org/officeDocument/2006/relationships/tags" Target="../tags/tag87.xml"/><Relationship Id="rId10" Type="http://schemas.openxmlformats.org/officeDocument/2006/relationships/image" Target="../media/image11.emf"/><Relationship Id="rId1" Type="http://schemas.openxmlformats.org/officeDocument/2006/relationships/tags" Target="../tags/tag79.xml"/></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2" Type="http://schemas.openxmlformats.org/officeDocument/2006/relationships/vmlDrawing" Target="../drawings/vmlDrawing6.vml"/><Relationship Id="rId41" Type="http://schemas.openxmlformats.org/officeDocument/2006/relationships/slideLayout" Target="../slideLayouts/slideLayout13.xml"/><Relationship Id="rId40" Type="http://schemas.openxmlformats.org/officeDocument/2006/relationships/tags" Target="../tags/tag121.xml"/><Relationship Id="rId4" Type="http://schemas.openxmlformats.org/officeDocument/2006/relationships/tags" Target="../tags/tag96.xml"/><Relationship Id="rId39" Type="http://schemas.openxmlformats.org/officeDocument/2006/relationships/image" Target="../media/image16.emf"/><Relationship Id="rId38" Type="http://schemas.openxmlformats.org/officeDocument/2006/relationships/oleObject" Target="../embeddings/oleObject15.bin"/><Relationship Id="rId37" Type="http://schemas.openxmlformats.org/officeDocument/2006/relationships/tags" Target="../tags/tag120.xml"/><Relationship Id="rId36" Type="http://schemas.openxmlformats.org/officeDocument/2006/relationships/tags" Target="../tags/tag119.xml"/><Relationship Id="rId35" Type="http://schemas.openxmlformats.org/officeDocument/2006/relationships/image" Target="../media/image15.emf"/><Relationship Id="rId34" Type="http://schemas.openxmlformats.org/officeDocument/2006/relationships/oleObject" Target="../embeddings/oleObject14.bin"/><Relationship Id="rId33" Type="http://schemas.openxmlformats.org/officeDocument/2006/relationships/tags" Target="../tags/tag118.xml"/><Relationship Id="rId32" Type="http://schemas.openxmlformats.org/officeDocument/2006/relationships/tags" Target="../tags/tag117.xml"/><Relationship Id="rId31" Type="http://schemas.openxmlformats.org/officeDocument/2006/relationships/image" Target="../media/image14.emf"/><Relationship Id="rId30" Type="http://schemas.openxmlformats.org/officeDocument/2006/relationships/oleObject" Target="../embeddings/oleObject13.bin"/><Relationship Id="rId3" Type="http://schemas.openxmlformats.org/officeDocument/2006/relationships/tags" Target="../tags/tag95.xml"/><Relationship Id="rId29" Type="http://schemas.openxmlformats.org/officeDocument/2006/relationships/tags" Target="../tags/tag116.xml"/><Relationship Id="rId28" Type="http://schemas.openxmlformats.org/officeDocument/2006/relationships/tags" Target="../tags/tag115.xml"/><Relationship Id="rId27" Type="http://schemas.openxmlformats.org/officeDocument/2006/relationships/tags" Target="../tags/tag114.xml"/><Relationship Id="rId26" Type="http://schemas.openxmlformats.org/officeDocument/2006/relationships/tags" Target="../tags/tag113.xml"/><Relationship Id="rId25" Type="http://schemas.openxmlformats.org/officeDocument/2006/relationships/tags" Target="../tags/tag112.xml"/><Relationship Id="rId24" Type="http://schemas.openxmlformats.org/officeDocument/2006/relationships/tags" Target="../tags/tag111.xml"/><Relationship Id="rId23" Type="http://schemas.openxmlformats.org/officeDocument/2006/relationships/image" Target="../media/image13.emf"/><Relationship Id="rId22" Type="http://schemas.openxmlformats.org/officeDocument/2006/relationships/oleObject" Target="../embeddings/oleObject12.bin"/><Relationship Id="rId21" Type="http://schemas.openxmlformats.org/officeDocument/2006/relationships/tags" Target="../tags/tag110.xml"/><Relationship Id="rId20" Type="http://schemas.openxmlformats.org/officeDocument/2006/relationships/tags" Target="../tags/tag109.xml"/><Relationship Id="rId2" Type="http://schemas.openxmlformats.org/officeDocument/2006/relationships/tags" Target="../tags/tag94.xml"/><Relationship Id="rId19" Type="http://schemas.openxmlformats.org/officeDocument/2006/relationships/tags" Target="../tags/tag108.xml"/><Relationship Id="rId18" Type="http://schemas.openxmlformats.org/officeDocument/2006/relationships/tags" Target="../tags/tag107.xml"/><Relationship Id="rId17" Type="http://schemas.openxmlformats.org/officeDocument/2006/relationships/tags" Target="../tags/tag106.xml"/><Relationship Id="rId16" Type="http://schemas.openxmlformats.org/officeDocument/2006/relationships/tags" Target="../tags/tag105.xml"/><Relationship Id="rId15" Type="http://schemas.openxmlformats.org/officeDocument/2006/relationships/tags" Target="../tags/tag104.xml"/><Relationship Id="rId14" Type="http://schemas.openxmlformats.org/officeDocument/2006/relationships/tags" Target="../tags/tag103.xml"/><Relationship Id="rId13" Type="http://schemas.openxmlformats.org/officeDocument/2006/relationships/tags" Target="../tags/tag102.xml"/><Relationship Id="rId12" Type="http://schemas.openxmlformats.org/officeDocument/2006/relationships/image" Target="../media/image6.jpeg"/><Relationship Id="rId11" Type="http://schemas.openxmlformats.org/officeDocument/2006/relationships/tags" Target="../tags/tag101.xml"/><Relationship Id="rId10" Type="http://schemas.openxmlformats.org/officeDocument/2006/relationships/image" Target="../media/image12.emf"/><Relationship Id="rId1" Type="http://schemas.openxmlformats.org/officeDocument/2006/relationships/tags" Target="../tags/tag9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22.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Rectangle 2"/>
          <p:cNvSpPr>
            <a:spLocks noGrp="1"/>
          </p:cNvSpPr>
          <p:nvPr>
            <p:ph type="ctrTitle"/>
          </p:nvPr>
        </p:nvSpPr>
        <p:spPr>
          <a:xfrm>
            <a:off x="1558925" y="1052513"/>
            <a:ext cx="7772400" cy="1143000"/>
          </a:xfrm>
        </p:spPr>
        <p:txBody>
          <a:bodyPr vert="horz" wrap="square" lIns="91440" tIns="45720" rIns="91440" bIns="45720" anchor="ctr" anchorCtr="0"/>
          <a:p>
            <a:pPr eaLnBrk="1" hangingPunct="1">
              <a:buClrTx/>
              <a:buSzTx/>
              <a:buFontTx/>
            </a:pPr>
            <a:r>
              <a:rPr lang="zh-CN" altLang="en-US" b="1">
                <a:latin typeface="隶书" panose="02010509060101010101" pitchFamily="49" charset="-122"/>
                <a:ea typeface="隶书" panose="02010509060101010101" pitchFamily="49" charset="-122"/>
              </a:rPr>
              <a:t>第一章</a:t>
            </a:r>
            <a:r>
              <a:rPr lang="en-US" altLang="zh-CN" b="1">
                <a:latin typeface="隶书" panose="02010509060101010101" pitchFamily="49" charset="-122"/>
                <a:ea typeface="隶书" panose="02010509060101010101" pitchFamily="49" charset="-122"/>
              </a:rPr>
              <a:t> </a:t>
            </a:r>
            <a:r>
              <a:rPr lang="zh-CN" altLang="en-US" b="1">
                <a:latin typeface="隶书" panose="02010509060101010101" pitchFamily="49" charset="-122"/>
                <a:ea typeface="隶书" panose="02010509060101010101" pitchFamily="49" charset="-122"/>
              </a:rPr>
              <a:t>电路</a:t>
            </a:r>
            <a:r>
              <a:rPr lang="zh-CN" altLang="en-US" b="1">
                <a:latin typeface="隶书" panose="02010509060101010101" pitchFamily="49" charset="-122"/>
                <a:ea typeface="隶书" panose="02010509060101010101" pitchFamily="49" charset="-122"/>
              </a:rPr>
              <a:t>基础</a:t>
            </a:r>
            <a:endParaRPr lang="zh-CN" altLang="en-US" b="1">
              <a:latin typeface="隶书" panose="02010509060101010101" pitchFamily="49" charset="-122"/>
              <a:ea typeface="隶书" panose="02010509060101010101" pitchFamily="49" charset="-122"/>
            </a:endParaRPr>
          </a:p>
        </p:txBody>
      </p:sp>
      <p:sp>
        <p:nvSpPr>
          <p:cNvPr id="3074" name="Text Box 3">
            <a:hlinkClick r:id="" action="ppaction://hlinkshowjump?jump=nextslide"/>
          </p:cNvPr>
          <p:cNvSpPr txBox="1"/>
          <p:nvPr/>
        </p:nvSpPr>
        <p:spPr>
          <a:xfrm>
            <a:off x="3216275" y="2636838"/>
            <a:ext cx="6880225" cy="2061210"/>
          </a:xfrm>
          <a:prstGeom prst="rect">
            <a:avLst/>
          </a:prstGeom>
          <a:noFill/>
          <a:ln w="9525">
            <a:noFill/>
          </a:ln>
        </p:spPr>
        <p:txBody>
          <a:bodyPr wrap="square" anchor="t" anchorCtr="0">
            <a:spAutoFit/>
          </a:bodyPr>
          <a:p>
            <a:pPr>
              <a:spcBef>
                <a:spcPct val="50000"/>
              </a:spcBef>
            </a:pPr>
            <a:r>
              <a:rPr lang="zh-CN" altLang="en-US" sz="3200" b="1">
                <a:latin typeface="隶书" panose="02010509060101010101" pitchFamily="49" charset="-122"/>
                <a:ea typeface="隶书" panose="02010509060101010101" pitchFamily="49" charset="-122"/>
              </a:rPr>
              <a:t>一、欧姆</a:t>
            </a:r>
            <a:r>
              <a:rPr lang="zh-CN" altLang="en-US" sz="3200" b="1">
                <a:latin typeface="隶书" panose="02010509060101010101" pitchFamily="49" charset="-122"/>
                <a:ea typeface="隶书" panose="02010509060101010101" pitchFamily="49" charset="-122"/>
              </a:rPr>
              <a:t>定律</a:t>
            </a:r>
            <a:endParaRPr lang="zh-CN" altLang="en-US" sz="3200" b="1">
              <a:latin typeface="隶书" panose="02010509060101010101" pitchFamily="49" charset="-122"/>
              <a:ea typeface="隶书" panose="02010509060101010101" pitchFamily="49" charset="-122"/>
            </a:endParaRPr>
          </a:p>
          <a:p>
            <a:pPr>
              <a:spcBef>
                <a:spcPct val="50000"/>
              </a:spcBef>
            </a:pPr>
            <a:r>
              <a:rPr lang="zh-CN" altLang="en-US" sz="3200" b="1">
                <a:latin typeface="隶书" panose="02010509060101010101" pitchFamily="49" charset="-122"/>
                <a:ea typeface="隶书" panose="02010509060101010101" pitchFamily="49" charset="-122"/>
              </a:rPr>
              <a:t>二、电流源和电压</a:t>
            </a:r>
            <a:r>
              <a:rPr lang="zh-CN" altLang="en-US" sz="3200" b="1">
                <a:latin typeface="隶书" panose="02010509060101010101" pitchFamily="49" charset="-122"/>
                <a:ea typeface="隶书" panose="02010509060101010101" pitchFamily="49" charset="-122"/>
              </a:rPr>
              <a:t>源</a:t>
            </a:r>
            <a:endParaRPr lang="zh-CN" altLang="en-US" sz="3200" b="1">
              <a:latin typeface="隶书" panose="02010509060101010101" pitchFamily="49" charset="-122"/>
              <a:ea typeface="隶书" panose="02010509060101010101" pitchFamily="49" charset="-122"/>
            </a:endParaRPr>
          </a:p>
          <a:p>
            <a:pPr>
              <a:spcBef>
                <a:spcPct val="50000"/>
              </a:spcBef>
            </a:pPr>
            <a:endParaRPr lang="zh-CN" altLang="en-US" sz="3200" b="1">
              <a:latin typeface="隶书" panose="02010509060101010101" pitchFamily="49" charset="-122"/>
              <a:ea typeface="隶书" panose="020105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Rectangle 2"/>
          <p:cNvSpPr>
            <a:spLocks noGrp="1"/>
          </p:cNvSpPr>
          <p:nvPr>
            <p:ph type="ctrTitle"/>
          </p:nvPr>
        </p:nvSpPr>
        <p:spPr>
          <a:xfrm>
            <a:off x="1847850" y="2132648"/>
            <a:ext cx="7772400" cy="1143000"/>
          </a:xfrm>
        </p:spPr>
        <p:txBody>
          <a:bodyPr vert="horz" wrap="square" lIns="91440" tIns="45720" rIns="91440" bIns="45720" anchor="ctr" anchorCtr="0"/>
          <a:p>
            <a:pPr eaLnBrk="1" hangingPunct="1">
              <a:buClrTx/>
              <a:buSzTx/>
              <a:buFontTx/>
            </a:pPr>
            <a:r>
              <a:rPr lang="en-US" altLang="zh-CN" b="1">
                <a:latin typeface="隶书" panose="02010509060101010101" pitchFamily="49" charset="-122"/>
                <a:ea typeface="隶书" panose="02010509060101010101" pitchFamily="49" charset="-122"/>
              </a:rPr>
              <a:t>1  </a:t>
            </a:r>
            <a:r>
              <a:rPr lang="zh-CN" altLang="en-US" b="1">
                <a:latin typeface="隶书" panose="02010509060101010101" pitchFamily="49" charset="-122"/>
                <a:ea typeface="隶书" panose="02010509060101010101" pitchFamily="49" charset="-122"/>
              </a:rPr>
              <a:t>欧姆</a:t>
            </a:r>
            <a:r>
              <a:rPr lang="zh-CN" altLang="en-US" b="1">
                <a:latin typeface="隶书" panose="02010509060101010101" pitchFamily="49" charset="-122"/>
                <a:ea typeface="隶书" panose="02010509060101010101" pitchFamily="49" charset="-122"/>
              </a:rPr>
              <a:t>定律</a:t>
            </a:r>
            <a:endParaRPr lang="zh-CN" altLang="en-US" b="1">
              <a:latin typeface="隶书" panose="02010509060101010101" pitchFamily="49" charset="-122"/>
              <a:ea typeface="隶书" panose="020105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622935" y="260985"/>
            <a:ext cx="7696200" cy="609600"/>
          </a:xfrm>
        </p:spPr>
        <p:txBody>
          <a:bodyPr vert="horz" wrap="square" lIns="91440" tIns="45720" rIns="91440" bIns="45720" anchor="ctr" anchorCtr="0"/>
          <a:p>
            <a:pPr algn="l" eaLnBrk="1" hangingPunct="1">
              <a:lnSpc>
                <a:spcPct val="120000"/>
              </a:lnSpc>
            </a:pPr>
            <a:r>
              <a:rPr lang="en-US" altLang="zh-CN" sz="3600" b="1">
                <a:solidFill>
                  <a:schemeClr val="tx1"/>
                </a:solidFill>
                <a:ea typeface="隶书" panose="02010509060101010101" pitchFamily="49" charset="-122"/>
              </a:rPr>
              <a:t>1.1 </a:t>
            </a:r>
            <a:r>
              <a:rPr lang="zh-CN" altLang="en-US" sz="3600" b="1">
                <a:solidFill>
                  <a:schemeClr val="tx1"/>
                </a:solidFill>
                <a:ea typeface="隶书" panose="02010509060101010101" pitchFamily="49" charset="-122"/>
              </a:rPr>
              <a:t>欧姆定律：</a:t>
            </a:r>
            <a:endParaRPr lang="zh-CN" altLang="en-US" sz="3600" b="1">
              <a:solidFill>
                <a:schemeClr val="tx1"/>
              </a:solidFill>
              <a:ea typeface="隶书" panose="02010509060101010101" pitchFamily="49" charset="-122"/>
            </a:endParaRPr>
          </a:p>
        </p:txBody>
      </p:sp>
      <p:sp>
        <p:nvSpPr>
          <p:cNvPr id="6151" name="Text Box 7"/>
          <p:cNvSpPr txBox="1"/>
          <p:nvPr/>
        </p:nvSpPr>
        <p:spPr>
          <a:xfrm>
            <a:off x="1055370" y="1268730"/>
            <a:ext cx="6705600" cy="521970"/>
          </a:xfrm>
          <a:prstGeom prst="rect">
            <a:avLst/>
          </a:prstGeom>
          <a:noFill/>
          <a:ln w="9525">
            <a:noFill/>
          </a:ln>
        </p:spPr>
        <p:txBody>
          <a:bodyPr anchor="t" anchorCtr="0">
            <a:spAutoFit/>
          </a:bodyPr>
          <a:p>
            <a:pPr>
              <a:spcBef>
                <a:spcPct val="50000"/>
              </a:spcBef>
            </a:pPr>
            <a:r>
              <a:rPr sz="2800" b="1">
                <a:latin typeface="Times New Roman" panose="02020603050405020304" pitchFamily="18" charset="0"/>
                <a:ea typeface="宋体" panose="02010600030101010101" pitchFamily="2" charset="-122"/>
              </a:rPr>
              <a:t>流过电阻的电流与电阻两端的电压成正比。</a:t>
            </a:r>
            <a:endParaRPr sz="2800" b="1">
              <a:latin typeface="Times New Roman" panose="02020603050405020304" pitchFamily="18" charset="0"/>
              <a:ea typeface="宋体" panose="02010600030101010101" pitchFamily="2" charset="-122"/>
            </a:endParaRPr>
          </a:p>
        </p:txBody>
      </p:sp>
      <p:graphicFrame>
        <p:nvGraphicFramePr>
          <p:cNvPr id="36880" name="Object 16"/>
          <p:cNvGraphicFramePr>
            <a:graphicFrameLocks noChangeAspect="1"/>
          </p:cNvGraphicFramePr>
          <p:nvPr>
            <p:custDataLst>
              <p:tags r:id="rId1"/>
            </p:custDataLst>
          </p:nvPr>
        </p:nvGraphicFramePr>
        <p:xfrm>
          <a:off x="1415415" y="1911350"/>
          <a:ext cx="2306638" cy="1355725"/>
        </p:xfrm>
        <a:graphic>
          <a:graphicData uri="http://schemas.openxmlformats.org/presentationml/2006/ole">
            <mc:AlternateContent xmlns:mc="http://schemas.openxmlformats.org/markup-compatibility/2006">
              <mc:Choice xmlns:v="urn:schemas-microsoft-com:vml" Requires="v">
                <p:oleObj spid="_x0000_s3076" name="" r:id="rId2" imgW="685800" imgH="609600" progId="Equation.3">
                  <p:embed/>
                </p:oleObj>
              </mc:Choice>
              <mc:Fallback>
                <p:oleObj name="" r:id="rId2" imgW="685800" imgH="609600" progId="Equation.3">
                  <p:embed/>
                  <p:pic>
                    <p:nvPicPr>
                      <p:cNvPr id="0" name="图片 3075"/>
                      <p:cNvPicPr/>
                      <p:nvPr/>
                    </p:nvPicPr>
                    <p:blipFill>
                      <a:blip r:embed="rId3"/>
                      <a:stretch>
                        <a:fillRect/>
                      </a:stretch>
                    </p:blipFill>
                    <p:spPr>
                      <a:xfrm>
                        <a:off x="1415415" y="1911350"/>
                        <a:ext cx="2306638" cy="1355725"/>
                      </a:xfrm>
                      <a:prstGeom prst="rect">
                        <a:avLst/>
                      </a:prstGeom>
                      <a:noFill/>
                      <a:ln w="38100">
                        <a:noFill/>
                        <a:miter/>
                      </a:ln>
                    </p:spPr>
                  </p:pic>
                </p:oleObj>
              </mc:Fallback>
            </mc:AlternateContent>
          </a:graphicData>
        </a:graphic>
      </p:graphicFrame>
      <p:sp>
        <p:nvSpPr>
          <p:cNvPr id="36881" name="Rectangle 17"/>
          <p:cNvSpPr/>
          <p:nvPr>
            <p:custDataLst>
              <p:tags r:id="rId4"/>
            </p:custDataLst>
          </p:nvPr>
        </p:nvSpPr>
        <p:spPr>
          <a:xfrm>
            <a:off x="4151313" y="2204403"/>
            <a:ext cx="2514600" cy="700087"/>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342900" lvl="0" indent="-342900" eaLnBrk="1" hangingPunct="1">
              <a:buNone/>
            </a:pPr>
            <a:r>
              <a:rPr lang="zh-CN" altLang="en-US" dirty="0">
                <a:solidFill>
                  <a:srgbClr val="000066"/>
                </a:solidFill>
                <a:ea typeface="楷体_GB2312" pitchFamily="49" charset="-122"/>
              </a:rPr>
              <a:t>或者表示为：</a:t>
            </a:r>
            <a:endParaRPr lang="zh-CN" altLang="en-US" dirty="0">
              <a:solidFill>
                <a:srgbClr val="000066"/>
              </a:solidFill>
              <a:ea typeface="楷体_GB2312" pitchFamily="49" charset="-122"/>
            </a:endParaRPr>
          </a:p>
        </p:txBody>
      </p:sp>
      <p:graphicFrame>
        <p:nvGraphicFramePr>
          <p:cNvPr id="36883" name="Object 19"/>
          <p:cNvGraphicFramePr>
            <a:graphicFrameLocks noChangeAspect="1"/>
          </p:cNvGraphicFramePr>
          <p:nvPr>
            <p:custDataLst>
              <p:tags r:id="rId5"/>
            </p:custDataLst>
          </p:nvPr>
        </p:nvGraphicFramePr>
        <p:xfrm>
          <a:off x="7175818" y="2132965"/>
          <a:ext cx="1781175" cy="619125"/>
        </p:xfrm>
        <a:graphic>
          <a:graphicData uri="http://schemas.openxmlformats.org/presentationml/2006/ole">
            <mc:AlternateContent xmlns:mc="http://schemas.openxmlformats.org/markup-compatibility/2006">
              <mc:Choice xmlns:v="urn:schemas-microsoft-com:vml" Requires="v">
                <p:oleObj spid="_x0000_s3077" name="" r:id="rId6" imgW="469900" imgH="165100" progId="Equation.3">
                  <p:embed/>
                </p:oleObj>
              </mc:Choice>
              <mc:Fallback>
                <p:oleObj name="" r:id="rId6" imgW="469900" imgH="165100" progId="Equation.3">
                  <p:embed/>
                  <p:pic>
                    <p:nvPicPr>
                      <p:cNvPr id="0" name="图片 3076"/>
                      <p:cNvPicPr/>
                      <p:nvPr/>
                    </p:nvPicPr>
                    <p:blipFill>
                      <a:blip r:embed="rId7"/>
                      <a:stretch>
                        <a:fillRect/>
                      </a:stretch>
                    </p:blipFill>
                    <p:spPr>
                      <a:xfrm>
                        <a:off x="7175818" y="2132965"/>
                        <a:ext cx="1781175" cy="619125"/>
                      </a:xfrm>
                      <a:prstGeom prst="rect">
                        <a:avLst/>
                      </a:prstGeom>
                      <a:noFill/>
                      <a:ln w="38100">
                        <a:noFill/>
                        <a:miter/>
                      </a:ln>
                    </p:spPr>
                  </p:pic>
                </p:oleObj>
              </mc:Fallback>
            </mc:AlternateContent>
          </a:graphicData>
        </a:graphic>
      </p:graphicFrame>
      <p:sp>
        <p:nvSpPr>
          <p:cNvPr id="36904" name="AutoShape 40"/>
          <p:cNvSpPr/>
          <p:nvPr>
            <p:custDataLst>
              <p:tags r:id="rId8"/>
            </p:custDataLst>
          </p:nvPr>
        </p:nvSpPr>
        <p:spPr>
          <a:xfrm>
            <a:off x="3823018" y="3595370"/>
            <a:ext cx="2133600" cy="2071688"/>
          </a:xfrm>
          <a:prstGeom prst="flowChartAlternateProcess">
            <a:avLst/>
          </a:prstGeom>
          <a:solidFill>
            <a:schemeClr val="accent1"/>
          </a:solidFill>
          <a:ln w="38100" cap="sq" cmpd="sng">
            <a:solidFill>
              <a:srgbClr val="0066FF"/>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pSp>
        <p:nvGrpSpPr>
          <p:cNvPr id="2" name="Group 39"/>
          <p:cNvGrpSpPr/>
          <p:nvPr/>
        </p:nvGrpSpPr>
        <p:grpSpPr>
          <a:xfrm>
            <a:off x="4151630" y="3573145"/>
            <a:ext cx="1725613" cy="1854200"/>
            <a:chOff x="3730" y="2518"/>
            <a:chExt cx="1087" cy="1168"/>
          </a:xfrm>
        </p:grpSpPr>
        <p:sp>
          <p:nvSpPr>
            <p:cNvPr id="19465" name="Rectangle 21"/>
            <p:cNvSpPr/>
            <p:nvPr>
              <p:custDataLst>
                <p:tags r:id="rId9"/>
              </p:custDataLst>
            </p:nvPr>
          </p:nvSpPr>
          <p:spPr>
            <a:xfrm>
              <a:off x="4438" y="2957"/>
              <a:ext cx="154" cy="537"/>
            </a:xfrm>
            <a:prstGeom prst="rect">
              <a:avLst/>
            </a:prstGeom>
            <a:solidFill>
              <a:srgbClr val="00FFFF"/>
            </a:solidFill>
            <a:ln w="4445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pSp>
          <p:nvGrpSpPr>
            <p:cNvPr id="19466" name="Group 26"/>
            <p:cNvGrpSpPr/>
            <p:nvPr/>
          </p:nvGrpSpPr>
          <p:grpSpPr>
            <a:xfrm>
              <a:off x="3969" y="3494"/>
              <a:ext cx="543" cy="192"/>
              <a:chOff x="3969" y="3494"/>
              <a:chExt cx="543" cy="192"/>
            </a:xfrm>
          </p:grpSpPr>
          <p:sp>
            <p:nvSpPr>
              <p:cNvPr id="19479" name="Line 22"/>
              <p:cNvSpPr/>
              <p:nvPr>
                <p:custDataLst>
                  <p:tags r:id="rId10"/>
                </p:custDataLst>
              </p:nvPr>
            </p:nvSpPr>
            <p:spPr>
              <a:xfrm>
                <a:off x="4512" y="3494"/>
                <a:ext cx="0" cy="154"/>
              </a:xfrm>
              <a:prstGeom prst="line">
                <a:avLst/>
              </a:prstGeom>
              <a:ln w="44450" cap="sq" cmpd="sng">
                <a:solidFill>
                  <a:schemeClr val="tx1"/>
                </a:solidFill>
                <a:prstDash val="solid"/>
                <a:headEnd type="none" w="sm" len="sm"/>
                <a:tailEnd type="none" w="sm" len="sm"/>
              </a:ln>
            </p:spPr>
          </p:sp>
          <p:sp>
            <p:nvSpPr>
              <p:cNvPr id="19480" name="Line 23"/>
              <p:cNvSpPr/>
              <p:nvPr>
                <p:custDataLst>
                  <p:tags r:id="rId11"/>
                </p:custDataLst>
              </p:nvPr>
            </p:nvSpPr>
            <p:spPr>
              <a:xfrm flipH="1">
                <a:off x="4032" y="3648"/>
                <a:ext cx="480" cy="0"/>
              </a:xfrm>
              <a:prstGeom prst="line">
                <a:avLst/>
              </a:prstGeom>
              <a:ln w="44450" cap="sq" cmpd="sng">
                <a:solidFill>
                  <a:schemeClr val="tx1"/>
                </a:solidFill>
                <a:prstDash val="solid"/>
                <a:headEnd type="none" w="sm" len="sm"/>
                <a:tailEnd type="none" w="sm" len="sm"/>
              </a:ln>
            </p:spPr>
          </p:sp>
          <p:sp>
            <p:nvSpPr>
              <p:cNvPr id="19481" name="Oval 25"/>
              <p:cNvSpPr/>
              <p:nvPr>
                <p:custDataLst>
                  <p:tags r:id="rId12"/>
                </p:custDataLst>
              </p:nvPr>
            </p:nvSpPr>
            <p:spPr>
              <a:xfrm>
                <a:off x="3969" y="3619"/>
                <a:ext cx="67" cy="67"/>
              </a:xfrm>
              <a:prstGeom prst="ellipse">
                <a:avLst/>
              </a:prstGeom>
              <a:solidFill>
                <a:schemeClr val="accent1"/>
              </a:solidFill>
              <a:ln w="44450"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pSp>
        <p:grpSp>
          <p:nvGrpSpPr>
            <p:cNvPr id="19467" name="Group 27"/>
            <p:cNvGrpSpPr/>
            <p:nvPr/>
          </p:nvGrpSpPr>
          <p:grpSpPr>
            <a:xfrm flipV="1">
              <a:off x="3969" y="2763"/>
              <a:ext cx="543" cy="192"/>
              <a:chOff x="3969" y="3494"/>
              <a:chExt cx="543" cy="192"/>
            </a:xfrm>
          </p:grpSpPr>
          <p:sp>
            <p:nvSpPr>
              <p:cNvPr id="19476" name="Line 28"/>
              <p:cNvSpPr/>
              <p:nvPr>
                <p:custDataLst>
                  <p:tags r:id="rId13"/>
                </p:custDataLst>
              </p:nvPr>
            </p:nvSpPr>
            <p:spPr>
              <a:xfrm>
                <a:off x="4512" y="3494"/>
                <a:ext cx="0" cy="154"/>
              </a:xfrm>
              <a:prstGeom prst="line">
                <a:avLst/>
              </a:prstGeom>
              <a:ln w="44450" cap="sq" cmpd="sng">
                <a:solidFill>
                  <a:schemeClr val="tx1"/>
                </a:solidFill>
                <a:prstDash val="solid"/>
                <a:headEnd type="none" w="sm" len="sm"/>
                <a:tailEnd type="none" w="sm" len="sm"/>
              </a:ln>
            </p:spPr>
          </p:sp>
          <p:sp>
            <p:nvSpPr>
              <p:cNvPr id="19477" name="Line 29"/>
              <p:cNvSpPr/>
              <p:nvPr>
                <p:custDataLst>
                  <p:tags r:id="rId14"/>
                </p:custDataLst>
              </p:nvPr>
            </p:nvSpPr>
            <p:spPr>
              <a:xfrm flipH="1">
                <a:off x="4032" y="3648"/>
                <a:ext cx="480" cy="0"/>
              </a:xfrm>
              <a:prstGeom prst="line">
                <a:avLst/>
              </a:prstGeom>
              <a:ln w="44450" cap="sq" cmpd="sng">
                <a:solidFill>
                  <a:schemeClr val="tx1"/>
                </a:solidFill>
                <a:prstDash val="solid"/>
                <a:headEnd type="none" w="sm" len="sm"/>
                <a:tailEnd type="none" w="sm" len="sm"/>
              </a:ln>
            </p:spPr>
          </p:sp>
          <p:sp>
            <p:nvSpPr>
              <p:cNvPr id="19478" name="Oval 30"/>
              <p:cNvSpPr/>
              <p:nvPr>
                <p:custDataLst>
                  <p:tags r:id="rId15"/>
                </p:custDataLst>
              </p:nvPr>
            </p:nvSpPr>
            <p:spPr>
              <a:xfrm>
                <a:off x="3969" y="3619"/>
                <a:ext cx="67" cy="67"/>
              </a:xfrm>
              <a:prstGeom prst="ellipse">
                <a:avLst/>
              </a:prstGeom>
              <a:solidFill>
                <a:schemeClr val="accent1"/>
              </a:solidFill>
              <a:ln w="44450"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pSp>
        <p:sp>
          <p:nvSpPr>
            <p:cNvPr id="19468" name="Line 31"/>
            <p:cNvSpPr/>
            <p:nvPr>
              <p:custDataLst>
                <p:tags r:id="rId16"/>
              </p:custDataLst>
            </p:nvPr>
          </p:nvSpPr>
          <p:spPr>
            <a:xfrm>
              <a:off x="4016" y="3014"/>
              <a:ext cx="0" cy="422"/>
            </a:xfrm>
            <a:prstGeom prst="line">
              <a:avLst/>
            </a:prstGeom>
            <a:ln w="44450" cap="sq" cmpd="sng">
              <a:solidFill>
                <a:schemeClr val="tx1"/>
              </a:solidFill>
              <a:prstDash val="solid"/>
              <a:headEnd type="none" w="sm" len="sm"/>
              <a:tailEnd type="triangle" w="med" len="lg"/>
            </a:ln>
          </p:spPr>
        </p:sp>
        <p:sp>
          <p:nvSpPr>
            <p:cNvPr id="19469" name="Line 32"/>
            <p:cNvSpPr/>
            <p:nvPr>
              <p:custDataLst>
                <p:tags r:id="rId17"/>
              </p:custDataLst>
            </p:nvPr>
          </p:nvSpPr>
          <p:spPr>
            <a:xfrm rot="-5400000">
              <a:off x="4298" y="2490"/>
              <a:ext cx="0" cy="393"/>
            </a:xfrm>
            <a:prstGeom prst="line">
              <a:avLst/>
            </a:prstGeom>
            <a:ln w="44450" cap="sq" cmpd="sng">
              <a:solidFill>
                <a:schemeClr val="tx1"/>
              </a:solidFill>
              <a:prstDash val="solid"/>
              <a:headEnd type="none" w="sm" len="sm"/>
              <a:tailEnd type="triangle" w="med" len="lg"/>
            </a:ln>
          </p:spPr>
        </p:sp>
        <p:sp>
          <p:nvSpPr>
            <p:cNvPr id="19470" name="Text Box 33"/>
            <p:cNvSpPr txBox="1"/>
            <p:nvPr>
              <p:custDataLst>
                <p:tags r:id="rId18"/>
              </p:custDataLst>
            </p:nvPr>
          </p:nvSpPr>
          <p:spPr>
            <a:xfrm>
              <a:off x="3730" y="3008"/>
              <a:ext cx="221" cy="288"/>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i="1" dirty="0">
                  <a:latin typeface="Times New Roman" panose="02020603050405020304" pitchFamily="18" charset="0"/>
                </a:rPr>
                <a:t>U</a:t>
              </a:r>
              <a:endParaRPr lang="en-US" altLang="zh-CN" sz="2400" i="1" dirty="0">
                <a:latin typeface="Times New Roman" panose="02020603050405020304" pitchFamily="18" charset="0"/>
              </a:endParaRPr>
            </a:p>
          </p:txBody>
        </p:sp>
        <p:sp>
          <p:nvSpPr>
            <p:cNvPr id="19471" name="Text Box 34"/>
            <p:cNvSpPr txBox="1"/>
            <p:nvPr>
              <p:custDataLst>
                <p:tags r:id="rId19"/>
              </p:custDataLst>
            </p:nvPr>
          </p:nvSpPr>
          <p:spPr>
            <a:xfrm>
              <a:off x="4442" y="2518"/>
              <a:ext cx="221" cy="288"/>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i="1" dirty="0">
                  <a:latin typeface="Times New Roman" panose="02020603050405020304" pitchFamily="18" charset="0"/>
                </a:rPr>
                <a:t>I</a:t>
              </a:r>
              <a:endParaRPr lang="en-US" altLang="zh-CN" sz="2400" i="1" dirty="0">
                <a:latin typeface="Times New Roman" panose="02020603050405020304" pitchFamily="18" charset="0"/>
              </a:endParaRPr>
            </a:p>
          </p:txBody>
        </p:sp>
        <p:sp>
          <p:nvSpPr>
            <p:cNvPr id="19472" name="Text Box 35"/>
            <p:cNvSpPr txBox="1"/>
            <p:nvPr>
              <p:custDataLst>
                <p:tags r:id="rId20"/>
              </p:custDataLst>
            </p:nvPr>
          </p:nvSpPr>
          <p:spPr>
            <a:xfrm>
              <a:off x="4596" y="3056"/>
              <a:ext cx="221" cy="288"/>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i="1" dirty="0">
                  <a:latin typeface="Times New Roman" panose="02020603050405020304" pitchFamily="18" charset="0"/>
                </a:rPr>
                <a:t>R</a:t>
              </a:r>
              <a:endParaRPr lang="en-US" altLang="zh-CN" sz="2400" i="1" dirty="0">
                <a:latin typeface="Times New Roman" panose="02020603050405020304" pitchFamily="18" charset="0"/>
              </a:endParaRPr>
            </a:p>
          </p:txBody>
        </p:sp>
        <p:sp>
          <p:nvSpPr>
            <p:cNvPr id="19473" name="Line 36"/>
            <p:cNvSpPr/>
            <p:nvPr>
              <p:custDataLst>
                <p:tags r:id="rId21"/>
              </p:custDataLst>
            </p:nvPr>
          </p:nvSpPr>
          <p:spPr>
            <a:xfrm>
              <a:off x="3791" y="3667"/>
              <a:ext cx="116" cy="0"/>
            </a:xfrm>
            <a:prstGeom prst="line">
              <a:avLst/>
            </a:prstGeom>
            <a:ln w="38100" cap="sq" cmpd="sng">
              <a:solidFill>
                <a:schemeClr val="tx1"/>
              </a:solidFill>
              <a:prstDash val="solid"/>
              <a:headEnd type="none" w="sm" len="sm"/>
              <a:tailEnd type="none" w="sm" len="sm"/>
            </a:ln>
          </p:spPr>
        </p:sp>
        <p:sp>
          <p:nvSpPr>
            <p:cNvPr id="19474" name="Line 37"/>
            <p:cNvSpPr/>
            <p:nvPr>
              <p:custDataLst>
                <p:tags r:id="rId22"/>
              </p:custDataLst>
            </p:nvPr>
          </p:nvSpPr>
          <p:spPr>
            <a:xfrm>
              <a:off x="3788" y="2802"/>
              <a:ext cx="116" cy="0"/>
            </a:xfrm>
            <a:prstGeom prst="line">
              <a:avLst/>
            </a:prstGeom>
            <a:ln w="38100" cap="sq" cmpd="sng">
              <a:solidFill>
                <a:schemeClr val="tx1"/>
              </a:solidFill>
              <a:prstDash val="solid"/>
              <a:headEnd type="none" w="sm" len="sm"/>
              <a:tailEnd type="none" w="sm" len="sm"/>
            </a:ln>
          </p:spPr>
        </p:sp>
        <p:sp>
          <p:nvSpPr>
            <p:cNvPr id="19475" name="Line 38"/>
            <p:cNvSpPr/>
            <p:nvPr>
              <p:custDataLst>
                <p:tags r:id="rId23"/>
              </p:custDataLst>
            </p:nvPr>
          </p:nvSpPr>
          <p:spPr>
            <a:xfrm rot="-5400000">
              <a:off x="3789" y="2802"/>
              <a:ext cx="116" cy="0"/>
            </a:xfrm>
            <a:prstGeom prst="line">
              <a:avLst/>
            </a:prstGeom>
            <a:ln w="38100" cap="sq" cmpd="sng">
              <a:solidFill>
                <a:schemeClr val="tx1"/>
              </a:solidFill>
              <a:prstDash val="solid"/>
              <a:headEnd type="none" w="sm" len="sm"/>
              <a:tailEnd type="none" w="sm" len="sm"/>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1">
                                            <p:txEl>
                                              <p:charRg st="0" end="19"/>
                                            </p:txEl>
                                          </p:spTgt>
                                        </p:tgtEl>
                                        <p:attrNameLst>
                                          <p:attrName>style.visibility</p:attrName>
                                        </p:attrNameLst>
                                      </p:cBhvr>
                                      <p:to>
                                        <p:strVal val="visible"/>
                                      </p:to>
                                    </p:set>
                                    <p:animEffect transition="in" filter="wipe(left)">
                                      <p:cBhvr>
                                        <p:cTn id="7" dur="500"/>
                                        <p:tgtEl>
                                          <p:spTgt spid="6151">
                                            <p:txEl>
                                              <p:charRg st="0" end="19"/>
                                            </p:txEl>
                                          </p:spTgt>
                                        </p:tgtEl>
                                      </p:cBhvr>
                                    </p:animEffect>
                                  </p:childTnLst>
                                </p:cTn>
                              </p:par>
                            </p:childTnLst>
                          </p:cTn>
                        </p:par>
                        <p:par>
                          <p:cTn id="8" fill="hold">
                            <p:stCondLst>
                              <p:cond delay="500"/>
                            </p:stCondLst>
                            <p:childTnLst>
                              <p:par>
                                <p:cTn id="9" presetID="17" presetClass="entr" presetSubtype="10" fill="hold" nodeType="afterEffect">
                                  <p:stCondLst>
                                    <p:cond delay="2000"/>
                                  </p:stCondLst>
                                  <p:childTnLst>
                                    <p:set>
                                      <p:cBhvr>
                                        <p:cTn id="10" dur="1" fill="hold">
                                          <p:stCondLst>
                                            <p:cond delay="0"/>
                                          </p:stCondLst>
                                        </p:cTn>
                                        <p:tgtEl>
                                          <p:spTgt spid="36880"/>
                                        </p:tgtEl>
                                        <p:attrNameLst>
                                          <p:attrName>style.visibility</p:attrName>
                                        </p:attrNameLst>
                                      </p:cBhvr>
                                      <p:to>
                                        <p:strVal val="visible"/>
                                      </p:to>
                                    </p:set>
                                    <p:anim calcmode="lin" valueType="num">
                                      <p:cBhvr>
                                        <p:cTn id="11" dur="500" fill="hold"/>
                                        <p:tgtEl>
                                          <p:spTgt spid="36880"/>
                                        </p:tgtEl>
                                        <p:attrNameLst>
                                          <p:attrName>ppt_w</p:attrName>
                                        </p:attrNameLst>
                                      </p:cBhvr>
                                      <p:tavLst>
                                        <p:tav tm="0">
                                          <p:val>
                                            <p:fltVal val="0.000000"/>
                                          </p:val>
                                        </p:tav>
                                        <p:tav tm="100000">
                                          <p:val>
                                            <p:strVal val="#ppt_w"/>
                                          </p:val>
                                        </p:tav>
                                      </p:tavLst>
                                    </p:anim>
                                    <p:anim calcmode="lin" valueType="num">
                                      <p:cBhvr>
                                        <p:cTn id="12" dur="500" fill="hold"/>
                                        <p:tgtEl>
                                          <p:spTgt spid="36880"/>
                                        </p:tgtEl>
                                        <p:attrNameLst>
                                          <p:attrName>ppt_h</p:attrName>
                                        </p:attrNameLst>
                                      </p:cBhvr>
                                      <p:tavLst>
                                        <p:tav tm="0">
                                          <p:val>
                                            <p:strVal val="#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6881"/>
                                        </p:tgtEl>
                                        <p:attrNameLst>
                                          <p:attrName>style.visibility</p:attrName>
                                        </p:attrNameLst>
                                      </p:cBhvr>
                                      <p:to>
                                        <p:strVal val="visible"/>
                                      </p:to>
                                    </p:set>
                                    <p:anim calcmode="lin" valueType="num">
                                      <p:cBhvr additive="base">
                                        <p:cTn id="17" dur="500" fill="hold"/>
                                        <p:tgtEl>
                                          <p:spTgt spid="36881"/>
                                        </p:tgtEl>
                                        <p:attrNameLst>
                                          <p:attrName>ppt_x</p:attrName>
                                        </p:attrNameLst>
                                      </p:cBhvr>
                                      <p:tavLst>
                                        <p:tav tm="0">
                                          <p:val>
                                            <p:strVal val="0-#ppt_w/2"/>
                                          </p:val>
                                        </p:tav>
                                        <p:tav tm="100000">
                                          <p:val>
                                            <p:strVal val="#ppt_x"/>
                                          </p:val>
                                        </p:tav>
                                      </p:tavLst>
                                    </p:anim>
                                    <p:anim calcmode="lin" valueType="num">
                                      <p:cBhvr additive="base">
                                        <p:cTn id="18" dur="500" fill="hold"/>
                                        <p:tgtEl>
                                          <p:spTgt spid="36881"/>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17" presetClass="entr" presetSubtype="10" fill="hold" nodeType="afterEffect">
                                  <p:stCondLst>
                                    <p:cond delay="2000"/>
                                  </p:stCondLst>
                                  <p:childTnLst>
                                    <p:set>
                                      <p:cBhvr>
                                        <p:cTn id="21" dur="1" fill="hold">
                                          <p:stCondLst>
                                            <p:cond delay="0"/>
                                          </p:stCondLst>
                                        </p:cTn>
                                        <p:tgtEl>
                                          <p:spTgt spid="36883"/>
                                        </p:tgtEl>
                                        <p:attrNameLst>
                                          <p:attrName>style.visibility</p:attrName>
                                        </p:attrNameLst>
                                      </p:cBhvr>
                                      <p:to>
                                        <p:strVal val="visible"/>
                                      </p:to>
                                    </p:set>
                                    <p:anim calcmode="lin" valueType="num">
                                      <p:cBhvr>
                                        <p:cTn id="22" dur="500" fill="hold"/>
                                        <p:tgtEl>
                                          <p:spTgt spid="36883"/>
                                        </p:tgtEl>
                                        <p:attrNameLst>
                                          <p:attrName>ppt_w</p:attrName>
                                        </p:attrNameLst>
                                      </p:cBhvr>
                                      <p:tavLst>
                                        <p:tav tm="0">
                                          <p:val>
                                            <p:fltVal val="0.000000"/>
                                          </p:val>
                                        </p:tav>
                                        <p:tav tm="100000">
                                          <p:val>
                                            <p:strVal val="#ppt_w"/>
                                          </p:val>
                                        </p:tav>
                                      </p:tavLst>
                                    </p:anim>
                                    <p:anim calcmode="lin" valueType="num">
                                      <p:cBhvr>
                                        <p:cTn id="23" dur="500" fill="hold"/>
                                        <p:tgtEl>
                                          <p:spTgt spid="36883"/>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36904"/>
                                        </p:tgtEl>
                                        <p:attrNameLst>
                                          <p:attrName>style.visibility</p:attrName>
                                        </p:attrNameLst>
                                      </p:cBhvr>
                                      <p:to>
                                        <p:strVal val="visible"/>
                                      </p:to>
                                    </p:set>
                                    <p:anim calcmode="lin" valueType="num">
                                      <p:cBhvr>
                                        <p:cTn id="28" dur="500" fill="hold"/>
                                        <p:tgtEl>
                                          <p:spTgt spid="36904"/>
                                        </p:tgtEl>
                                        <p:attrNameLst>
                                          <p:attrName>ppt_w</p:attrName>
                                        </p:attrNameLst>
                                      </p:cBhvr>
                                      <p:tavLst>
                                        <p:tav tm="0">
                                          <p:val>
                                            <p:fltVal val="0.000000"/>
                                          </p:val>
                                        </p:tav>
                                        <p:tav tm="100000">
                                          <p:val>
                                            <p:strVal val="#ppt_w"/>
                                          </p:val>
                                        </p:tav>
                                      </p:tavLst>
                                    </p:anim>
                                    <p:anim calcmode="lin" valueType="num">
                                      <p:cBhvr>
                                        <p:cTn id="29" dur="500" fill="hold"/>
                                        <p:tgtEl>
                                          <p:spTgt spid="36904"/>
                                        </p:tgtEl>
                                        <p:attrNameLst>
                                          <p:attrName>ppt_h</p:attrName>
                                        </p:attrNameLst>
                                      </p:cBhvr>
                                      <p:tavLst>
                                        <p:tav tm="0">
                                          <p:val>
                                            <p:fltVal val="0.000000"/>
                                          </p:val>
                                        </p:tav>
                                        <p:tav tm="100000">
                                          <p:val>
                                            <p:strVal val="#ppt_h"/>
                                          </p:val>
                                        </p:tav>
                                      </p:tavLst>
                                    </p:anim>
                                  </p:childTnLst>
                                </p:cTn>
                              </p:par>
                            </p:childTnLst>
                          </p:cTn>
                        </p:par>
                        <p:par>
                          <p:cTn id="30" fill="hold">
                            <p:stCondLst>
                              <p:cond delay="500"/>
                            </p:stCondLst>
                            <p:childTnLst>
                              <p:par>
                                <p:cTn id="31" presetID="9" presetClass="entr" presetSubtype="0" fill="hold" nodeType="afterEffect">
                                  <p:stCondLst>
                                    <p:cond delay="2000"/>
                                  </p:stCondLst>
                                  <p:childTnLst>
                                    <p:set>
                                      <p:cBhvr>
                                        <p:cTn id="32" dur="1" fill="hold">
                                          <p:stCondLst>
                                            <p:cond delay="0"/>
                                          </p:stCondLst>
                                        </p:cTn>
                                        <p:tgtEl>
                                          <p:spTgt spid="2"/>
                                        </p:tgtEl>
                                        <p:attrNameLst>
                                          <p:attrName>style.visibility</p:attrName>
                                        </p:attrNameLst>
                                      </p:cBhvr>
                                      <p:to>
                                        <p:strVal val="visible"/>
                                      </p:to>
                                    </p:set>
                                    <p:animEffect transition="in" filter="dissolve">
                                      <p:cBhvr>
                                        <p:cTn id="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build="p"/>
      <p:bldP spid="36881" grpId="0"/>
      <p:bldP spid="36904"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622935" y="260985"/>
            <a:ext cx="7696200" cy="609600"/>
          </a:xfrm>
        </p:spPr>
        <p:txBody>
          <a:bodyPr vert="horz" wrap="square" lIns="91440" tIns="45720" rIns="91440" bIns="45720" anchor="ctr" anchorCtr="0"/>
          <a:p>
            <a:pPr algn="l" eaLnBrk="1" hangingPunct="1">
              <a:lnSpc>
                <a:spcPct val="120000"/>
              </a:lnSpc>
            </a:pPr>
            <a:r>
              <a:rPr lang="en-US" altLang="zh-CN" sz="3600" b="1">
                <a:solidFill>
                  <a:schemeClr val="tx1"/>
                </a:solidFill>
                <a:ea typeface="隶书" panose="02010509060101010101" pitchFamily="49" charset="-122"/>
              </a:rPr>
              <a:t>1.2 </a:t>
            </a:r>
            <a:r>
              <a:rPr lang="zh-CN" altLang="en-US" sz="3600" b="1">
                <a:solidFill>
                  <a:schemeClr val="tx1"/>
                </a:solidFill>
                <a:ea typeface="隶书" panose="02010509060101010101" pitchFamily="49" charset="-122"/>
              </a:rPr>
              <a:t>欧姆定律的物理量</a:t>
            </a:r>
            <a:r>
              <a:rPr lang="zh-CN" altLang="en-US" sz="3600" b="1">
                <a:solidFill>
                  <a:schemeClr val="tx1"/>
                </a:solidFill>
                <a:ea typeface="隶书" panose="02010509060101010101" pitchFamily="49" charset="-122"/>
              </a:rPr>
              <a:t>解释</a:t>
            </a:r>
            <a:endParaRPr lang="zh-CN" altLang="en-US" sz="3600" b="1">
              <a:solidFill>
                <a:schemeClr val="tx1"/>
              </a:solidFill>
              <a:ea typeface="隶书" panose="02010509060101010101" pitchFamily="49" charset="-122"/>
            </a:endParaRPr>
          </a:p>
        </p:txBody>
      </p:sp>
      <p:graphicFrame>
        <p:nvGraphicFramePr>
          <p:cNvPr id="36883" name="Object 19"/>
          <p:cNvGraphicFramePr>
            <a:graphicFrameLocks noChangeAspect="1"/>
          </p:cNvGraphicFramePr>
          <p:nvPr>
            <p:custDataLst>
              <p:tags r:id="rId1"/>
            </p:custDataLst>
          </p:nvPr>
        </p:nvGraphicFramePr>
        <p:xfrm>
          <a:off x="9263698" y="1124585"/>
          <a:ext cx="1781175" cy="619125"/>
        </p:xfrm>
        <a:graphic>
          <a:graphicData uri="http://schemas.openxmlformats.org/presentationml/2006/ole">
            <mc:AlternateContent xmlns:mc="http://schemas.openxmlformats.org/markup-compatibility/2006">
              <mc:Choice xmlns:v="urn:schemas-microsoft-com:vml" Requires="v">
                <p:oleObj spid="_x0000_s3077" name="" r:id="rId2" imgW="469900" imgH="165100" progId="Equation.3">
                  <p:embed/>
                </p:oleObj>
              </mc:Choice>
              <mc:Fallback>
                <p:oleObj name="" r:id="rId2" imgW="469900" imgH="165100" progId="Equation.3">
                  <p:embed/>
                  <p:pic>
                    <p:nvPicPr>
                      <p:cNvPr id="0" name="图片 3076"/>
                      <p:cNvPicPr/>
                      <p:nvPr/>
                    </p:nvPicPr>
                    <p:blipFill>
                      <a:blip r:embed="rId3"/>
                      <a:stretch>
                        <a:fillRect/>
                      </a:stretch>
                    </p:blipFill>
                    <p:spPr>
                      <a:xfrm>
                        <a:off x="9263698" y="1124585"/>
                        <a:ext cx="1781175" cy="619125"/>
                      </a:xfrm>
                      <a:prstGeom prst="rect">
                        <a:avLst/>
                      </a:prstGeom>
                      <a:noFill/>
                      <a:ln w="38100">
                        <a:noFill/>
                        <a:miter/>
                      </a:ln>
                    </p:spPr>
                  </p:pic>
                </p:oleObj>
              </mc:Fallback>
            </mc:AlternateContent>
          </a:graphicData>
        </a:graphic>
      </p:graphicFrame>
      <p:sp>
        <p:nvSpPr>
          <p:cNvPr id="36884" name="Rectangle 20"/>
          <p:cNvSpPr/>
          <p:nvPr>
            <p:custDataLst>
              <p:tags r:id="rId4"/>
            </p:custDataLst>
          </p:nvPr>
        </p:nvSpPr>
        <p:spPr>
          <a:xfrm>
            <a:off x="262890" y="1124585"/>
            <a:ext cx="8856980" cy="49022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342900" lvl="0" indent="-342900" eaLnBrk="1" hangingPunct="1">
              <a:buNone/>
            </a:pPr>
            <a:endParaRPr kumimoji="0" lang="en-US" sz="2000" b="1">
              <a:latin typeface="Times New Roman" panose="02020603050405020304" pitchFamily="18" charset="0"/>
              <a:ea typeface="宋体" panose="02010600030101010101" pitchFamily="2" charset="-122"/>
            </a:endParaRPr>
          </a:p>
          <a:p>
            <a:pPr marL="342900" lvl="0" indent="-342900" eaLnBrk="1" hangingPunct="1">
              <a:buNone/>
            </a:pPr>
            <a:r>
              <a:rPr kumimoji="0" lang="en-US" sz="2000" b="1">
                <a:latin typeface="Times New Roman" panose="02020603050405020304" pitchFamily="18" charset="0"/>
                <a:ea typeface="宋体" panose="02010600030101010101" pitchFamily="2" charset="-122"/>
              </a:rPr>
              <a:t>U:  </a:t>
            </a:r>
            <a:r>
              <a:rPr kumimoji="0" lang="en-US" altLang="zh-CN" sz="2000" b="1">
                <a:latin typeface="Times New Roman" panose="02020603050405020304" pitchFamily="18" charset="0"/>
                <a:ea typeface="宋体" panose="02010600030101010101" pitchFamily="2" charset="-122"/>
              </a:rPr>
              <a:t>电压（voltage），也被称作</a:t>
            </a:r>
            <a:r>
              <a:rPr kumimoji="0" lang="en-US" altLang="zh-CN" sz="2000" b="1">
                <a:solidFill>
                  <a:srgbClr val="FF0000"/>
                </a:solidFill>
                <a:latin typeface="Times New Roman" panose="02020603050405020304" pitchFamily="18" charset="0"/>
                <a:ea typeface="宋体" panose="02010600030101010101" pitchFamily="2" charset="-122"/>
              </a:rPr>
              <a:t>电势差</a:t>
            </a:r>
            <a:r>
              <a:rPr kumimoji="0" lang="en-US" altLang="zh-CN" sz="2000" b="1">
                <a:latin typeface="Times New Roman" panose="02020603050405020304" pitchFamily="18" charset="0"/>
                <a:ea typeface="宋体" panose="02010600030101010101" pitchFamily="2" charset="-122"/>
              </a:rPr>
              <a:t>或</a:t>
            </a:r>
            <a:r>
              <a:rPr kumimoji="0" lang="en-US" altLang="zh-CN" sz="2000" b="1">
                <a:solidFill>
                  <a:srgbClr val="FF0000"/>
                </a:solidFill>
                <a:latin typeface="Times New Roman" panose="02020603050405020304" pitchFamily="18" charset="0"/>
                <a:ea typeface="宋体" panose="02010600030101010101" pitchFamily="2" charset="-122"/>
              </a:rPr>
              <a:t>电位差</a:t>
            </a:r>
            <a:r>
              <a:rPr kumimoji="0" lang="zh-CN" altLang="en-US" sz="20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宋体" panose="02010600030101010101" pitchFamily="2" charset="-122"/>
              </a:rPr>
              <a:t>。</a:t>
            </a:r>
            <a:endParaRPr kumimoji="0" lang="zh-CN" altLang="en-US" sz="20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宋体" panose="02010600030101010101" pitchFamily="2" charset="-122"/>
            </a:endParaRPr>
          </a:p>
          <a:p>
            <a:pPr marL="342900" lvl="0" indent="-342900" eaLnBrk="1" hangingPunct="1">
              <a:buNone/>
            </a:pPr>
            <a:r>
              <a:rPr kumimoji="0" lang="en-US" altLang="zh-CN" sz="20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宋体" panose="02010600030101010101" pitchFamily="2" charset="-122"/>
              </a:rPr>
              <a:t>    </a:t>
            </a:r>
            <a:r>
              <a:rPr kumimoji="0" lang="en-US" altLang="zh-CN" sz="2000" b="1">
                <a:solidFill>
                  <a:schemeClr val="tx1"/>
                </a:solidFill>
                <a:latin typeface="Times New Roman" panose="02020603050405020304" pitchFamily="18" charset="0"/>
                <a:ea typeface="宋体" panose="02010600030101010101" pitchFamily="2" charset="-122"/>
              </a:rPr>
              <a:t>  电压的单位为</a:t>
            </a:r>
            <a:r>
              <a:rPr kumimoji="0" lang="en-US" altLang="zh-CN" sz="2000" b="1">
                <a:solidFill>
                  <a:srgbClr val="FF0000"/>
                </a:solidFill>
                <a:latin typeface="Times New Roman" panose="02020603050405020304" pitchFamily="18" charset="0"/>
                <a:ea typeface="宋体" panose="02010600030101010101" pitchFamily="2" charset="-122"/>
              </a:rPr>
              <a:t>伏特</a:t>
            </a:r>
            <a:r>
              <a:rPr kumimoji="0" lang="en-US" altLang="zh-CN" sz="2000" b="1">
                <a:solidFill>
                  <a:schemeClr val="tx1"/>
                </a:solidFill>
                <a:latin typeface="Times New Roman" panose="02020603050405020304" pitchFamily="18" charset="0"/>
                <a:ea typeface="宋体" panose="02010600030101010101" pitchFamily="2" charset="-122"/>
              </a:rPr>
              <a:t>（V，简称伏），常用的单位还有毫伏（mV）、</a:t>
            </a:r>
            <a:endParaRPr kumimoji="0" lang="en-US" altLang="zh-CN" sz="2000" b="1">
              <a:solidFill>
                <a:schemeClr val="tx1"/>
              </a:solidFill>
              <a:latin typeface="Times New Roman" panose="02020603050405020304" pitchFamily="18" charset="0"/>
              <a:ea typeface="宋体" panose="02010600030101010101" pitchFamily="2" charset="-122"/>
            </a:endParaRPr>
          </a:p>
          <a:p>
            <a:pPr marL="342900" lvl="0" indent="-342900" eaLnBrk="1" hangingPunct="1">
              <a:buNone/>
            </a:pPr>
            <a:r>
              <a:rPr kumimoji="0" lang="en-US" altLang="zh-CN" sz="2000" b="1">
                <a:solidFill>
                  <a:schemeClr val="tx1"/>
                </a:solidFill>
                <a:latin typeface="Times New Roman" panose="02020603050405020304" pitchFamily="18" charset="0"/>
                <a:ea typeface="宋体" panose="02010600030101010101" pitchFamily="2" charset="-122"/>
              </a:rPr>
              <a:t>       微伏（μV）、千伏（kV）等</a:t>
            </a:r>
            <a:r>
              <a:rPr kumimoji="0" lang="zh-CN" altLang="en-US" sz="2000" b="1">
                <a:solidFill>
                  <a:schemeClr val="tx1"/>
                </a:solidFill>
                <a:latin typeface="Times New Roman" panose="02020603050405020304" pitchFamily="18" charset="0"/>
                <a:ea typeface="宋体" panose="02010600030101010101" pitchFamily="2" charset="-122"/>
              </a:rPr>
              <a:t>。</a:t>
            </a:r>
            <a:endParaRPr kumimoji="0" lang="en-US" altLang="zh-CN" sz="20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宋体" panose="02010600030101010101" pitchFamily="2" charset="-122"/>
            </a:endParaRPr>
          </a:p>
          <a:p>
            <a:pPr marL="342900" lvl="0" indent="-342900" eaLnBrk="1" hangingPunct="1">
              <a:buNone/>
            </a:pPr>
            <a:r>
              <a:rPr kumimoji="0" lang="en-US" altLang="zh-CN" sz="2000" b="1">
                <a:latin typeface="Times New Roman" panose="02020603050405020304" pitchFamily="18" charset="0"/>
                <a:ea typeface="宋体" panose="02010600030101010101" pitchFamily="2" charset="-122"/>
              </a:rPr>
              <a:t>      电压是电路中自由电荷定向移动形成电流的原因。</a:t>
            </a:r>
            <a:endParaRPr kumimoji="0" lang="en-US" altLang="zh-CN" sz="2000" b="1">
              <a:latin typeface="Times New Roman" panose="02020603050405020304" pitchFamily="18" charset="0"/>
              <a:ea typeface="宋体" panose="02010600030101010101" pitchFamily="2" charset="-122"/>
            </a:endParaRPr>
          </a:p>
          <a:p>
            <a:pPr marL="342900" lvl="0" indent="-342900" eaLnBrk="1" hangingPunct="1">
              <a:buNone/>
            </a:pPr>
            <a:r>
              <a:rPr kumimoji="0" lang="en-US" altLang="zh-CN" sz="2000" b="1">
                <a:latin typeface="Times New Roman" panose="02020603050405020304" pitchFamily="18" charset="0"/>
                <a:ea typeface="宋体" panose="02010600030101010101" pitchFamily="2" charset="-122"/>
              </a:rPr>
              <a:t>     </a:t>
            </a:r>
            <a:r>
              <a:rPr kumimoji="0" lang="en-US" altLang="zh-CN" sz="2000" b="1">
                <a:solidFill>
                  <a:srgbClr val="FF0000"/>
                </a:solidFill>
                <a:latin typeface="Times New Roman" panose="02020603050405020304" pitchFamily="18" charset="0"/>
                <a:ea typeface="宋体" panose="02010600030101010101" pitchFamily="2" charset="-122"/>
              </a:rPr>
              <a:t> 一个点的电压通常指的是该点与电源负极</a:t>
            </a:r>
            <a:r>
              <a:rPr kumimoji="0" lang="zh-CN" altLang="en-US" sz="2000" b="1">
                <a:solidFill>
                  <a:srgbClr val="FF0000"/>
                </a:solidFill>
                <a:latin typeface="Times New Roman" panose="02020603050405020304" pitchFamily="18" charset="0"/>
                <a:ea typeface="宋体" panose="02010600030101010101" pitchFamily="2" charset="-122"/>
              </a:rPr>
              <a:t>之间</a:t>
            </a:r>
            <a:r>
              <a:rPr kumimoji="0" lang="en-US" altLang="zh-CN" sz="2000" b="1">
                <a:solidFill>
                  <a:srgbClr val="FF0000"/>
                </a:solidFill>
                <a:latin typeface="Times New Roman" panose="02020603050405020304" pitchFamily="18" charset="0"/>
                <a:ea typeface="宋体" panose="02010600030101010101" pitchFamily="2" charset="-122"/>
              </a:rPr>
              <a:t>的电势差。</a:t>
            </a:r>
            <a:endParaRPr kumimoji="0" lang="zh-CN" altLang="en-US" sz="2000" b="1">
              <a:latin typeface="Times New Roman" panose="02020603050405020304" pitchFamily="18" charset="0"/>
              <a:ea typeface="宋体" panose="02010600030101010101" pitchFamily="2" charset="-122"/>
            </a:endParaRPr>
          </a:p>
          <a:p>
            <a:pPr marL="342900" lvl="0" indent="-342900" eaLnBrk="1" hangingPunct="1">
              <a:buNone/>
            </a:pPr>
            <a:endParaRPr kumimoji="0" lang="en-US" altLang="zh-CN" sz="2000" b="1">
              <a:latin typeface="Times New Roman" panose="02020603050405020304" pitchFamily="18" charset="0"/>
              <a:ea typeface="宋体" panose="02010600030101010101" pitchFamily="2" charset="-122"/>
            </a:endParaRPr>
          </a:p>
          <a:p>
            <a:pPr marL="342900" lvl="0" indent="-342900" eaLnBrk="1" hangingPunct="1">
              <a:buNone/>
            </a:pPr>
            <a:r>
              <a:rPr kumimoji="0" lang="en-US" altLang="zh-CN" sz="2000" b="1">
                <a:latin typeface="Times New Roman" panose="02020603050405020304" pitchFamily="18" charset="0"/>
                <a:ea typeface="宋体" panose="02010600030101010101" pitchFamily="2" charset="-122"/>
              </a:rPr>
              <a:t>I:   </a:t>
            </a:r>
            <a:r>
              <a:rPr kumimoji="0" lang="zh-CN" altLang="en-US" sz="2000" b="1">
                <a:latin typeface="Times New Roman" panose="02020603050405020304" pitchFamily="18" charset="0"/>
                <a:ea typeface="宋体" panose="02010600030101010101" pitchFamily="2" charset="-122"/>
              </a:rPr>
              <a:t>电流（Electric current），是单位时间内通过导体某一横截面的电荷量。</a:t>
            </a:r>
            <a:endParaRPr kumimoji="0" lang="zh-CN" altLang="en-US" sz="2000" b="1">
              <a:latin typeface="Times New Roman" panose="02020603050405020304" pitchFamily="18" charset="0"/>
              <a:ea typeface="宋体" panose="02010600030101010101" pitchFamily="2" charset="-122"/>
            </a:endParaRPr>
          </a:p>
          <a:p>
            <a:pPr marL="342900" lvl="0" indent="-342900" eaLnBrk="1" hangingPunct="1">
              <a:buNone/>
            </a:pPr>
            <a:r>
              <a:rPr kumimoji="0" lang="zh-CN" altLang="en-US" sz="2000" b="1">
                <a:latin typeface="Times New Roman" panose="02020603050405020304" pitchFamily="18" charset="0"/>
                <a:ea typeface="宋体" panose="02010600030101010101" pitchFamily="2" charset="-122"/>
              </a:rPr>
              <a:t> </a:t>
            </a:r>
            <a:r>
              <a:rPr kumimoji="0" lang="en-US" altLang="zh-CN" sz="2000" b="1">
                <a:latin typeface="Times New Roman" panose="02020603050405020304" pitchFamily="18" charset="0"/>
                <a:ea typeface="宋体" panose="02010600030101010101" pitchFamily="2" charset="-122"/>
              </a:rPr>
              <a:t>     </a:t>
            </a:r>
            <a:r>
              <a:rPr kumimoji="0" lang="zh-CN" altLang="en-US" sz="2000" b="1">
                <a:latin typeface="Times New Roman" panose="02020603050405020304" pitchFamily="18" charset="0"/>
                <a:ea typeface="宋体" panose="02010600030101010101" pitchFamily="2" charset="-122"/>
              </a:rPr>
              <a:t>电流的</a:t>
            </a:r>
            <a:r>
              <a:rPr kumimoji="0" lang="en-US" altLang="zh-CN" sz="2000" b="1">
                <a:latin typeface="Times New Roman" panose="02020603050405020304" pitchFamily="18" charset="0"/>
                <a:ea typeface="宋体" panose="02010600030101010101" pitchFamily="2" charset="-122"/>
              </a:rPr>
              <a:t>单位</a:t>
            </a:r>
            <a:r>
              <a:rPr kumimoji="0" lang="zh-CN" altLang="en-US" sz="2000" b="1">
                <a:latin typeface="Times New Roman" panose="02020603050405020304" pitchFamily="18" charset="0"/>
                <a:ea typeface="宋体" panose="02010600030101010101" pitchFamily="2" charset="-122"/>
              </a:rPr>
              <a:t>为</a:t>
            </a:r>
            <a:r>
              <a:rPr kumimoji="0" lang="en-US" altLang="zh-CN" sz="2000" b="1">
                <a:solidFill>
                  <a:srgbClr val="FF0000"/>
                </a:solidFill>
                <a:latin typeface="Times New Roman" panose="02020603050405020304" pitchFamily="18" charset="0"/>
                <a:ea typeface="宋体" panose="02010600030101010101" pitchFamily="2" charset="-122"/>
              </a:rPr>
              <a:t>安培</a:t>
            </a:r>
            <a:r>
              <a:rPr kumimoji="0" lang="en-US" altLang="zh-CN" sz="2000" b="1">
                <a:latin typeface="Times New Roman" panose="02020603050405020304" pitchFamily="18" charset="0"/>
                <a:ea typeface="宋体" panose="02010600030101010101" pitchFamily="2" charset="-122"/>
              </a:rPr>
              <a:t>（A</a:t>
            </a:r>
            <a:r>
              <a:rPr kumimoji="0" lang="zh-CN" altLang="en-US" sz="2000" b="1">
                <a:latin typeface="Times New Roman" panose="02020603050405020304" pitchFamily="18" charset="0"/>
                <a:ea typeface="宋体" panose="02010600030101010101" pitchFamily="2" charset="-122"/>
              </a:rPr>
              <a:t>，简称</a:t>
            </a:r>
            <a:r>
              <a:rPr kumimoji="0" lang="en-US" altLang="zh-CN" sz="2000" b="1">
                <a:latin typeface="Times New Roman" panose="02020603050405020304" pitchFamily="18" charset="0"/>
                <a:ea typeface="宋体" panose="02010600030101010101" pitchFamily="2" charset="-122"/>
              </a:rPr>
              <a:t>A）</a:t>
            </a:r>
            <a:r>
              <a:rPr kumimoji="0" lang="zh-CN" altLang="en-US" sz="2000" b="1">
                <a:latin typeface="Times New Roman" panose="02020603050405020304" pitchFamily="18" charset="0"/>
                <a:ea typeface="宋体" panose="02010600030101010101" pitchFamily="2" charset="-122"/>
              </a:rPr>
              <a:t>，常用的单位还有豪安</a:t>
            </a:r>
            <a:r>
              <a:rPr kumimoji="0" lang="en-US" altLang="zh-CN" sz="2000" b="1">
                <a:latin typeface="Times New Roman" panose="02020603050405020304" pitchFamily="18" charset="0"/>
                <a:ea typeface="宋体" panose="02010600030101010101" pitchFamily="2" charset="-122"/>
              </a:rPr>
              <a:t>(mA)</a:t>
            </a:r>
            <a:r>
              <a:rPr kumimoji="0" lang="zh-CN" altLang="en-US" sz="2000" b="1">
                <a:latin typeface="Times New Roman" panose="02020603050405020304" pitchFamily="18" charset="0"/>
                <a:ea typeface="宋体" panose="02010600030101010101" pitchFamily="2" charset="-122"/>
              </a:rPr>
              <a:t>、微安</a:t>
            </a:r>
            <a:r>
              <a:rPr kumimoji="0" lang="en-US" altLang="zh-CN" sz="2000" b="1">
                <a:latin typeface="Times New Roman" panose="02020603050405020304" pitchFamily="18" charset="0"/>
                <a:ea typeface="宋体" panose="02010600030101010101" pitchFamily="2" charset="-122"/>
              </a:rPr>
              <a:t>(</a:t>
            </a:r>
            <a:r>
              <a:rPr kumimoji="0" lang="en-US" altLang="zh-CN" sz="2000" b="1">
                <a:latin typeface="Times New Roman" panose="02020603050405020304" pitchFamily="18" charset="0"/>
                <a:ea typeface="宋体" panose="02010600030101010101" pitchFamily="2" charset="-122"/>
                <a:sym typeface="+mn-ea"/>
              </a:rPr>
              <a:t>μ</a:t>
            </a:r>
            <a:r>
              <a:rPr kumimoji="0" lang="en-US" altLang="zh-CN" sz="2000" b="1">
                <a:latin typeface="Times New Roman" panose="02020603050405020304" pitchFamily="18" charset="0"/>
                <a:ea typeface="宋体" panose="02010600030101010101" pitchFamily="2" charset="-122"/>
              </a:rPr>
              <a:t>A)</a:t>
            </a:r>
            <a:r>
              <a:rPr kumimoji="0" lang="zh-CN" altLang="en-US" sz="2000" b="1">
                <a:latin typeface="Times New Roman" panose="02020603050405020304" pitchFamily="18" charset="0"/>
                <a:ea typeface="宋体" panose="02010600030101010101" pitchFamily="2" charset="-122"/>
              </a:rPr>
              <a:t>。</a:t>
            </a:r>
            <a:endParaRPr kumimoji="0" lang="en-US" altLang="zh-CN" sz="2000" b="1">
              <a:latin typeface="Times New Roman" panose="02020603050405020304" pitchFamily="18" charset="0"/>
              <a:ea typeface="宋体" panose="02010600030101010101" pitchFamily="2" charset="-122"/>
            </a:endParaRPr>
          </a:p>
          <a:p>
            <a:pPr marL="342900" lvl="0" indent="-342900" eaLnBrk="1" hangingPunct="1">
              <a:buNone/>
            </a:pPr>
            <a:r>
              <a:rPr kumimoji="0" lang="en-US" altLang="zh-CN" sz="2000" b="1">
                <a:latin typeface="Times New Roman" panose="02020603050405020304" pitchFamily="18" charset="0"/>
                <a:ea typeface="宋体" panose="02010600030101010101" pitchFamily="2" charset="-122"/>
              </a:rPr>
              <a:t>      </a:t>
            </a:r>
            <a:r>
              <a:rPr kumimoji="0" lang="zh-CN" altLang="en-US" sz="2000" b="1">
                <a:latin typeface="Times New Roman" panose="02020603050405020304" pitchFamily="18" charset="0"/>
                <a:ea typeface="宋体" panose="02010600030101010101" pitchFamily="2" charset="-122"/>
              </a:rPr>
              <a:t>电流流过导体或电器时，把电能转换为其它形式能的过程，称为电功</a:t>
            </a:r>
            <a:r>
              <a:rPr kumimoji="0" lang="en-US" altLang="zh-CN" sz="2000" b="1">
                <a:latin typeface="Times New Roman" panose="02020603050405020304" pitchFamily="18" charset="0"/>
                <a:ea typeface="宋体" panose="02010600030101010101" pitchFamily="2" charset="-122"/>
              </a:rPr>
              <a:t>(W)</a:t>
            </a:r>
            <a:r>
              <a:rPr kumimoji="0" lang="zh-CN" altLang="en-US" sz="2000" b="1">
                <a:latin typeface="Times New Roman" panose="02020603050405020304" pitchFamily="18" charset="0"/>
                <a:ea typeface="宋体" panose="02010600030101010101" pitchFamily="2" charset="-122"/>
              </a:rPr>
              <a:t>。</a:t>
            </a:r>
            <a:endParaRPr kumimoji="0" lang="zh-CN" altLang="en-US" sz="2000" b="1">
              <a:latin typeface="Times New Roman" panose="02020603050405020304" pitchFamily="18" charset="0"/>
              <a:ea typeface="宋体" panose="02010600030101010101" pitchFamily="2" charset="-122"/>
            </a:endParaRPr>
          </a:p>
          <a:p>
            <a:pPr marL="342900" lvl="0" indent="-342900" eaLnBrk="1" hangingPunct="1">
              <a:buNone/>
            </a:pPr>
            <a:endParaRPr kumimoji="0" lang="zh-CN" altLang="en-US" sz="2000" b="1">
              <a:latin typeface="Times New Roman" panose="02020603050405020304" pitchFamily="18" charset="0"/>
              <a:ea typeface="宋体" panose="02010600030101010101" pitchFamily="2" charset="-122"/>
            </a:endParaRPr>
          </a:p>
          <a:p>
            <a:pPr marL="342900" lvl="0" indent="-342900" eaLnBrk="1" hangingPunct="1">
              <a:buNone/>
            </a:pPr>
            <a:r>
              <a:rPr kumimoji="0" lang="en-US" altLang="zh-CN" sz="2000" b="1">
                <a:latin typeface="Times New Roman" panose="02020603050405020304" pitchFamily="18" charset="0"/>
                <a:ea typeface="宋体" panose="02010600030101010101" pitchFamily="2" charset="-122"/>
              </a:rPr>
              <a:t>R</a:t>
            </a:r>
            <a:r>
              <a:rPr kumimoji="0" lang="zh-CN" altLang="en-US" sz="2000" b="1">
                <a:latin typeface="Times New Roman" panose="02020603050405020304" pitchFamily="18" charset="0"/>
                <a:ea typeface="宋体" panose="02010600030101010101" pitchFamily="2" charset="-122"/>
              </a:rPr>
              <a:t>：</a:t>
            </a:r>
            <a:r>
              <a:rPr kumimoji="0" lang="zh-CN" altLang="en-US" sz="2000" b="1">
                <a:latin typeface="Times New Roman" panose="02020603050405020304" pitchFamily="18" charset="0"/>
                <a:ea typeface="宋体" panose="02010600030101010101" pitchFamily="2" charset="-122"/>
              </a:rPr>
              <a:t>电阻（Resistance），导体对电流的阻碍作用就叫该导体的电阻。</a:t>
            </a:r>
            <a:endParaRPr kumimoji="0" lang="zh-CN" altLang="en-US" sz="2000" b="1">
              <a:latin typeface="Times New Roman" panose="02020603050405020304" pitchFamily="18" charset="0"/>
              <a:ea typeface="宋体" panose="02010600030101010101" pitchFamily="2" charset="-122"/>
            </a:endParaRPr>
          </a:p>
          <a:p>
            <a:pPr marL="342900" lvl="0" indent="-342900" eaLnBrk="1" hangingPunct="1">
              <a:buNone/>
            </a:pPr>
            <a:r>
              <a:rPr kumimoji="0" lang="en-US" altLang="zh-CN" sz="2000" b="1">
                <a:latin typeface="Times New Roman" panose="02020603050405020304" pitchFamily="18" charset="0"/>
                <a:ea typeface="宋体" panose="02010600030101010101" pitchFamily="2" charset="-122"/>
              </a:rPr>
              <a:t>       电阻单位为欧姆</a:t>
            </a:r>
            <a:r>
              <a:rPr kumimoji="0" lang="zh-CN" altLang="en-US" sz="2000" b="1">
                <a:latin typeface="Times New Roman" panose="02020603050405020304" pitchFamily="18" charset="0"/>
                <a:ea typeface="宋体" panose="02010600030101010101" pitchFamily="2" charset="-122"/>
              </a:rPr>
              <a:t>（</a:t>
            </a:r>
            <a:r>
              <a:rPr kumimoji="0" lang="en-US" altLang="zh-CN" sz="2000" b="1">
                <a:latin typeface="Times New Roman" panose="02020603050405020304" pitchFamily="18" charset="0"/>
                <a:ea typeface="宋体" panose="02010600030101010101" pitchFamily="2" charset="-122"/>
              </a:rPr>
              <a:t>Ω</a:t>
            </a:r>
            <a:r>
              <a:rPr kumimoji="0" lang="zh-CN" altLang="en-US" sz="2000" b="1">
                <a:latin typeface="Times New Roman" panose="02020603050405020304" pitchFamily="18" charset="0"/>
                <a:ea typeface="宋体" panose="02010600030101010101" pitchFamily="2" charset="-122"/>
              </a:rPr>
              <a:t>），常用的单位还有千欧（</a:t>
            </a:r>
            <a:r>
              <a:rPr kumimoji="0" lang="en-US" altLang="zh-CN" sz="2000" b="1">
                <a:latin typeface="Times New Roman" panose="02020603050405020304" pitchFamily="18" charset="0"/>
                <a:ea typeface="宋体" panose="02010600030101010101" pitchFamily="2" charset="-122"/>
              </a:rPr>
              <a:t>KΩ</a:t>
            </a:r>
            <a:r>
              <a:rPr kumimoji="0" lang="zh-CN" altLang="en-US" sz="2000" b="1">
                <a:latin typeface="Times New Roman" panose="02020603050405020304" pitchFamily="18" charset="0"/>
                <a:ea typeface="宋体" panose="02010600030101010101" pitchFamily="2" charset="-122"/>
              </a:rPr>
              <a:t>）、兆欧（</a:t>
            </a:r>
            <a:r>
              <a:rPr kumimoji="0" lang="en-US" altLang="zh-CN" sz="2000" b="1">
                <a:latin typeface="Times New Roman" panose="02020603050405020304" pitchFamily="18" charset="0"/>
                <a:ea typeface="宋体" panose="02010600030101010101" pitchFamily="2" charset="-122"/>
              </a:rPr>
              <a:t>MΩ</a:t>
            </a:r>
            <a:r>
              <a:rPr kumimoji="0" lang="zh-CN" altLang="en-US" sz="2000" b="1">
                <a:latin typeface="Times New Roman" panose="02020603050405020304" pitchFamily="18" charset="0"/>
                <a:ea typeface="宋体" panose="02010600030101010101" pitchFamily="2" charset="-122"/>
              </a:rPr>
              <a:t>）</a:t>
            </a:r>
            <a:r>
              <a:rPr kumimoji="0" lang="en-US" altLang="zh-CN" sz="2000" b="1">
                <a:latin typeface="Times New Roman" panose="02020603050405020304" pitchFamily="18" charset="0"/>
                <a:ea typeface="宋体" panose="02010600030101010101" pitchFamily="2" charset="-122"/>
              </a:rPr>
              <a:t>。</a:t>
            </a:r>
            <a:endParaRPr kumimoji="0" lang="en-US" altLang="zh-CN" sz="2000" b="1">
              <a:latin typeface="Times New Roman" panose="02020603050405020304" pitchFamily="18" charset="0"/>
              <a:ea typeface="宋体" panose="02010600030101010101" pitchFamily="2" charset="-122"/>
            </a:endParaRPr>
          </a:p>
        </p:txBody>
      </p:sp>
      <p:sp>
        <p:nvSpPr>
          <p:cNvPr id="36904" name="AutoShape 40"/>
          <p:cNvSpPr/>
          <p:nvPr>
            <p:custDataLst>
              <p:tags r:id="rId5"/>
            </p:custDataLst>
          </p:nvPr>
        </p:nvSpPr>
        <p:spPr>
          <a:xfrm>
            <a:off x="9511348" y="2155190"/>
            <a:ext cx="2133600" cy="2071688"/>
          </a:xfrm>
          <a:prstGeom prst="flowChartAlternateProcess">
            <a:avLst/>
          </a:prstGeom>
          <a:solidFill>
            <a:schemeClr val="accent1"/>
          </a:solidFill>
          <a:ln w="38100" cap="sq" cmpd="sng">
            <a:solidFill>
              <a:srgbClr val="0066FF"/>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pSp>
        <p:nvGrpSpPr>
          <p:cNvPr id="2" name="Group 39"/>
          <p:cNvGrpSpPr/>
          <p:nvPr/>
        </p:nvGrpSpPr>
        <p:grpSpPr>
          <a:xfrm>
            <a:off x="9839960" y="2132965"/>
            <a:ext cx="1725613" cy="1854200"/>
            <a:chOff x="3730" y="2518"/>
            <a:chExt cx="1087" cy="1168"/>
          </a:xfrm>
        </p:grpSpPr>
        <p:sp>
          <p:nvSpPr>
            <p:cNvPr id="19465" name="Rectangle 21"/>
            <p:cNvSpPr/>
            <p:nvPr>
              <p:custDataLst>
                <p:tags r:id="rId6"/>
              </p:custDataLst>
            </p:nvPr>
          </p:nvSpPr>
          <p:spPr>
            <a:xfrm>
              <a:off x="4438" y="2957"/>
              <a:ext cx="154" cy="537"/>
            </a:xfrm>
            <a:prstGeom prst="rect">
              <a:avLst/>
            </a:prstGeom>
            <a:solidFill>
              <a:srgbClr val="00FFFF"/>
            </a:solidFill>
            <a:ln w="4445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pSp>
          <p:nvGrpSpPr>
            <p:cNvPr id="19466" name="Group 26"/>
            <p:cNvGrpSpPr/>
            <p:nvPr/>
          </p:nvGrpSpPr>
          <p:grpSpPr>
            <a:xfrm>
              <a:off x="3969" y="3494"/>
              <a:ext cx="543" cy="192"/>
              <a:chOff x="3969" y="3494"/>
              <a:chExt cx="543" cy="192"/>
            </a:xfrm>
          </p:grpSpPr>
          <p:sp>
            <p:nvSpPr>
              <p:cNvPr id="19479" name="Line 22"/>
              <p:cNvSpPr/>
              <p:nvPr>
                <p:custDataLst>
                  <p:tags r:id="rId7"/>
                </p:custDataLst>
              </p:nvPr>
            </p:nvSpPr>
            <p:spPr>
              <a:xfrm>
                <a:off x="4512" y="3494"/>
                <a:ext cx="0" cy="154"/>
              </a:xfrm>
              <a:prstGeom prst="line">
                <a:avLst/>
              </a:prstGeom>
              <a:ln w="44450" cap="sq" cmpd="sng">
                <a:solidFill>
                  <a:schemeClr val="tx1"/>
                </a:solidFill>
                <a:prstDash val="solid"/>
                <a:headEnd type="none" w="sm" len="sm"/>
                <a:tailEnd type="none" w="sm" len="sm"/>
              </a:ln>
            </p:spPr>
          </p:sp>
          <p:sp>
            <p:nvSpPr>
              <p:cNvPr id="19480" name="Line 23"/>
              <p:cNvSpPr/>
              <p:nvPr>
                <p:custDataLst>
                  <p:tags r:id="rId8"/>
                </p:custDataLst>
              </p:nvPr>
            </p:nvSpPr>
            <p:spPr>
              <a:xfrm flipH="1">
                <a:off x="4032" y="3648"/>
                <a:ext cx="480" cy="0"/>
              </a:xfrm>
              <a:prstGeom prst="line">
                <a:avLst/>
              </a:prstGeom>
              <a:ln w="44450" cap="sq" cmpd="sng">
                <a:solidFill>
                  <a:schemeClr val="tx1"/>
                </a:solidFill>
                <a:prstDash val="solid"/>
                <a:headEnd type="none" w="sm" len="sm"/>
                <a:tailEnd type="none" w="sm" len="sm"/>
              </a:ln>
            </p:spPr>
          </p:sp>
          <p:sp>
            <p:nvSpPr>
              <p:cNvPr id="19481" name="Oval 25"/>
              <p:cNvSpPr/>
              <p:nvPr>
                <p:custDataLst>
                  <p:tags r:id="rId9"/>
                </p:custDataLst>
              </p:nvPr>
            </p:nvSpPr>
            <p:spPr>
              <a:xfrm>
                <a:off x="3969" y="3619"/>
                <a:ext cx="67" cy="67"/>
              </a:xfrm>
              <a:prstGeom prst="ellipse">
                <a:avLst/>
              </a:prstGeom>
              <a:solidFill>
                <a:schemeClr val="accent1"/>
              </a:solidFill>
              <a:ln w="44450"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pSp>
        <p:grpSp>
          <p:nvGrpSpPr>
            <p:cNvPr id="19467" name="Group 27"/>
            <p:cNvGrpSpPr/>
            <p:nvPr/>
          </p:nvGrpSpPr>
          <p:grpSpPr>
            <a:xfrm flipV="1">
              <a:off x="3969" y="2763"/>
              <a:ext cx="543" cy="192"/>
              <a:chOff x="3969" y="3494"/>
              <a:chExt cx="543" cy="192"/>
            </a:xfrm>
          </p:grpSpPr>
          <p:sp>
            <p:nvSpPr>
              <p:cNvPr id="19476" name="Line 28"/>
              <p:cNvSpPr/>
              <p:nvPr>
                <p:custDataLst>
                  <p:tags r:id="rId10"/>
                </p:custDataLst>
              </p:nvPr>
            </p:nvSpPr>
            <p:spPr>
              <a:xfrm>
                <a:off x="4512" y="3494"/>
                <a:ext cx="0" cy="154"/>
              </a:xfrm>
              <a:prstGeom prst="line">
                <a:avLst/>
              </a:prstGeom>
              <a:ln w="44450" cap="sq" cmpd="sng">
                <a:solidFill>
                  <a:schemeClr val="tx1"/>
                </a:solidFill>
                <a:prstDash val="solid"/>
                <a:headEnd type="none" w="sm" len="sm"/>
                <a:tailEnd type="none" w="sm" len="sm"/>
              </a:ln>
            </p:spPr>
          </p:sp>
          <p:sp>
            <p:nvSpPr>
              <p:cNvPr id="19477" name="Line 29"/>
              <p:cNvSpPr/>
              <p:nvPr>
                <p:custDataLst>
                  <p:tags r:id="rId11"/>
                </p:custDataLst>
              </p:nvPr>
            </p:nvSpPr>
            <p:spPr>
              <a:xfrm flipH="1">
                <a:off x="4032" y="3648"/>
                <a:ext cx="480" cy="0"/>
              </a:xfrm>
              <a:prstGeom prst="line">
                <a:avLst/>
              </a:prstGeom>
              <a:ln w="44450" cap="sq" cmpd="sng">
                <a:solidFill>
                  <a:schemeClr val="tx1"/>
                </a:solidFill>
                <a:prstDash val="solid"/>
                <a:headEnd type="none" w="sm" len="sm"/>
                <a:tailEnd type="none" w="sm" len="sm"/>
              </a:ln>
            </p:spPr>
          </p:sp>
          <p:sp>
            <p:nvSpPr>
              <p:cNvPr id="19478" name="Oval 30"/>
              <p:cNvSpPr/>
              <p:nvPr>
                <p:custDataLst>
                  <p:tags r:id="rId12"/>
                </p:custDataLst>
              </p:nvPr>
            </p:nvSpPr>
            <p:spPr>
              <a:xfrm>
                <a:off x="3969" y="3619"/>
                <a:ext cx="67" cy="67"/>
              </a:xfrm>
              <a:prstGeom prst="ellipse">
                <a:avLst/>
              </a:prstGeom>
              <a:solidFill>
                <a:schemeClr val="accent1"/>
              </a:solidFill>
              <a:ln w="44450"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pSp>
        <p:sp>
          <p:nvSpPr>
            <p:cNvPr id="19468" name="Line 31"/>
            <p:cNvSpPr/>
            <p:nvPr>
              <p:custDataLst>
                <p:tags r:id="rId13"/>
              </p:custDataLst>
            </p:nvPr>
          </p:nvSpPr>
          <p:spPr>
            <a:xfrm>
              <a:off x="4016" y="3014"/>
              <a:ext cx="0" cy="422"/>
            </a:xfrm>
            <a:prstGeom prst="line">
              <a:avLst/>
            </a:prstGeom>
            <a:ln w="44450" cap="sq" cmpd="sng">
              <a:solidFill>
                <a:schemeClr val="tx1"/>
              </a:solidFill>
              <a:prstDash val="solid"/>
              <a:headEnd type="none" w="sm" len="sm"/>
              <a:tailEnd type="triangle" w="med" len="lg"/>
            </a:ln>
          </p:spPr>
        </p:sp>
        <p:sp>
          <p:nvSpPr>
            <p:cNvPr id="19469" name="Line 32"/>
            <p:cNvSpPr/>
            <p:nvPr>
              <p:custDataLst>
                <p:tags r:id="rId14"/>
              </p:custDataLst>
            </p:nvPr>
          </p:nvSpPr>
          <p:spPr>
            <a:xfrm rot="-5400000">
              <a:off x="4298" y="2490"/>
              <a:ext cx="0" cy="393"/>
            </a:xfrm>
            <a:prstGeom prst="line">
              <a:avLst/>
            </a:prstGeom>
            <a:ln w="44450" cap="sq" cmpd="sng">
              <a:solidFill>
                <a:schemeClr val="tx1"/>
              </a:solidFill>
              <a:prstDash val="solid"/>
              <a:headEnd type="none" w="sm" len="sm"/>
              <a:tailEnd type="triangle" w="med" len="lg"/>
            </a:ln>
          </p:spPr>
        </p:sp>
        <p:sp>
          <p:nvSpPr>
            <p:cNvPr id="19470" name="Text Box 33"/>
            <p:cNvSpPr txBox="1"/>
            <p:nvPr>
              <p:custDataLst>
                <p:tags r:id="rId15"/>
              </p:custDataLst>
            </p:nvPr>
          </p:nvSpPr>
          <p:spPr>
            <a:xfrm>
              <a:off x="3730" y="3008"/>
              <a:ext cx="221" cy="288"/>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i="1" dirty="0">
                  <a:latin typeface="Times New Roman" panose="02020603050405020304" pitchFamily="18" charset="0"/>
                </a:rPr>
                <a:t>U</a:t>
              </a:r>
              <a:endParaRPr lang="en-US" altLang="zh-CN" sz="2400" i="1" dirty="0">
                <a:latin typeface="Times New Roman" panose="02020603050405020304" pitchFamily="18" charset="0"/>
              </a:endParaRPr>
            </a:p>
          </p:txBody>
        </p:sp>
        <p:sp>
          <p:nvSpPr>
            <p:cNvPr id="19471" name="Text Box 34"/>
            <p:cNvSpPr txBox="1"/>
            <p:nvPr>
              <p:custDataLst>
                <p:tags r:id="rId16"/>
              </p:custDataLst>
            </p:nvPr>
          </p:nvSpPr>
          <p:spPr>
            <a:xfrm>
              <a:off x="4442" y="2518"/>
              <a:ext cx="221" cy="288"/>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i="1" dirty="0">
                  <a:latin typeface="Times New Roman" panose="02020603050405020304" pitchFamily="18" charset="0"/>
                </a:rPr>
                <a:t>I</a:t>
              </a:r>
              <a:endParaRPr lang="en-US" altLang="zh-CN" sz="2400" i="1" dirty="0">
                <a:latin typeface="Times New Roman" panose="02020603050405020304" pitchFamily="18" charset="0"/>
              </a:endParaRPr>
            </a:p>
          </p:txBody>
        </p:sp>
        <p:sp>
          <p:nvSpPr>
            <p:cNvPr id="19472" name="Text Box 35"/>
            <p:cNvSpPr txBox="1"/>
            <p:nvPr>
              <p:custDataLst>
                <p:tags r:id="rId17"/>
              </p:custDataLst>
            </p:nvPr>
          </p:nvSpPr>
          <p:spPr>
            <a:xfrm>
              <a:off x="4596" y="3056"/>
              <a:ext cx="221" cy="288"/>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i="1" dirty="0">
                  <a:latin typeface="Times New Roman" panose="02020603050405020304" pitchFamily="18" charset="0"/>
                </a:rPr>
                <a:t>R</a:t>
              </a:r>
              <a:endParaRPr lang="en-US" altLang="zh-CN" sz="2400" i="1" dirty="0">
                <a:latin typeface="Times New Roman" panose="02020603050405020304" pitchFamily="18" charset="0"/>
              </a:endParaRPr>
            </a:p>
          </p:txBody>
        </p:sp>
        <p:sp>
          <p:nvSpPr>
            <p:cNvPr id="19473" name="Line 36"/>
            <p:cNvSpPr/>
            <p:nvPr>
              <p:custDataLst>
                <p:tags r:id="rId18"/>
              </p:custDataLst>
            </p:nvPr>
          </p:nvSpPr>
          <p:spPr>
            <a:xfrm>
              <a:off x="3791" y="3667"/>
              <a:ext cx="116" cy="0"/>
            </a:xfrm>
            <a:prstGeom prst="line">
              <a:avLst/>
            </a:prstGeom>
            <a:ln w="38100" cap="sq" cmpd="sng">
              <a:solidFill>
                <a:schemeClr val="tx1"/>
              </a:solidFill>
              <a:prstDash val="solid"/>
              <a:headEnd type="none" w="sm" len="sm"/>
              <a:tailEnd type="none" w="sm" len="sm"/>
            </a:ln>
          </p:spPr>
        </p:sp>
        <p:sp>
          <p:nvSpPr>
            <p:cNvPr id="19474" name="Line 37"/>
            <p:cNvSpPr/>
            <p:nvPr>
              <p:custDataLst>
                <p:tags r:id="rId19"/>
              </p:custDataLst>
            </p:nvPr>
          </p:nvSpPr>
          <p:spPr>
            <a:xfrm>
              <a:off x="3788" y="2802"/>
              <a:ext cx="116" cy="0"/>
            </a:xfrm>
            <a:prstGeom prst="line">
              <a:avLst/>
            </a:prstGeom>
            <a:ln w="38100" cap="sq" cmpd="sng">
              <a:solidFill>
                <a:schemeClr val="tx1"/>
              </a:solidFill>
              <a:prstDash val="solid"/>
              <a:headEnd type="none" w="sm" len="sm"/>
              <a:tailEnd type="none" w="sm" len="sm"/>
            </a:ln>
          </p:spPr>
        </p:sp>
        <p:sp>
          <p:nvSpPr>
            <p:cNvPr id="19475" name="Line 38"/>
            <p:cNvSpPr/>
            <p:nvPr>
              <p:custDataLst>
                <p:tags r:id="rId20"/>
              </p:custDataLst>
            </p:nvPr>
          </p:nvSpPr>
          <p:spPr>
            <a:xfrm rot="-5400000">
              <a:off x="3789" y="2802"/>
              <a:ext cx="116" cy="0"/>
            </a:xfrm>
            <a:prstGeom prst="line">
              <a:avLst/>
            </a:prstGeom>
            <a:ln w="38100" cap="sq" cmpd="sng">
              <a:solidFill>
                <a:schemeClr val="tx1"/>
              </a:solidFill>
              <a:prstDash val="solid"/>
              <a:headEnd type="none" w="sm" len="sm"/>
              <a:tailEnd type="none" w="sm" len="sm"/>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2000"/>
                                  </p:stCondLst>
                                  <p:childTnLst>
                                    <p:set>
                                      <p:cBhvr>
                                        <p:cTn id="6" dur="1" fill="hold">
                                          <p:stCondLst>
                                            <p:cond delay="0"/>
                                          </p:stCondLst>
                                        </p:cTn>
                                        <p:tgtEl>
                                          <p:spTgt spid="36883"/>
                                        </p:tgtEl>
                                        <p:attrNameLst>
                                          <p:attrName>style.visibility</p:attrName>
                                        </p:attrNameLst>
                                      </p:cBhvr>
                                      <p:to>
                                        <p:strVal val="visible"/>
                                      </p:to>
                                    </p:set>
                                    <p:anim calcmode="lin" valueType="num">
                                      <p:cBhvr>
                                        <p:cTn id="7" dur="500" fill="hold"/>
                                        <p:tgtEl>
                                          <p:spTgt spid="36883"/>
                                        </p:tgtEl>
                                        <p:attrNameLst>
                                          <p:attrName>ppt_w</p:attrName>
                                        </p:attrNameLst>
                                      </p:cBhvr>
                                      <p:tavLst>
                                        <p:tav tm="0">
                                          <p:val>
                                            <p:fltVal val="0.000000"/>
                                          </p:val>
                                        </p:tav>
                                        <p:tav tm="100000">
                                          <p:val>
                                            <p:strVal val="#ppt_w"/>
                                          </p:val>
                                        </p:tav>
                                      </p:tavLst>
                                    </p:anim>
                                    <p:anim calcmode="lin" valueType="num">
                                      <p:cBhvr>
                                        <p:cTn id="8" dur="500" fill="hold"/>
                                        <p:tgtEl>
                                          <p:spTgt spid="36883"/>
                                        </p:tgtEl>
                                        <p:attrNameLst>
                                          <p:attrName>ppt_h</p:attrName>
                                        </p:attrNameLst>
                                      </p:cBhvr>
                                      <p:tavLst>
                                        <p:tav tm="0">
                                          <p:val>
                                            <p:strVal val="#ppt_h"/>
                                          </p:val>
                                        </p:tav>
                                        <p:tav tm="100000">
                                          <p:val>
                                            <p:strVal val="#ppt_h"/>
                                          </p:val>
                                        </p:tav>
                                      </p:tavLst>
                                    </p:anim>
                                  </p:childTnLst>
                                </p:cTn>
                              </p:par>
                            </p:childTnLst>
                          </p:cTn>
                        </p:par>
                        <p:par>
                          <p:cTn id="9" fill="hold">
                            <p:stCondLst>
                              <p:cond delay="2500"/>
                            </p:stCondLst>
                            <p:childTnLst>
                              <p:par>
                                <p:cTn id="10" presetID="2" presetClass="entr" presetSubtype="8" fill="hold" grpId="0" nodeType="afterEffect">
                                  <p:stCondLst>
                                    <p:cond delay="2000"/>
                                  </p:stCondLst>
                                  <p:childTnLst>
                                    <p:set>
                                      <p:cBhvr>
                                        <p:cTn id="11" dur="1" fill="hold">
                                          <p:stCondLst>
                                            <p:cond delay="0"/>
                                          </p:stCondLst>
                                        </p:cTn>
                                        <p:tgtEl>
                                          <p:spTgt spid="36884"/>
                                        </p:tgtEl>
                                        <p:attrNameLst>
                                          <p:attrName>style.visibility</p:attrName>
                                        </p:attrNameLst>
                                      </p:cBhvr>
                                      <p:to>
                                        <p:strVal val="visible"/>
                                      </p:to>
                                    </p:set>
                                    <p:anim calcmode="lin" valueType="num">
                                      <p:cBhvr additive="base">
                                        <p:cTn id="12" dur="500" fill="hold"/>
                                        <p:tgtEl>
                                          <p:spTgt spid="36884"/>
                                        </p:tgtEl>
                                        <p:attrNameLst>
                                          <p:attrName>ppt_x</p:attrName>
                                        </p:attrNameLst>
                                      </p:cBhvr>
                                      <p:tavLst>
                                        <p:tav tm="0">
                                          <p:val>
                                            <p:strVal val="0-#ppt_w/2"/>
                                          </p:val>
                                        </p:tav>
                                        <p:tav tm="100000">
                                          <p:val>
                                            <p:strVal val="#ppt_x"/>
                                          </p:val>
                                        </p:tav>
                                      </p:tavLst>
                                    </p:anim>
                                    <p:anim calcmode="lin" valueType="num">
                                      <p:cBhvr additive="base">
                                        <p:cTn id="13" dur="500" fill="hold"/>
                                        <p:tgtEl>
                                          <p:spTgt spid="3688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36904"/>
                                        </p:tgtEl>
                                        <p:attrNameLst>
                                          <p:attrName>style.visibility</p:attrName>
                                        </p:attrNameLst>
                                      </p:cBhvr>
                                      <p:to>
                                        <p:strVal val="visible"/>
                                      </p:to>
                                    </p:set>
                                    <p:anim calcmode="lin" valueType="num">
                                      <p:cBhvr>
                                        <p:cTn id="18" dur="500" fill="hold"/>
                                        <p:tgtEl>
                                          <p:spTgt spid="36904"/>
                                        </p:tgtEl>
                                        <p:attrNameLst>
                                          <p:attrName>ppt_w</p:attrName>
                                        </p:attrNameLst>
                                      </p:cBhvr>
                                      <p:tavLst>
                                        <p:tav tm="0">
                                          <p:val>
                                            <p:fltVal val="0.000000"/>
                                          </p:val>
                                        </p:tav>
                                        <p:tav tm="100000">
                                          <p:val>
                                            <p:strVal val="#ppt_w"/>
                                          </p:val>
                                        </p:tav>
                                      </p:tavLst>
                                    </p:anim>
                                    <p:anim calcmode="lin" valueType="num">
                                      <p:cBhvr>
                                        <p:cTn id="19" dur="500" fill="hold"/>
                                        <p:tgtEl>
                                          <p:spTgt spid="36904"/>
                                        </p:tgtEl>
                                        <p:attrNameLst>
                                          <p:attrName>ppt_h</p:attrName>
                                        </p:attrNameLst>
                                      </p:cBhvr>
                                      <p:tavLst>
                                        <p:tav tm="0">
                                          <p:val>
                                            <p:fltVal val="0.000000"/>
                                          </p:val>
                                        </p:tav>
                                        <p:tav tm="100000">
                                          <p:val>
                                            <p:strVal val="#ppt_h"/>
                                          </p:val>
                                        </p:tav>
                                      </p:tavLst>
                                    </p:anim>
                                  </p:childTnLst>
                                </p:cTn>
                              </p:par>
                            </p:childTnLst>
                          </p:cTn>
                        </p:par>
                        <p:par>
                          <p:cTn id="20" fill="hold">
                            <p:stCondLst>
                              <p:cond delay="500"/>
                            </p:stCondLst>
                            <p:childTnLst>
                              <p:par>
                                <p:cTn id="21" presetID="9" presetClass="entr" presetSubtype="0" fill="hold" nodeType="afterEffect">
                                  <p:stCondLst>
                                    <p:cond delay="2000"/>
                                  </p:stCondLst>
                                  <p:childTnLst>
                                    <p:set>
                                      <p:cBhvr>
                                        <p:cTn id="22" dur="1" fill="hold">
                                          <p:stCondLst>
                                            <p:cond delay="0"/>
                                          </p:stCondLst>
                                        </p:cTn>
                                        <p:tgtEl>
                                          <p:spTgt spid="2"/>
                                        </p:tgtEl>
                                        <p:attrNameLst>
                                          <p:attrName>style.visibility</p:attrName>
                                        </p:attrNameLst>
                                      </p:cBhvr>
                                      <p:to>
                                        <p:strVal val="visible"/>
                                      </p:to>
                                    </p:set>
                                    <p:animEffect transition="in" filter="dissolv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84" grpId="0"/>
      <p:bldP spid="36904"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Rectangle 2"/>
          <p:cNvSpPr>
            <a:spLocks noGrp="1"/>
          </p:cNvSpPr>
          <p:nvPr>
            <p:ph type="ctrTitle"/>
          </p:nvPr>
        </p:nvSpPr>
        <p:spPr>
          <a:xfrm>
            <a:off x="1847850" y="2132648"/>
            <a:ext cx="7772400" cy="1143000"/>
          </a:xfrm>
        </p:spPr>
        <p:txBody>
          <a:bodyPr vert="horz" wrap="square" lIns="91440" tIns="45720" rIns="91440" bIns="45720" anchor="ctr" anchorCtr="0"/>
          <a:p>
            <a:pPr eaLnBrk="1" hangingPunct="1">
              <a:buClrTx/>
              <a:buSzTx/>
              <a:buFontTx/>
            </a:pPr>
            <a:r>
              <a:rPr lang="en-US" altLang="zh-CN" b="1">
                <a:latin typeface="隶书" panose="02010509060101010101" pitchFamily="49" charset="-122"/>
                <a:ea typeface="隶书" panose="02010509060101010101" pitchFamily="49" charset="-122"/>
              </a:rPr>
              <a:t>2  </a:t>
            </a:r>
            <a:r>
              <a:rPr lang="zh-CN" altLang="en-US" b="1">
                <a:latin typeface="隶书" panose="02010509060101010101" pitchFamily="49" charset="-122"/>
                <a:ea typeface="隶书" panose="02010509060101010101" pitchFamily="49" charset="-122"/>
              </a:rPr>
              <a:t>电流源和电压</a:t>
            </a:r>
            <a:r>
              <a:rPr lang="zh-CN" altLang="en-US" b="1">
                <a:latin typeface="隶书" panose="02010509060101010101" pitchFamily="49" charset="-122"/>
                <a:ea typeface="隶书" panose="02010509060101010101" pitchFamily="49" charset="-122"/>
              </a:rPr>
              <a:t>源</a:t>
            </a:r>
            <a:endParaRPr lang="zh-CN" altLang="en-US" b="1">
              <a:latin typeface="隶书" panose="02010509060101010101" pitchFamily="49" charset="-122"/>
              <a:ea typeface="隶书" panose="020105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622935" y="260985"/>
            <a:ext cx="7696200" cy="609600"/>
          </a:xfrm>
        </p:spPr>
        <p:txBody>
          <a:bodyPr vert="horz" wrap="square" lIns="91440" tIns="45720" rIns="91440" bIns="45720" anchor="ctr" anchorCtr="0"/>
          <a:p>
            <a:pPr algn="l" eaLnBrk="1" hangingPunct="1">
              <a:lnSpc>
                <a:spcPct val="120000"/>
              </a:lnSpc>
            </a:pPr>
            <a:r>
              <a:rPr lang="en-US" altLang="zh-CN" sz="3600" b="1">
                <a:solidFill>
                  <a:schemeClr val="tx1"/>
                </a:solidFill>
                <a:ea typeface="隶书" panose="02010509060101010101" pitchFamily="49" charset="-122"/>
              </a:rPr>
              <a:t>2.1 </a:t>
            </a:r>
            <a:r>
              <a:rPr lang="zh-CN" altLang="en-US" sz="3600" b="1">
                <a:solidFill>
                  <a:schemeClr val="tx1"/>
                </a:solidFill>
                <a:ea typeface="隶书" panose="02010509060101010101" pitchFamily="49" charset="-122"/>
              </a:rPr>
              <a:t>理想电压</a:t>
            </a:r>
            <a:r>
              <a:rPr lang="zh-CN" altLang="en-US" sz="3600" b="1">
                <a:solidFill>
                  <a:schemeClr val="tx1"/>
                </a:solidFill>
                <a:ea typeface="隶书" panose="02010509060101010101" pitchFamily="49" charset="-122"/>
              </a:rPr>
              <a:t>源</a:t>
            </a:r>
            <a:endParaRPr lang="zh-CN" altLang="en-US" sz="3600" b="1">
              <a:solidFill>
                <a:schemeClr val="tx1"/>
              </a:solidFill>
              <a:ea typeface="隶书" panose="02010509060101010101" pitchFamily="49" charset="-122"/>
            </a:endParaRPr>
          </a:p>
        </p:txBody>
      </p:sp>
      <p:sp>
        <p:nvSpPr>
          <p:cNvPr id="36867" name="Text Box 3"/>
          <p:cNvSpPr txBox="1"/>
          <p:nvPr>
            <p:custDataLst>
              <p:tags r:id="rId1"/>
            </p:custDataLst>
          </p:nvPr>
        </p:nvSpPr>
        <p:spPr>
          <a:xfrm>
            <a:off x="3419475" y="2420938"/>
            <a:ext cx="5472113" cy="1081087"/>
          </a:xfrm>
          <a:prstGeom prst="rect">
            <a:avLst/>
          </a:prstGeom>
          <a:noFill/>
          <a:ln w="12700">
            <a:noFill/>
          </a:ln>
        </p:spPr>
        <p:txBody>
          <a:bodyPr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2476500" lvl="0" indent="-2476500">
              <a:lnSpc>
                <a:spcPct val="120000"/>
              </a:lnSpc>
              <a:spcBef>
                <a:spcPct val="0"/>
              </a:spcBef>
              <a:buClrTx/>
              <a:buSzTx/>
              <a:buFontTx/>
              <a:buNone/>
            </a:pPr>
            <a:endParaRPr lang="zh-CN" altLang="en-US" dirty="0">
              <a:solidFill>
                <a:srgbClr val="FFFF00"/>
              </a:solidFill>
              <a:latin typeface="楷体_GB2312" pitchFamily="49" charset="-122"/>
              <a:ea typeface="楷体_GB2312" pitchFamily="49" charset="-122"/>
            </a:endParaRPr>
          </a:p>
          <a:p>
            <a:pPr marL="2476500" lvl="0" indent="-2476500">
              <a:lnSpc>
                <a:spcPct val="120000"/>
              </a:lnSpc>
              <a:spcBef>
                <a:spcPct val="0"/>
              </a:spcBef>
              <a:buClrTx/>
              <a:buSzTx/>
              <a:buFontTx/>
              <a:buNone/>
            </a:pPr>
            <a:endParaRPr lang="zh-CN" altLang="en-US" dirty="0">
              <a:solidFill>
                <a:srgbClr val="FFFF00"/>
              </a:solidFill>
              <a:latin typeface="楷体_GB2312" pitchFamily="49" charset="-122"/>
              <a:ea typeface="楷体_GB2312" pitchFamily="49" charset="-122"/>
            </a:endParaRPr>
          </a:p>
        </p:txBody>
      </p:sp>
      <p:sp>
        <p:nvSpPr>
          <p:cNvPr id="144388" name="Text Box 4"/>
          <p:cNvSpPr txBox="1"/>
          <p:nvPr>
            <p:custDataLst>
              <p:tags r:id="rId2"/>
            </p:custDataLst>
          </p:nvPr>
        </p:nvSpPr>
        <p:spPr>
          <a:xfrm>
            <a:off x="1042988" y="4437063"/>
            <a:ext cx="2087562" cy="576262"/>
          </a:xfrm>
          <a:prstGeom prst="rect">
            <a:avLst/>
          </a:prstGeom>
          <a:noFill/>
          <a:ln w="28575" cap="flat" cmpd="sng">
            <a:solidFill>
              <a:schemeClr val="hlink"/>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nSpc>
                <a:spcPct val="120000"/>
              </a:lnSpc>
              <a:spcBef>
                <a:spcPct val="50000"/>
              </a:spcBef>
              <a:buClrTx/>
              <a:buSzTx/>
            </a:pPr>
            <a:r>
              <a:rPr lang="zh-CN" altLang="en-US" dirty="0">
                <a:latin typeface="楷体_GB2312" pitchFamily="49" charset="-122"/>
                <a:ea typeface="楷体_GB2312" pitchFamily="49" charset="-122"/>
              </a:rPr>
              <a:t>电路符号</a:t>
            </a:r>
            <a:endParaRPr lang="zh-CN" altLang="en-US" dirty="0">
              <a:latin typeface="楷体_GB2312" pitchFamily="49" charset="-122"/>
              <a:ea typeface="楷体_GB2312" pitchFamily="49" charset="-122"/>
            </a:endParaRPr>
          </a:p>
        </p:txBody>
      </p:sp>
      <p:sp>
        <p:nvSpPr>
          <p:cNvPr id="144389" name="Text Box 5"/>
          <p:cNvSpPr txBox="1"/>
          <p:nvPr>
            <p:custDataLst>
              <p:tags r:id="rId3"/>
            </p:custDataLst>
          </p:nvPr>
        </p:nvSpPr>
        <p:spPr>
          <a:xfrm>
            <a:off x="695325" y="1318260"/>
            <a:ext cx="434086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zh-CN" altLang="en-US" sz="3200" b="1" dirty="0">
                <a:latin typeface="楷体_GB2312" pitchFamily="49" charset="-122"/>
                <a:ea typeface="楷体_GB2312" pitchFamily="49" charset="-122"/>
                <a:sym typeface="Symbol" panose="05050102010706020507" pitchFamily="18" charset="2"/>
              </a:rPr>
              <a:t>理想电压源的定义</a:t>
            </a:r>
            <a:endParaRPr lang="zh-CN" altLang="en-US" sz="3200" b="1" dirty="0">
              <a:latin typeface="楷体_GB2312" pitchFamily="49" charset="-122"/>
              <a:ea typeface="楷体_GB2312" pitchFamily="49" charset="-122"/>
              <a:sym typeface="Symbol" panose="05050102010706020507" pitchFamily="18" charset="2"/>
            </a:endParaRPr>
          </a:p>
        </p:txBody>
      </p:sp>
      <p:sp>
        <p:nvSpPr>
          <p:cNvPr id="144390" name="Text Box 6"/>
          <p:cNvSpPr txBox="1"/>
          <p:nvPr>
            <p:custDataLst>
              <p:tags r:id="rId4"/>
            </p:custDataLst>
          </p:nvPr>
        </p:nvSpPr>
        <p:spPr>
          <a:xfrm>
            <a:off x="1042988" y="2349500"/>
            <a:ext cx="1368425" cy="547688"/>
          </a:xfrm>
          <a:prstGeom prst="rect">
            <a:avLst/>
          </a:prstGeom>
          <a:noFill/>
          <a:ln w="28575" cap="flat" cmpd="sng">
            <a:solidFill>
              <a:schemeClr val="hlink"/>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
                <a:schemeClr val="tx1"/>
              </a:buClr>
              <a:buSzTx/>
            </a:pPr>
            <a:r>
              <a:rPr lang="zh-CN" altLang="en-US" dirty="0">
                <a:latin typeface="楷体_GB2312" pitchFamily="49" charset="-122"/>
                <a:ea typeface="楷体_GB2312" pitchFamily="49" charset="-122"/>
                <a:sym typeface="Symbol" panose="05050102010706020507" pitchFamily="18" charset="2"/>
              </a:rPr>
              <a:t>定义</a:t>
            </a:r>
            <a:endParaRPr lang="zh-CN" altLang="en-US" dirty="0">
              <a:latin typeface="楷体_GB2312" pitchFamily="49" charset="-122"/>
              <a:ea typeface="楷体_GB2312" pitchFamily="49" charset="-122"/>
              <a:sym typeface="Symbol" panose="05050102010706020507" pitchFamily="18" charset="2"/>
            </a:endParaRPr>
          </a:p>
        </p:txBody>
      </p:sp>
      <p:sp>
        <p:nvSpPr>
          <p:cNvPr id="144391" name="AutoShape 7"/>
          <p:cNvSpPr/>
          <p:nvPr>
            <p:custDataLst>
              <p:tags r:id="rId5"/>
            </p:custDataLst>
          </p:nvPr>
        </p:nvSpPr>
        <p:spPr>
          <a:xfrm>
            <a:off x="2627313" y="2565400"/>
            <a:ext cx="719137" cy="144463"/>
          </a:xfrm>
          <a:prstGeom prst="rightArrow">
            <a:avLst>
              <a:gd name="adj1" fmla="val 50000"/>
              <a:gd name="adj2" fmla="val 12445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pSp>
        <p:nvGrpSpPr>
          <p:cNvPr id="3" name="Group 8"/>
          <p:cNvGrpSpPr/>
          <p:nvPr/>
        </p:nvGrpSpPr>
        <p:grpSpPr>
          <a:xfrm>
            <a:off x="3983038" y="4292600"/>
            <a:ext cx="3251200" cy="1760538"/>
            <a:chOff x="2509" y="2704"/>
            <a:chExt cx="2048" cy="1109"/>
          </a:xfrm>
        </p:grpSpPr>
        <p:grpSp>
          <p:nvGrpSpPr>
            <p:cNvPr id="4" name="Group 9"/>
            <p:cNvGrpSpPr/>
            <p:nvPr/>
          </p:nvGrpSpPr>
          <p:grpSpPr>
            <a:xfrm>
              <a:off x="2509" y="2804"/>
              <a:ext cx="2048" cy="536"/>
              <a:chOff x="1693" y="2985"/>
              <a:chExt cx="2048" cy="536"/>
            </a:xfrm>
          </p:grpSpPr>
          <p:sp>
            <p:nvSpPr>
              <p:cNvPr id="144394" name="Oval 10"/>
              <p:cNvSpPr>
                <a:spLocks noChangeArrowheads="1"/>
              </p:cNvSpPr>
              <p:nvPr>
                <p:custDataLst>
                  <p:tags r:id="rId6"/>
                </p:custDataLst>
              </p:nvPr>
            </p:nvSpPr>
            <p:spPr bwMode="auto">
              <a:xfrm>
                <a:off x="2363" y="2985"/>
                <a:ext cx="547" cy="536"/>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50800">
                <a:solidFill>
                  <a:srgbClr val="FF9900"/>
                </a:solidFill>
                <a:rou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800" b="1" i="0" u="none" strike="noStrike" kern="1200" cap="none" spc="0" normalizeH="0" baseline="0" noProof="0">
                  <a:ln>
                    <a:noFill/>
                  </a:ln>
                  <a:solidFill>
                    <a:srgbClr val="FFFF99"/>
                  </a:solidFill>
                  <a:effectLst/>
                  <a:uLnTx/>
                  <a:uFillTx/>
                  <a:latin typeface="Times New Roman" panose="02020603050405020304" pitchFamily="18" charset="0"/>
                  <a:ea typeface="宋体" panose="02010600030101010101" pitchFamily="2" charset="-122"/>
                  <a:cs typeface="+mn-cs"/>
                </a:endParaRPr>
              </a:p>
            </p:txBody>
          </p:sp>
          <p:sp>
            <p:nvSpPr>
              <p:cNvPr id="36890" name="Line 11"/>
              <p:cNvSpPr/>
              <p:nvPr>
                <p:custDataLst>
                  <p:tags r:id="rId7"/>
                </p:custDataLst>
              </p:nvPr>
            </p:nvSpPr>
            <p:spPr>
              <a:xfrm rot="5400000">
                <a:off x="2717" y="2246"/>
                <a:ext cx="0" cy="2048"/>
              </a:xfrm>
              <a:prstGeom prst="line">
                <a:avLst/>
              </a:prstGeom>
              <a:ln w="38100" cap="flat" cmpd="sng">
                <a:solidFill>
                  <a:srgbClr val="FF9900"/>
                </a:solidFill>
                <a:prstDash val="solid"/>
                <a:headEnd type="oval" w="med" len="med"/>
                <a:tailEnd type="oval" w="med" len="med"/>
              </a:ln>
            </p:spPr>
          </p:sp>
        </p:grpSp>
        <p:sp>
          <p:nvSpPr>
            <p:cNvPr id="5" name="Text Box 12"/>
            <p:cNvSpPr txBox="1"/>
            <p:nvPr>
              <p:custDataLst>
                <p:tags r:id="rId8"/>
              </p:custDataLst>
            </p:nvPr>
          </p:nvSpPr>
          <p:spPr>
            <a:xfrm>
              <a:off x="2835" y="2704"/>
              <a:ext cx="178" cy="327"/>
            </a:xfrm>
            <a:prstGeom prst="rect">
              <a:avLst/>
            </a:prstGeom>
            <a:noFill/>
            <a:ln w="12700">
              <a:noFill/>
            </a:ln>
          </p:spPr>
          <p:txBody>
            <a:bodyPr wrap="none"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b="0" i="1" dirty="0">
                  <a:latin typeface="Times New Roman" panose="02020603050405020304" pitchFamily="18" charset="0"/>
                  <a:sym typeface="Symbol" panose="05050102010706020507" pitchFamily="18" charset="2"/>
                </a:rPr>
                <a:t>i</a:t>
              </a:r>
              <a:endParaRPr lang="en-US" altLang="zh-CN" b="0" i="1" dirty="0">
                <a:latin typeface="Times New Roman" panose="02020603050405020304" pitchFamily="18" charset="0"/>
                <a:sym typeface="Symbol" panose="05050102010706020507" pitchFamily="18" charset="2"/>
              </a:endParaRPr>
            </a:p>
          </p:txBody>
        </p:sp>
        <p:graphicFrame>
          <p:nvGraphicFramePr>
            <p:cNvPr id="36885" name="Object 13"/>
            <p:cNvGraphicFramePr>
              <a:graphicFrameLocks noChangeAspect="1"/>
            </p:cNvGraphicFramePr>
            <p:nvPr>
              <p:custDataLst>
                <p:tags r:id="rId9"/>
              </p:custDataLst>
            </p:nvPr>
          </p:nvGraphicFramePr>
          <p:xfrm>
            <a:off x="3271" y="3401"/>
            <a:ext cx="303" cy="412"/>
          </p:xfrm>
          <a:graphic>
            <a:graphicData uri="http://schemas.openxmlformats.org/presentationml/2006/ole">
              <mc:AlternateContent xmlns:mc="http://schemas.openxmlformats.org/markup-compatibility/2006">
                <mc:Choice xmlns:v="urn:schemas-microsoft-com:vml" Requires="v">
                  <p:oleObj spid="_x0000_s3101" name="" r:id="rId10" imgW="241300" imgH="317500" progId="Equation.3">
                    <p:embed/>
                  </p:oleObj>
                </mc:Choice>
                <mc:Fallback>
                  <p:oleObj name="" r:id="rId10" imgW="241300" imgH="317500" progId="Equation.3">
                    <p:embed/>
                    <p:pic>
                      <p:nvPicPr>
                        <p:cNvPr id="0" name="图片 3100"/>
                        <p:cNvPicPr/>
                        <p:nvPr/>
                      </p:nvPicPr>
                      <p:blipFill>
                        <a:blip r:embed="rId11">
                          <a:clrChange>
                            <a:clrFrom>
                              <a:srgbClr val="000000"/>
                            </a:clrFrom>
                            <a:clrTo>
                              <a:srgbClr val="FFFFFF"/>
                            </a:clrTo>
                          </a:clrChange>
                        </a:blip>
                        <a:stretch>
                          <a:fillRect/>
                        </a:stretch>
                      </p:blipFill>
                      <p:spPr>
                        <a:xfrm>
                          <a:off x="3271" y="3401"/>
                          <a:ext cx="303" cy="412"/>
                        </a:xfrm>
                        <a:prstGeom prst="rect">
                          <a:avLst/>
                        </a:prstGeom>
                        <a:solidFill>
                          <a:srgbClr val="00FFFF"/>
                        </a:solidFill>
                        <a:ln w="38100">
                          <a:noFill/>
                          <a:miter/>
                        </a:ln>
                      </p:spPr>
                    </p:pic>
                  </p:oleObj>
                </mc:Fallback>
              </mc:AlternateContent>
            </a:graphicData>
          </a:graphic>
        </p:graphicFrame>
        <p:sp>
          <p:nvSpPr>
            <p:cNvPr id="36886" name="Text Box 14"/>
            <p:cNvSpPr txBox="1"/>
            <p:nvPr>
              <p:custDataLst>
                <p:tags r:id="rId12"/>
              </p:custDataLst>
            </p:nvPr>
          </p:nvSpPr>
          <p:spPr>
            <a:xfrm>
              <a:off x="2743" y="3204"/>
              <a:ext cx="27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b="0" dirty="0">
                  <a:latin typeface="Times New Roman" panose="02020603050405020304" pitchFamily="18" charset="0"/>
                  <a:sym typeface="Symbol" panose="05050102010706020507" pitchFamily="18" charset="2"/>
                </a:rPr>
                <a:t>+</a:t>
              </a:r>
              <a:endParaRPr lang="en-US" altLang="zh-CN" b="0" dirty="0">
                <a:latin typeface="Times New Roman" panose="02020603050405020304" pitchFamily="18" charset="0"/>
                <a:sym typeface="Symbol" panose="05050102010706020507" pitchFamily="18" charset="2"/>
              </a:endParaRPr>
            </a:p>
          </p:txBody>
        </p:sp>
        <p:sp>
          <p:nvSpPr>
            <p:cNvPr id="36887" name="Text Box 15"/>
            <p:cNvSpPr txBox="1"/>
            <p:nvPr>
              <p:custDataLst>
                <p:tags r:id="rId13"/>
              </p:custDataLst>
            </p:nvPr>
          </p:nvSpPr>
          <p:spPr>
            <a:xfrm>
              <a:off x="3786" y="3068"/>
              <a:ext cx="27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0"/>
                </a:spcBef>
                <a:buClrTx/>
                <a:buSzTx/>
                <a:buFontTx/>
                <a:buNone/>
              </a:pPr>
              <a:r>
                <a:rPr lang="en-US" altLang="zh-CN" b="0" dirty="0">
                  <a:latin typeface="Times New Roman" panose="02020603050405020304" pitchFamily="18" charset="0"/>
                  <a:sym typeface="Symbol" panose="05050102010706020507" pitchFamily="18" charset="2"/>
                </a:rPr>
                <a:t>_</a:t>
              </a:r>
              <a:endParaRPr lang="en-US" altLang="zh-CN" b="0" dirty="0">
                <a:latin typeface="Times New Roman" panose="02020603050405020304" pitchFamily="18" charset="0"/>
                <a:ea typeface="仿宋_GB2312" pitchFamily="49" charset="-122"/>
                <a:sym typeface="Symbol" panose="05050102010706020507" pitchFamily="18" charset="2"/>
              </a:endParaRPr>
            </a:p>
          </p:txBody>
        </p:sp>
        <p:sp>
          <p:nvSpPr>
            <p:cNvPr id="36888" name="AutoShape 16"/>
            <p:cNvSpPr/>
            <p:nvPr>
              <p:custDataLst>
                <p:tags r:id="rId14"/>
              </p:custDataLst>
            </p:nvPr>
          </p:nvSpPr>
          <p:spPr>
            <a:xfrm>
              <a:off x="2653" y="3049"/>
              <a:ext cx="453" cy="91"/>
            </a:xfrm>
            <a:prstGeom prst="leftArrow">
              <a:avLst>
                <a:gd name="adj1" fmla="val 50000"/>
                <a:gd name="adj2" fmla="val 124450"/>
              </a:avLst>
            </a:prstGeom>
            <a:solidFill>
              <a:schemeClr val="hlink"/>
            </a:solidFill>
            <a:ln w="9525" cap="flat" cmpd="sng">
              <a:solidFill>
                <a:srgbClr val="FF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eaLnBrk="1" hangingPunct="1">
                <a:spcBef>
                  <a:spcPct val="50000"/>
                </a:spcBef>
                <a:buClrTx/>
                <a:buSzTx/>
                <a:buFontTx/>
                <a:buNone/>
              </a:pPr>
              <a:endParaRPr lang="zh-CN" altLang="en-US" dirty="0">
                <a:solidFill>
                  <a:srgbClr val="FF0000"/>
                </a:solidFill>
                <a:latin typeface="Times New Roman" panose="02020603050405020304" pitchFamily="18" charset="0"/>
              </a:endParaRPr>
            </a:p>
          </p:txBody>
        </p:sp>
      </p:grpSp>
      <p:sp>
        <p:nvSpPr>
          <p:cNvPr id="144407" name="Rectangle 23" descr="斜纹布"/>
          <p:cNvSpPr/>
          <p:nvPr>
            <p:custDataLst>
              <p:tags r:id="rId15"/>
            </p:custDataLst>
          </p:nvPr>
        </p:nvSpPr>
        <p:spPr>
          <a:xfrm>
            <a:off x="3419475" y="2205355"/>
            <a:ext cx="7224395" cy="1641475"/>
          </a:xfrm>
          <a:prstGeom prst="rect">
            <a:avLst/>
          </a:prstGeom>
          <a:noFill/>
          <a:ln w="28575">
            <a:noFill/>
          </a:ln>
          <a:effectLst>
            <a:prstShdw prst="shdw17" dist="17961" dir="2699999">
              <a:schemeClr val="bg2"/>
            </a:prstShdw>
          </a:effectLst>
        </p:spPr>
        <p:txBody>
          <a:bodyPr wrap="square">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lnSpc>
                <a:spcPct val="120000"/>
              </a:lnSpc>
              <a:spcBef>
                <a:spcPct val="0"/>
              </a:spcBef>
              <a:buClrTx/>
              <a:buSzTx/>
              <a:buFontTx/>
              <a:buNone/>
            </a:pPr>
            <a:r>
              <a:rPr lang="zh-CN" altLang="en-US" dirty="0">
                <a:ea typeface="楷体_GB2312" pitchFamily="49" charset="-122"/>
              </a:rPr>
              <a:t>其两端电压总能保持定值或一定的时间函数，其值与流过它的电流 </a:t>
            </a:r>
            <a:r>
              <a:rPr lang="en-US" altLang="zh-CN" b="0" i="1" dirty="0">
                <a:latin typeface="Times New Roman" panose="02020603050405020304" pitchFamily="18" charset="0"/>
                <a:ea typeface="楷体_GB2312" pitchFamily="49" charset="-122"/>
              </a:rPr>
              <a:t>i</a:t>
            </a:r>
            <a:r>
              <a:rPr lang="en-US" altLang="zh-CN" b="0" dirty="0">
                <a:latin typeface="Times New Roman" panose="02020603050405020304" pitchFamily="18" charset="0"/>
                <a:ea typeface="楷体_GB2312" pitchFamily="49" charset="-122"/>
              </a:rPr>
              <a:t> </a:t>
            </a:r>
            <a:r>
              <a:rPr lang="zh-CN" altLang="en-US" dirty="0">
                <a:ea typeface="楷体_GB2312" pitchFamily="49" charset="-122"/>
              </a:rPr>
              <a:t>无关的元件叫理想电压源。</a:t>
            </a:r>
            <a:endParaRPr lang="zh-CN" altLang="en-US" dirty="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4389"/>
                                        </p:tgtEl>
                                        <p:attrNameLst>
                                          <p:attrName>style.visibility</p:attrName>
                                        </p:attrNameLst>
                                      </p:cBhvr>
                                      <p:to>
                                        <p:strVal val="visible"/>
                                      </p:to>
                                    </p:set>
                                    <p:anim calcmode="lin" valueType="num">
                                      <p:cBhvr additive="base">
                                        <p:cTn id="7" dur="500" fill="hold"/>
                                        <p:tgtEl>
                                          <p:spTgt spid="144389"/>
                                        </p:tgtEl>
                                        <p:attrNameLst>
                                          <p:attrName>ppt_x</p:attrName>
                                        </p:attrNameLst>
                                      </p:cBhvr>
                                      <p:tavLst>
                                        <p:tav tm="0">
                                          <p:val>
                                            <p:strVal val="0-#ppt_w/2"/>
                                          </p:val>
                                        </p:tav>
                                        <p:tav tm="100000">
                                          <p:val>
                                            <p:strVal val="#ppt_x"/>
                                          </p:val>
                                        </p:tav>
                                      </p:tavLst>
                                    </p:anim>
                                    <p:anim calcmode="lin" valueType="num">
                                      <p:cBhvr additive="base">
                                        <p:cTn id="8" dur="500" fill="hold"/>
                                        <p:tgtEl>
                                          <p:spTgt spid="14438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44390"/>
                                        </p:tgtEl>
                                        <p:attrNameLst>
                                          <p:attrName>style.visibility</p:attrName>
                                        </p:attrNameLst>
                                      </p:cBhvr>
                                      <p:to>
                                        <p:strVal val="visible"/>
                                      </p:to>
                                    </p:set>
                                    <p:animEffect transition="in" filter="blinds(horizontal)">
                                      <p:cBhvr>
                                        <p:cTn id="13" dur="500"/>
                                        <p:tgtEl>
                                          <p:spTgt spid="144390"/>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144391"/>
                                        </p:tgtEl>
                                        <p:attrNameLst>
                                          <p:attrName>style.visibility</p:attrName>
                                        </p:attrNameLst>
                                      </p:cBhvr>
                                      <p:to>
                                        <p:strVal val="visible"/>
                                      </p:to>
                                    </p:set>
                                    <p:animEffect transition="in" filter="slide(fromLeft)">
                                      <p:cBhvr>
                                        <p:cTn id="18" dur="500"/>
                                        <p:tgtEl>
                                          <p:spTgt spid="144391"/>
                                        </p:tgtEl>
                                      </p:cBhvr>
                                    </p:animEffect>
                                  </p:childTnLst>
                                </p:cTn>
                              </p:par>
                            </p:childTnLst>
                          </p:cTn>
                        </p:par>
                        <p:par>
                          <p:cTn id="19" fill="hold">
                            <p:stCondLst>
                              <p:cond delay="500"/>
                            </p:stCondLst>
                            <p:childTnLst>
                              <p:par>
                                <p:cTn id="20" presetID="3" presetClass="entr" presetSubtype="10" fill="hold" grpId="0" nodeType="afterEffect">
                                  <p:stCondLst>
                                    <p:cond delay="0"/>
                                  </p:stCondLst>
                                  <p:childTnLst>
                                    <p:set>
                                      <p:cBhvr>
                                        <p:cTn id="21" dur="1" fill="hold">
                                          <p:stCondLst>
                                            <p:cond delay="0"/>
                                          </p:stCondLst>
                                        </p:cTn>
                                        <p:tgtEl>
                                          <p:spTgt spid="144407"/>
                                        </p:tgtEl>
                                        <p:attrNameLst>
                                          <p:attrName>style.visibility</p:attrName>
                                        </p:attrNameLst>
                                      </p:cBhvr>
                                      <p:to>
                                        <p:strVal val="visible"/>
                                      </p:to>
                                    </p:set>
                                    <p:animEffect transition="in" filter="blinds(horizontal)">
                                      <p:cBhvr>
                                        <p:cTn id="22" dur="500"/>
                                        <p:tgtEl>
                                          <p:spTgt spid="144407"/>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4438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linds(horizontal)">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8" grpId="0" bldLvl="0" animBg="1"/>
      <p:bldP spid="144389" grpId="0"/>
      <p:bldP spid="144390" grpId="0" bldLvl="0" animBg="1"/>
      <p:bldP spid="144391" grpId="0" bldLvl="0" animBg="1"/>
      <p:bldP spid="144407"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622935" y="260985"/>
            <a:ext cx="7696200" cy="609600"/>
          </a:xfrm>
        </p:spPr>
        <p:txBody>
          <a:bodyPr vert="horz" wrap="square" lIns="91440" tIns="45720" rIns="91440" bIns="45720" anchor="ctr" anchorCtr="0"/>
          <a:p>
            <a:pPr algn="l" eaLnBrk="1" hangingPunct="1">
              <a:lnSpc>
                <a:spcPct val="120000"/>
              </a:lnSpc>
            </a:pPr>
            <a:r>
              <a:rPr lang="en-US" altLang="zh-CN" sz="3600" b="1">
                <a:solidFill>
                  <a:schemeClr val="tx1"/>
                </a:solidFill>
                <a:ea typeface="隶书" panose="02010509060101010101" pitchFamily="49" charset="-122"/>
              </a:rPr>
              <a:t>2.2 </a:t>
            </a:r>
            <a:r>
              <a:rPr lang="zh-CN" altLang="en-US" sz="3600" b="1">
                <a:solidFill>
                  <a:schemeClr val="tx1"/>
                </a:solidFill>
                <a:ea typeface="隶书" panose="02010509060101010101" pitchFamily="49" charset="-122"/>
              </a:rPr>
              <a:t>理想电压源的电压、电流关系</a:t>
            </a:r>
            <a:endParaRPr lang="zh-CN" altLang="en-US" sz="3600" b="1">
              <a:solidFill>
                <a:schemeClr val="tx1"/>
              </a:solidFill>
              <a:ea typeface="隶书" panose="02010509060101010101" pitchFamily="49" charset="-122"/>
            </a:endParaRPr>
          </a:p>
        </p:txBody>
      </p:sp>
      <p:sp>
        <p:nvSpPr>
          <p:cNvPr id="145410" name="Text Box 2"/>
          <p:cNvSpPr txBox="1"/>
          <p:nvPr>
            <p:custDataLst>
              <p:tags r:id="rId1"/>
            </p:custDataLst>
          </p:nvPr>
        </p:nvSpPr>
        <p:spPr>
          <a:xfrm>
            <a:off x="539750" y="1125538"/>
            <a:ext cx="8064500" cy="1117600"/>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342900" lvl="0" indent="-342900">
              <a:lnSpc>
                <a:spcPct val="120000"/>
              </a:lnSpc>
              <a:spcBef>
                <a:spcPct val="50000"/>
              </a:spcBef>
              <a:buClrTx/>
              <a:buSzTx/>
              <a:buFontTx/>
              <a:buAutoNum type="circleNumDbPlain"/>
            </a:pPr>
            <a:r>
              <a:rPr lang="zh-CN" altLang="en-US" dirty="0">
                <a:latin typeface="楷体_GB2312" pitchFamily="49" charset="-122"/>
                <a:ea typeface="楷体_GB2312" pitchFamily="49" charset="-122"/>
                <a:sym typeface="Symbol" panose="05050102010706020507" pitchFamily="18" charset="2"/>
              </a:rPr>
              <a:t>电源两端电压由电源本身决定，与外电路无关；与流经它的电流方向、大小无关。</a:t>
            </a:r>
            <a:endParaRPr lang="zh-CN" altLang="en-US" dirty="0">
              <a:latin typeface="楷体_GB2312" pitchFamily="49" charset="-122"/>
              <a:ea typeface="楷体_GB2312" pitchFamily="49" charset="-122"/>
              <a:sym typeface="Symbol" panose="05050102010706020507" pitchFamily="18" charset="2"/>
            </a:endParaRPr>
          </a:p>
        </p:txBody>
      </p:sp>
      <p:sp>
        <p:nvSpPr>
          <p:cNvPr id="145411" name="Text Box 3"/>
          <p:cNvSpPr txBox="1"/>
          <p:nvPr>
            <p:custDataLst>
              <p:tags r:id="rId2"/>
            </p:custDataLst>
          </p:nvPr>
        </p:nvSpPr>
        <p:spPr>
          <a:xfrm>
            <a:off x="539750" y="2133600"/>
            <a:ext cx="5111750" cy="1117600"/>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342900" lvl="0" indent="-342900">
              <a:lnSpc>
                <a:spcPct val="120000"/>
              </a:lnSpc>
              <a:spcBef>
                <a:spcPct val="50000"/>
              </a:spcBef>
              <a:buClrTx/>
              <a:buSzTx/>
              <a:buFontTx/>
              <a:buAutoNum type="circleNumDbPlain" startAt="2"/>
            </a:pPr>
            <a:r>
              <a:rPr lang="zh-CN" altLang="en-US" dirty="0">
                <a:latin typeface="楷体_GB2312" pitchFamily="49" charset="-122"/>
                <a:ea typeface="楷体_GB2312" pitchFamily="49" charset="-122"/>
                <a:sym typeface="Symbol" panose="05050102010706020507" pitchFamily="18" charset="2"/>
              </a:rPr>
              <a:t>通过电压源的电流由电源及外电路共同决定。</a:t>
            </a:r>
            <a:endParaRPr lang="zh-CN" altLang="en-US" dirty="0">
              <a:latin typeface="楷体_GB2312" pitchFamily="49" charset="-122"/>
              <a:ea typeface="楷体_GB2312" pitchFamily="49" charset="-122"/>
              <a:sym typeface="Symbol" panose="05050102010706020507" pitchFamily="18" charset="2"/>
            </a:endParaRPr>
          </a:p>
        </p:txBody>
      </p:sp>
      <p:grpSp>
        <p:nvGrpSpPr>
          <p:cNvPr id="2" name="Group 5"/>
          <p:cNvGrpSpPr/>
          <p:nvPr/>
        </p:nvGrpSpPr>
        <p:grpSpPr>
          <a:xfrm>
            <a:off x="7031673" y="1635443"/>
            <a:ext cx="2954337" cy="2449512"/>
            <a:chOff x="3651" y="391"/>
            <a:chExt cx="1861" cy="1543"/>
          </a:xfrm>
        </p:grpSpPr>
        <p:sp>
          <p:nvSpPr>
            <p:cNvPr id="37924" name="Line 6"/>
            <p:cNvSpPr/>
            <p:nvPr>
              <p:custDataLst>
                <p:tags r:id="rId3"/>
              </p:custDataLst>
            </p:nvPr>
          </p:nvSpPr>
          <p:spPr>
            <a:xfrm>
              <a:off x="3651" y="1525"/>
              <a:ext cx="1542" cy="0"/>
            </a:xfrm>
            <a:prstGeom prst="line">
              <a:avLst/>
            </a:prstGeom>
            <a:ln w="28575" cap="flat" cmpd="sng">
              <a:solidFill>
                <a:schemeClr val="tx1"/>
              </a:solidFill>
              <a:prstDash val="solid"/>
              <a:headEnd type="none" w="med" len="med"/>
              <a:tailEnd type="triangle" w="med" len="med"/>
            </a:ln>
          </p:spPr>
        </p:sp>
        <p:sp>
          <p:nvSpPr>
            <p:cNvPr id="37925" name="Line 7"/>
            <p:cNvSpPr/>
            <p:nvPr>
              <p:custDataLst>
                <p:tags r:id="rId4"/>
              </p:custDataLst>
            </p:nvPr>
          </p:nvSpPr>
          <p:spPr>
            <a:xfrm>
              <a:off x="4332" y="527"/>
              <a:ext cx="0" cy="1407"/>
            </a:xfrm>
            <a:prstGeom prst="line">
              <a:avLst/>
            </a:prstGeom>
            <a:ln w="28575" cap="flat" cmpd="sng">
              <a:solidFill>
                <a:schemeClr val="tx1"/>
              </a:solidFill>
              <a:prstDash val="solid"/>
              <a:headEnd type="triangle" w="med" len="med"/>
              <a:tailEnd type="none" w="med" len="med"/>
            </a:ln>
          </p:spPr>
        </p:sp>
        <p:sp>
          <p:nvSpPr>
            <p:cNvPr id="37926" name="Line 8"/>
            <p:cNvSpPr/>
            <p:nvPr>
              <p:custDataLst>
                <p:tags r:id="rId5"/>
              </p:custDataLst>
            </p:nvPr>
          </p:nvSpPr>
          <p:spPr>
            <a:xfrm flipV="1">
              <a:off x="3696" y="1117"/>
              <a:ext cx="1315" cy="0"/>
            </a:xfrm>
            <a:prstGeom prst="line">
              <a:avLst/>
            </a:prstGeom>
            <a:ln w="38100" cap="flat" cmpd="sng">
              <a:solidFill>
                <a:srgbClr val="FF0000"/>
              </a:solidFill>
              <a:prstDash val="solid"/>
              <a:headEnd type="none" w="med" len="med"/>
              <a:tailEnd type="none" w="med" len="med"/>
            </a:ln>
          </p:spPr>
        </p:sp>
        <p:sp>
          <p:nvSpPr>
            <p:cNvPr id="37927" name="Text Box 9"/>
            <p:cNvSpPr txBox="1"/>
            <p:nvPr>
              <p:custDataLst>
                <p:tags r:id="rId6"/>
              </p:custDataLst>
            </p:nvPr>
          </p:nvSpPr>
          <p:spPr>
            <a:xfrm>
              <a:off x="4377" y="391"/>
              <a:ext cx="273" cy="327"/>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b="0" i="1" dirty="0">
                  <a:latin typeface="Times New Roman" panose="02020603050405020304" pitchFamily="18" charset="0"/>
                  <a:ea typeface="仿宋_GB2312" pitchFamily="49" charset="-122"/>
                  <a:sym typeface="Symbol" panose="05050102010706020507" pitchFamily="18" charset="2"/>
                </a:rPr>
                <a:t>u</a:t>
              </a:r>
              <a:endParaRPr lang="en-US" altLang="zh-CN" b="0" i="1" dirty="0">
                <a:latin typeface="Times New Roman" panose="02020603050405020304" pitchFamily="18" charset="0"/>
                <a:ea typeface="仿宋_GB2312" pitchFamily="49" charset="-122"/>
                <a:sym typeface="Symbol" panose="05050102010706020507" pitchFamily="18" charset="2"/>
              </a:endParaRPr>
            </a:p>
          </p:txBody>
        </p:sp>
        <p:sp>
          <p:nvSpPr>
            <p:cNvPr id="37928" name="Text Box 10"/>
            <p:cNvSpPr txBox="1"/>
            <p:nvPr>
              <p:custDataLst>
                <p:tags r:id="rId7"/>
              </p:custDataLst>
            </p:nvPr>
          </p:nvSpPr>
          <p:spPr>
            <a:xfrm>
              <a:off x="5239" y="1389"/>
              <a:ext cx="273" cy="327"/>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b="0" i="1" dirty="0">
                  <a:latin typeface="Times New Roman" panose="02020603050405020304" pitchFamily="18" charset="0"/>
                  <a:ea typeface="仿宋_GB2312" pitchFamily="49" charset="-122"/>
                  <a:sym typeface="Symbol" panose="05050102010706020507" pitchFamily="18" charset="2"/>
                </a:rPr>
                <a:t>i</a:t>
              </a:r>
              <a:endParaRPr lang="en-US" altLang="zh-CN" b="0" i="1" dirty="0">
                <a:latin typeface="Times New Roman" panose="02020603050405020304" pitchFamily="18" charset="0"/>
                <a:ea typeface="仿宋_GB2312" pitchFamily="49" charset="-122"/>
                <a:sym typeface="Symbol" panose="05050102010706020507" pitchFamily="18" charset="2"/>
              </a:endParaRPr>
            </a:p>
          </p:txBody>
        </p:sp>
        <p:graphicFrame>
          <p:nvGraphicFramePr>
            <p:cNvPr id="37929" name="Object 11"/>
            <p:cNvGraphicFramePr>
              <a:graphicFrameLocks noChangeAspect="1"/>
            </p:cNvGraphicFramePr>
            <p:nvPr>
              <p:custDataLst>
                <p:tags r:id="rId8"/>
              </p:custDataLst>
            </p:nvPr>
          </p:nvGraphicFramePr>
          <p:xfrm>
            <a:off x="4517" y="790"/>
            <a:ext cx="264" cy="357"/>
          </p:xfrm>
          <a:graphic>
            <a:graphicData uri="http://schemas.openxmlformats.org/presentationml/2006/ole">
              <mc:AlternateContent xmlns:mc="http://schemas.openxmlformats.org/markup-compatibility/2006">
                <mc:Choice xmlns:v="urn:schemas-microsoft-com:vml" Requires="v">
                  <p:oleObj spid="_x0000_s3102" name="" r:id="rId9" imgW="241300" imgH="317500" progId="Equation.3">
                    <p:embed/>
                  </p:oleObj>
                </mc:Choice>
                <mc:Fallback>
                  <p:oleObj name="" r:id="rId9" imgW="241300" imgH="317500" progId="Equation.3">
                    <p:embed/>
                    <p:pic>
                      <p:nvPicPr>
                        <p:cNvPr id="0" name="图片 3101"/>
                        <p:cNvPicPr/>
                        <p:nvPr/>
                      </p:nvPicPr>
                      <p:blipFill>
                        <a:blip r:embed="rId10">
                          <a:clrChange>
                            <a:clrFrom>
                              <a:srgbClr val="000000"/>
                            </a:clrFrom>
                            <a:clrTo>
                              <a:srgbClr val="FFFFFF"/>
                            </a:clrTo>
                          </a:clrChange>
                        </a:blip>
                        <a:stretch>
                          <a:fillRect/>
                        </a:stretch>
                      </p:blipFill>
                      <p:spPr>
                        <a:xfrm>
                          <a:off x="4517" y="790"/>
                          <a:ext cx="264" cy="357"/>
                        </a:xfrm>
                        <a:prstGeom prst="rect">
                          <a:avLst/>
                        </a:prstGeom>
                        <a:noFill/>
                        <a:ln w="38100">
                          <a:noFill/>
                          <a:miter/>
                        </a:ln>
                      </p:spPr>
                    </p:pic>
                  </p:oleObj>
                </mc:Fallback>
              </mc:AlternateContent>
            </a:graphicData>
          </a:graphic>
        </p:graphicFrame>
      </p:grpSp>
      <p:sp>
        <p:nvSpPr>
          <p:cNvPr id="145420" name="AutoShape 12" descr="羊皮纸"/>
          <p:cNvSpPr/>
          <p:nvPr>
            <p:custDataLst>
              <p:tags r:id="rId11"/>
            </p:custDataLst>
          </p:nvPr>
        </p:nvSpPr>
        <p:spPr>
          <a:xfrm>
            <a:off x="8688388" y="4364990"/>
            <a:ext cx="1655762" cy="1295400"/>
          </a:xfrm>
          <a:prstGeom prst="wedgeRoundRectCallout">
            <a:avLst>
              <a:gd name="adj1" fmla="val -30537"/>
              <a:gd name="adj2" fmla="val -157231"/>
              <a:gd name="adj3" fmla="val 16667"/>
            </a:avLst>
          </a:prstGeom>
          <a:blipFill rotWithShape="1">
            <a:blip r:embed="rId12"/>
          </a:blipFill>
          <a:ln w="9525" cap="flat" cmpd="sng">
            <a:solidFill>
              <a:schemeClr val="tx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0"/>
              </a:spcBef>
              <a:buClrTx/>
              <a:buSzTx/>
              <a:buFontTx/>
              <a:buNone/>
            </a:pPr>
            <a:r>
              <a:rPr lang="zh-CN" altLang="en-US" sz="2400" dirty="0">
                <a:solidFill>
                  <a:srgbClr val="000000"/>
                </a:solidFill>
                <a:latin typeface="Times New Roman" panose="02020603050405020304" pitchFamily="18" charset="0"/>
                <a:ea typeface="楷体_GB2312" pitchFamily="49" charset="-122"/>
                <a:sym typeface="Symbol" panose="05050102010706020507" pitchFamily="18" charset="2"/>
              </a:rPr>
              <a:t>直流电压源的伏安特性曲线</a:t>
            </a:r>
            <a:endParaRPr lang="zh-CN" altLang="en-US" sz="2400"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145427" name="Text Box 19"/>
          <p:cNvSpPr txBox="1"/>
          <p:nvPr>
            <p:custDataLst>
              <p:tags r:id="rId13"/>
            </p:custDataLst>
          </p:nvPr>
        </p:nvSpPr>
        <p:spPr>
          <a:xfrm>
            <a:off x="468313" y="3429000"/>
            <a:ext cx="647700"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zh-CN" altLang="en-US" sz="3200" dirty="0">
                <a:solidFill>
                  <a:srgbClr val="FFFFFF"/>
                </a:solidFill>
                <a:latin typeface="Times New Roman" panose="02020603050405020304" pitchFamily="18" charset="0"/>
                <a:sym typeface="Symbol" panose="05050102010706020507" pitchFamily="18" charset="2"/>
              </a:rPr>
              <a:t>例</a:t>
            </a:r>
            <a:endParaRPr lang="zh-CN" altLang="en-US" sz="3200" dirty="0">
              <a:solidFill>
                <a:srgbClr val="FFFFFF"/>
              </a:solidFill>
              <a:latin typeface="Times New Roman" panose="02020603050405020304" pitchFamily="18" charset="0"/>
              <a:sym typeface="Symbol" panose="05050102010706020507" pitchFamily="18" charset="2"/>
            </a:endParaRPr>
          </a:p>
        </p:txBody>
      </p:sp>
      <p:grpSp>
        <p:nvGrpSpPr>
          <p:cNvPr id="6" name="Group 20"/>
          <p:cNvGrpSpPr/>
          <p:nvPr/>
        </p:nvGrpSpPr>
        <p:grpSpPr>
          <a:xfrm>
            <a:off x="900113" y="3500438"/>
            <a:ext cx="1944687" cy="1871662"/>
            <a:chOff x="1973" y="1616"/>
            <a:chExt cx="1225" cy="1179"/>
          </a:xfrm>
        </p:grpSpPr>
        <p:sp>
          <p:nvSpPr>
            <p:cNvPr id="37911" name="Oval 21"/>
            <p:cNvSpPr/>
            <p:nvPr>
              <p:custDataLst>
                <p:tags r:id="rId14"/>
              </p:custDataLst>
            </p:nvPr>
          </p:nvSpPr>
          <p:spPr>
            <a:xfrm>
              <a:off x="1973" y="2024"/>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eaLnBrk="1" hangingPunct="1">
                <a:spcBef>
                  <a:spcPct val="0"/>
                </a:spcBef>
                <a:buClrTx/>
                <a:buSzTx/>
                <a:buFontTx/>
                <a:buNone/>
              </a:pPr>
              <a:endParaRPr lang="zh-CN" altLang="en-US" sz="2400" b="0" dirty="0">
                <a:solidFill>
                  <a:srgbClr val="FFFF00"/>
                </a:solidFill>
                <a:ea typeface="仿宋_GB2312" pitchFamily="49" charset="-122"/>
              </a:endParaRPr>
            </a:p>
          </p:txBody>
        </p:sp>
        <p:sp>
          <p:nvSpPr>
            <p:cNvPr id="37912" name="Rectangle 22"/>
            <p:cNvSpPr/>
            <p:nvPr>
              <p:custDataLst>
                <p:tags r:id="rId15"/>
              </p:custDataLst>
            </p:nvPr>
          </p:nvSpPr>
          <p:spPr>
            <a:xfrm>
              <a:off x="2154" y="1661"/>
              <a:ext cx="998" cy="1134"/>
            </a:xfrm>
            <a:prstGeom prst="rect">
              <a:avLst/>
            </a:prstGeom>
            <a:noFill/>
            <a:ln w="28575" cap="flat" cmpd="sng">
              <a:solidFill>
                <a:srgbClr val="FFCC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sp>
          <p:nvSpPr>
            <p:cNvPr id="37913" name="Text Box 23"/>
            <p:cNvSpPr txBox="1"/>
            <p:nvPr>
              <p:custDataLst>
                <p:tags r:id="rId16"/>
              </p:custDataLst>
            </p:nvPr>
          </p:nvSpPr>
          <p:spPr>
            <a:xfrm>
              <a:off x="2789" y="2069"/>
              <a:ext cx="27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b="0" i="1" dirty="0">
                  <a:latin typeface="Times New Roman" panose="02020603050405020304" pitchFamily="18" charset="0"/>
                  <a:ea typeface="仿宋_GB2312" pitchFamily="49" charset="-122"/>
                  <a:sym typeface="Symbol" panose="05050102010706020507" pitchFamily="18" charset="2"/>
                </a:rPr>
                <a:t>R</a:t>
              </a:r>
              <a:endParaRPr lang="en-US" altLang="zh-CN" b="0" i="1" dirty="0">
                <a:latin typeface="Times New Roman" panose="02020603050405020304" pitchFamily="18" charset="0"/>
                <a:ea typeface="仿宋_GB2312" pitchFamily="49" charset="-122"/>
                <a:sym typeface="Symbol" panose="05050102010706020507" pitchFamily="18" charset="2"/>
              </a:endParaRPr>
            </a:p>
          </p:txBody>
        </p:sp>
        <p:sp>
          <p:nvSpPr>
            <p:cNvPr id="37914" name="Text Box 24"/>
            <p:cNvSpPr txBox="1"/>
            <p:nvPr>
              <p:custDataLst>
                <p:tags r:id="rId17"/>
              </p:custDataLst>
            </p:nvPr>
          </p:nvSpPr>
          <p:spPr>
            <a:xfrm>
              <a:off x="2835" y="1616"/>
              <a:ext cx="27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b="0" i="1" dirty="0">
                  <a:latin typeface="Times New Roman" panose="02020603050405020304" pitchFamily="18" charset="0"/>
                  <a:ea typeface="仿宋_GB2312" pitchFamily="49" charset="-122"/>
                  <a:sym typeface="Symbol" panose="05050102010706020507" pitchFamily="18" charset="2"/>
                </a:rPr>
                <a:t>i</a:t>
              </a:r>
              <a:endParaRPr lang="en-US" altLang="zh-CN" b="0" i="1" dirty="0">
                <a:latin typeface="Times New Roman" panose="02020603050405020304" pitchFamily="18" charset="0"/>
                <a:ea typeface="仿宋_GB2312" pitchFamily="49" charset="-122"/>
                <a:sym typeface="Symbol" panose="05050102010706020507" pitchFamily="18" charset="2"/>
              </a:endParaRPr>
            </a:p>
          </p:txBody>
        </p:sp>
        <p:sp>
          <p:nvSpPr>
            <p:cNvPr id="37915" name="Text Box 25"/>
            <p:cNvSpPr txBox="1"/>
            <p:nvPr>
              <p:custDataLst>
                <p:tags r:id="rId18"/>
              </p:custDataLst>
            </p:nvPr>
          </p:nvSpPr>
          <p:spPr>
            <a:xfrm>
              <a:off x="2290" y="2342"/>
              <a:ext cx="273" cy="3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sz="3200" b="0" i="1" dirty="0">
                  <a:latin typeface="宋体" panose="02010600030101010101" pitchFamily="2" charset="-122"/>
                  <a:sym typeface="Symbol" panose="05050102010706020507" pitchFamily="18" charset="2"/>
                </a:rPr>
                <a:t>-</a:t>
              </a:r>
              <a:endParaRPr lang="en-US" altLang="zh-CN" sz="3200" b="0" i="1" dirty="0">
                <a:latin typeface="宋体" panose="02010600030101010101" pitchFamily="2" charset="-122"/>
                <a:sym typeface="Symbol" panose="05050102010706020507" pitchFamily="18" charset="2"/>
              </a:endParaRPr>
            </a:p>
          </p:txBody>
        </p:sp>
        <p:sp>
          <p:nvSpPr>
            <p:cNvPr id="37916" name="Text Box 26"/>
            <p:cNvSpPr txBox="1"/>
            <p:nvPr>
              <p:custDataLst>
                <p:tags r:id="rId19"/>
              </p:custDataLst>
            </p:nvPr>
          </p:nvSpPr>
          <p:spPr>
            <a:xfrm>
              <a:off x="2290" y="1707"/>
              <a:ext cx="272" cy="3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sz="3200" b="0" i="1" dirty="0">
                  <a:latin typeface="Times New Roman" panose="02020603050405020304" pitchFamily="18" charset="0"/>
                  <a:ea typeface="仿宋_GB2312" pitchFamily="49" charset="-122"/>
                  <a:sym typeface="Symbol" panose="05050102010706020507" pitchFamily="18" charset="2"/>
                </a:rPr>
                <a:t>+</a:t>
              </a:r>
              <a:endParaRPr lang="en-US" altLang="zh-CN" sz="3200" b="0" i="1" dirty="0">
                <a:latin typeface="Times New Roman" panose="02020603050405020304" pitchFamily="18" charset="0"/>
                <a:ea typeface="仿宋_GB2312" pitchFamily="49" charset="-122"/>
                <a:sym typeface="Symbol" panose="05050102010706020507" pitchFamily="18" charset="2"/>
              </a:endParaRPr>
            </a:p>
          </p:txBody>
        </p:sp>
        <p:graphicFrame>
          <p:nvGraphicFramePr>
            <p:cNvPr id="37917" name="Object 27"/>
            <p:cNvGraphicFramePr>
              <a:graphicFrameLocks noChangeAspect="1"/>
            </p:cNvGraphicFramePr>
            <p:nvPr>
              <p:custDataLst>
                <p:tags r:id="rId20"/>
              </p:custDataLst>
            </p:nvPr>
          </p:nvGraphicFramePr>
          <p:xfrm>
            <a:off x="2390" y="2024"/>
            <a:ext cx="267" cy="362"/>
          </p:xfrm>
          <a:graphic>
            <a:graphicData uri="http://schemas.openxmlformats.org/presentationml/2006/ole">
              <mc:AlternateContent xmlns:mc="http://schemas.openxmlformats.org/markup-compatibility/2006">
                <mc:Choice xmlns:v="urn:schemas-microsoft-com:vml" Requires="v">
                  <p:oleObj spid="_x0000_s3110" name="" r:id="rId21" imgW="241300" imgH="317500" progId="Equation.3">
                    <p:embed/>
                  </p:oleObj>
                </mc:Choice>
                <mc:Fallback>
                  <p:oleObj name="" r:id="rId21" imgW="241300" imgH="317500" progId="Equation.3">
                    <p:embed/>
                    <p:pic>
                      <p:nvPicPr>
                        <p:cNvPr id="0" name="图片 3109"/>
                        <p:cNvPicPr/>
                        <p:nvPr/>
                      </p:nvPicPr>
                      <p:blipFill>
                        <a:blip r:embed="rId22">
                          <a:clrChange>
                            <a:clrFrom>
                              <a:srgbClr val="000000"/>
                            </a:clrFrom>
                            <a:clrTo>
                              <a:srgbClr val="000066"/>
                            </a:clrTo>
                          </a:clrChange>
                        </a:blip>
                        <a:stretch>
                          <a:fillRect/>
                        </a:stretch>
                      </p:blipFill>
                      <p:spPr>
                        <a:xfrm>
                          <a:off x="2390" y="2024"/>
                          <a:ext cx="267" cy="362"/>
                        </a:xfrm>
                        <a:prstGeom prst="rect">
                          <a:avLst/>
                        </a:prstGeom>
                        <a:noFill/>
                        <a:ln w="38100">
                          <a:noFill/>
                          <a:miter/>
                        </a:ln>
                      </p:spPr>
                    </p:pic>
                  </p:oleObj>
                </mc:Fallback>
              </mc:AlternateContent>
            </a:graphicData>
          </a:graphic>
        </p:graphicFrame>
        <p:sp>
          <p:nvSpPr>
            <p:cNvPr id="37918" name="Rectangle 28"/>
            <p:cNvSpPr/>
            <p:nvPr>
              <p:custDataLst>
                <p:tags r:id="rId23"/>
              </p:custDataLst>
            </p:nvPr>
          </p:nvSpPr>
          <p:spPr>
            <a:xfrm>
              <a:off x="3061" y="2024"/>
              <a:ext cx="137" cy="363"/>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sp>
          <p:nvSpPr>
            <p:cNvPr id="37919" name="Line 29"/>
            <p:cNvSpPr/>
            <p:nvPr>
              <p:custDataLst>
                <p:tags r:id="rId24"/>
              </p:custDataLst>
            </p:nvPr>
          </p:nvSpPr>
          <p:spPr>
            <a:xfrm>
              <a:off x="2562" y="1752"/>
              <a:ext cx="273" cy="0"/>
            </a:xfrm>
            <a:prstGeom prst="line">
              <a:avLst/>
            </a:prstGeom>
            <a:ln w="28575" cap="sq" cmpd="sng">
              <a:solidFill>
                <a:srgbClr val="00CCFF"/>
              </a:solidFill>
              <a:prstDash val="solid"/>
              <a:headEnd type="none" w="med" len="med"/>
              <a:tailEnd type="triangle" w="med" len="med"/>
            </a:ln>
            <a:effectLst>
              <a:prstShdw prst="shdw17" dist="17961" dir="2699999">
                <a:schemeClr val="bg2"/>
              </a:prstShdw>
            </a:effectLst>
          </p:spPr>
        </p:sp>
      </p:grpSp>
      <p:sp>
        <p:nvSpPr>
          <p:cNvPr id="145438" name="AutoShape 30" descr="羊皮纸"/>
          <p:cNvSpPr/>
          <p:nvPr>
            <p:custDataLst>
              <p:tags r:id="rId25"/>
            </p:custDataLst>
          </p:nvPr>
        </p:nvSpPr>
        <p:spPr>
          <a:xfrm>
            <a:off x="611188" y="5805488"/>
            <a:ext cx="1368425" cy="398462"/>
          </a:xfrm>
          <a:prstGeom prst="wedgeRoundRectCallout">
            <a:avLst>
              <a:gd name="adj1" fmla="val 98028"/>
              <a:gd name="adj2" fmla="val -342032"/>
              <a:gd name="adj3" fmla="val 16667"/>
            </a:avLst>
          </a:prstGeom>
          <a:blipFill rotWithShape="1">
            <a:blip r:embed="rId12"/>
          </a:blipFill>
          <a:ln w="9525" cap="flat" cmpd="sng">
            <a:solidFill>
              <a:schemeClr val="tx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0"/>
              </a:spcBef>
              <a:buClrTx/>
              <a:buSzTx/>
              <a:buFontTx/>
              <a:buNone/>
            </a:pPr>
            <a:r>
              <a:rPr lang="zh-CN" altLang="en-US" dirty="0">
                <a:solidFill>
                  <a:srgbClr val="000000"/>
                </a:solidFill>
                <a:latin typeface="Times New Roman" panose="02020603050405020304" pitchFamily="18" charset="0"/>
                <a:ea typeface="楷体_GB2312" pitchFamily="49" charset="-122"/>
                <a:sym typeface="Symbol" panose="05050102010706020507" pitchFamily="18" charset="2"/>
              </a:rPr>
              <a:t>外电路</a:t>
            </a:r>
            <a:endParaRPr lang="zh-CN" altLang="en-US"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145439" name="AutoShape 31"/>
          <p:cNvSpPr/>
          <p:nvPr>
            <p:custDataLst>
              <p:tags r:id="rId26"/>
            </p:custDataLst>
          </p:nvPr>
        </p:nvSpPr>
        <p:spPr>
          <a:xfrm rot="-772628" flipV="1">
            <a:off x="3132138" y="3716338"/>
            <a:ext cx="719137" cy="144462"/>
          </a:xfrm>
          <a:prstGeom prst="rightArrow">
            <a:avLst>
              <a:gd name="adj1" fmla="val 50000"/>
              <a:gd name="adj2" fmla="val 124450"/>
            </a:avLst>
          </a:prstGeom>
          <a:solidFill>
            <a:srgbClr val="FF3300"/>
          </a:solidFill>
          <a:ln w="9525" cap="flat" cmpd="sng">
            <a:solidFill>
              <a:srgbClr val="FF33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aphicFrame>
        <p:nvGraphicFramePr>
          <p:cNvPr id="145440" name="Object 32"/>
          <p:cNvGraphicFramePr>
            <a:graphicFrameLocks noChangeAspect="1"/>
          </p:cNvGraphicFramePr>
          <p:nvPr>
            <p:custDataLst>
              <p:tags r:id="rId27"/>
            </p:custDataLst>
          </p:nvPr>
        </p:nvGraphicFramePr>
        <p:xfrm>
          <a:off x="3992563" y="3068638"/>
          <a:ext cx="1227137" cy="1016000"/>
        </p:xfrm>
        <a:graphic>
          <a:graphicData uri="http://schemas.openxmlformats.org/presentationml/2006/ole">
            <mc:AlternateContent xmlns:mc="http://schemas.openxmlformats.org/markup-compatibility/2006">
              <mc:Choice xmlns:v="urn:schemas-microsoft-com:vml" Requires="v">
                <p:oleObj spid="_x0000_s3112" name="" r:id="rId28" imgW="596900" imgH="596900" progId="Equation.3">
                  <p:embed/>
                </p:oleObj>
              </mc:Choice>
              <mc:Fallback>
                <p:oleObj name="" r:id="rId28" imgW="596900" imgH="596900" progId="Equation.3">
                  <p:embed/>
                  <p:pic>
                    <p:nvPicPr>
                      <p:cNvPr id="0" name="图片 3111"/>
                      <p:cNvPicPr/>
                      <p:nvPr/>
                    </p:nvPicPr>
                    <p:blipFill>
                      <a:blip r:embed="rId29">
                        <a:clrChange>
                          <a:clrFrom>
                            <a:srgbClr val="000000"/>
                          </a:clrFrom>
                          <a:clrTo>
                            <a:srgbClr val="000066"/>
                          </a:clrTo>
                        </a:clrChange>
                      </a:blip>
                      <a:stretch>
                        <a:fillRect/>
                      </a:stretch>
                    </p:blipFill>
                    <p:spPr>
                      <a:xfrm>
                        <a:off x="3992563" y="3068638"/>
                        <a:ext cx="1227137" cy="1016000"/>
                      </a:xfrm>
                      <a:prstGeom prst="rect">
                        <a:avLst/>
                      </a:prstGeom>
                      <a:noFill/>
                      <a:ln w="38100">
                        <a:noFill/>
                        <a:miter/>
                      </a:ln>
                    </p:spPr>
                  </p:pic>
                </p:oleObj>
              </mc:Fallback>
            </mc:AlternateContent>
          </a:graphicData>
        </a:graphic>
      </p:graphicFrame>
      <p:sp>
        <p:nvSpPr>
          <p:cNvPr id="145441" name="AutoShape 33"/>
          <p:cNvSpPr/>
          <p:nvPr>
            <p:custDataLst>
              <p:tags r:id="rId30"/>
            </p:custDataLst>
          </p:nvPr>
        </p:nvSpPr>
        <p:spPr>
          <a:xfrm>
            <a:off x="3132138" y="4292600"/>
            <a:ext cx="720725" cy="144463"/>
          </a:xfrm>
          <a:prstGeom prst="rightArrow">
            <a:avLst>
              <a:gd name="adj1" fmla="val 50000"/>
              <a:gd name="adj2" fmla="val 124724"/>
            </a:avLst>
          </a:prstGeom>
          <a:solidFill>
            <a:srgbClr val="FF3300"/>
          </a:solidFill>
          <a:ln w="9525" cap="flat" cmpd="sng">
            <a:solidFill>
              <a:srgbClr val="FF33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aphicFrame>
        <p:nvGraphicFramePr>
          <p:cNvPr id="145442" name="Object 34"/>
          <p:cNvGraphicFramePr>
            <a:graphicFrameLocks noChangeAspect="1"/>
          </p:cNvGraphicFramePr>
          <p:nvPr>
            <p:custDataLst>
              <p:tags r:id="rId31"/>
            </p:custDataLst>
          </p:nvPr>
        </p:nvGraphicFramePr>
        <p:xfrm>
          <a:off x="3924300" y="4075113"/>
          <a:ext cx="2644775" cy="577850"/>
        </p:xfrm>
        <a:graphic>
          <a:graphicData uri="http://schemas.openxmlformats.org/presentationml/2006/ole">
            <mc:AlternateContent xmlns:mc="http://schemas.openxmlformats.org/markup-compatibility/2006">
              <mc:Choice xmlns:v="urn:schemas-microsoft-com:vml" Requires="v">
                <p:oleObj spid="_x0000_s3109" name="" r:id="rId32" imgW="1231900" imgH="266700" progId="Equation.DSMT4">
                  <p:embed/>
                </p:oleObj>
              </mc:Choice>
              <mc:Fallback>
                <p:oleObj name="" r:id="rId32" imgW="1231900" imgH="266700" progId="Equation.DSMT4">
                  <p:embed/>
                  <p:pic>
                    <p:nvPicPr>
                      <p:cNvPr id="0" name="图片 3108"/>
                      <p:cNvPicPr/>
                      <p:nvPr/>
                    </p:nvPicPr>
                    <p:blipFill>
                      <a:blip r:embed="rId33">
                        <a:clrChange>
                          <a:clrFrom>
                            <a:srgbClr val="000000"/>
                          </a:clrFrom>
                          <a:clrTo>
                            <a:srgbClr val="000066"/>
                          </a:clrTo>
                        </a:clrChange>
                      </a:blip>
                      <a:stretch>
                        <a:fillRect/>
                      </a:stretch>
                    </p:blipFill>
                    <p:spPr>
                      <a:xfrm>
                        <a:off x="3924300" y="4075113"/>
                        <a:ext cx="2644775" cy="577850"/>
                      </a:xfrm>
                      <a:prstGeom prst="rect">
                        <a:avLst/>
                      </a:prstGeom>
                      <a:noFill/>
                      <a:ln w="38100">
                        <a:noFill/>
                        <a:miter/>
                      </a:ln>
                    </p:spPr>
                  </p:pic>
                </p:oleObj>
              </mc:Fallback>
            </mc:AlternateContent>
          </a:graphicData>
        </a:graphic>
      </p:graphicFrame>
      <p:sp>
        <p:nvSpPr>
          <p:cNvPr id="145443" name="AutoShape 35"/>
          <p:cNvSpPr/>
          <p:nvPr>
            <p:custDataLst>
              <p:tags r:id="rId34"/>
            </p:custDataLst>
          </p:nvPr>
        </p:nvSpPr>
        <p:spPr>
          <a:xfrm rot="1047492">
            <a:off x="3059113" y="4868863"/>
            <a:ext cx="719137" cy="144462"/>
          </a:xfrm>
          <a:prstGeom prst="rightArrow">
            <a:avLst>
              <a:gd name="adj1" fmla="val 50000"/>
              <a:gd name="adj2" fmla="val 124450"/>
            </a:avLst>
          </a:prstGeom>
          <a:solidFill>
            <a:srgbClr val="FF3300"/>
          </a:solidFill>
          <a:ln w="9525" cap="flat" cmpd="sng">
            <a:solidFill>
              <a:srgbClr val="FF33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aphicFrame>
        <p:nvGraphicFramePr>
          <p:cNvPr id="145444" name="Object 36"/>
          <p:cNvGraphicFramePr>
            <a:graphicFrameLocks noChangeAspect="1"/>
          </p:cNvGraphicFramePr>
          <p:nvPr>
            <p:custDataLst>
              <p:tags r:id="rId35"/>
            </p:custDataLst>
          </p:nvPr>
        </p:nvGraphicFramePr>
        <p:xfrm>
          <a:off x="3851275" y="4856163"/>
          <a:ext cx="2830513" cy="561975"/>
        </p:xfrm>
        <a:graphic>
          <a:graphicData uri="http://schemas.openxmlformats.org/presentationml/2006/ole">
            <mc:AlternateContent xmlns:mc="http://schemas.openxmlformats.org/markup-compatibility/2006">
              <mc:Choice xmlns:v="urn:schemas-microsoft-com:vml" Requires="v">
                <p:oleObj spid="_x0000_s3111" name="" r:id="rId36" imgW="1181100" imgH="266700" progId="Equation.DSMT4">
                  <p:embed/>
                </p:oleObj>
              </mc:Choice>
              <mc:Fallback>
                <p:oleObj name="" r:id="rId36" imgW="1181100" imgH="266700" progId="Equation.DSMT4">
                  <p:embed/>
                  <p:pic>
                    <p:nvPicPr>
                      <p:cNvPr id="0" name="图片 3110"/>
                      <p:cNvPicPr/>
                      <p:nvPr/>
                    </p:nvPicPr>
                    <p:blipFill>
                      <a:blip r:embed="rId37">
                        <a:clrChange>
                          <a:clrFrom>
                            <a:srgbClr val="000000"/>
                          </a:clrFrom>
                          <a:clrTo>
                            <a:srgbClr val="000066"/>
                          </a:clrTo>
                        </a:clrChange>
                      </a:blip>
                      <a:stretch>
                        <a:fillRect/>
                      </a:stretch>
                    </p:blipFill>
                    <p:spPr>
                      <a:xfrm>
                        <a:off x="3851275" y="4856163"/>
                        <a:ext cx="2830513" cy="561975"/>
                      </a:xfrm>
                      <a:prstGeom prst="rect">
                        <a:avLst/>
                      </a:prstGeom>
                      <a:noFill/>
                      <a:ln w="38100">
                        <a:noFill/>
                        <a:miter/>
                      </a:ln>
                    </p:spPr>
                  </p:pic>
                </p:oleObj>
              </mc:Fallback>
            </mc:AlternateContent>
          </a:graphicData>
        </a:graphic>
      </p:graphicFrame>
      <p:sp>
        <p:nvSpPr>
          <p:cNvPr id="145445" name="Text Box 37"/>
          <p:cNvSpPr txBox="1"/>
          <p:nvPr>
            <p:custDataLst>
              <p:tags r:id="rId38"/>
            </p:custDataLst>
          </p:nvPr>
        </p:nvSpPr>
        <p:spPr>
          <a:xfrm>
            <a:off x="3492500" y="5661025"/>
            <a:ext cx="3529013" cy="519113"/>
          </a:xfrm>
          <a:prstGeom prst="rect">
            <a:avLst/>
          </a:prstGeom>
          <a:solidFill>
            <a:srgbClr val="FF0000"/>
          </a:solid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zh-CN" altLang="en-US" dirty="0">
                <a:latin typeface="Times New Roman" panose="02020603050405020304" pitchFamily="18" charset="0"/>
                <a:ea typeface="楷体_GB2312" pitchFamily="49" charset="-122"/>
                <a:sym typeface="Symbol" panose="05050102010706020507" pitchFamily="18" charset="2"/>
              </a:rPr>
              <a:t>电压源不能短路！</a:t>
            </a:r>
            <a:endParaRPr lang="zh-CN" altLang="en-US" dirty="0">
              <a:latin typeface="Times New Roman" panose="02020603050405020304" pitchFamily="18" charset="0"/>
              <a:ea typeface="楷体_GB2312" pitchFamily="49" charset="-122"/>
              <a:sym typeface="Symbol" panose="05050102010706020507" pitchFamily="18" charset="2"/>
            </a:endParaRPr>
          </a:p>
        </p:txBody>
      </p:sp>
      <p:sp>
        <p:nvSpPr>
          <p:cNvPr id="145446" name="Text Box 38" descr="斜纹布"/>
          <p:cNvSpPr txBox="1"/>
          <p:nvPr>
            <p:custDataLst>
              <p:tags r:id="rId39"/>
            </p:custDataLst>
          </p:nvPr>
        </p:nvSpPr>
        <p:spPr>
          <a:xfrm>
            <a:off x="6443663" y="3571875"/>
            <a:ext cx="360362" cy="366713"/>
          </a:xfrm>
          <a:prstGeom prst="rect">
            <a:avLst/>
          </a:prstGeom>
          <a:noFill/>
          <a:ln w="28575">
            <a:noFill/>
          </a:ln>
          <a:effectLst>
            <a:prstShdw prst="shdw17" dist="17961" dir="2699999">
              <a:schemeClr val="bg2"/>
            </a:prstShdw>
          </a:effectLst>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0" i="1" dirty="0">
                <a:latin typeface="Times New Roman" panose="02020603050405020304" pitchFamily="18" charset="0"/>
                <a:ea typeface="楷体_GB2312" pitchFamily="49" charset="-122"/>
              </a:rPr>
              <a:t>O</a:t>
            </a:r>
            <a:endParaRPr lang="en-US" altLang="zh-CN" sz="1800" b="0" i="1" dirty="0">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iterate type="lt">
                                    <p:tmPct val="100000"/>
                                  </p:iterate>
                                  <p:childTnLst>
                                    <p:set>
                                      <p:cBhvr>
                                        <p:cTn id="6" dur="1" fill="hold">
                                          <p:stCondLst>
                                            <p:cond delay="0"/>
                                          </p:stCondLst>
                                        </p:cTn>
                                        <p:tgtEl>
                                          <p:spTgt spid="145410"/>
                                        </p:tgtEl>
                                        <p:attrNameLst>
                                          <p:attrName>style.visibility</p:attrName>
                                        </p:attrNameLst>
                                      </p:cBhvr>
                                      <p:to>
                                        <p:strVal val="visible"/>
                                      </p:to>
                                    </p:set>
                                    <p:anim calcmode="lin" valueType="num">
                                      <p:cBhvr>
                                        <p:cTn id="7" dur="100" fill="hold"/>
                                        <p:tgtEl>
                                          <p:spTgt spid="145410"/>
                                        </p:tgtEl>
                                        <p:attrNameLst>
                                          <p:attrName>ppt_w</p:attrName>
                                        </p:attrNameLst>
                                      </p:cBhvr>
                                      <p:tavLst>
                                        <p:tav tm="0">
                                          <p:val>
                                            <p:fltVal val="0.000000"/>
                                          </p:val>
                                        </p:tav>
                                        <p:tav tm="100000">
                                          <p:val>
                                            <p:strVal val="#ppt_w"/>
                                          </p:val>
                                        </p:tav>
                                      </p:tavLst>
                                    </p:anim>
                                    <p:anim calcmode="lin" valueType="num">
                                      <p:cBhvr>
                                        <p:cTn id="8" dur="100" fill="hold"/>
                                        <p:tgtEl>
                                          <p:spTgt spid="145410"/>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0"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edge">
                                      <p:cBhvr>
                                        <p:cTn id="13" dur="2000"/>
                                        <p:tgtEl>
                                          <p:spTgt spid="2"/>
                                        </p:tgtEl>
                                      </p:cBhvr>
                                    </p:animEffect>
                                  </p:childTnLst>
                                </p:cTn>
                              </p:par>
                            </p:childTnLst>
                          </p:cTn>
                        </p:par>
                        <p:par>
                          <p:cTn id="14" fill="hold">
                            <p:stCondLst>
                              <p:cond delay="2000"/>
                            </p:stCondLst>
                            <p:childTnLst>
                              <p:par>
                                <p:cTn id="15" presetID="3" presetClass="entr" presetSubtype="10" fill="hold" grpId="0" nodeType="afterEffect">
                                  <p:stCondLst>
                                    <p:cond delay="0"/>
                                  </p:stCondLst>
                                  <p:childTnLst>
                                    <p:set>
                                      <p:cBhvr>
                                        <p:cTn id="16" dur="1" fill="hold">
                                          <p:stCondLst>
                                            <p:cond delay="0"/>
                                          </p:stCondLst>
                                        </p:cTn>
                                        <p:tgtEl>
                                          <p:spTgt spid="145446"/>
                                        </p:tgtEl>
                                        <p:attrNameLst>
                                          <p:attrName>style.visibility</p:attrName>
                                        </p:attrNameLst>
                                      </p:cBhvr>
                                      <p:to>
                                        <p:strVal val="visible"/>
                                      </p:to>
                                    </p:set>
                                    <p:animEffect transition="in" filter="blinds(horizontal)">
                                      <p:cBhvr>
                                        <p:cTn id="17" dur="500"/>
                                        <p:tgtEl>
                                          <p:spTgt spid="145446"/>
                                        </p:tgtEl>
                                      </p:cBhvr>
                                    </p:animEffect>
                                  </p:childTnLst>
                                </p:cTn>
                              </p:par>
                            </p:childTnLst>
                          </p:cTn>
                        </p:par>
                        <p:par>
                          <p:cTn id="18" fill="hold">
                            <p:stCondLst>
                              <p:cond delay="2500"/>
                            </p:stCondLst>
                            <p:childTnLst>
                              <p:par>
                                <p:cTn id="19" presetID="20" presetClass="entr" presetSubtype="0" fill="hold" grpId="0" nodeType="afterEffect">
                                  <p:stCondLst>
                                    <p:cond delay="0"/>
                                  </p:stCondLst>
                                  <p:childTnLst>
                                    <p:set>
                                      <p:cBhvr>
                                        <p:cTn id="20" dur="1" fill="hold">
                                          <p:stCondLst>
                                            <p:cond delay="0"/>
                                          </p:stCondLst>
                                        </p:cTn>
                                        <p:tgtEl>
                                          <p:spTgt spid="145420"/>
                                        </p:tgtEl>
                                        <p:attrNameLst>
                                          <p:attrName>style.visibility</p:attrName>
                                        </p:attrNameLst>
                                      </p:cBhvr>
                                      <p:to>
                                        <p:strVal val="visible"/>
                                      </p:to>
                                    </p:set>
                                    <p:animEffect transition="in" filter="wedge">
                                      <p:cBhvr>
                                        <p:cTn id="21" dur="2000"/>
                                        <p:tgtEl>
                                          <p:spTgt spid="145420"/>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grpId="0" nodeType="clickEffect">
                                  <p:stCondLst>
                                    <p:cond delay="0"/>
                                  </p:stCondLst>
                                  <p:iterate type="lt">
                                    <p:tmPct val="100000"/>
                                  </p:iterate>
                                  <p:childTnLst>
                                    <p:set>
                                      <p:cBhvr>
                                        <p:cTn id="25" dur="1" fill="hold">
                                          <p:stCondLst>
                                            <p:cond delay="0"/>
                                          </p:stCondLst>
                                        </p:cTn>
                                        <p:tgtEl>
                                          <p:spTgt spid="145411"/>
                                        </p:tgtEl>
                                        <p:attrNameLst>
                                          <p:attrName>style.visibility</p:attrName>
                                        </p:attrNameLst>
                                      </p:cBhvr>
                                      <p:to>
                                        <p:strVal val="visible"/>
                                      </p:to>
                                    </p:set>
                                    <p:anim calcmode="lin" valueType="num">
                                      <p:cBhvr>
                                        <p:cTn id="26" dur="100" fill="hold"/>
                                        <p:tgtEl>
                                          <p:spTgt spid="145411"/>
                                        </p:tgtEl>
                                        <p:attrNameLst>
                                          <p:attrName>ppt_w</p:attrName>
                                        </p:attrNameLst>
                                      </p:cBhvr>
                                      <p:tavLst>
                                        <p:tav tm="0">
                                          <p:val>
                                            <p:strVal val="#ppt_w*0.70"/>
                                          </p:val>
                                        </p:tav>
                                        <p:tav tm="100000">
                                          <p:val>
                                            <p:strVal val="#ppt_w"/>
                                          </p:val>
                                        </p:tav>
                                      </p:tavLst>
                                    </p:anim>
                                    <p:anim calcmode="lin" valueType="num">
                                      <p:cBhvr>
                                        <p:cTn id="27" dur="100" fill="hold"/>
                                        <p:tgtEl>
                                          <p:spTgt spid="145411"/>
                                        </p:tgtEl>
                                        <p:attrNameLst>
                                          <p:attrName>ppt_h</p:attrName>
                                        </p:attrNameLst>
                                      </p:cBhvr>
                                      <p:tavLst>
                                        <p:tav tm="0">
                                          <p:val>
                                            <p:strVal val="#ppt_h"/>
                                          </p:val>
                                        </p:tav>
                                        <p:tav tm="100000">
                                          <p:val>
                                            <p:strVal val="#ppt_h"/>
                                          </p:val>
                                        </p:tav>
                                      </p:tavLst>
                                    </p:anim>
                                    <p:animEffect transition="in" filter="fade">
                                      <p:cBhvr>
                                        <p:cTn id="28" dur="100"/>
                                        <p:tgtEl>
                                          <p:spTgt spid="145411"/>
                                        </p:tgtEl>
                                      </p:cBhvr>
                                    </p:animEffect>
                                  </p:childTnLst>
                                </p:cTn>
                              </p:par>
                            </p:childTnLst>
                          </p:cTn>
                        </p:par>
                      </p:childTnLst>
                    </p:cTn>
                  </p:par>
                  <p:par>
                    <p:cTn id="29" fill="hold">
                      <p:stCondLst>
                        <p:cond delay="indefinite"/>
                      </p:stCondLst>
                      <p:childTnLst>
                        <p:par>
                          <p:cTn id="30" fill="hold">
                            <p:stCondLst>
                              <p:cond delay="0"/>
                            </p:stCondLst>
                            <p:childTnLst>
                              <p:par>
                                <p:cTn id="31" presetID="15" presetClass="entr" presetSubtype="0" fill="hold" grpId="0" nodeType="clickEffect">
                                  <p:stCondLst>
                                    <p:cond delay="0"/>
                                  </p:stCondLst>
                                  <p:childTnLst>
                                    <p:set>
                                      <p:cBhvr>
                                        <p:cTn id="32" dur="1" fill="hold">
                                          <p:stCondLst>
                                            <p:cond delay="0"/>
                                          </p:stCondLst>
                                        </p:cTn>
                                        <p:tgtEl>
                                          <p:spTgt spid="145427"/>
                                        </p:tgtEl>
                                        <p:attrNameLst>
                                          <p:attrName>style.visibility</p:attrName>
                                        </p:attrNameLst>
                                      </p:cBhvr>
                                      <p:to>
                                        <p:strVal val="visible"/>
                                      </p:to>
                                    </p:set>
                                    <p:anim calcmode="lin" valueType="num">
                                      <p:cBhvr>
                                        <p:cTn id="33" dur="1000" fill="hold"/>
                                        <p:tgtEl>
                                          <p:spTgt spid="145427"/>
                                        </p:tgtEl>
                                        <p:attrNameLst>
                                          <p:attrName>ppt_w</p:attrName>
                                        </p:attrNameLst>
                                      </p:cBhvr>
                                      <p:tavLst>
                                        <p:tav tm="0">
                                          <p:val>
                                            <p:fltVal val="0.000000"/>
                                          </p:val>
                                        </p:tav>
                                        <p:tav tm="100000">
                                          <p:val>
                                            <p:strVal val="#ppt_w"/>
                                          </p:val>
                                        </p:tav>
                                      </p:tavLst>
                                    </p:anim>
                                    <p:anim calcmode="lin" valueType="num">
                                      <p:cBhvr>
                                        <p:cTn id="34" dur="1000" fill="hold"/>
                                        <p:tgtEl>
                                          <p:spTgt spid="145427"/>
                                        </p:tgtEl>
                                        <p:attrNameLst>
                                          <p:attrName>ppt_h</p:attrName>
                                        </p:attrNameLst>
                                      </p:cBhvr>
                                      <p:tavLst>
                                        <p:tav tm="0">
                                          <p:val>
                                            <p:fltVal val="0.000000"/>
                                          </p:val>
                                        </p:tav>
                                        <p:tav tm="100000">
                                          <p:val>
                                            <p:strVal val="#ppt_h"/>
                                          </p:val>
                                        </p:tav>
                                      </p:tavLst>
                                    </p:anim>
                                    <p:anim calcmode="lin" valueType="num">
                                      <p:cBhvr>
                                        <p:cTn id="35" dur="1000" fill="hold"/>
                                        <p:tgtEl>
                                          <p:spTgt spid="145427"/>
                                        </p:tgtEl>
                                        <p:attrNameLst>
                                          <p:attrName>ppt_x</p:attrName>
                                        </p:attrNameLst>
                                      </p:cBhvr>
                                      <p:tavLst>
                                        <p:tav tm="0" fmla="#ppt_x+(cos(-2*pi*(1-$))*-#ppt_x-sin(-2*pi*(1-$))*(1-#ppt_y))*(1-$)">
                                          <p:val>
                                            <p:fltVal val="0.000000"/>
                                          </p:val>
                                        </p:tav>
                                        <p:tav tm="100000">
                                          <p:val>
                                            <p:fltVal val="1.000000"/>
                                          </p:val>
                                        </p:tav>
                                      </p:tavLst>
                                    </p:anim>
                                    <p:anim calcmode="lin" valueType="num">
                                      <p:cBhvr>
                                        <p:cTn id="36" dur="1000" fill="hold"/>
                                        <p:tgtEl>
                                          <p:spTgt spid="145427"/>
                                        </p:tgtEl>
                                        <p:attrNameLst>
                                          <p:attrName>ppt_y</p:attrName>
                                        </p:attrNameLst>
                                      </p:cBhvr>
                                      <p:tavLst>
                                        <p:tav tm="0" fmla="#ppt_y+(sin(-2*pi*(1-$))*-#ppt_x+cos(-2*pi*(1-$))*(1-#ppt_y))*(1-$)">
                                          <p:val>
                                            <p:fltVal val="0.000000"/>
                                          </p:val>
                                        </p:tav>
                                        <p:tav tm="100000">
                                          <p:val>
                                            <p:fltVal val="1.000000"/>
                                          </p:val>
                                        </p:tav>
                                      </p:tavLst>
                                    </p:anim>
                                  </p:childTnLst>
                                </p:cTn>
                              </p:par>
                            </p:childTnLst>
                          </p:cTn>
                        </p:par>
                        <p:par>
                          <p:cTn id="37" fill="hold">
                            <p:stCondLst>
                              <p:cond delay="1000"/>
                            </p:stCondLst>
                            <p:childTnLst>
                              <p:par>
                                <p:cTn id="38" presetID="3" presetClass="entr" presetSubtype="10" fill="hold"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blinds(horizontal)">
                                      <p:cBhvr>
                                        <p:cTn id="40" dur="500"/>
                                        <p:tgtEl>
                                          <p:spTgt spid="6"/>
                                        </p:tgtEl>
                                      </p:cBhvr>
                                    </p:animEffect>
                                  </p:childTnLst>
                                </p:cTn>
                              </p:par>
                            </p:childTnLst>
                          </p:cTn>
                        </p:par>
                        <p:par>
                          <p:cTn id="41" fill="hold">
                            <p:stCondLst>
                              <p:cond delay="1500"/>
                            </p:stCondLst>
                            <p:childTnLst>
                              <p:par>
                                <p:cTn id="42" presetID="49" presetClass="entr" presetSubtype="0" decel="100000" fill="hold" grpId="0" nodeType="afterEffect">
                                  <p:stCondLst>
                                    <p:cond delay="0"/>
                                  </p:stCondLst>
                                  <p:childTnLst>
                                    <p:set>
                                      <p:cBhvr>
                                        <p:cTn id="43" dur="1" fill="hold">
                                          <p:stCondLst>
                                            <p:cond delay="0"/>
                                          </p:stCondLst>
                                        </p:cTn>
                                        <p:tgtEl>
                                          <p:spTgt spid="145438"/>
                                        </p:tgtEl>
                                        <p:attrNameLst>
                                          <p:attrName>style.visibility</p:attrName>
                                        </p:attrNameLst>
                                      </p:cBhvr>
                                      <p:to>
                                        <p:strVal val="visible"/>
                                      </p:to>
                                    </p:set>
                                    <p:anim calcmode="lin" valueType="num">
                                      <p:cBhvr>
                                        <p:cTn id="44" dur="500" fill="hold"/>
                                        <p:tgtEl>
                                          <p:spTgt spid="145438"/>
                                        </p:tgtEl>
                                        <p:attrNameLst>
                                          <p:attrName>ppt_w</p:attrName>
                                        </p:attrNameLst>
                                      </p:cBhvr>
                                      <p:tavLst>
                                        <p:tav tm="0">
                                          <p:val>
                                            <p:fltVal val="0.000000"/>
                                          </p:val>
                                        </p:tav>
                                        <p:tav tm="100000">
                                          <p:val>
                                            <p:strVal val="#ppt_w"/>
                                          </p:val>
                                        </p:tav>
                                      </p:tavLst>
                                    </p:anim>
                                    <p:anim calcmode="lin" valueType="num">
                                      <p:cBhvr>
                                        <p:cTn id="45" dur="500" fill="hold"/>
                                        <p:tgtEl>
                                          <p:spTgt spid="145438"/>
                                        </p:tgtEl>
                                        <p:attrNameLst>
                                          <p:attrName>ppt_h</p:attrName>
                                        </p:attrNameLst>
                                      </p:cBhvr>
                                      <p:tavLst>
                                        <p:tav tm="0">
                                          <p:val>
                                            <p:fltVal val="0.000000"/>
                                          </p:val>
                                        </p:tav>
                                        <p:tav tm="100000">
                                          <p:val>
                                            <p:strVal val="#ppt_h"/>
                                          </p:val>
                                        </p:tav>
                                      </p:tavLst>
                                    </p:anim>
                                    <p:anim calcmode="lin" valueType="num">
                                      <p:cBhvr>
                                        <p:cTn id="46" dur="500" fill="hold"/>
                                        <p:tgtEl>
                                          <p:spTgt spid="145438"/>
                                        </p:tgtEl>
                                        <p:attrNameLst>
                                          <p:attrName>style.rotation</p:attrName>
                                        </p:attrNameLst>
                                      </p:cBhvr>
                                      <p:tavLst>
                                        <p:tav tm="0">
                                          <p:val>
                                            <p:fltVal val="360.000000"/>
                                          </p:val>
                                        </p:tav>
                                        <p:tav tm="100000">
                                          <p:val>
                                            <p:fltVal val="0.000000"/>
                                          </p:val>
                                        </p:tav>
                                      </p:tavLst>
                                    </p:anim>
                                    <p:animEffect transition="in" filter="fade">
                                      <p:cBhvr>
                                        <p:cTn id="47" dur="500"/>
                                        <p:tgtEl>
                                          <p:spTgt spid="14543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45439"/>
                                        </p:tgtEl>
                                        <p:attrNameLst>
                                          <p:attrName>style.visibility</p:attrName>
                                        </p:attrNameLst>
                                      </p:cBhvr>
                                      <p:to>
                                        <p:strVal val="visible"/>
                                      </p:to>
                                    </p:set>
                                    <p:animEffect transition="in" filter="wipe(down)">
                                      <p:cBhvr>
                                        <p:cTn id="52" dur="500"/>
                                        <p:tgtEl>
                                          <p:spTgt spid="145439"/>
                                        </p:tgtEl>
                                      </p:cBhvr>
                                    </p:animEffect>
                                  </p:childTnLst>
                                </p:cTn>
                              </p:par>
                            </p:childTnLst>
                          </p:cTn>
                        </p:par>
                        <p:par>
                          <p:cTn id="53" fill="hold">
                            <p:stCondLst>
                              <p:cond delay="500"/>
                            </p:stCondLst>
                            <p:childTnLst>
                              <p:par>
                                <p:cTn id="54" presetID="18" presetClass="entr" presetSubtype="3" fill="hold" nodeType="afterEffect">
                                  <p:stCondLst>
                                    <p:cond delay="0"/>
                                  </p:stCondLst>
                                  <p:childTnLst>
                                    <p:set>
                                      <p:cBhvr>
                                        <p:cTn id="55" dur="1" fill="hold">
                                          <p:stCondLst>
                                            <p:cond delay="0"/>
                                          </p:stCondLst>
                                        </p:cTn>
                                        <p:tgtEl>
                                          <p:spTgt spid="145440"/>
                                        </p:tgtEl>
                                        <p:attrNameLst>
                                          <p:attrName>style.visibility</p:attrName>
                                        </p:attrNameLst>
                                      </p:cBhvr>
                                      <p:to>
                                        <p:strVal val="visible"/>
                                      </p:to>
                                    </p:set>
                                    <p:animEffect transition="in" filter="strips(upRight)">
                                      <p:cBhvr>
                                        <p:cTn id="56" dur="1000"/>
                                        <p:tgtEl>
                                          <p:spTgt spid="145440"/>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grpId="0" nodeType="clickEffect">
                                  <p:stCondLst>
                                    <p:cond delay="0"/>
                                  </p:stCondLst>
                                  <p:childTnLst>
                                    <p:set>
                                      <p:cBhvr>
                                        <p:cTn id="60" dur="1" fill="hold">
                                          <p:stCondLst>
                                            <p:cond delay="0"/>
                                          </p:stCondLst>
                                        </p:cTn>
                                        <p:tgtEl>
                                          <p:spTgt spid="145441"/>
                                        </p:tgtEl>
                                        <p:attrNameLst>
                                          <p:attrName>style.visibility</p:attrName>
                                        </p:attrNameLst>
                                      </p:cBhvr>
                                      <p:to>
                                        <p:strVal val="visible"/>
                                      </p:to>
                                    </p:set>
                                    <p:animEffect transition="in" filter="slide(fromLeft)">
                                      <p:cBhvr>
                                        <p:cTn id="61" dur="500"/>
                                        <p:tgtEl>
                                          <p:spTgt spid="145441"/>
                                        </p:tgtEl>
                                      </p:cBhvr>
                                    </p:animEffect>
                                  </p:childTnLst>
                                </p:cTn>
                              </p:par>
                            </p:childTnLst>
                          </p:cTn>
                        </p:par>
                        <p:par>
                          <p:cTn id="62" fill="hold">
                            <p:stCondLst>
                              <p:cond delay="500"/>
                            </p:stCondLst>
                            <p:childTnLst>
                              <p:par>
                                <p:cTn id="63" presetID="18" presetClass="entr" presetSubtype="6" fill="hold" nodeType="afterEffect">
                                  <p:stCondLst>
                                    <p:cond delay="0"/>
                                  </p:stCondLst>
                                  <p:childTnLst>
                                    <p:set>
                                      <p:cBhvr>
                                        <p:cTn id="64" dur="1" fill="hold">
                                          <p:stCondLst>
                                            <p:cond delay="0"/>
                                          </p:stCondLst>
                                        </p:cTn>
                                        <p:tgtEl>
                                          <p:spTgt spid="145442"/>
                                        </p:tgtEl>
                                        <p:attrNameLst>
                                          <p:attrName>style.visibility</p:attrName>
                                        </p:attrNameLst>
                                      </p:cBhvr>
                                      <p:to>
                                        <p:strVal val="visible"/>
                                      </p:to>
                                    </p:set>
                                    <p:animEffect transition="in" filter="strips(downRight)">
                                      <p:cBhvr>
                                        <p:cTn id="65" dur="1000"/>
                                        <p:tgtEl>
                                          <p:spTgt spid="145442"/>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grpId="0" nodeType="clickEffect">
                                  <p:stCondLst>
                                    <p:cond delay="0"/>
                                  </p:stCondLst>
                                  <p:childTnLst>
                                    <p:set>
                                      <p:cBhvr>
                                        <p:cTn id="69" dur="1" fill="hold">
                                          <p:stCondLst>
                                            <p:cond delay="0"/>
                                          </p:stCondLst>
                                        </p:cTn>
                                        <p:tgtEl>
                                          <p:spTgt spid="145443"/>
                                        </p:tgtEl>
                                        <p:attrNameLst>
                                          <p:attrName>style.visibility</p:attrName>
                                        </p:attrNameLst>
                                      </p:cBhvr>
                                      <p:to>
                                        <p:strVal val="visible"/>
                                      </p:to>
                                    </p:set>
                                    <p:animEffect transition="in" filter="wipe(up)">
                                      <p:cBhvr>
                                        <p:cTn id="70" dur="500"/>
                                        <p:tgtEl>
                                          <p:spTgt spid="145443"/>
                                        </p:tgtEl>
                                      </p:cBhvr>
                                    </p:animEffect>
                                  </p:childTnLst>
                                </p:cTn>
                              </p:par>
                            </p:childTnLst>
                          </p:cTn>
                        </p:par>
                        <p:par>
                          <p:cTn id="71" fill="hold">
                            <p:stCondLst>
                              <p:cond delay="500"/>
                            </p:stCondLst>
                            <p:childTnLst>
                              <p:par>
                                <p:cTn id="72" presetID="18" presetClass="entr" presetSubtype="6" fill="hold" nodeType="afterEffect">
                                  <p:stCondLst>
                                    <p:cond delay="0"/>
                                  </p:stCondLst>
                                  <p:childTnLst>
                                    <p:set>
                                      <p:cBhvr>
                                        <p:cTn id="73" dur="1" fill="hold">
                                          <p:stCondLst>
                                            <p:cond delay="0"/>
                                          </p:stCondLst>
                                        </p:cTn>
                                        <p:tgtEl>
                                          <p:spTgt spid="145444"/>
                                        </p:tgtEl>
                                        <p:attrNameLst>
                                          <p:attrName>style.visibility</p:attrName>
                                        </p:attrNameLst>
                                      </p:cBhvr>
                                      <p:to>
                                        <p:strVal val="visible"/>
                                      </p:to>
                                    </p:set>
                                    <p:animEffect transition="in" filter="strips(downRight)">
                                      <p:cBhvr>
                                        <p:cTn id="74" dur="1000"/>
                                        <p:tgtEl>
                                          <p:spTgt spid="145444"/>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grpId="0" nodeType="clickEffect">
                                  <p:stCondLst>
                                    <p:cond delay="0"/>
                                  </p:stCondLst>
                                  <p:childTnLst>
                                    <p:set>
                                      <p:cBhvr>
                                        <p:cTn id="78" dur="1" fill="hold">
                                          <p:stCondLst>
                                            <p:cond delay="0"/>
                                          </p:stCondLst>
                                        </p:cTn>
                                        <p:tgtEl>
                                          <p:spTgt spid="145445"/>
                                        </p:tgtEl>
                                        <p:attrNameLst>
                                          <p:attrName>style.visibility</p:attrName>
                                        </p:attrNameLst>
                                      </p:cBhvr>
                                      <p:to>
                                        <p:strVal val="visible"/>
                                      </p:to>
                                    </p:set>
                                    <p:anim calcmode="lin" valueType="num">
                                      <p:cBhvr>
                                        <p:cTn id="79" dur="1000" fill="hold"/>
                                        <p:tgtEl>
                                          <p:spTgt spid="145445"/>
                                        </p:tgtEl>
                                        <p:attrNameLst>
                                          <p:attrName>ppt_w</p:attrName>
                                        </p:attrNameLst>
                                      </p:cBhvr>
                                      <p:tavLst>
                                        <p:tav tm="0">
                                          <p:val>
                                            <p:fltVal val="0.000000"/>
                                          </p:val>
                                        </p:tav>
                                        <p:tav tm="100000">
                                          <p:val>
                                            <p:strVal val="#ppt_w"/>
                                          </p:val>
                                        </p:tav>
                                      </p:tavLst>
                                    </p:anim>
                                    <p:anim calcmode="lin" valueType="num">
                                      <p:cBhvr>
                                        <p:cTn id="80" dur="1000" fill="hold"/>
                                        <p:tgtEl>
                                          <p:spTgt spid="145445"/>
                                        </p:tgtEl>
                                        <p:attrNameLst>
                                          <p:attrName>ppt_h</p:attrName>
                                        </p:attrNameLst>
                                      </p:cBhvr>
                                      <p:tavLst>
                                        <p:tav tm="0">
                                          <p:val>
                                            <p:fltVal val="0.000000"/>
                                          </p:val>
                                        </p:tav>
                                        <p:tav tm="100000">
                                          <p:val>
                                            <p:strVal val="#ppt_h"/>
                                          </p:val>
                                        </p:tav>
                                      </p:tavLst>
                                    </p:anim>
                                    <p:animEffect transition="in" filter="fade">
                                      <p:cBhvr>
                                        <p:cTn id="81" dur="1000"/>
                                        <p:tgtEl>
                                          <p:spTgt spid="1454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0" grpId="0"/>
      <p:bldP spid="145411" grpId="0"/>
      <p:bldP spid="145420" grpId="0" bldLvl="0" animBg="1"/>
      <p:bldP spid="145427" grpId="0"/>
      <p:bldP spid="145438" grpId="0" bldLvl="0" animBg="1"/>
      <p:bldP spid="145439" grpId="0" bldLvl="0" animBg="1"/>
      <p:bldP spid="145441" grpId="0" bldLvl="0" animBg="1"/>
      <p:bldP spid="145443" grpId="0" bldLvl="0" animBg="1"/>
      <p:bldP spid="145445" grpId="0" bldLvl="0" animBg="1"/>
      <p:bldP spid="145446"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622935" y="260985"/>
            <a:ext cx="7696200" cy="609600"/>
          </a:xfrm>
        </p:spPr>
        <p:txBody>
          <a:bodyPr vert="horz" wrap="square" lIns="91440" tIns="45720" rIns="91440" bIns="45720" anchor="ctr" anchorCtr="0"/>
          <a:p>
            <a:pPr algn="l" eaLnBrk="1" hangingPunct="1">
              <a:lnSpc>
                <a:spcPct val="120000"/>
              </a:lnSpc>
            </a:pPr>
            <a:r>
              <a:rPr lang="en-US" altLang="zh-CN" sz="3600" b="1">
                <a:solidFill>
                  <a:schemeClr val="tx1"/>
                </a:solidFill>
                <a:ea typeface="隶书" panose="02010509060101010101" pitchFamily="49" charset="-122"/>
              </a:rPr>
              <a:t>2.3 </a:t>
            </a:r>
            <a:r>
              <a:rPr lang="zh-CN" altLang="en-US" sz="3600" b="1">
                <a:solidFill>
                  <a:schemeClr val="tx1"/>
                </a:solidFill>
                <a:ea typeface="隶书" panose="02010509060101010101" pitchFamily="49" charset="-122"/>
              </a:rPr>
              <a:t>理想电</a:t>
            </a:r>
            <a:r>
              <a:rPr lang="zh-CN" altLang="en-US" sz="3600" b="1">
                <a:solidFill>
                  <a:schemeClr val="tx1"/>
                </a:solidFill>
                <a:ea typeface="隶书" panose="02010509060101010101" pitchFamily="49" charset="-122"/>
              </a:rPr>
              <a:t>流源</a:t>
            </a:r>
            <a:endParaRPr lang="zh-CN" altLang="en-US" sz="3600" b="1">
              <a:solidFill>
                <a:schemeClr val="tx1"/>
              </a:solidFill>
              <a:ea typeface="隶书" panose="02010509060101010101" pitchFamily="49" charset="-122"/>
            </a:endParaRPr>
          </a:p>
        </p:txBody>
      </p:sp>
      <p:sp>
        <p:nvSpPr>
          <p:cNvPr id="148482" name="Text Box 2"/>
          <p:cNvSpPr txBox="1"/>
          <p:nvPr>
            <p:custDataLst>
              <p:tags r:id="rId1"/>
            </p:custDataLst>
          </p:nvPr>
        </p:nvSpPr>
        <p:spPr>
          <a:xfrm>
            <a:off x="3719830" y="1196340"/>
            <a:ext cx="8027670" cy="1440180"/>
          </a:xfrm>
          <a:prstGeom prst="rect">
            <a:avLst/>
          </a:prstGeom>
          <a:noFill/>
          <a:ln w="12700">
            <a:noFill/>
          </a:ln>
        </p:spPr>
        <p:txBody>
          <a:bodyPr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2476500" lvl="0" indent="-2476500">
              <a:lnSpc>
                <a:spcPct val="120000"/>
              </a:lnSpc>
              <a:spcBef>
                <a:spcPct val="0"/>
              </a:spcBef>
              <a:buClrTx/>
              <a:buSzTx/>
              <a:buFontTx/>
              <a:buNone/>
            </a:pPr>
            <a:r>
              <a:rPr lang="zh-CN" altLang="en-US" dirty="0">
                <a:latin typeface="楷体_GB2312" pitchFamily="49" charset="-122"/>
                <a:ea typeface="楷体_GB2312" pitchFamily="49" charset="-122"/>
              </a:rPr>
              <a:t>其输出电流总能保持定值或一定的时间函</a:t>
            </a:r>
            <a:r>
              <a:rPr lang="zh-CN" altLang="en-US" dirty="0">
                <a:latin typeface="楷体_GB2312" pitchFamily="49" charset="-122"/>
                <a:ea typeface="楷体_GB2312" pitchFamily="49" charset="-122"/>
              </a:rPr>
              <a:t>数，</a:t>
            </a:r>
            <a:endParaRPr lang="zh-CN" altLang="en-US" dirty="0">
              <a:latin typeface="楷体_GB2312" pitchFamily="49" charset="-122"/>
              <a:ea typeface="楷体_GB2312" pitchFamily="49" charset="-122"/>
            </a:endParaRPr>
          </a:p>
          <a:p>
            <a:pPr marL="2476500" lvl="0" indent="-2476500">
              <a:lnSpc>
                <a:spcPct val="120000"/>
              </a:lnSpc>
              <a:spcBef>
                <a:spcPct val="0"/>
              </a:spcBef>
              <a:buClrTx/>
              <a:buSzTx/>
              <a:buFontTx/>
              <a:buNone/>
            </a:pPr>
            <a:r>
              <a:rPr lang="zh-CN" altLang="en-US" dirty="0">
                <a:latin typeface="楷体_GB2312" pitchFamily="49" charset="-122"/>
                <a:ea typeface="楷体_GB2312" pitchFamily="49" charset="-122"/>
              </a:rPr>
              <a:t>其值与它的两端电压</a:t>
            </a:r>
            <a:r>
              <a:rPr lang="en-US" altLang="zh-CN" b="0" i="1" dirty="0">
                <a:latin typeface="Times New Roman" panose="02020603050405020304" pitchFamily="18" charset="0"/>
                <a:ea typeface="楷体_GB2312" pitchFamily="49" charset="-122"/>
              </a:rPr>
              <a:t>u</a:t>
            </a:r>
            <a:r>
              <a:rPr lang="en-US" altLang="zh-CN" i="1" dirty="0">
                <a:latin typeface="Times New Roman" panose="02020603050405020304" pitchFamily="18" charset="0"/>
                <a:ea typeface="楷体_GB2312" pitchFamily="49" charset="-122"/>
              </a:rPr>
              <a:t> </a:t>
            </a:r>
            <a:r>
              <a:rPr lang="zh-CN" altLang="en-US" dirty="0">
                <a:latin typeface="楷体_GB2312" pitchFamily="49" charset="-122"/>
                <a:ea typeface="楷体_GB2312" pitchFamily="49" charset="-122"/>
              </a:rPr>
              <a:t>无关的元件叫理想电流源。</a:t>
            </a:r>
            <a:endParaRPr lang="zh-CN" altLang="en-US" dirty="0">
              <a:latin typeface="楷体_GB2312" pitchFamily="49" charset="-122"/>
              <a:ea typeface="楷体_GB2312" pitchFamily="49" charset="-122"/>
            </a:endParaRPr>
          </a:p>
        </p:txBody>
      </p:sp>
      <p:sp>
        <p:nvSpPr>
          <p:cNvPr id="148483" name="Text Box 3"/>
          <p:cNvSpPr txBox="1"/>
          <p:nvPr>
            <p:custDataLst>
              <p:tags r:id="rId2"/>
            </p:custDataLst>
          </p:nvPr>
        </p:nvSpPr>
        <p:spPr>
          <a:xfrm>
            <a:off x="682625" y="3140393"/>
            <a:ext cx="2087563" cy="647700"/>
          </a:xfrm>
          <a:prstGeom prst="rect">
            <a:avLst/>
          </a:prstGeom>
          <a:noFill/>
          <a:ln w="28575" cap="flat" cmpd="sng">
            <a:solidFill>
              <a:schemeClr val="hlink"/>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spcBef>
                <a:spcPct val="50000"/>
              </a:spcBef>
              <a:buClrTx/>
            </a:pPr>
            <a:r>
              <a:rPr lang="zh-CN" altLang="en-US" dirty="0">
                <a:latin typeface="楷体_GB2312" pitchFamily="49" charset="-122"/>
                <a:ea typeface="楷体_GB2312" pitchFamily="49" charset="-122"/>
              </a:rPr>
              <a:t> 电路符号</a:t>
            </a:r>
            <a:endParaRPr lang="zh-CN" altLang="en-US" dirty="0">
              <a:latin typeface="楷体_GB2312" pitchFamily="49" charset="-122"/>
              <a:ea typeface="楷体_GB2312" pitchFamily="49" charset="-122"/>
            </a:endParaRPr>
          </a:p>
        </p:txBody>
      </p:sp>
      <p:sp>
        <p:nvSpPr>
          <p:cNvPr id="148485" name="Text Box 5"/>
          <p:cNvSpPr txBox="1"/>
          <p:nvPr>
            <p:custDataLst>
              <p:tags r:id="rId3"/>
            </p:custDataLst>
          </p:nvPr>
        </p:nvSpPr>
        <p:spPr>
          <a:xfrm>
            <a:off x="684213" y="1484630"/>
            <a:ext cx="1512887" cy="547688"/>
          </a:xfrm>
          <a:prstGeom prst="rect">
            <a:avLst/>
          </a:prstGeom>
          <a:noFill/>
          <a:ln w="28575" cap="flat" cmpd="sng">
            <a:solidFill>
              <a:schemeClr val="hlink"/>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spcBef>
                <a:spcPct val="50000"/>
              </a:spcBef>
              <a:buClr>
                <a:schemeClr val="tx1"/>
              </a:buClr>
            </a:pPr>
            <a:r>
              <a:rPr lang="zh-CN" altLang="en-US" dirty="0">
                <a:latin typeface="楷体_GB2312" pitchFamily="49" charset="-122"/>
                <a:ea typeface="楷体_GB2312" pitchFamily="49" charset="-122"/>
                <a:sym typeface="Symbol" panose="05050102010706020507" pitchFamily="18" charset="2"/>
              </a:rPr>
              <a:t> 定义</a:t>
            </a:r>
            <a:endParaRPr lang="zh-CN" altLang="en-US" dirty="0">
              <a:latin typeface="楷体_GB2312" pitchFamily="49" charset="-122"/>
              <a:ea typeface="楷体_GB2312" pitchFamily="49" charset="-122"/>
              <a:sym typeface="Symbol" panose="05050102010706020507" pitchFamily="18" charset="2"/>
            </a:endParaRPr>
          </a:p>
        </p:txBody>
      </p:sp>
      <p:sp>
        <p:nvSpPr>
          <p:cNvPr id="148486" name="AutoShape 6"/>
          <p:cNvSpPr/>
          <p:nvPr>
            <p:custDataLst>
              <p:tags r:id="rId4"/>
            </p:custDataLst>
          </p:nvPr>
        </p:nvSpPr>
        <p:spPr>
          <a:xfrm>
            <a:off x="2339975" y="1700530"/>
            <a:ext cx="1298575" cy="207645"/>
          </a:xfrm>
          <a:prstGeom prst="rightArrow">
            <a:avLst>
              <a:gd name="adj1" fmla="val 50000"/>
              <a:gd name="adj2" fmla="val 112087"/>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pSp>
        <p:nvGrpSpPr>
          <p:cNvPr id="2" name="Group 7"/>
          <p:cNvGrpSpPr/>
          <p:nvPr/>
        </p:nvGrpSpPr>
        <p:grpSpPr>
          <a:xfrm>
            <a:off x="4872038" y="2382203"/>
            <a:ext cx="3252787" cy="1558925"/>
            <a:chOff x="2147" y="1661"/>
            <a:chExt cx="2049" cy="982"/>
          </a:xfrm>
        </p:grpSpPr>
        <p:sp>
          <p:nvSpPr>
            <p:cNvPr id="40979" name="Line 8"/>
            <p:cNvSpPr/>
            <p:nvPr>
              <p:custDataLst>
                <p:tags r:id="rId5"/>
              </p:custDataLst>
            </p:nvPr>
          </p:nvSpPr>
          <p:spPr>
            <a:xfrm rot="5400000">
              <a:off x="3171" y="1078"/>
              <a:ext cx="0" cy="2048"/>
            </a:xfrm>
            <a:prstGeom prst="line">
              <a:avLst/>
            </a:prstGeom>
            <a:ln w="38100" cap="flat" cmpd="sng">
              <a:solidFill>
                <a:srgbClr val="FFCC00"/>
              </a:solidFill>
              <a:prstDash val="solid"/>
              <a:headEnd type="oval" w="med" len="med"/>
              <a:tailEnd type="oval" w="med" len="med"/>
            </a:ln>
          </p:spPr>
        </p:sp>
        <p:sp>
          <p:nvSpPr>
            <p:cNvPr id="148489" name="Oval 9"/>
            <p:cNvSpPr>
              <a:spLocks noChangeArrowheads="1"/>
            </p:cNvSpPr>
            <p:nvPr>
              <p:custDataLst>
                <p:tags r:id="rId6"/>
              </p:custDataLst>
            </p:nvPr>
          </p:nvSpPr>
          <p:spPr bwMode="auto">
            <a:xfrm>
              <a:off x="2817" y="1817"/>
              <a:ext cx="547" cy="536"/>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50800">
              <a:solidFill>
                <a:srgbClr val="FF9900"/>
              </a:solidFill>
              <a:round/>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800" b="1" i="0" u="none" strike="noStrike" kern="1200" cap="none" spc="0" normalizeH="0" baseline="0" noProof="0">
                <a:ln>
                  <a:noFill/>
                </a:ln>
                <a:solidFill>
                  <a:srgbClr val="FFFF99"/>
                </a:solidFill>
                <a:effectLst/>
                <a:uLnTx/>
                <a:uFillTx/>
                <a:latin typeface="Times New Roman" panose="02020603050405020304" pitchFamily="18" charset="0"/>
                <a:ea typeface="宋体" panose="02010600030101010101" pitchFamily="2" charset="-122"/>
                <a:cs typeface="+mn-cs"/>
              </a:endParaRPr>
            </a:p>
          </p:txBody>
        </p:sp>
        <p:sp>
          <p:nvSpPr>
            <p:cNvPr id="40981" name="Text Box 10"/>
            <p:cNvSpPr txBox="1"/>
            <p:nvPr>
              <p:custDataLst>
                <p:tags r:id="rId7"/>
              </p:custDataLst>
            </p:nvPr>
          </p:nvSpPr>
          <p:spPr>
            <a:xfrm>
              <a:off x="3008" y="2278"/>
              <a:ext cx="244" cy="365"/>
            </a:xfrm>
            <a:prstGeom prst="rect">
              <a:avLst/>
            </a:prstGeom>
            <a:noFill/>
            <a:ln w="12700">
              <a:noFill/>
            </a:ln>
          </p:spPr>
          <p:txBody>
            <a:bodyPr wrap="none"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sz="3200" b="0" i="1" dirty="0">
                  <a:latin typeface="Times New Roman" panose="02020603050405020304" pitchFamily="18" charset="0"/>
                  <a:sym typeface="Symbol" panose="05050102010706020507" pitchFamily="18" charset="2"/>
                </a:rPr>
                <a:t>u</a:t>
              </a:r>
              <a:endParaRPr lang="en-US" altLang="zh-CN" sz="3200" b="0" i="1" dirty="0">
                <a:latin typeface="Times New Roman" panose="02020603050405020304" pitchFamily="18" charset="0"/>
                <a:sym typeface="Symbol" panose="05050102010706020507" pitchFamily="18" charset="2"/>
              </a:endParaRPr>
            </a:p>
          </p:txBody>
        </p:sp>
        <p:graphicFrame>
          <p:nvGraphicFramePr>
            <p:cNvPr id="40982" name="Object 11"/>
            <p:cNvGraphicFramePr>
              <a:graphicFrameLocks noChangeAspect="1"/>
            </p:cNvGraphicFramePr>
            <p:nvPr>
              <p:custDataLst>
                <p:tags r:id="rId8"/>
              </p:custDataLst>
            </p:nvPr>
          </p:nvGraphicFramePr>
          <p:xfrm>
            <a:off x="2517" y="1661"/>
            <a:ext cx="237" cy="409"/>
          </p:xfrm>
          <a:graphic>
            <a:graphicData uri="http://schemas.openxmlformats.org/presentationml/2006/ole">
              <mc:AlternateContent xmlns:mc="http://schemas.openxmlformats.org/markup-compatibility/2006">
                <mc:Choice xmlns:v="urn:schemas-microsoft-com:vml" Requires="v">
                  <p:oleObj spid="_x0000_s3127" name="" r:id="rId9" imgW="190500" imgH="317500" progId="Equation.3">
                    <p:embed/>
                  </p:oleObj>
                </mc:Choice>
                <mc:Fallback>
                  <p:oleObj name="" r:id="rId9" imgW="190500" imgH="317500" progId="Equation.3">
                    <p:embed/>
                    <p:pic>
                      <p:nvPicPr>
                        <p:cNvPr id="0" name="图片 3126"/>
                        <p:cNvPicPr/>
                        <p:nvPr/>
                      </p:nvPicPr>
                      <p:blipFill>
                        <a:blip r:embed="rId10">
                          <a:clrChange>
                            <a:clrFrom>
                              <a:srgbClr val="000000"/>
                            </a:clrFrom>
                            <a:clrTo>
                              <a:srgbClr val="FFFFFF"/>
                            </a:clrTo>
                          </a:clrChange>
                        </a:blip>
                        <a:stretch>
                          <a:fillRect/>
                        </a:stretch>
                      </p:blipFill>
                      <p:spPr>
                        <a:xfrm>
                          <a:off x="2517" y="1661"/>
                          <a:ext cx="237" cy="409"/>
                        </a:xfrm>
                        <a:prstGeom prst="rect">
                          <a:avLst/>
                        </a:prstGeom>
                        <a:noFill/>
                        <a:ln w="38100">
                          <a:noFill/>
                          <a:miter/>
                        </a:ln>
                      </p:spPr>
                    </p:pic>
                  </p:oleObj>
                </mc:Fallback>
              </mc:AlternateContent>
            </a:graphicData>
          </a:graphic>
        </p:graphicFrame>
        <p:sp>
          <p:nvSpPr>
            <p:cNvPr id="40983" name="Text Box 12"/>
            <p:cNvSpPr txBox="1"/>
            <p:nvPr>
              <p:custDataLst>
                <p:tags r:id="rId11"/>
              </p:custDataLst>
            </p:nvPr>
          </p:nvSpPr>
          <p:spPr>
            <a:xfrm>
              <a:off x="2155" y="2115"/>
              <a:ext cx="272" cy="3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sz="3200" b="0" dirty="0">
                  <a:latin typeface="Times New Roman" panose="02020603050405020304" pitchFamily="18" charset="0"/>
                  <a:sym typeface="Symbol" panose="05050102010706020507" pitchFamily="18" charset="2"/>
                </a:rPr>
                <a:t>+</a:t>
              </a:r>
              <a:endParaRPr lang="en-US" altLang="zh-CN" sz="3200" b="0" dirty="0">
                <a:latin typeface="Times New Roman" panose="02020603050405020304" pitchFamily="18" charset="0"/>
                <a:sym typeface="Symbol" panose="05050102010706020507" pitchFamily="18" charset="2"/>
              </a:endParaRPr>
            </a:p>
          </p:txBody>
        </p:sp>
        <p:sp>
          <p:nvSpPr>
            <p:cNvPr id="40984" name="Text Box 13"/>
            <p:cNvSpPr txBox="1"/>
            <p:nvPr>
              <p:custDataLst>
                <p:tags r:id="rId12"/>
              </p:custDataLst>
            </p:nvPr>
          </p:nvSpPr>
          <p:spPr>
            <a:xfrm>
              <a:off x="3924" y="2070"/>
              <a:ext cx="27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0"/>
                </a:spcBef>
                <a:buClrTx/>
                <a:buSzTx/>
                <a:buFontTx/>
                <a:buNone/>
              </a:pPr>
              <a:r>
                <a:rPr lang="en-US" altLang="zh-CN" b="0" dirty="0">
                  <a:latin typeface="Times New Roman" panose="02020603050405020304" pitchFamily="18" charset="0"/>
                  <a:sym typeface="Symbol" panose="05050102010706020507" pitchFamily="18" charset="2"/>
                </a:rPr>
                <a:t>_</a:t>
              </a:r>
              <a:endParaRPr lang="en-US" altLang="zh-CN" sz="2400" b="0" dirty="0">
                <a:latin typeface="Times New Roman" panose="02020603050405020304" pitchFamily="18" charset="0"/>
                <a:ea typeface="仿宋_GB2312" pitchFamily="49" charset="-122"/>
                <a:sym typeface="Symbol" panose="05050102010706020507" pitchFamily="18" charset="2"/>
              </a:endParaRPr>
            </a:p>
          </p:txBody>
        </p:sp>
        <p:sp>
          <p:nvSpPr>
            <p:cNvPr id="40985" name="AutoShape 14"/>
            <p:cNvSpPr/>
            <p:nvPr>
              <p:custDataLst>
                <p:tags r:id="rId13"/>
              </p:custDataLst>
            </p:nvPr>
          </p:nvSpPr>
          <p:spPr>
            <a:xfrm>
              <a:off x="2291" y="2069"/>
              <a:ext cx="317" cy="80"/>
            </a:xfrm>
            <a:prstGeom prst="leftArrow">
              <a:avLst>
                <a:gd name="adj1" fmla="val 50000"/>
                <a:gd name="adj2" fmla="val 99062"/>
              </a:avLst>
            </a:prstGeom>
            <a:solidFill>
              <a:srgbClr val="00FFFF"/>
            </a:solidFill>
            <a:ln w="9525" cap="flat" cmpd="sng">
              <a:solidFill>
                <a:srgbClr val="00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sp>
          <p:nvSpPr>
            <p:cNvPr id="40986" name="Line 15"/>
            <p:cNvSpPr/>
            <p:nvPr>
              <p:custDataLst>
                <p:tags r:id="rId14"/>
              </p:custDataLst>
            </p:nvPr>
          </p:nvSpPr>
          <p:spPr>
            <a:xfrm>
              <a:off x="3107" y="1809"/>
              <a:ext cx="0" cy="544"/>
            </a:xfrm>
            <a:prstGeom prst="line">
              <a:avLst/>
            </a:prstGeom>
            <a:ln w="57150" cap="flat" cmpd="sng">
              <a:solidFill>
                <a:srgbClr val="FF9900"/>
              </a:solidFill>
              <a:prstDash val="solid"/>
              <a:headEnd type="none" w="med" len="med"/>
              <a:tailEnd type="none" w="med" len="med"/>
            </a:ln>
          </p:spPr>
        </p:sp>
      </p:grpSp>
      <p:sp>
        <p:nvSpPr>
          <p:cNvPr id="148502" name="Text Box 22"/>
          <p:cNvSpPr txBox="1"/>
          <p:nvPr>
            <p:custDataLst>
              <p:tags r:id="rId15"/>
            </p:custDataLst>
          </p:nvPr>
        </p:nvSpPr>
        <p:spPr>
          <a:xfrm>
            <a:off x="626745" y="4687253"/>
            <a:ext cx="5545138" cy="547687"/>
          </a:xfrm>
          <a:prstGeom prst="rect">
            <a:avLst/>
          </a:prstGeom>
          <a:noFill/>
          <a:ln w="28575" cap="flat" cmpd="sng">
            <a:solidFill>
              <a:schemeClr val="hlink"/>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spcBef>
                <a:spcPct val="50000"/>
              </a:spcBef>
              <a:buClr>
                <a:schemeClr val="tx1"/>
              </a:buClr>
            </a:pPr>
            <a:r>
              <a:rPr lang="zh-CN" altLang="en-US" dirty="0">
                <a:latin typeface="楷体_GB2312" pitchFamily="49" charset="-122"/>
                <a:ea typeface="楷体_GB2312" pitchFamily="49" charset="-122"/>
                <a:sym typeface="Symbol" panose="05050102010706020507" pitchFamily="18" charset="2"/>
              </a:rPr>
              <a:t> 理想电流源的电压、电流关系</a:t>
            </a:r>
            <a:endParaRPr lang="zh-CN" altLang="en-US" dirty="0">
              <a:latin typeface="楷体_GB2312" pitchFamily="49" charset="-122"/>
              <a:ea typeface="楷体_GB2312" pitchFamily="49" charset="-122"/>
              <a:sym typeface="Symbol" panose="05050102010706020507" pitchFamily="18" charset="2"/>
            </a:endParaRPr>
          </a:p>
        </p:txBody>
      </p:sp>
      <p:sp>
        <p:nvSpPr>
          <p:cNvPr id="148503" name="Text Box 23"/>
          <p:cNvSpPr txBox="1"/>
          <p:nvPr>
            <p:custDataLst>
              <p:tags r:id="rId16"/>
            </p:custDataLst>
          </p:nvPr>
        </p:nvSpPr>
        <p:spPr>
          <a:xfrm>
            <a:off x="1199198" y="5373053"/>
            <a:ext cx="8135937" cy="1117600"/>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342900" lvl="0" indent="-342900">
              <a:lnSpc>
                <a:spcPct val="120000"/>
              </a:lnSpc>
              <a:spcBef>
                <a:spcPct val="50000"/>
              </a:spcBef>
              <a:buClrTx/>
              <a:buSzTx/>
              <a:buFontTx/>
              <a:buAutoNum type="circleNumDbPlain"/>
            </a:pPr>
            <a:r>
              <a:rPr lang="zh-CN" altLang="en-US" dirty="0">
                <a:latin typeface="Times New Roman" panose="02020603050405020304" pitchFamily="18" charset="0"/>
                <a:ea typeface="楷体_GB2312" pitchFamily="49" charset="-122"/>
                <a:sym typeface="Symbol" panose="05050102010706020507" pitchFamily="18" charset="2"/>
              </a:rPr>
              <a:t>电流源的输出电流由电源本身决定，与外电路无关；与它两端电压的方向、大小无关。</a:t>
            </a:r>
            <a:endParaRPr lang="zh-CN" altLang="en-US" dirty="0">
              <a:latin typeface="Times New Roman" panose="02020603050405020304" pitchFamily="18" charset="0"/>
              <a:ea typeface="楷体_GB2312" pitchFamily="49"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8485"/>
                                        </p:tgtEl>
                                        <p:attrNameLst>
                                          <p:attrName>style.visibility</p:attrName>
                                        </p:attrNameLst>
                                      </p:cBhvr>
                                      <p:to>
                                        <p:strVal val="visible"/>
                                      </p:to>
                                    </p:set>
                                    <p:animEffect transition="in" filter="blinds(horizontal)">
                                      <p:cBhvr>
                                        <p:cTn id="7" dur="500"/>
                                        <p:tgtEl>
                                          <p:spTgt spid="14848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148486"/>
                                        </p:tgtEl>
                                        <p:attrNameLst>
                                          <p:attrName>style.visibility</p:attrName>
                                        </p:attrNameLst>
                                      </p:cBhvr>
                                      <p:to>
                                        <p:strVal val="visible"/>
                                      </p:to>
                                    </p:set>
                                    <p:animEffect transition="in" filter="slide(fromLeft)">
                                      <p:cBhvr>
                                        <p:cTn id="12" dur="500"/>
                                        <p:tgtEl>
                                          <p:spTgt spid="148486"/>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48482"/>
                                        </p:tgtEl>
                                        <p:attrNameLst>
                                          <p:attrName>style.visibility</p:attrName>
                                        </p:attrNameLst>
                                      </p:cBhvr>
                                      <p:to>
                                        <p:strVal val="visible"/>
                                      </p:to>
                                    </p:set>
                                    <p:animEffect transition="in" filter="blinds(horizontal)">
                                      <p:cBhvr>
                                        <p:cTn id="16" dur="500"/>
                                        <p:tgtEl>
                                          <p:spTgt spid="14848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4848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linds(horizontal)">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48502"/>
                                        </p:tgtEl>
                                        <p:attrNameLst>
                                          <p:attrName>style.visibility</p:attrName>
                                        </p:attrNameLst>
                                      </p:cBhvr>
                                      <p:to>
                                        <p:strVal val="visible"/>
                                      </p:to>
                                    </p:set>
                                    <p:anim calcmode="lin" valueType="num">
                                      <p:cBhvr additive="base">
                                        <p:cTn id="30" dur="500" fill="hold"/>
                                        <p:tgtEl>
                                          <p:spTgt spid="148502"/>
                                        </p:tgtEl>
                                        <p:attrNameLst>
                                          <p:attrName>ppt_x</p:attrName>
                                        </p:attrNameLst>
                                      </p:cBhvr>
                                      <p:tavLst>
                                        <p:tav tm="0">
                                          <p:val>
                                            <p:strVal val="0-#ppt_w/2"/>
                                          </p:val>
                                        </p:tav>
                                        <p:tav tm="100000">
                                          <p:val>
                                            <p:strVal val="#ppt_x"/>
                                          </p:val>
                                        </p:tav>
                                      </p:tavLst>
                                    </p:anim>
                                    <p:anim calcmode="lin" valueType="num">
                                      <p:cBhvr additive="base">
                                        <p:cTn id="31" dur="500" fill="hold"/>
                                        <p:tgtEl>
                                          <p:spTgt spid="148502"/>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ntr" presetSubtype="10" fill="hold" grpId="0" nodeType="clickEffect">
                                  <p:stCondLst>
                                    <p:cond delay="0"/>
                                  </p:stCondLst>
                                  <p:iterate type="lt">
                                    <p:tmPct val="100000"/>
                                  </p:iterate>
                                  <p:childTnLst>
                                    <p:set>
                                      <p:cBhvr>
                                        <p:cTn id="35" dur="1" fill="hold">
                                          <p:stCondLst>
                                            <p:cond delay="0"/>
                                          </p:stCondLst>
                                        </p:cTn>
                                        <p:tgtEl>
                                          <p:spTgt spid="148503"/>
                                        </p:tgtEl>
                                        <p:attrNameLst>
                                          <p:attrName>style.visibility</p:attrName>
                                        </p:attrNameLst>
                                      </p:cBhvr>
                                      <p:to>
                                        <p:strVal val="visible"/>
                                      </p:to>
                                    </p:set>
                                    <p:anim calcmode="lin" valueType="num">
                                      <p:cBhvr>
                                        <p:cTn id="36" dur="100" fill="hold"/>
                                        <p:tgtEl>
                                          <p:spTgt spid="148503"/>
                                        </p:tgtEl>
                                        <p:attrNameLst>
                                          <p:attrName>ppt_w</p:attrName>
                                        </p:attrNameLst>
                                      </p:cBhvr>
                                      <p:tavLst>
                                        <p:tav tm="0">
                                          <p:val>
                                            <p:fltVal val="0.000000"/>
                                          </p:val>
                                        </p:tav>
                                        <p:tav tm="100000">
                                          <p:val>
                                            <p:strVal val="#ppt_w"/>
                                          </p:val>
                                        </p:tav>
                                      </p:tavLst>
                                    </p:anim>
                                    <p:anim calcmode="lin" valueType="num">
                                      <p:cBhvr>
                                        <p:cTn id="37" dur="100" fill="hold"/>
                                        <p:tgtEl>
                                          <p:spTgt spid="14850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2" grpId="0"/>
      <p:bldP spid="148483" grpId="0" bldLvl="0" animBg="1"/>
      <p:bldP spid="148485" grpId="0" bldLvl="0" animBg="1"/>
      <p:bldP spid="148486" grpId="0" bldLvl="0" animBg="1"/>
      <p:bldP spid="148502" grpId="0" bldLvl="0" animBg="1"/>
      <p:bldP spid="14850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622935" y="260985"/>
            <a:ext cx="7696200" cy="609600"/>
          </a:xfrm>
        </p:spPr>
        <p:txBody>
          <a:bodyPr vert="horz" wrap="square" lIns="91440" tIns="45720" rIns="91440" bIns="45720" anchor="ctr" anchorCtr="0"/>
          <a:p>
            <a:pPr algn="l" eaLnBrk="1" hangingPunct="1">
              <a:lnSpc>
                <a:spcPct val="120000"/>
              </a:lnSpc>
            </a:pPr>
            <a:r>
              <a:rPr lang="en-US" altLang="zh-CN" sz="3600" b="1">
                <a:solidFill>
                  <a:schemeClr val="tx1"/>
                </a:solidFill>
                <a:ea typeface="隶书" panose="02010509060101010101" pitchFamily="49" charset="-122"/>
              </a:rPr>
              <a:t>2.4 </a:t>
            </a:r>
            <a:r>
              <a:rPr lang="zh-CN" altLang="en-US" sz="3600" b="1">
                <a:solidFill>
                  <a:schemeClr val="tx1"/>
                </a:solidFill>
                <a:ea typeface="隶书" panose="02010509060101010101" pitchFamily="49" charset="-122"/>
              </a:rPr>
              <a:t>理想电流源的电压、电流关系</a:t>
            </a:r>
            <a:endParaRPr lang="zh-CN" altLang="en-US" sz="3600" b="1">
              <a:solidFill>
                <a:schemeClr val="tx1"/>
              </a:solidFill>
              <a:ea typeface="隶书" panose="02010509060101010101" pitchFamily="49" charset="-122"/>
            </a:endParaRPr>
          </a:p>
        </p:txBody>
      </p:sp>
      <p:sp>
        <p:nvSpPr>
          <p:cNvPr id="148503" name="Text Box 23"/>
          <p:cNvSpPr txBox="1"/>
          <p:nvPr>
            <p:custDataLst>
              <p:tags r:id="rId1"/>
            </p:custDataLst>
          </p:nvPr>
        </p:nvSpPr>
        <p:spPr>
          <a:xfrm>
            <a:off x="911860" y="1192848"/>
            <a:ext cx="10825480" cy="1124585"/>
          </a:xfrm>
          <a:prstGeom prst="rect">
            <a:avLst/>
          </a:prstGeom>
          <a:noFill/>
          <a:ln w="12700">
            <a:noFill/>
          </a:ln>
        </p:spPr>
        <p:txBody>
          <a:bodyPr wrap="square"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342900" lvl="0" indent="-342900">
              <a:lnSpc>
                <a:spcPct val="120000"/>
              </a:lnSpc>
              <a:spcBef>
                <a:spcPct val="50000"/>
              </a:spcBef>
              <a:buClrTx/>
              <a:buSzTx/>
              <a:buFontTx/>
              <a:buAutoNum type="circleNumDbPlain"/>
            </a:pPr>
            <a:r>
              <a:rPr lang="zh-CN" altLang="en-US" dirty="0">
                <a:latin typeface="Times New Roman" panose="02020603050405020304" pitchFamily="18" charset="0"/>
                <a:ea typeface="楷体_GB2312" pitchFamily="49" charset="-122"/>
                <a:sym typeface="Symbol" panose="05050102010706020507" pitchFamily="18" charset="2"/>
              </a:rPr>
              <a:t>电流源的输出电流由电源本身决定，与外电路无关；与它两端电压的方向、大小无关。</a:t>
            </a:r>
            <a:endParaRPr lang="zh-CN" altLang="en-US" dirty="0">
              <a:latin typeface="Times New Roman" panose="02020603050405020304" pitchFamily="18" charset="0"/>
              <a:ea typeface="楷体_GB2312" pitchFamily="49" charset="-122"/>
              <a:sym typeface="Symbol" panose="05050102010706020507" pitchFamily="18" charset="2"/>
            </a:endParaRPr>
          </a:p>
        </p:txBody>
      </p:sp>
      <p:sp>
        <p:nvSpPr>
          <p:cNvPr id="149506" name="Text Box 2"/>
          <p:cNvSpPr txBox="1"/>
          <p:nvPr>
            <p:custDataLst>
              <p:tags r:id="rId2"/>
            </p:custDataLst>
          </p:nvPr>
        </p:nvSpPr>
        <p:spPr>
          <a:xfrm>
            <a:off x="839470" y="2292033"/>
            <a:ext cx="8159115" cy="607695"/>
          </a:xfrm>
          <a:prstGeom prst="rect">
            <a:avLst/>
          </a:prstGeom>
          <a:noFill/>
          <a:ln w="12700">
            <a:noFill/>
          </a:ln>
        </p:spPr>
        <p:txBody>
          <a:bodyPr wrap="square"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342900" lvl="0" indent="-342900">
              <a:lnSpc>
                <a:spcPct val="120000"/>
              </a:lnSpc>
              <a:spcBef>
                <a:spcPct val="50000"/>
              </a:spcBef>
              <a:buClrTx/>
              <a:buSzTx/>
              <a:buFontTx/>
              <a:buAutoNum type="circleNumDbPlain" startAt="2"/>
            </a:pPr>
            <a:r>
              <a:rPr lang="zh-CN" altLang="en-US" dirty="0">
                <a:latin typeface="Times New Roman" panose="02020603050405020304" pitchFamily="18" charset="0"/>
                <a:ea typeface="楷体_GB2312" pitchFamily="49" charset="-122"/>
                <a:sym typeface="Symbol" panose="05050102010706020507" pitchFamily="18" charset="2"/>
              </a:rPr>
              <a:t>电流源两端的电压由电源及外电路共同决定。</a:t>
            </a:r>
            <a:endParaRPr lang="zh-CN" altLang="en-US" dirty="0">
              <a:latin typeface="Times New Roman" panose="02020603050405020304" pitchFamily="18" charset="0"/>
              <a:ea typeface="楷体_GB2312" pitchFamily="49" charset="-122"/>
              <a:sym typeface="Symbol" panose="05050102010706020507" pitchFamily="18" charset="2"/>
            </a:endParaRPr>
          </a:p>
        </p:txBody>
      </p:sp>
      <p:grpSp>
        <p:nvGrpSpPr>
          <p:cNvPr id="3" name="Group 3"/>
          <p:cNvGrpSpPr/>
          <p:nvPr/>
        </p:nvGrpSpPr>
        <p:grpSpPr>
          <a:xfrm>
            <a:off x="9624695" y="1823403"/>
            <a:ext cx="2206625" cy="2952750"/>
            <a:chOff x="4150" y="2024"/>
            <a:chExt cx="1390" cy="1860"/>
          </a:xfrm>
        </p:grpSpPr>
        <p:sp>
          <p:nvSpPr>
            <p:cNvPr id="42019" name="Line 4"/>
            <p:cNvSpPr/>
            <p:nvPr>
              <p:custDataLst>
                <p:tags r:id="rId3"/>
              </p:custDataLst>
            </p:nvPr>
          </p:nvSpPr>
          <p:spPr>
            <a:xfrm flipV="1">
              <a:off x="4150" y="3126"/>
              <a:ext cx="1239" cy="0"/>
            </a:xfrm>
            <a:prstGeom prst="line">
              <a:avLst/>
            </a:prstGeom>
            <a:ln w="28575" cap="flat" cmpd="sng">
              <a:solidFill>
                <a:schemeClr val="tx1"/>
              </a:solidFill>
              <a:prstDash val="solid"/>
              <a:headEnd type="none" w="med" len="med"/>
              <a:tailEnd type="triangle" w="med" len="med"/>
            </a:ln>
          </p:spPr>
        </p:sp>
        <p:sp>
          <p:nvSpPr>
            <p:cNvPr id="42020" name="Line 5"/>
            <p:cNvSpPr/>
            <p:nvPr>
              <p:custDataLst>
                <p:tags r:id="rId4"/>
              </p:custDataLst>
            </p:nvPr>
          </p:nvSpPr>
          <p:spPr>
            <a:xfrm flipH="1">
              <a:off x="4558" y="2230"/>
              <a:ext cx="0" cy="1586"/>
            </a:xfrm>
            <a:prstGeom prst="line">
              <a:avLst/>
            </a:prstGeom>
            <a:ln w="28575" cap="flat" cmpd="sng">
              <a:solidFill>
                <a:schemeClr val="tx1"/>
              </a:solidFill>
              <a:prstDash val="solid"/>
              <a:headEnd type="triangle" w="med" len="med"/>
              <a:tailEnd type="none" w="med" len="med"/>
            </a:ln>
          </p:spPr>
        </p:sp>
        <p:sp>
          <p:nvSpPr>
            <p:cNvPr id="42021" name="Line 6"/>
            <p:cNvSpPr/>
            <p:nvPr>
              <p:custDataLst>
                <p:tags r:id="rId5"/>
              </p:custDataLst>
            </p:nvPr>
          </p:nvSpPr>
          <p:spPr>
            <a:xfrm>
              <a:off x="5041" y="2437"/>
              <a:ext cx="1" cy="1447"/>
            </a:xfrm>
            <a:prstGeom prst="line">
              <a:avLst/>
            </a:prstGeom>
            <a:ln w="38100" cap="flat" cmpd="sng">
              <a:solidFill>
                <a:srgbClr val="FF0000"/>
              </a:solidFill>
              <a:prstDash val="solid"/>
              <a:headEnd type="none" w="med" len="med"/>
              <a:tailEnd type="none" w="med" len="med"/>
            </a:ln>
          </p:spPr>
        </p:sp>
        <p:sp>
          <p:nvSpPr>
            <p:cNvPr id="42022" name="Text Box 7"/>
            <p:cNvSpPr txBox="1"/>
            <p:nvPr>
              <p:custDataLst>
                <p:tags r:id="rId6"/>
              </p:custDataLst>
            </p:nvPr>
          </p:nvSpPr>
          <p:spPr>
            <a:xfrm>
              <a:off x="4578" y="2024"/>
              <a:ext cx="298" cy="326"/>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b="0" i="1" dirty="0">
                  <a:latin typeface="Times New Roman" panose="02020603050405020304" pitchFamily="18" charset="0"/>
                  <a:ea typeface="仿宋_GB2312" pitchFamily="49" charset="-122"/>
                  <a:sym typeface="Symbol" panose="05050102010706020507" pitchFamily="18" charset="2"/>
                </a:rPr>
                <a:t>u</a:t>
              </a:r>
              <a:endParaRPr lang="en-US" altLang="zh-CN" b="0" i="1" dirty="0">
                <a:latin typeface="Times New Roman" panose="02020603050405020304" pitchFamily="18" charset="0"/>
                <a:ea typeface="仿宋_GB2312" pitchFamily="49" charset="-122"/>
                <a:sym typeface="Symbol" panose="05050102010706020507" pitchFamily="18" charset="2"/>
              </a:endParaRPr>
            </a:p>
          </p:txBody>
        </p:sp>
        <p:sp>
          <p:nvSpPr>
            <p:cNvPr id="42023" name="Text Box 8"/>
            <p:cNvSpPr txBox="1"/>
            <p:nvPr>
              <p:custDataLst>
                <p:tags r:id="rId7"/>
              </p:custDataLst>
            </p:nvPr>
          </p:nvSpPr>
          <p:spPr>
            <a:xfrm>
              <a:off x="5241" y="3058"/>
              <a:ext cx="299" cy="326"/>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b="0" i="1" dirty="0">
                  <a:latin typeface="Times New Roman" panose="02020603050405020304" pitchFamily="18" charset="0"/>
                  <a:ea typeface="仿宋_GB2312" pitchFamily="49" charset="-122"/>
                  <a:sym typeface="Symbol" panose="05050102010706020507" pitchFamily="18" charset="2"/>
                </a:rPr>
                <a:t>i</a:t>
              </a:r>
              <a:endParaRPr lang="en-US" altLang="zh-CN" b="0" i="1" dirty="0">
                <a:latin typeface="Times New Roman" panose="02020603050405020304" pitchFamily="18" charset="0"/>
                <a:ea typeface="仿宋_GB2312" pitchFamily="49" charset="-122"/>
                <a:sym typeface="Symbol" panose="05050102010706020507" pitchFamily="18" charset="2"/>
              </a:endParaRPr>
            </a:p>
          </p:txBody>
        </p:sp>
        <p:graphicFrame>
          <p:nvGraphicFramePr>
            <p:cNvPr id="42024" name="Object 9"/>
            <p:cNvGraphicFramePr>
              <a:graphicFrameLocks noChangeAspect="1"/>
            </p:cNvGraphicFramePr>
            <p:nvPr>
              <p:custDataLst>
                <p:tags r:id="rId8"/>
              </p:custDataLst>
            </p:nvPr>
          </p:nvGraphicFramePr>
          <p:xfrm>
            <a:off x="5225" y="2218"/>
            <a:ext cx="197" cy="472"/>
          </p:xfrm>
          <a:graphic>
            <a:graphicData uri="http://schemas.openxmlformats.org/presentationml/2006/ole">
              <mc:AlternateContent xmlns:mc="http://schemas.openxmlformats.org/markup-compatibility/2006">
                <mc:Choice xmlns:v="urn:schemas-microsoft-com:vml" Requires="v">
                  <p:oleObj spid="_x0000_s3128" name="" r:id="rId9" imgW="190500" imgH="317500" progId="Equation.3">
                    <p:embed/>
                  </p:oleObj>
                </mc:Choice>
                <mc:Fallback>
                  <p:oleObj name="" r:id="rId9" imgW="190500" imgH="317500" progId="Equation.3">
                    <p:embed/>
                    <p:pic>
                      <p:nvPicPr>
                        <p:cNvPr id="0" name="图片 3127"/>
                        <p:cNvPicPr/>
                        <p:nvPr/>
                      </p:nvPicPr>
                      <p:blipFill>
                        <a:blip r:embed="rId10">
                          <a:clrChange>
                            <a:clrFrom>
                              <a:srgbClr val="000000"/>
                            </a:clrFrom>
                            <a:clrTo>
                              <a:srgbClr val="FFFFFF"/>
                            </a:clrTo>
                          </a:clrChange>
                        </a:blip>
                        <a:stretch>
                          <a:fillRect/>
                        </a:stretch>
                      </p:blipFill>
                      <p:spPr>
                        <a:xfrm>
                          <a:off x="5225" y="2218"/>
                          <a:ext cx="197" cy="472"/>
                        </a:xfrm>
                        <a:prstGeom prst="rect">
                          <a:avLst/>
                        </a:prstGeom>
                        <a:noFill/>
                        <a:ln w="38100">
                          <a:noFill/>
                          <a:miter/>
                        </a:ln>
                      </p:spPr>
                    </p:pic>
                  </p:oleObj>
                </mc:Fallback>
              </mc:AlternateContent>
            </a:graphicData>
          </a:graphic>
        </p:graphicFrame>
      </p:grpSp>
      <p:sp>
        <p:nvSpPr>
          <p:cNvPr id="149514" name="AutoShape 10" descr="羊皮纸"/>
          <p:cNvSpPr/>
          <p:nvPr>
            <p:custDataLst>
              <p:tags r:id="rId11"/>
            </p:custDataLst>
          </p:nvPr>
        </p:nvSpPr>
        <p:spPr>
          <a:xfrm>
            <a:off x="6887845" y="2831465"/>
            <a:ext cx="2736850" cy="863600"/>
          </a:xfrm>
          <a:prstGeom prst="wedgeRoundRectCallout">
            <a:avLst>
              <a:gd name="adj1" fmla="val 95764"/>
              <a:gd name="adj2" fmla="val -4963"/>
              <a:gd name="adj3" fmla="val 16667"/>
            </a:avLst>
          </a:prstGeom>
          <a:blipFill rotWithShape="1">
            <a:blip r:embed="rId12"/>
          </a:blipFill>
          <a:ln w="9525" cap="flat" cmpd="sng">
            <a:solidFill>
              <a:schemeClr val="tx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0"/>
              </a:spcBef>
              <a:buClrTx/>
              <a:buSzTx/>
              <a:buFontTx/>
              <a:buNone/>
            </a:pPr>
            <a:r>
              <a:rPr lang="zh-CN" altLang="en-US" dirty="0">
                <a:solidFill>
                  <a:srgbClr val="000000"/>
                </a:solidFill>
                <a:latin typeface="Times New Roman" panose="02020603050405020304" pitchFamily="18" charset="0"/>
                <a:ea typeface="楷体_GB2312" pitchFamily="49" charset="-122"/>
                <a:sym typeface="Symbol" panose="05050102010706020507" pitchFamily="18" charset="2"/>
              </a:rPr>
              <a:t>直流电流源的伏安特性曲线</a:t>
            </a:r>
            <a:endParaRPr lang="zh-CN" altLang="en-US"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149521" name="Text Box 17" descr="斜纹布"/>
          <p:cNvSpPr txBox="1"/>
          <p:nvPr>
            <p:custDataLst>
              <p:tags r:id="rId13"/>
            </p:custDataLst>
          </p:nvPr>
        </p:nvSpPr>
        <p:spPr>
          <a:xfrm>
            <a:off x="9913620" y="3552190"/>
            <a:ext cx="433388" cy="366713"/>
          </a:xfrm>
          <a:prstGeom prst="rect">
            <a:avLst/>
          </a:prstGeom>
          <a:noFill/>
          <a:ln w="28575">
            <a:noFill/>
          </a:ln>
          <a:effectLst>
            <a:prstShdw prst="shdw17" dist="17961" dir="2699999">
              <a:schemeClr val="bg2"/>
            </a:prstShdw>
          </a:effectLst>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0" i="1" dirty="0">
                <a:latin typeface="Times New Roman" panose="02020603050405020304" pitchFamily="18" charset="0"/>
                <a:ea typeface="楷体_GB2312" pitchFamily="49" charset="-122"/>
              </a:rPr>
              <a:t>O</a:t>
            </a:r>
            <a:endParaRPr lang="en-US" altLang="zh-CN" sz="1800" b="0" i="1" dirty="0">
              <a:latin typeface="Times New Roman" panose="02020603050405020304" pitchFamily="18" charset="0"/>
              <a:ea typeface="楷体_GB2312" pitchFamily="49" charset="-122"/>
            </a:endParaRPr>
          </a:p>
        </p:txBody>
      </p:sp>
      <p:sp>
        <p:nvSpPr>
          <p:cNvPr id="149522" name="Text Box 18"/>
          <p:cNvSpPr txBox="1"/>
          <p:nvPr>
            <p:custDataLst>
              <p:tags r:id="rId14"/>
            </p:custDataLst>
          </p:nvPr>
        </p:nvSpPr>
        <p:spPr>
          <a:xfrm>
            <a:off x="479108" y="3694748"/>
            <a:ext cx="647700" cy="5794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zh-CN" altLang="en-US" sz="3200" dirty="0">
                <a:latin typeface="Times New Roman" panose="02020603050405020304" pitchFamily="18" charset="0"/>
                <a:sym typeface="Symbol" panose="05050102010706020507" pitchFamily="18" charset="2"/>
              </a:rPr>
              <a:t>例</a:t>
            </a:r>
            <a:endParaRPr lang="zh-CN" altLang="en-US" sz="3200" dirty="0">
              <a:latin typeface="Times New Roman" panose="02020603050405020304" pitchFamily="18" charset="0"/>
              <a:sym typeface="Symbol" panose="05050102010706020507" pitchFamily="18" charset="2"/>
            </a:endParaRPr>
          </a:p>
        </p:txBody>
      </p:sp>
      <p:grpSp>
        <p:nvGrpSpPr>
          <p:cNvPr id="5" name="Group 19"/>
          <p:cNvGrpSpPr/>
          <p:nvPr/>
        </p:nvGrpSpPr>
        <p:grpSpPr>
          <a:xfrm>
            <a:off x="1259205" y="3673158"/>
            <a:ext cx="2433638" cy="1944687"/>
            <a:chOff x="612" y="1739"/>
            <a:chExt cx="1533" cy="1225"/>
          </a:xfrm>
        </p:grpSpPr>
        <p:sp>
          <p:nvSpPr>
            <p:cNvPr id="42005" name="Rectangle 20"/>
            <p:cNvSpPr/>
            <p:nvPr>
              <p:custDataLst>
                <p:tags r:id="rId15"/>
              </p:custDataLst>
            </p:nvPr>
          </p:nvSpPr>
          <p:spPr>
            <a:xfrm>
              <a:off x="1065" y="1739"/>
              <a:ext cx="998" cy="1225"/>
            </a:xfrm>
            <a:prstGeom prst="rect">
              <a:avLst/>
            </a:prstGeom>
            <a:noFill/>
            <a:ln w="28575" cap="flat" cmpd="sng">
              <a:solidFill>
                <a:srgbClr val="FFCC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eaLnBrk="1" hangingPunct="1">
                <a:spcBef>
                  <a:spcPct val="0"/>
                </a:spcBef>
                <a:buClrTx/>
                <a:buSzTx/>
                <a:buFontTx/>
                <a:buNone/>
              </a:pPr>
              <a:endParaRPr lang="zh-CN" altLang="en-US" b="0" dirty="0">
                <a:solidFill>
                  <a:srgbClr val="FFFF00"/>
                </a:solidFill>
                <a:ea typeface="楷体_GB2312" pitchFamily="49" charset="-122"/>
              </a:endParaRPr>
            </a:p>
          </p:txBody>
        </p:sp>
        <p:sp>
          <p:nvSpPr>
            <p:cNvPr id="42006" name="Oval 21"/>
            <p:cNvSpPr/>
            <p:nvPr>
              <p:custDataLst>
                <p:tags r:id="rId16"/>
              </p:custDataLst>
            </p:nvPr>
          </p:nvSpPr>
          <p:spPr>
            <a:xfrm>
              <a:off x="884" y="214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eaLnBrk="1" hangingPunct="1">
                <a:spcBef>
                  <a:spcPct val="0"/>
                </a:spcBef>
                <a:buClrTx/>
                <a:buSzTx/>
                <a:buFontTx/>
                <a:buNone/>
              </a:pPr>
              <a:endParaRPr lang="zh-CN" altLang="en-US" sz="2400" b="0" dirty="0">
                <a:solidFill>
                  <a:srgbClr val="FFFF00"/>
                </a:solidFill>
                <a:ea typeface="仿宋_GB2312" pitchFamily="49" charset="-122"/>
              </a:endParaRPr>
            </a:p>
          </p:txBody>
        </p:sp>
        <p:sp>
          <p:nvSpPr>
            <p:cNvPr id="42007" name="Text Box 22"/>
            <p:cNvSpPr txBox="1"/>
            <p:nvPr>
              <p:custDataLst>
                <p:tags r:id="rId17"/>
              </p:custDataLst>
            </p:nvPr>
          </p:nvSpPr>
          <p:spPr>
            <a:xfrm>
              <a:off x="1746" y="2193"/>
              <a:ext cx="27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b="0" i="1" dirty="0">
                  <a:latin typeface="Times New Roman" panose="02020603050405020304" pitchFamily="18" charset="0"/>
                  <a:ea typeface="仿宋_GB2312" pitchFamily="49" charset="-122"/>
                  <a:sym typeface="Symbol" panose="05050102010706020507" pitchFamily="18" charset="2"/>
                </a:rPr>
                <a:t>R</a:t>
              </a:r>
              <a:endParaRPr lang="en-US" altLang="zh-CN" b="0" i="1" dirty="0">
                <a:latin typeface="Times New Roman" panose="02020603050405020304" pitchFamily="18" charset="0"/>
                <a:ea typeface="仿宋_GB2312" pitchFamily="49" charset="-122"/>
                <a:sym typeface="Symbol" panose="05050102010706020507" pitchFamily="18" charset="2"/>
              </a:endParaRPr>
            </a:p>
          </p:txBody>
        </p:sp>
        <p:sp>
          <p:nvSpPr>
            <p:cNvPr id="42008" name="Text Box 23"/>
            <p:cNvSpPr txBox="1"/>
            <p:nvPr>
              <p:custDataLst>
                <p:tags r:id="rId18"/>
              </p:custDataLst>
            </p:nvPr>
          </p:nvSpPr>
          <p:spPr>
            <a:xfrm>
              <a:off x="612" y="2238"/>
              <a:ext cx="27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b="0" i="1" dirty="0">
                  <a:latin typeface="Times New Roman" panose="02020603050405020304" pitchFamily="18" charset="0"/>
                  <a:ea typeface="仿宋_GB2312" pitchFamily="49" charset="-122"/>
                  <a:sym typeface="Symbol" panose="05050102010706020507" pitchFamily="18" charset="2"/>
                </a:rPr>
                <a:t>u</a:t>
              </a:r>
              <a:endParaRPr lang="en-US" altLang="zh-CN" b="0" i="1" dirty="0">
                <a:latin typeface="Times New Roman" panose="02020603050405020304" pitchFamily="18" charset="0"/>
                <a:ea typeface="仿宋_GB2312" pitchFamily="49" charset="-122"/>
                <a:sym typeface="Symbol" panose="05050102010706020507" pitchFamily="18" charset="2"/>
              </a:endParaRPr>
            </a:p>
          </p:txBody>
        </p:sp>
        <p:sp>
          <p:nvSpPr>
            <p:cNvPr id="42009" name="Text Box 24"/>
            <p:cNvSpPr txBox="1"/>
            <p:nvPr>
              <p:custDataLst>
                <p:tags r:id="rId19"/>
              </p:custDataLst>
            </p:nvPr>
          </p:nvSpPr>
          <p:spPr>
            <a:xfrm>
              <a:off x="793" y="2510"/>
              <a:ext cx="273" cy="3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sz="3200" b="0" dirty="0">
                  <a:latin typeface="宋体" panose="02010600030101010101" pitchFamily="2" charset="-122"/>
                  <a:sym typeface="Symbol" panose="05050102010706020507" pitchFamily="18" charset="2"/>
                </a:rPr>
                <a:t>-</a:t>
              </a:r>
              <a:endParaRPr lang="en-US" altLang="zh-CN" sz="3200" b="0" dirty="0">
                <a:latin typeface="宋体" panose="02010600030101010101" pitchFamily="2" charset="-122"/>
                <a:sym typeface="Symbol" panose="05050102010706020507" pitchFamily="18" charset="2"/>
              </a:endParaRPr>
            </a:p>
          </p:txBody>
        </p:sp>
        <p:sp>
          <p:nvSpPr>
            <p:cNvPr id="42010" name="Text Box 25"/>
            <p:cNvSpPr txBox="1"/>
            <p:nvPr>
              <p:custDataLst>
                <p:tags r:id="rId20"/>
              </p:custDataLst>
            </p:nvPr>
          </p:nvSpPr>
          <p:spPr>
            <a:xfrm>
              <a:off x="748" y="1830"/>
              <a:ext cx="272" cy="3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en-US" altLang="zh-CN" sz="3200" b="0" i="1" dirty="0">
                  <a:latin typeface="Times New Roman" panose="02020603050405020304" pitchFamily="18" charset="0"/>
                  <a:ea typeface="仿宋_GB2312" pitchFamily="49" charset="-122"/>
                  <a:sym typeface="Symbol" panose="05050102010706020507" pitchFamily="18" charset="2"/>
                </a:rPr>
                <a:t>+</a:t>
              </a:r>
              <a:endParaRPr lang="en-US" altLang="zh-CN" sz="3200" b="0" i="1" dirty="0">
                <a:latin typeface="Times New Roman" panose="02020603050405020304" pitchFamily="18" charset="0"/>
                <a:ea typeface="仿宋_GB2312" pitchFamily="49" charset="-122"/>
                <a:sym typeface="Symbol" panose="05050102010706020507" pitchFamily="18" charset="2"/>
              </a:endParaRPr>
            </a:p>
          </p:txBody>
        </p:sp>
        <p:graphicFrame>
          <p:nvGraphicFramePr>
            <p:cNvPr id="42011" name="Object 26"/>
            <p:cNvGraphicFramePr>
              <a:graphicFrameLocks noChangeAspect="1"/>
            </p:cNvGraphicFramePr>
            <p:nvPr>
              <p:custDataLst>
                <p:tags r:id="rId21"/>
              </p:custDataLst>
            </p:nvPr>
          </p:nvGraphicFramePr>
          <p:xfrm>
            <a:off x="1201" y="1785"/>
            <a:ext cx="238" cy="412"/>
          </p:xfrm>
          <a:graphic>
            <a:graphicData uri="http://schemas.openxmlformats.org/presentationml/2006/ole">
              <mc:AlternateContent xmlns:mc="http://schemas.openxmlformats.org/markup-compatibility/2006">
                <mc:Choice xmlns:v="urn:schemas-microsoft-com:vml" Requires="v">
                  <p:oleObj spid="_x0000_s3129" name="" r:id="rId22" imgW="190500" imgH="317500" progId="Equation.3">
                    <p:embed/>
                  </p:oleObj>
                </mc:Choice>
                <mc:Fallback>
                  <p:oleObj name="" r:id="rId22" imgW="190500" imgH="317500" progId="Equation.3">
                    <p:embed/>
                    <p:pic>
                      <p:nvPicPr>
                        <p:cNvPr id="0" name="图片 3128"/>
                        <p:cNvPicPr/>
                        <p:nvPr/>
                      </p:nvPicPr>
                      <p:blipFill>
                        <a:blip r:embed="rId23">
                          <a:clrChange>
                            <a:clrFrom>
                              <a:srgbClr val="000000"/>
                            </a:clrFrom>
                            <a:clrTo>
                              <a:srgbClr val="000066"/>
                            </a:clrTo>
                          </a:clrChange>
                        </a:blip>
                        <a:stretch>
                          <a:fillRect/>
                        </a:stretch>
                      </p:blipFill>
                      <p:spPr>
                        <a:xfrm>
                          <a:off x="1201" y="1785"/>
                          <a:ext cx="238" cy="412"/>
                        </a:xfrm>
                        <a:prstGeom prst="rect">
                          <a:avLst/>
                        </a:prstGeom>
                        <a:noFill/>
                        <a:ln w="38100">
                          <a:noFill/>
                          <a:miter/>
                        </a:ln>
                      </p:spPr>
                    </p:pic>
                  </p:oleObj>
                </mc:Fallback>
              </mc:AlternateContent>
            </a:graphicData>
          </a:graphic>
        </p:graphicFrame>
        <p:sp>
          <p:nvSpPr>
            <p:cNvPr id="42012" name="Line 27"/>
            <p:cNvSpPr/>
            <p:nvPr>
              <p:custDataLst>
                <p:tags r:id="rId24"/>
              </p:custDataLst>
            </p:nvPr>
          </p:nvSpPr>
          <p:spPr>
            <a:xfrm>
              <a:off x="884" y="2329"/>
              <a:ext cx="363" cy="0"/>
            </a:xfrm>
            <a:prstGeom prst="line">
              <a:avLst/>
            </a:prstGeom>
            <a:ln w="38100" cap="flat" cmpd="sng">
              <a:solidFill>
                <a:srgbClr val="FF9900"/>
              </a:solidFill>
              <a:prstDash val="solid"/>
              <a:headEnd type="none" w="med" len="med"/>
              <a:tailEnd type="none" w="med" len="med"/>
            </a:ln>
          </p:spPr>
        </p:sp>
        <p:sp>
          <p:nvSpPr>
            <p:cNvPr id="42013" name="Rectangle 28"/>
            <p:cNvSpPr/>
            <p:nvPr>
              <p:custDataLst>
                <p:tags r:id="rId25"/>
              </p:custDataLst>
            </p:nvPr>
          </p:nvSpPr>
          <p:spPr>
            <a:xfrm>
              <a:off x="2018" y="214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sp>
          <p:nvSpPr>
            <p:cNvPr id="42014" name="Line 29"/>
            <p:cNvSpPr/>
            <p:nvPr>
              <p:custDataLst>
                <p:tags r:id="rId26"/>
              </p:custDataLst>
            </p:nvPr>
          </p:nvSpPr>
          <p:spPr>
            <a:xfrm flipV="1">
              <a:off x="1066" y="1797"/>
              <a:ext cx="0" cy="317"/>
            </a:xfrm>
            <a:prstGeom prst="line">
              <a:avLst/>
            </a:prstGeom>
            <a:ln w="38100" cap="sq" cmpd="sng">
              <a:solidFill>
                <a:srgbClr val="0000FF"/>
              </a:solidFill>
              <a:prstDash val="solid"/>
              <a:headEnd type="none" w="med" len="med"/>
              <a:tailEnd type="triangle" w="med" len="med"/>
            </a:ln>
          </p:spPr>
        </p:sp>
      </p:grpSp>
      <p:sp>
        <p:nvSpPr>
          <p:cNvPr id="149534" name="AutoShape 30" descr="羊皮纸"/>
          <p:cNvSpPr/>
          <p:nvPr>
            <p:custDataLst>
              <p:tags r:id="rId27"/>
            </p:custDataLst>
          </p:nvPr>
        </p:nvSpPr>
        <p:spPr>
          <a:xfrm>
            <a:off x="1114743" y="6121083"/>
            <a:ext cx="1584325" cy="525462"/>
          </a:xfrm>
          <a:prstGeom prst="wedgeRoundRectCallout">
            <a:avLst>
              <a:gd name="adj1" fmla="val 96792"/>
              <a:gd name="adj2" fmla="val -279306"/>
              <a:gd name="adj3" fmla="val 16667"/>
            </a:avLst>
          </a:prstGeom>
          <a:blipFill rotWithShape="1">
            <a:blip r:embed="rId12"/>
          </a:blipFill>
          <a:ln w="9525" cap="flat" cmpd="sng">
            <a:solidFill>
              <a:schemeClr val="tx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0"/>
              </a:spcBef>
              <a:buClrTx/>
              <a:buSzTx/>
              <a:buFontTx/>
              <a:buNone/>
            </a:pPr>
            <a:r>
              <a:rPr lang="zh-CN" altLang="en-US" dirty="0">
                <a:solidFill>
                  <a:srgbClr val="000000"/>
                </a:solidFill>
                <a:latin typeface="Times New Roman" panose="02020603050405020304" pitchFamily="18" charset="0"/>
                <a:ea typeface="楷体_GB2312" pitchFamily="49" charset="-122"/>
                <a:sym typeface="Symbol" panose="05050102010706020507" pitchFamily="18" charset="2"/>
              </a:rPr>
              <a:t>外电路</a:t>
            </a:r>
            <a:endParaRPr lang="zh-CN" altLang="en-US"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149535" name="AutoShape 31"/>
          <p:cNvSpPr/>
          <p:nvPr>
            <p:custDataLst>
              <p:tags r:id="rId28"/>
            </p:custDataLst>
          </p:nvPr>
        </p:nvSpPr>
        <p:spPr>
          <a:xfrm rot="-1218513">
            <a:off x="3851593" y="4054158"/>
            <a:ext cx="812800" cy="146050"/>
          </a:xfrm>
          <a:prstGeom prst="rightArrow">
            <a:avLst>
              <a:gd name="adj1" fmla="val 50000"/>
              <a:gd name="adj2" fmla="val 139130"/>
            </a:avLst>
          </a:prstGeom>
          <a:solidFill>
            <a:srgbClr val="FF3300"/>
          </a:solidFill>
          <a:ln w="9525" cap="flat" cmpd="sng">
            <a:solidFill>
              <a:srgbClr val="FF33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aphicFrame>
        <p:nvGraphicFramePr>
          <p:cNvPr id="149536" name="Object 32"/>
          <p:cNvGraphicFramePr>
            <a:graphicFrameLocks noChangeAspect="1"/>
          </p:cNvGraphicFramePr>
          <p:nvPr>
            <p:custDataLst>
              <p:tags r:id="rId29"/>
            </p:custDataLst>
          </p:nvPr>
        </p:nvGraphicFramePr>
        <p:xfrm>
          <a:off x="5087938" y="3704908"/>
          <a:ext cx="1231900" cy="569912"/>
        </p:xfrm>
        <a:graphic>
          <a:graphicData uri="http://schemas.openxmlformats.org/presentationml/2006/ole">
            <mc:AlternateContent xmlns:mc="http://schemas.openxmlformats.org/markup-compatibility/2006">
              <mc:Choice xmlns:v="urn:schemas-microsoft-com:vml" Requires="v">
                <p:oleObj spid="_x0000_s3132" name="" r:id="rId30" imgW="698500" imgH="317500" progId="Equation.3">
                  <p:embed/>
                </p:oleObj>
              </mc:Choice>
              <mc:Fallback>
                <p:oleObj name="" r:id="rId30" imgW="698500" imgH="317500" progId="Equation.3">
                  <p:embed/>
                  <p:pic>
                    <p:nvPicPr>
                      <p:cNvPr id="0" name="图片 3131"/>
                      <p:cNvPicPr/>
                      <p:nvPr/>
                    </p:nvPicPr>
                    <p:blipFill>
                      <a:blip r:embed="rId31">
                        <a:clrChange>
                          <a:clrFrom>
                            <a:srgbClr val="000000"/>
                          </a:clrFrom>
                          <a:clrTo>
                            <a:srgbClr val="000066"/>
                          </a:clrTo>
                        </a:clrChange>
                      </a:blip>
                      <a:stretch>
                        <a:fillRect/>
                      </a:stretch>
                    </p:blipFill>
                    <p:spPr>
                      <a:xfrm>
                        <a:off x="5087938" y="3704908"/>
                        <a:ext cx="1231900" cy="569912"/>
                      </a:xfrm>
                      <a:prstGeom prst="rect">
                        <a:avLst/>
                      </a:prstGeom>
                      <a:noFill/>
                      <a:ln w="38100">
                        <a:noFill/>
                        <a:miter/>
                      </a:ln>
                    </p:spPr>
                  </p:pic>
                </p:oleObj>
              </mc:Fallback>
            </mc:AlternateContent>
          </a:graphicData>
        </a:graphic>
      </p:graphicFrame>
      <p:sp>
        <p:nvSpPr>
          <p:cNvPr id="149537" name="AutoShape 33"/>
          <p:cNvSpPr/>
          <p:nvPr>
            <p:custDataLst>
              <p:tags r:id="rId32"/>
            </p:custDataLst>
          </p:nvPr>
        </p:nvSpPr>
        <p:spPr>
          <a:xfrm>
            <a:off x="3851593" y="4536758"/>
            <a:ext cx="792162" cy="142875"/>
          </a:xfrm>
          <a:prstGeom prst="rightArrow">
            <a:avLst>
              <a:gd name="adj1" fmla="val 50000"/>
              <a:gd name="adj2" fmla="val 138611"/>
            </a:avLst>
          </a:prstGeom>
          <a:solidFill>
            <a:srgbClr val="FF3300"/>
          </a:solidFill>
          <a:ln w="9525" cap="flat" cmpd="sng">
            <a:solidFill>
              <a:srgbClr val="FF33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aphicFrame>
        <p:nvGraphicFramePr>
          <p:cNvPr id="149538" name="Object 34"/>
          <p:cNvGraphicFramePr>
            <a:graphicFrameLocks noChangeAspect="1"/>
          </p:cNvGraphicFramePr>
          <p:nvPr>
            <p:custDataLst>
              <p:tags r:id="rId33"/>
            </p:custDataLst>
          </p:nvPr>
        </p:nvGraphicFramePr>
        <p:xfrm>
          <a:off x="5075555" y="4412933"/>
          <a:ext cx="2520950" cy="539750"/>
        </p:xfrm>
        <a:graphic>
          <a:graphicData uri="http://schemas.openxmlformats.org/presentationml/2006/ole">
            <mc:AlternateContent xmlns:mc="http://schemas.openxmlformats.org/markup-compatibility/2006">
              <mc:Choice xmlns:v="urn:schemas-microsoft-com:vml" Requires="v">
                <p:oleObj spid="_x0000_s3130" name="" r:id="rId34" imgW="1422400" imgH="304800" progId="Equation.3">
                  <p:embed/>
                </p:oleObj>
              </mc:Choice>
              <mc:Fallback>
                <p:oleObj name="" r:id="rId34" imgW="1422400" imgH="304800" progId="Equation.3">
                  <p:embed/>
                  <p:pic>
                    <p:nvPicPr>
                      <p:cNvPr id="0" name="图片 3129"/>
                      <p:cNvPicPr/>
                      <p:nvPr/>
                    </p:nvPicPr>
                    <p:blipFill>
                      <a:blip r:embed="rId35">
                        <a:clrChange>
                          <a:clrFrom>
                            <a:srgbClr val="000000"/>
                          </a:clrFrom>
                          <a:clrTo>
                            <a:srgbClr val="000066"/>
                          </a:clrTo>
                        </a:clrChange>
                      </a:blip>
                      <a:stretch>
                        <a:fillRect/>
                      </a:stretch>
                    </p:blipFill>
                    <p:spPr>
                      <a:xfrm>
                        <a:off x="5075555" y="4412933"/>
                        <a:ext cx="2520950" cy="539750"/>
                      </a:xfrm>
                      <a:prstGeom prst="rect">
                        <a:avLst/>
                      </a:prstGeom>
                      <a:noFill/>
                      <a:ln w="38100">
                        <a:noFill/>
                        <a:miter/>
                      </a:ln>
                    </p:spPr>
                  </p:pic>
                </p:oleObj>
              </mc:Fallback>
            </mc:AlternateContent>
          </a:graphicData>
        </a:graphic>
      </p:graphicFrame>
      <p:sp>
        <p:nvSpPr>
          <p:cNvPr id="149539" name="AutoShape 35"/>
          <p:cNvSpPr/>
          <p:nvPr>
            <p:custDataLst>
              <p:tags r:id="rId36"/>
            </p:custDataLst>
          </p:nvPr>
        </p:nvSpPr>
        <p:spPr>
          <a:xfrm rot="1049089">
            <a:off x="3851593" y="5041583"/>
            <a:ext cx="792162" cy="144462"/>
          </a:xfrm>
          <a:prstGeom prst="rightArrow">
            <a:avLst>
              <a:gd name="adj1" fmla="val 50000"/>
              <a:gd name="adj2" fmla="val 137088"/>
            </a:avLst>
          </a:prstGeom>
          <a:solidFill>
            <a:srgbClr val="FF3300"/>
          </a:solidFill>
          <a:ln w="9525" cap="flat" cmpd="sng">
            <a:solidFill>
              <a:srgbClr val="FF33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dirty="0">
              <a:solidFill>
                <a:srgbClr val="FFFF99"/>
              </a:solidFill>
              <a:latin typeface="Times New Roman" panose="02020603050405020304" pitchFamily="18" charset="0"/>
            </a:endParaRPr>
          </a:p>
        </p:txBody>
      </p:sp>
      <p:graphicFrame>
        <p:nvGraphicFramePr>
          <p:cNvPr id="149540" name="Object 36"/>
          <p:cNvGraphicFramePr>
            <a:graphicFrameLocks noChangeAspect="1"/>
          </p:cNvGraphicFramePr>
          <p:nvPr>
            <p:custDataLst>
              <p:tags r:id="rId37"/>
            </p:custDataLst>
          </p:nvPr>
        </p:nvGraphicFramePr>
        <p:xfrm>
          <a:off x="5078730" y="5079683"/>
          <a:ext cx="3021013" cy="557212"/>
        </p:xfrm>
        <a:graphic>
          <a:graphicData uri="http://schemas.openxmlformats.org/presentationml/2006/ole">
            <mc:AlternateContent xmlns:mc="http://schemas.openxmlformats.org/markup-compatibility/2006">
              <mc:Choice xmlns:v="urn:schemas-microsoft-com:vml" Requires="v">
                <p:oleObj spid="_x0000_s3131" name="" r:id="rId38" imgW="1270000" imgH="266700" progId="Equation.DSMT4">
                  <p:embed/>
                </p:oleObj>
              </mc:Choice>
              <mc:Fallback>
                <p:oleObj name="" r:id="rId38" imgW="1270000" imgH="266700" progId="Equation.DSMT4">
                  <p:embed/>
                  <p:pic>
                    <p:nvPicPr>
                      <p:cNvPr id="0" name="图片 3130"/>
                      <p:cNvPicPr/>
                      <p:nvPr/>
                    </p:nvPicPr>
                    <p:blipFill>
                      <a:blip r:embed="rId39">
                        <a:clrChange>
                          <a:clrFrom>
                            <a:srgbClr val="000000"/>
                          </a:clrFrom>
                          <a:clrTo>
                            <a:srgbClr val="000066"/>
                          </a:clrTo>
                        </a:clrChange>
                      </a:blip>
                      <a:stretch>
                        <a:fillRect/>
                      </a:stretch>
                    </p:blipFill>
                    <p:spPr>
                      <a:xfrm>
                        <a:off x="5078730" y="5079683"/>
                        <a:ext cx="3021013" cy="557212"/>
                      </a:xfrm>
                      <a:prstGeom prst="rect">
                        <a:avLst/>
                      </a:prstGeom>
                      <a:noFill/>
                      <a:ln w="38100">
                        <a:noFill/>
                        <a:miter/>
                      </a:ln>
                    </p:spPr>
                  </p:pic>
                </p:oleObj>
              </mc:Fallback>
            </mc:AlternateContent>
          </a:graphicData>
        </a:graphic>
      </p:graphicFrame>
      <p:sp>
        <p:nvSpPr>
          <p:cNvPr id="149541" name="Text Box 37"/>
          <p:cNvSpPr txBox="1"/>
          <p:nvPr>
            <p:custDataLst>
              <p:tags r:id="rId40"/>
            </p:custDataLst>
          </p:nvPr>
        </p:nvSpPr>
        <p:spPr>
          <a:xfrm>
            <a:off x="4211955" y="5854383"/>
            <a:ext cx="3529013" cy="519112"/>
          </a:xfrm>
          <a:prstGeom prst="rect">
            <a:avLst/>
          </a:prstGeom>
          <a:solidFill>
            <a:srgbClr val="FF0000"/>
          </a:solidFill>
          <a:ln w="9525">
            <a:noFill/>
          </a:ln>
        </p:spPr>
        <p:txBody>
          <a:bodyPr>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gn="ctr">
              <a:spcBef>
                <a:spcPct val="50000"/>
              </a:spcBef>
              <a:buClrTx/>
              <a:buSzTx/>
              <a:buFontTx/>
              <a:buNone/>
            </a:pPr>
            <a:r>
              <a:rPr lang="zh-CN" altLang="en-US" dirty="0">
                <a:latin typeface="Times New Roman" panose="02020603050405020304" pitchFamily="18" charset="0"/>
                <a:ea typeface="楷体_GB2312" pitchFamily="49" charset="-122"/>
                <a:sym typeface="Symbol" panose="05050102010706020507" pitchFamily="18" charset="2"/>
              </a:rPr>
              <a:t>电流源不能开路！</a:t>
            </a:r>
            <a:endParaRPr lang="zh-CN" altLang="en-US" dirty="0">
              <a:latin typeface="Times New Roman" panose="02020603050405020304" pitchFamily="18" charset="0"/>
              <a:ea typeface="楷体_GB2312" pitchFamily="49"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iterate type="lt">
                                    <p:tmPct val="100000"/>
                                  </p:iterate>
                                  <p:childTnLst>
                                    <p:set>
                                      <p:cBhvr>
                                        <p:cTn id="6" dur="1" fill="hold">
                                          <p:stCondLst>
                                            <p:cond delay="0"/>
                                          </p:stCondLst>
                                        </p:cTn>
                                        <p:tgtEl>
                                          <p:spTgt spid="148503"/>
                                        </p:tgtEl>
                                        <p:attrNameLst>
                                          <p:attrName>style.visibility</p:attrName>
                                        </p:attrNameLst>
                                      </p:cBhvr>
                                      <p:to>
                                        <p:strVal val="visible"/>
                                      </p:to>
                                    </p:set>
                                    <p:anim calcmode="lin" valueType="num">
                                      <p:cBhvr>
                                        <p:cTn id="7" dur="100" fill="hold"/>
                                        <p:tgtEl>
                                          <p:spTgt spid="148503"/>
                                        </p:tgtEl>
                                        <p:attrNameLst>
                                          <p:attrName>ppt_w</p:attrName>
                                        </p:attrNameLst>
                                      </p:cBhvr>
                                      <p:tavLst>
                                        <p:tav tm="0">
                                          <p:val>
                                            <p:fltVal val="0.000000"/>
                                          </p:val>
                                        </p:tav>
                                        <p:tav tm="100000">
                                          <p:val>
                                            <p:strVal val="#ppt_w"/>
                                          </p:val>
                                        </p:tav>
                                      </p:tavLst>
                                    </p:anim>
                                    <p:anim calcmode="lin" valueType="num">
                                      <p:cBhvr>
                                        <p:cTn id="8" dur="100" fill="hold"/>
                                        <p:tgtEl>
                                          <p:spTgt spid="148503"/>
                                        </p:tgtEl>
                                        <p:attrNameLst>
                                          <p:attrName>ppt_h</p:attrName>
                                        </p:attrNameLst>
                                      </p:cBhvr>
                                      <p:tavLst>
                                        <p:tav tm="0">
                                          <p:val>
                                            <p:strVal val="#ppt_h"/>
                                          </p:val>
                                        </p:tav>
                                        <p:tav tm="100000">
                                          <p:val>
                                            <p:strVal val="#ppt_h"/>
                                          </p:val>
                                        </p:tav>
                                      </p:tavLst>
                                    </p:anim>
                                  </p:childTnLst>
                                </p:cTn>
                              </p:par>
                            </p:childTnLst>
                          </p:cTn>
                        </p:par>
                        <p:par>
                          <p:cTn id="9" fill="hold">
                            <p:stCondLst>
                              <p:cond delay="3799"/>
                            </p:stCondLst>
                            <p:childTnLst>
                              <p:par>
                                <p:cTn id="10" presetID="20"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edge">
                                      <p:cBhvr>
                                        <p:cTn id="12" dur="2000"/>
                                        <p:tgtEl>
                                          <p:spTgt spid="3"/>
                                        </p:tgtEl>
                                      </p:cBhvr>
                                    </p:animEffect>
                                  </p:childTnLst>
                                </p:cTn>
                              </p:par>
                            </p:childTnLst>
                          </p:cTn>
                        </p:par>
                        <p:par>
                          <p:cTn id="13" fill="hold">
                            <p:stCondLst>
                              <p:cond delay="5799"/>
                            </p:stCondLst>
                            <p:childTnLst>
                              <p:par>
                                <p:cTn id="14" presetID="3" presetClass="entr" presetSubtype="10" fill="hold" grpId="0" nodeType="afterEffect">
                                  <p:stCondLst>
                                    <p:cond delay="0"/>
                                  </p:stCondLst>
                                  <p:childTnLst>
                                    <p:set>
                                      <p:cBhvr>
                                        <p:cTn id="15" dur="1" fill="hold">
                                          <p:stCondLst>
                                            <p:cond delay="0"/>
                                          </p:stCondLst>
                                        </p:cTn>
                                        <p:tgtEl>
                                          <p:spTgt spid="149521"/>
                                        </p:tgtEl>
                                        <p:attrNameLst>
                                          <p:attrName>style.visibility</p:attrName>
                                        </p:attrNameLst>
                                      </p:cBhvr>
                                      <p:to>
                                        <p:strVal val="visible"/>
                                      </p:to>
                                    </p:set>
                                    <p:animEffect transition="in" filter="blinds(horizontal)">
                                      <p:cBhvr>
                                        <p:cTn id="16" dur="500"/>
                                        <p:tgtEl>
                                          <p:spTgt spid="149521"/>
                                        </p:tgtEl>
                                      </p:cBhvr>
                                    </p:animEffect>
                                  </p:childTnLst>
                                </p:cTn>
                              </p:par>
                            </p:childTnLst>
                          </p:cTn>
                        </p:par>
                        <p:par>
                          <p:cTn id="17" fill="hold">
                            <p:stCondLst>
                              <p:cond delay="6299"/>
                            </p:stCondLst>
                            <p:childTnLst>
                              <p:par>
                                <p:cTn id="18" presetID="20" presetClass="entr" presetSubtype="0" fill="hold" grpId="0" nodeType="afterEffect">
                                  <p:stCondLst>
                                    <p:cond delay="0"/>
                                  </p:stCondLst>
                                  <p:childTnLst>
                                    <p:set>
                                      <p:cBhvr>
                                        <p:cTn id="19" dur="1" fill="hold">
                                          <p:stCondLst>
                                            <p:cond delay="0"/>
                                          </p:stCondLst>
                                        </p:cTn>
                                        <p:tgtEl>
                                          <p:spTgt spid="149514"/>
                                        </p:tgtEl>
                                        <p:attrNameLst>
                                          <p:attrName>style.visibility</p:attrName>
                                        </p:attrNameLst>
                                      </p:cBhvr>
                                      <p:to>
                                        <p:strVal val="visible"/>
                                      </p:to>
                                    </p:set>
                                    <p:animEffect transition="in" filter="wedge">
                                      <p:cBhvr>
                                        <p:cTn id="20" dur="2000"/>
                                        <p:tgtEl>
                                          <p:spTgt spid="149514"/>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grpId="0" nodeType="clickEffect">
                                  <p:stCondLst>
                                    <p:cond delay="0"/>
                                  </p:stCondLst>
                                  <p:iterate type="lt">
                                    <p:tmPct val="100000"/>
                                  </p:iterate>
                                  <p:childTnLst>
                                    <p:set>
                                      <p:cBhvr>
                                        <p:cTn id="24" dur="1" fill="hold">
                                          <p:stCondLst>
                                            <p:cond delay="0"/>
                                          </p:stCondLst>
                                        </p:cTn>
                                        <p:tgtEl>
                                          <p:spTgt spid="149506"/>
                                        </p:tgtEl>
                                        <p:attrNameLst>
                                          <p:attrName>style.visibility</p:attrName>
                                        </p:attrNameLst>
                                      </p:cBhvr>
                                      <p:to>
                                        <p:strVal val="visible"/>
                                      </p:to>
                                    </p:set>
                                    <p:anim calcmode="lin" valueType="num">
                                      <p:cBhvr>
                                        <p:cTn id="25" dur="100" fill="hold"/>
                                        <p:tgtEl>
                                          <p:spTgt spid="149506"/>
                                        </p:tgtEl>
                                        <p:attrNameLst>
                                          <p:attrName>ppt_w</p:attrName>
                                        </p:attrNameLst>
                                      </p:cBhvr>
                                      <p:tavLst>
                                        <p:tav tm="0">
                                          <p:val>
                                            <p:strVal val="#ppt_w*0.70"/>
                                          </p:val>
                                        </p:tav>
                                        <p:tav tm="100000">
                                          <p:val>
                                            <p:strVal val="#ppt_w"/>
                                          </p:val>
                                        </p:tav>
                                      </p:tavLst>
                                    </p:anim>
                                    <p:anim calcmode="lin" valueType="num">
                                      <p:cBhvr>
                                        <p:cTn id="26" dur="100" fill="hold"/>
                                        <p:tgtEl>
                                          <p:spTgt spid="149506"/>
                                        </p:tgtEl>
                                        <p:attrNameLst>
                                          <p:attrName>ppt_h</p:attrName>
                                        </p:attrNameLst>
                                      </p:cBhvr>
                                      <p:tavLst>
                                        <p:tav tm="0">
                                          <p:val>
                                            <p:strVal val="#ppt_h"/>
                                          </p:val>
                                        </p:tav>
                                        <p:tav tm="100000">
                                          <p:val>
                                            <p:strVal val="#ppt_h"/>
                                          </p:val>
                                        </p:tav>
                                      </p:tavLst>
                                    </p:anim>
                                    <p:animEffect transition="in" filter="fade">
                                      <p:cBhvr>
                                        <p:cTn id="27" dur="100"/>
                                        <p:tgtEl>
                                          <p:spTgt spid="149506"/>
                                        </p:tgtEl>
                                      </p:cBhvr>
                                    </p:animEffect>
                                  </p:childTnLst>
                                </p:cTn>
                              </p:par>
                            </p:childTnLst>
                          </p:cTn>
                        </p:par>
                      </p:childTnLst>
                    </p:cTn>
                  </p:par>
                  <p:par>
                    <p:cTn id="28" fill="hold">
                      <p:stCondLst>
                        <p:cond delay="indefinite"/>
                      </p:stCondLst>
                      <p:childTnLst>
                        <p:par>
                          <p:cTn id="29" fill="hold">
                            <p:stCondLst>
                              <p:cond delay="0"/>
                            </p:stCondLst>
                            <p:childTnLst>
                              <p:par>
                                <p:cTn id="30" presetID="15" presetClass="entr" presetSubtype="0" fill="hold" grpId="0" nodeType="clickEffect">
                                  <p:stCondLst>
                                    <p:cond delay="0"/>
                                  </p:stCondLst>
                                  <p:childTnLst>
                                    <p:set>
                                      <p:cBhvr>
                                        <p:cTn id="31" dur="1" fill="hold">
                                          <p:stCondLst>
                                            <p:cond delay="0"/>
                                          </p:stCondLst>
                                        </p:cTn>
                                        <p:tgtEl>
                                          <p:spTgt spid="149522"/>
                                        </p:tgtEl>
                                        <p:attrNameLst>
                                          <p:attrName>style.visibility</p:attrName>
                                        </p:attrNameLst>
                                      </p:cBhvr>
                                      <p:to>
                                        <p:strVal val="visible"/>
                                      </p:to>
                                    </p:set>
                                    <p:anim calcmode="lin" valueType="num">
                                      <p:cBhvr>
                                        <p:cTn id="32" dur="1000" fill="hold"/>
                                        <p:tgtEl>
                                          <p:spTgt spid="149522"/>
                                        </p:tgtEl>
                                        <p:attrNameLst>
                                          <p:attrName>ppt_w</p:attrName>
                                        </p:attrNameLst>
                                      </p:cBhvr>
                                      <p:tavLst>
                                        <p:tav tm="0">
                                          <p:val>
                                            <p:fltVal val="0.000000"/>
                                          </p:val>
                                        </p:tav>
                                        <p:tav tm="100000">
                                          <p:val>
                                            <p:strVal val="#ppt_w"/>
                                          </p:val>
                                        </p:tav>
                                      </p:tavLst>
                                    </p:anim>
                                    <p:anim calcmode="lin" valueType="num">
                                      <p:cBhvr>
                                        <p:cTn id="33" dur="1000" fill="hold"/>
                                        <p:tgtEl>
                                          <p:spTgt spid="149522"/>
                                        </p:tgtEl>
                                        <p:attrNameLst>
                                          <p:attrName>ppt_h</p:attrName>
                                        </p:attrNameLst>
                                      </p:cBhvr>
                                      <p:tavLst>
                                        <p:tav tm="0">
                                          <p:val>
                                            <p:fltVal val="0.000000"/>
                                          </p:val>
                                        </p:tav>
                                        <p:tav tm="100000">
                                          <p:val>
                                            <p:strVal val="#ppt_h"/>
                                          </p:val>
                                        </p:tav>
                                      </p:tavLst>
                                    </p:anim>
                                    <p:anim calcmode="lin" valueType="num">
                                      <p:cBhvr>
                                        <p:cTn id="34" dur="1000" fill="hold"/>
                                        <p:tgtEl>
                                          <p:spTgt spid="149522"/>
                                        </p:tgtEl>
                                        <p:attrNameLst>
                                          <p:attrName>ppt_x</p:attrName>
                                        </p:attrNameLst>
                                      </p:cBhvr>
                                      <p:tavLst>
                                        <p:tav tm="0" fmla="#ppt_x+(cos(-2*pi*(1-$))*-#ppt_x-sin(-2*pi*(1-$))*(1-#ppt_y))*(1-$)">
                                          <p:val>
                                            <p:fltVal val="0.000000"/>
                                          </p:val>
                                        </p:tav>
                                        <p:tav tm="100000">
                                          <p:val>
                                            <p:fltVal val="1.000000"/>
                                          </p:val>
                                        </p:tav>
                                      </p:tavLst>
                                    </p:anim>
                                    <p:anim calcmode="lin" valueType="num">
                                      <p:cBhvr>
                                        <p:cTn id="35" dur="1000" fill="hold"/>
                                        <p:tgtEl>
                                          <p:spTgt spid="149522"/>
                                        </p:tgtEl>
                                        <p:attrNameLst>
                                          <p:attrName>ppt_y</p:attrName>
                                        </p:attrNameLst>
                                      </p:cBhvr>
                                      <p:tavLst>
                                        <p:tav tm="0" fmla="#ppt_y+(sin(-2*pi*(1-$))*-#ppt_x+cos(-2*pi*(1-$))*(1-#ppt_y))*(1-$)">
                                          <p:val>
                                            <p:fltVal val="0.000000"/>
                                          </p:val>
                                        </p:tav>
                                        <p:tav tm="100000">
                                          <p:val>
                                            <p:fltVal val="1.000000"/>
                                          </p:val>
                                        </p:tav>
                                      </p:tavLst>
                                    </p:anim>
                                  </p:childTnLst>
                                </p:cTn>
                              </p:par>
                            </p:childTnLst>
                          </p:cTn>
                        </p:par>
                        <p:par>
                          <p:cTn id="36" fill="hold">
                            <p:stCondLst>
                              <p:cond delay="1000"/>
                            </p:stCondLst>
                            <p:childTnLst>
                              <p:par>
                                <p:cTn id="37" presetID="3" presetClass="entr" presetSubtype="10" fill="hold"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blinds(horizontal)">
                                      <p:cBhvr>
                                        <p:cTn id="39" dur="500"/>
                                        <p:tgtEl>
                                          <p:spTgt spid="5"/>
                                        </p:tgtEl>
                                      </p:cBhvr>
                                    </p:animEffect>
                                  </p:childTnLst>
                                </p:cTn>
                              </p:par>
                            </p:childTnLst>
                          </p:cTn>
                        </p:par>
                        <p:par>
                          <p:cTn id="40" fill="hold">
                            <p:stCondLst>
                              <p:cond delay="1500"/>
                            </p:stCondLst>
                            <p:childTnLst>
                              <p:par>
                                <p:cTn id="41" presetID="49" presetClass="entr" presetSubtype="0" decel="100000" fill="hold" grpId="0" nodeType="afterEffect">
                                  <p:stCondLst>
                                    <p:cond delay="0"/>
                                  </p:stCondLst>
                                  <p:childTnLst>
                                    <p:set>
                                      <p:cBhvr>
                                        <p:cTn id="42" dur="1" fill="hold">
                                          <p:stCondLst>
                                            <p:cond delay="0"/>
                                          </p:stCondLst>
                                        </p:cTn>
                                        <p:tgtEl>
                                          <p:spTgt spid="149534"/>
                                        </p:tgtEl>
                                        <p:attrNameLst>
                                          <p:attrName>style.visibility</p:attrName>
                                        </p:attrNameLst>
                                      </p:cBhvr>
                                      <p:to>
                                        <p:strVal val="visible"/>
                                      </p:to>
                                    </p:set>
                                    <p:anim calcmode="lin" valueType="num">
                                      <p:cBhvr>
                                        <p:cTn id="43" dur="500" fill="hold"/>
                                        <p:tgtEl>
                                          <p:spTgt spid="149534"/>
                                        </p:tgtEl>
                                        <p:attrNameLst>
                                          <p:attrName>ppt_w</p:attrName>
                                        </p:attrNameLst>
                                      </p:cBhvr>
                                      <p:tavLst>
                                        <p:tav tm="0">
                                          <p:val>
                                            <p:fltVal val="0.000000"/>
                                          </p:val>
                                        </p:tav>
                                        <p:tav tm="100000">
                                          <p:val>
                                            <p:strVal val="#ppt_w"/>
                                          </p:val>
                                        </p:tav>
                                      </p:tavLst>
                                    </p:anim>
                                    <p:anim calcmode="lin" valueType="num">
                                      <p:cBhvr>
                                        <p:cTn id="44" dur="500" fill="hold"/>
                                        <p:tgtEl>
                                          <p:spTgt spid="149534"/>
                                        </p:tgtEl>
                                        <p:attrNameLst>
                                          <p:attrName>ppt_h</p:attrName>
                                        </p:attrNameLst>
                                      </p:cBhvr>
                                      <p:tavLst>
                                        <p:tav tm="0">
                                          <p:val>
                                            <p:fltVal val="0.000000"/>
                                          </p:val>
                                        </p:tav>
                                        <p:tav tm="100000">
                                          <p:val>
                                            <p:strVal val="#ppt_h"/>
                                          </p:val>
                                        </p:tav>
                                      </p:tavLst>
                                    </p:anim>
                                    <p:anim calcmode="lin" valueType="num">
                                      <p:cBhvr>
                                        <p:cTn id="45" dur="500" fill="hold"/>
                                        <p:tgtEl>
                                          <p:spTgt spid="149534"/>
                                        </p:tgtEl>
                                        <p:attrNameLst>
                                          <p:attrName>style.rotation</p:attrName>
                                        </p:attrNameLst>
                                      </p:cBhvr>
                                      <p:tavLst>
                                        <p:tav tm="0">
                                          <p:val>
                                            <p:fltVal val="360.000000"/>
                                          </p:val>
                                        </p:tav>
                                        <p:tav tm="100000">
                                          <p:val>
                                            <p:fltVal val="0.000000"/>
                                          </p:val>
                                        </p:tav>
                                      </p:tavLst>
                                    </p:anim>
                                    <p:animEffect transition="in" filter="fade">
                                      <p:cBhvr>
                                        <p:cTn id="46" dur="500"/>
                                        <p:tgtEl>
                                          <p:spTgt spid="14953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49535"/>
                                        </p:tgtEl>
                                        <p:attrNameLst>
                                          <p:attrName>style.visibility</p:attrName>
                                        </p:attrNameLst>
                                      </p:cBhvr>
                                      <p:to>
                                        <p:strVal val="visible"/>
                                      </p:to>
                                    </p:set>
                                    <p:animEffect transition="in" filter="wipe(down)">
                                      <p:cBhvr>
                                        <p:cTn id="51" dur="500"/>
                                        <p:tgtEl>
                                          <p:spTgt spid="149535"/>
                                        </p:tgtEl>
                                      </p:cBhvr>
                                    </p:animEffect>
                                  </p:childTnLst>
                                </p:cTn>
                              </p:par>
                            </p:childTnLst>
                          </p:cTn>
                        </p:par>
                        <p:par>
                          <p:cTn id="52" fill="hold">
                            <p:stCondLst>
                              <p:cond delay="500"/>
                            </p:stCondLst>
                            <p:childTnLst>
                              <p:par>
                                <p:cTn id="53" presetID="18" presetClass="entr" presetSubtype="6" fill="hold" nodeType="afterEffect">
                                  <p:stCondLst>
                                    <p:cond delay="0"/>
                                  </p:stCondLst>
                                  <p:childTnLst>
                                    <p:set>
                                      <p:cBhvr>
                                        <p:cTn id="54" dur="1" fill="hold">
                                          <p:stCondLst>
                                            <p:cond delay="0"/>
                                          </p:stCondLst>
                                        </p:cTn>
                                        <p:tgtEl>
                                          <p:spTgt spid="149536"/>
                                        </p:tgtEl>
                                        <p:attrNameLst>
                                          <p:attrName>style.visibility</p:attrName>
                                        </p:attrNameLst>
                                      </p:cBhvr>
                                      <p:to>
                                        <p:strVal val="visible"/>
                                      </p:to>
                                    </p:set>
                                    <p:animEffect transition="in" filter="strips(downRight)">
                                      <p:cBhvr>
                                        <p:cTn id="55" dur="1000"/>
                                        <p:tgtEl>
                                          <p:spTgt spid="149536"/>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8" fill="hold" grpId="0" nodeType="clickEffect">
                                  <p:stCondLst>
                                    <p:cond delay="0"/>
                                  </p:stCondLst>
                                  <p:childTnLst>
                                    <p:set>
                                      <p:cBhvr>
                                        <p:cTn id="59" dur="1" fill="hold">
                                          <p:stCondLst>
                                            <p:cond delay="0"/>
                                          </p:stCondLst>
                                        </p:cTn>
                                        <p:tgtEl>
                                          <p:spTgt spid="149537"/>
                                        </p:tgtEl>
                                        <p:attrNameLst>
                                          <p:attrName>style.visibility</p:attrName>
                                        </p:attrNameLst>
                                      </p:cBhvr>
                                      <p:to>
                                        <p:strVal val="visible"/>
                                      </p:to>
                                    </p:set>
                                    <p:animEffect transition="in" filter="slide(fromLeft)">
                                      <p:cBhvr>
                                        <p:cTn id="60" dur="500"/>
                                        <p:tgtEl>
                                          <p:spTgt spid="149537"/>
                                        </p:tgtEl>
                                      </p:cBhvr>
                                    </p:animEffect>
                                  </p:childTnLst>
                                </p:cTn>
                              </p:par>
                            </p:childTnLst>
                          </p:cTn>
                        </p:par>
                        <p:par>
                          <p:cTn id="61" fill="hold">
                            <p:stCondLst>
                              <p:cond delay="500"/>
                            </p:stCondLst>
                            <p:childTnLst>
                              <p:par>
                                <p:cTn id="62" presetID="18" presetClass="entr" presetSubtype="6" fill="hold" nodeType="afterEffect">
                                  <p:stCondLst>
                                    <p:cond delay="0"/>
                                  </p:stCondLst>
                                  <p:childTnLst>
                                    <p:set>
                                      <p:cBhvr>
                                        <p:cTn id="63" dur="1" fill="hold">
                                          <p:stCondLst>
                                            <p:cond delay="0"/>
                                          </p:stCondLst>
                                        </p:cTn>
                                        <p:tgtEl>
                                          <p:spTgt spid="149538"/>
                                        </p:tgtEl>
                                        <p:attrNameLst>
                                          <p:attrName>style.visibility</p:attrName>
                                        </p:attrNameLst>
                                      </p:cBhvr>
                                      <p:to>
                                        <p:strVal val="visible"/>
                                      </p:to>
                                    </p:set>
                                    <p:animEffect transition="in" filter="strips(downRight)">
                                      <p:cBhvr>
                                        <p:cTn id="64" dur="1000"/>
                                        <p:tgtEl>
                                          <p:spTgt spid="14953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149539"/>
                                        </p:tgtEl>
                                        <p:attrNameLst>
                                          <p:attrName>style.visibility</p:attrName>
                                        </p:attrNameLst>
                                      </p:cBhvr>
                                      <p:to>
                                        <p:strVal val="visible"/>
                                      </p:to>
                                    </p:set>
                                    <p:animEffect transition="in" filter="wipe(up)">
                                      <p:cBhvr>
                                        <p:cTn id="69" dur="500"/>
                                        <p:tgtEl>
                                          <p:spTgt spid="149539"/>
                                        </p:tgtEl>
                                      </p:cBhvr>
                                    </p:animEffect>
                                  </p:childTnLst>
                                </p:cTn>
                              </p:par>
                            </p:childTnLst>
                          </p:cTn>
                        </p:par>
                        <p:par>
                          <p:cTn id="70" fill="hold">
                            <p:stCondLst>
                              <p:cond delay="500"/>
                            </p:stCondLst>
                            <p:childTnLst>
                              <p:par>
                                <p:cTn id="71" presetID="18" presetClass="entr" presetSubtype="6" fill="hold" nodeType="afterEffect">
                                  <p:stCondLst>
                                    <p:cond delay="0"/>
                                  </p:stCondLst>
                                  <p:childTnLst>
                                    <p:set>
                                      <p:cBhvr>
                                        <p:cTn id="72" dur="1" fill="hold">
                                          <p:stCondLst>
                                            <p:cond delay="0"/>
                                          </p:stCondLst>
                                        </p:cTn>
                                        <p:tgtEl>
                                          <p:spTgt spid="149540"/>
                                        </p:tgtEl>
                                        <p:attrNameLst>
                                          <p:attrName>style.visibility</p:attrName>
                                        </p:attrNameLst>
                                      </p:cBhvr>
                                      <p:to>
                                        <p:strVal val="visible"/>
                                      </p:to>
                                    </p:set>
                                    <p:animEffect transition="in" filter="strips(downRight)">
                                      <p:cBhvr>
                                        <p:cTn id="73" dur="1000"/>
                                        <p:tgtEl>
                                          <p:spTgt spid="149540"/>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fill="hold" grpId="0" nodeType="clickEffect">
                                  <p:stCondLst>
                                    <p:cond delay="0"/>
                                  </p:stCondLst>
                                  <p:childTnLst>
                                    <p:set>
                                      <p:cBhvr>
                                        <p:cTn id="77" dur="1" fill="hold">
                                          <p:stCondLst>
                                            <p:cond delay="0"/>
                                          </p:stCondLst>
                                        </p:cTn>
                                        <p:tgtEl>
                                          <p:spTgt spid="149541"/>
                                        </p:tgtEl>
                                        <p:attrNameLst>
                                          <p:attrName>style.visibility</p:attrName>
                                        </p:attrNameLst>
                                      </p:cBhvr>
                                      <p:to>
                                        <p:strVal val="visible"/>
                                      </p:to>
                                    </p:set>
                                    <p:anim calcmode="lin" valueType="num">
                                      <p:cBhvr>
                                        <p:cTn id="78" dur="1000" fill="hold"/>
                                        <p:tgtEl>
                                          <p:spTgt spid="149541"/>
                                        </p:tgtEl>
                                        <p:attrNameLst>
                                          <p:attrName>ppt_w</p:attrName>
                                        </p:attrNameLst>
                                      </p:cBhvr>
                                      <p:tavLst>
                                        <p:tav tm="0">
                                          <p:val>
                                            <p:fltVal val="0.000000"/>
                                          </p:val>
                                        </p:tav>
                                        <p:tav tm="100000">
                                          <p:val>
                                            <p:strVal val="#ppt_w"/>
                                          </p:val>
                                        </p:tav>
                                      </p:tavLst>
                                    </p:anim>
                                    <p:anim calcmode="lin" valueType="num">
                                      <p:cBhvr>
                                        <p:cTn id="79" dur="1000" fill="hold"/>
                                        <p:tgtEl>
                                          <p:spTgt spid="149541"/>
                                        </p:tgtEl>
                                        <p:attrNameLst>
                                          <p:attrName>ppt_h</p:attrName>
                                        </p:attrNameLst>
                                      </p:cBhvr>
                                      <p:tavLst>
                                        <p:tav tm="0">
                                          <p:val>
                                            <p:fltVal val="0.000000"/>
                                          </p:val>
                                        </p:tav>
                                        <p:tav tm="100000">
                                          <p:val>
                                            <p:strVal val="#ppt_h"/>
                                          </p:val>
                                        </p:tav>
                                      </p:tavLst>
                                    </p:anim>
                                    <p:animEffect transition="in" filter="fade">
                                      <p:cBhvr>
                                        <p:cTn id="80" dur="1000"/>
                                        <p:tgtEl>
                                          <p:spTgt spid="149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03" grpId="0"/>
      <p:bldP spid="149506" grpId="0"/>
      <p:bldP spid="149514" grpId="0" bldLvl="0" animBg="1"/>
      <p:bldP spid="149521" grpId="0" bldLvl="0" animBg="1"/>
      <p:bldP spid="149522" grpId="0"/>
      <p:bldP spid="149534" grpId="0" bldLvl="0" animBg="1"/>
      <p:bldP spid="149535" grpId="0" bldLvl="0" animBg="1"/>
      <p:bldP spid="149537" grpId="0" bldLvl="0" animBg="1"/>
      <p:bldP spid="149539" grpId="0" bldLvl="0" animBg="1"/>
      <p:bldP spid="149541"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622935" y="260985"/>
            <a:ext cx="7696200" cy="609600"/>
          </a:xfrm>
        </p:spPr>
        <p:txBody>
          <a:bodyPr vert="horz" wrap="square" lIns="91440" tIns="45720" rIns="91440" bIns="45720" anchor="ctr" anchorCtr="0"/>
          <a:p>
            <a:pPr algn="l" eaLnBrk="1" hangingPunct="1">
              <a:lnSpc>
                <a:spcPct val="120000"/>
              </a:lnSpc>
            </a:pPr>
            <a:r>
              <a:rPr lang="en-US" altLang="zh-CN" sz="3600" b="1">
                <a:solidFill>
                  <a:schemeClr val="tx1"/>
                </a:solidFill>
                <a:ea typeface="隶书" panose="02010509060101010101" pitchFamily="49" charset="-122"/>
              </a:rPr>
              <a:t>2.5 </a:t>
            </a:r>
            <a:r>
              <a:rPr lang="zh-CN" altLang="en-US" sz="3600" b="1">
                <a:solidFill>
                  <a:schemeClr val="tx1"/>
                </a:solidFill>
                <a:ea typeface="隶书" panose="02010509060101010101" pitchFamily="49" charset="-122"/>
              </a:rPr>
              <a:t>电源的</a:t>
            </a:r>
            <a:r>
              <a:rPr lang="zh-CN" altLang="en-US" sz="3600" b="1">
                <a:solidFill>
                  <a:schemeClr val="tx1"/>
                </a:solidFill>
                <a:ea typeface="隶书" panose="02010509060101010101" pitchFamily="49" charset="-122"/>
              </a:rPr>
              <a:t>内阻</a:t>
            </a:r>
            <a:endParaRPr lang="zh-CN" altLang="en-US" sz="3600" b="1">
              <a:solidFill>
                <a:schemeClr val="tx1"/>
              </a:solidFill>
              <a:ea typeface="隶书" panose="02010509060101010101" pitchFamily="49" charset="-122"/>
            </a:endParaRPr>
          </a:p>
        </p:txBody>
      </p:sp>
      <p:sp>
        <p:nvSpPr>
          <p:cNvPr id="148503" name="Text Box 23"/>
          <p:cNvSpPr txBox="1"/>
          <p:nvPr>
            <p:custDataLst>
              <p:tags r:id="rId1"/>
            </p:custDataLst>
          </p:nvPr>
        </p:nvSpPr>
        <p:spPr>
          <a:xfrm>
            <a:off x="622935" y="1454785"/>
            <a:ext cx="11054080" cy="5019675"/>
          </a:xfrm>
          <a:prstGeom prst="rect">
            <a:avLst/>
          </a:prstGeom>
          <a:noFill/>
          <a:ln w="12700">
            <a:noFill/>
          </a:ln>
        </p:spPr>
        <p:txBody>
          <a:bodyPr wrap="square"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0">
              <a:lnSpc>
                <a:spcPct val="120000"/>
              </a:lnSpc>
              <a:spcBef>
                <a:spcPct val="50000"/>
              </a:spcBef>
              <a:buClrTx/>
              <a:buSzTx/>
              <a:buFontTx/>
              <a:buNone/>
            </a:pPr>
            <a:r>
              <a:rPr lang="zh-CN" altLang="en-US" sz="3600" b="1" dirty="0">
                <a:latin typeface="Times New Roman" panose="02020603050405020304" pitchFamily="18" charset="0"/>
                <a:ea typeface="楷体_GB2312" pitchFamily="49" charset="-122"/>
                <a:sym typeface="Symbol" panose="05050102010706020507" pitchFamily="18" charset="2"/>
              </a:rPr>
              <a:t>内电阻：</a:t>
            </a:r>
            <a:endParaRPr lang="zh-CN" altLang="en-US" sz="3600" b="1" dirty="0">
              <a:latin typeface="Times New Roman" panose="02020603050405020304" pitchFamily="18" charset="0"/>
              <a:ea typeface="楷体_GB2312" pitchFamily="49" charset="-122"/>
              <a:sym typeface="Symbol" panose="05050102010706020507" pitchFamily="18" charset="2"/>
            </a:endParaRPr>
          </a:p>
          <a:p>
            <a:pPr marL="0" lvl="0" indent="457200">
              <a:lnSpc>
                <a:spcPct val="120000"/>
              </a:lnSpc>
              <a:spcBef>
                <a:spcPct val="50000"/>
              </a:spcBef>
              <a:buClrTx/>
              <a:buSzTx/>
              <a:buFontTx/>
              <a:buNone/>
            </a:pPr>
            <a:r>
              <a:rPr lang="zh-CN" altLang="en-US" dirty="0">
                <a:latin typeface="Times New Roman" panose="02020603050405020304" pitchFamily="18" charset="0"/>
                <a:ea typeface="楷体_GB2312" pitchFamily="49" charset="-122"/>
                <a:sym typeface="Symbol" panose="05050102010706020507" pitchFamily="18" charset="2"/>
              </a:rPr>
              <a:t>电流通过电源内电路时也有电阻，这个电阻叫</a:t>
            </a:r>
            <a:r>
              <a:rPr lang="zh-CN" altLang="en-US" dirty="0">
                <a:solidFill>
                  <a:srgbClr val="FF0000"/>
                </a:solidFill>
                <a:latin typeface="Times New Roman" panose="02020603050405020304" pitchFamily="18" charset="0"/>
                <a:ea typeface="楷体_GB2312" pitchFamily="49" charset="-122"/>
                <a:sym typeface="Symbol" panose="05050102010706020507" pitchFamily="18" charset="2"/>
              </a:rPr>
              <a:t>内电阻</a:t>
            </a:r>
            <a:r>
              <a:rPr lang="zh-CN" altLang="en-US" dirty="0">
                <a:latin typeface="Times New Roman" panose="02020603050405020304" pitchFamily="18" charset="0"/>
                <a:ea typeface="楷体_GB2312" pitchFamily="49" charset="-122"/>
                <a:sym typeface="Symbol" panose="05050102010706020507" pitchFamily="18" charset="2"/>
              </a:rPr>
              <a:t>。电流在内电阻上同样要消耗电能发热。</a:t>
            </a:r>
            <a:endParaRPr lang="zh-CN" altLang="en-US" dirty="0">
              <a:latin typeface="Times New Roman" panose="02020603050405020304" pitchFamily="18" charset="0"/>
              <a:ea typeface="楷体_GB2312" pitchFamily="49" charset="-122"/>
              <a:sym typeface="Symbol" panose="05050102010706020507" pitchFamily="18" charset="2"/>
            </a:endParaRPr>
          </a:p>
          <a:p>
            <a:pPr marL="0" lvl="0" indent="457200">
              <a:lnSpc>
                <a:spcPct val="120000"/>
              </a:lnSpc>
              <a:spcBef>
                <a:spcPct val="50000"/>
              </a:spcBef>
              <a:buClrTx/>
              <a:buSzTx/>
              <a:buFontTx/>
              <a:buNone/>
            </a:pPr>
            <a:r>
              <a:rPr lang="zh-CN" altLang="en-US" dirty="0">
                <a:latin typeface="Times New Roman" panose="02020603050405020304" pitchFamily="18" charset="0"/>
                <a:ea typeface="楷体_GB2312" pitchFamily="49" charset="-122"/>
                <a:sym typeface="Symbol" panose="05050102010706020507" pitchFamily="18" charset="2"/>
              </a:rPr>
              <a:t>理想的电源是认为没有电阻的，</a:t>
            </a:r>
            <a:r>
              <a:rPr lang="zh-CN" altLang="en-US" dirty="0">
                <a:latin typeface="Times New Roman" panose="02020603050405020304" pitchFamily="18" charset="0"/>
                <a:ea typeface="楷体_GB2312" pitchFamily="49" charset="-122"/>
                <a:sym typeface="Symbol" panose="05050102010706020507" pitchFamily="18" charset="2"/>
              </a:rPr>
              <a:t>但是把电路中的实际电源直接换成理想电源，是不等效的。</a:t>
            </a:r>
            <a:endParaRPr lang="zh-CN" altLang="en-US" dirty="0">
              <a:latin typeface="Times New Roman" panose="02020603050405020304" pitchFamily="18" charset="0"/>
              <a:ea typeface="楷体_GB2312" pitchFamily="49" charset="-122"/>
              <a:sym typeface="Symbol" panose="05050102010706020507" pitchFamily="18" charset="2"/>
            </a:endParaRPr>
          </a:p>
          <a:p>
            <a:pPr marL="0" lvl="0" indent="457200">
              <a:lnSpc>
                <a:spcPct val="120000"/>
              </a:lnSpc>
              <a:spcBef>
                <a:spcPct val="50000"/>
              </a:spcBef>
              <a:buClrTx/>
              <a:buSzTx/>
              <a:buFontTx/>
              <a:buNone/>
            </a:pPr>
            <a:r>
              <a:rPr lang="zh-CN" altLang="en-US" dirty="0">
                <a:latin typeface="Times New Roman" panose="02020603050405020304" pitchFamily="18" charset="0"/>
                <a:ea typeface="楷体_GB2312" pitchFamily="49" charset="-122"/>
                <a:sym typeface="Symbol" panose="05050102010706020507" pitchFamily="18" charset="2"/>
              </a:rPr>
              <a:t>我们可以把实际电源等效变化成一个电压源串联一个内阻，或者等效成一个电流源并联一个电阻；经过等效变化，使电路的各元件之间的关系变成简单的串并联关系，从而把复杂电路化成简单电路。</a:t>
            </a:r>
            <a:endParaRPr lang="zh-CN" altLang="en-US" dirty="0">
              <a:latin typeface="Times New Roman" panose="02020603050405020304" pitchFamily="18" charset="0"/>
              <a:ea typeface="楷体_GB2312" pitchFamily="49"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iterate type="lt">
                                    <p:tmPct val="100000"/>
                                  </p:iterate>
                                  <p:childTnLst>
                                    <p:set>
                                      <p:cBhvr>
                                        <p:cTn id="6" dur="1" fill="hold">
                                          <p:stCondLst>
                                            <p:cond delay="0"/>
                                          </p:stCondLst>
                                        </p:cTn>
                                        <p:tgtEl>
                                          <p:spTgt spid="148503"/>
                                        </p:tgtEl>
                                        <p:attrNameLst>
                                          <p:attrName>style.visibility</p:attrName>
                                        </p:attrNameLst>
                                      </p:cBhvr>
                                      <p:to>
                                        <p:strVal val="visible"/>
                                      </p:to>
                                    </p:set>
                                    <p:anim calcmode="lin" valueType="num">
                                      <p:cBhvr>
                                        <p:cTn id="7" dur="100" fill="hold"/>
                                        <p:tgtEl>
                                          <p:spTgt spid="148503"/>
                                        </p:tgtEl>
                                        <p:attrNameLst>
                                          <p:attrName>ppt_w</p:attrName>
                                        </p:attrNameLst>
                                      </p:cBhvr>
                                      <p:tavLst>
                                        <p:tav tm="0">
                                          <p:val>
                                            <p:fltVal val="0.000000"/>
                                          </p:val>
                                        </p:tav>
                                        <p:tav tm="100000">
                                          <p:val>
                                            <p:strVal val="#ppt_w"/>
                                          </p:val>
                                        </p:tav>
                                      </p:tavLst>
                                    </p:anim>
                                    <p:anim calcmode="lin" valueType="num">
                                      <p:cBhvr>
                                        <p:cTn id="8" dur="100" fill="hold"/>
                                        <p:tgtEl>
                                          <p:spTgt spid="14850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0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622935" y="260985"/>
            <a:ext cx="7696200" cy="609600"/>
          </a:xfrm>
        </p:spPr>
        <p:txBody>
          <a:bodyPr vert="horz" wrap="square" lIns="91440" tIns="45720" rIns="91440" bIns="45720" anchor="ctr" anchorCtr="0"/>
          <a:p>
            <a:pPr algn="l" eaLnBrk="1" hangingPunct="1">
              <a:lnSpc>
                <a:spcPct val="120000"/>
              </a:lnSpc>
            </a:pPr>
            <a:r>
              <a:rPr lang="en-US" altLang="zh-CN" sz="3600" b="1">
                <a:solidFill>
                  <a:schemeClr val="tx1"/>
                </a:solidFill>
                <a:ea typeface="隶书" panose="02010509060101010101" pitchFamily="49" charset="-122"/>
              </a:rPr>
              <a:t>2.6 </a:t>
            </a:r>
            <a:r>
              <a:rPr lang="zh-CN" altLang="en-US" sz="3600" b="1">
                <a:solidFill>
                  <a:schemeClr val="tx1"/>
                </a:solidFill>
                <a:ea typeface="隶书" panose="02010509060101010101" pitchFamily="49" charset="-122"/>
              </a:rPr>
              <a:t>短路</a:t>
            </a:r>
            <a:endParaRPr lang="zh-CN" altLang="en-US" sz="3600" b="1">
              <a:solidFill>
                <a:schemeClr val="tx1"/>
              </a:solidFill>
              <a:ea typeface="隶书" panose="02010509060101010101" pitchFamily="49" charset="-122"/>
            </a:endParaRPr>
          </a:p>
        </p:txBody>
      </p:sp>
      <p:sp>
        <p:nvSpPr>
          <p:cNvPr id="148503" name="Text Box 23"/>
          <p:cNvSpPr txBox="1"/>
          <p:nvPr>
            <p:custDataLst>
              <p:tags r:id="rId1"/>
            </p:custDataLst>
          </p:nvPr>
        </p:nvSpPr>
        <p:spPr>
          <a:xfrm>
            <a:off x="407670" y="1892618"/>
            <a:ext cx="11054080" cy="1198880"/>
          </a:xfrm>
          <a:prstGeom prst="rect">
            <a:avLst/>
          </a:prstGeom>
          <a:noFill/>
          <a:ln w="12700">
            <a:noFill/>
          </a:ln>
        </p:spPr>
        <p:txBody>
          <a:bodyPr wrap="square"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457200">
              <a:lnSpc>
                <a:spcPct val="120000"/>
              </a:lnSpc>
              <a:spcBef>
                <a:spcPct val="50000"/>
              </a:spcBef>
              <a:buClrTx/>
              <a:buSzTx/>
              <a:buFontTx/>
              <a:buNone/>
            </a:pPr>
            <a:r>
              <a:rPr lang="zh-CN" altLang="en-US" sz="2000" b="1" dirty="0">
                <a:latin typeface="Times New Roman" panose="02020603050405020304" pitchFamily="18" charset="0"/>
                <a:ea typeface="楷体_GB2312" pitchFamily="49" charset="-122"/>
                <a:sym typeface="Symbol" panose="05050102010706020507" pitchFamily="18" charset="2"/>
              </a:rPr>
              <a:t>短路是指电路或电路中的一部分被短接。如负载或电源的两端被导线连接在一起，就称为短路，短路时电源提供的电流将比通路时提供的电流大得多，一般情况下不允许短路，如果短路，严重时会烧坏电源或设备。</a:t>
            </a:r>
            <a:endParaRPr lang="zh-CN" altLang="en-US" sz="2000" b="1" dirty="0">
              <a:latin typeface="Times New Roman" panose="02020603050405020304" pitchFamily="18" charset="0"/>
              <a:ea typeface="楷体_GB2312" pitchFamily="49" charset="-122"/>
              <a:sym typeface="Symbol" panose="05050102010706020507" pitchFamily="18" charset="2"/>
            </a:endParaRPr>
          </a:p>
        </p:txBody>
      </p:sp>
      <p:sp>
        <p:nvSpPr>
          <p:cNvPr id="2" name="Text Box 23"/>
          <p:cNvSpPr txBox="1"/>
          <p:nvPr>
            <p:custDataLst>
              <p:tags r:id="rId2"/>
            </p:custDataLst>
          </p:nvPr>
        </p:nvSpPr>
        <p:spPr>
          <a:xfrm>
            <a:off x="407670" y="3553461"/>
            <a:ext cx="11054080" cy="460375"/>
          </a:xfrm>
          <a:prstGeom prst="rect">
            <a:avLst/>
          </a:prstGeom>
          <a:noFill/>
          <a:ln w="12700">
            <a:noFill/>
          </a:ln>
        </p:spPr>
        <p:txBody>
          <a:bodyPr wrap="square"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457200">
              <a:lnSpc>
                <a:spcPct val="120000"/>
              </a:lnSpc>
              <a:spcBef>
                <a:spcPct val="50000"/>
              </a:spcBef>
              <a:buClrTx/>
              <a:buSzTx/>
              <a:buFontTx/>
              <a:buNone/>
            </a:pPr>
            <a:r>
              <a:rPr lang="zh-CN" altLang="en-US" sz="2000" b="1" dirty="0">
                <a:latin typeface="Times New Roman" panose="02020603050405020304" pitchFamily="18" charset="0"/>
                <a:ea typeface="楷体_GB2312" pitchFamily="49" charset="-122"/>
                <a:sym typeface="Symbol" panose="05050102010706020507" pitchFamily="18" charset="2"/>
              </a:rPr>
              <a:t>电源短路：即电流不经过任何用电器，直接由正极经过导线流回负极。特别容易烧坏电源。</a:t>
            </a:r>
            <a:endParaRPr lang="zh-CN" altLang="en-US" sz="2000" b="1" dirty="0">
              <a:latin typeface="Times New Roman" panose="02020603050405020304" pitchFamily="18" charset="0"/>
              <a:ea typeface="楷体_GB2312" pitchFamily="49" charset="-122"/>
              <a:sym typeface="Symbol" panose="05050102010706020507" pitchFamily="18" charset="2"/>
            </a:endParaRPr>
          </a:p>
        </p:txBody>
      </p:sp>
      <p:sp>
        <p:nvSpPr>
          <p:cNvPr id="3" name="Text Box 23"/>
          <p:cNvSpPr txBox="1"/>
          <p:nvPr>
            <p:custDataLst>
              <p:tags r:id="rId3"/>
            </p:custDataLst>
          </p:nvPr>
        </p:nvSpPr>
        <p:spPr>
          <a:xfrm>
            <a:off x="335280" y="4475481"/>
            <a:ext cx="11054080" cy="829945"/>
          </a:xfrm>
          <a:prstGeom prst="rect">
            <a:avLst/>
          </a:prstGeom>
          <a:noFill/>
          <a:ln w="12700">
            <a:noFill/>
          </a:ln>
        </p:spPr>
        <p:txBody>
          <a:bodyPr wrap="square" anchor="ctr" anchorCtr="0">
            <a:spAutoFit/>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stStyle>
          <a:p>
            <a:pPr marL="0" lvl="0" indent="457200">
              <a:lnSpc>
                <a:spcPct val="120000"/>
              </a:lnSpc>
              <a:spcBef>
                <a:spcPct val="50000"/>
              </a:spcBef>
              <a:buClrTx/>
              <a:buSzTx/>
              <a:buFontTx/>
              <a:buNone/>
            </a:pPr>
            <a:r>
              <a:rPr lang="en-US" altLang="zh-CN" sz="2000" b="1" dirty="0">
                <a:latin typeface="Times New Roman" panose="02020603050405020304" pitchFamily="18" charset="0"/>
                <a:ea typeface="楷体_GB2312" pitchFamily="49" charset="-122"/>
                <a:sym typeface="Symbol" panose="05050102010706020507" pitchFamily="18" charset="2"/>
              </a:rPr>
              <a:t> </a:t>
            </a:r>
            <a:r>
              <a:rPr lang="zh-CN" altLang="en-US" sz="2000" b="1" dirty="0">
                <a:latin typeface="Times New Roman" panose="02020603050405020304" pitchFamily="18" charset="0"/>
                <a:ea typeface="楷体_GB2312" pitchFamily="49" charset="-122"/>
                <a:sym typeface="Symbol" panose="05050102010706020507" pitchFamily="18" charset="2"/>
              </a:rPr>
              <a:t>局部短路：是将导线与用电器并联，那么根据并联分流的特点，电流大部分经过导线，只有很少的部分经过用电器，但用电器完好无损，这就叫局部短路。</a:t>
            </a:r>
            <a:endParaRPr lang="zh-CN" altLang="en-US" sz="2000" b="1" dirty="0">
              <a:latin typeface="Times New Roman" panose="02020603050405020304" pitchFamily="18" charset="0"/>
              <a:ea typeface="楷体_GB2312" pitchFamily="49"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iterate type="lt">
                                    <p:tmPct val="100000"/>
                                  </p:iterate>
                                  <p:childTnLst>
                                    <p:set>
                                      <p:cBhvr>
                                        <p:cTn id="6" dur="1" fill="hold">
                                          <p:stCondLst>
                                            <p:cond delay="0"/>
                                          </p:stCondLst>
                                        </p:cTn>
                                        <p:tgtEl>
                                          <p:spTgt spid="148503"/>
                                        </p:tgtEl>
                                        <p:attrNameLst>
                                          <p:attrName>style.visibility</p:attrName>
                                        </p:attrNameLst>
                                      </p:cBhvr>
                                      <p:to>
                                        <p:strVal val="visible"/>
                                      </p:to>
                                    </p:set>
                                    <p:anim calcmode="lin" valueType="num">
                                      <p:cBhvr>
                                        <p:cTn id="7" dur="100" fill="hold"/>
                                        <p:tgtEl>
                                          <p:spTgt spid="148503"/>
                                        </p:tgtEl>
                                        <p:attrNameLst>
                                          <p:attrName>ppt_w</p:attrName>
                                        </p:attrNameLst>
                                      </p:cBhvr>
                                      <p:tavLst>
                                        <p:tav tm="0">
                                          <p:val>
                                            <p:fltVal val="0.000000"/>
                                          </p:val>
                                        </p:tav>
                                        <p:tav tm="100000">
                                          <p:val>
                                            <p:strVal val="#ppt_w"/>
                                          </p:val>
                                        </p:tav>
                                      </p:tavLst>
                                    </p:anim>
                                    <p:anim calcmode="lin" valueType="num">
                                      <p:cBhvr>
                                        <p:cTn id="8" dur="100" fill="hold"/>
                                        <p:tgtEl>
                                          <p:spTgt spid="148503"/>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iterate type="lt">
                                    <p:tmPct val="100000"/>
                                  </p:iterate>
                                  <p:childTnLst>
                                    <p:set>
                                      <p:cBhvr>
                                        <p:cTn id="12" dur="1" fill="hold">
                                          <p:stCondLst>
                                            <p:cond delay="0"/>
                                          </p:stCondLst>
                                        </p:cTn>
                                        <p:tgtEl>
                                          <p:spTgt spid="2"/>
                                        </p:tgtEl>
                                        <p:attrNameLst>
                                          <p:attrName>style.visibility</p:attrName>
                                        </p:attrNameLst>
                                      </p:cBhvr>
                                      <p:to>
                                        <p:strVal val="visible"/>
                                      </p:to>
                                    </p:set>
                                    <p:anim calcmode="lin" valueType="num">
                                      <p:cBhvr>
                                        <p:cTn id="13" dur="100" fill="hold"/>
                                        <p:tgtEl>
                                          <p:spTgt spid="2"/>
                                        </p:tgtEl>
                                        <p:attrNameLst>
                                          <p:attrName>ppt_w</p:attrName>
                                        </p:attrNameLst>
                                      </p:cBhvr>
                                      <p:tavLst>
                                        <p:tav tm="0">
                                          <p:val>
                                            <p:fltVal val="0.000000"/>
                                          </p:val>
                                        </p:tav>
                                        <p:tav tm="100000">
                                          <p:val>
                                            <p:strVal val="#ppt_w"/>
                                          </p:val>
                                        </p:tav>
                                      </p:tavLst>
                                    </p:anim>
                                    <p:anim calcmode="lin" valueType="num">
                                      <p:cBhvr>
                                        <p:cTn id="14" dur="1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iterate type="lt">
                                    <p:tmPct val="100000"/>
                                  </p:iterate>
                                  <p:childTnLst>
                                    <p:set>
                                      <p:cBhvr>
                                        <p:cTn id="18" dur="1" fill="hold">
                                          <p:stCondLst>
                                            <p:cond delay="0"/>
                                          </p:stCondLst>
                                        </p:cTn>
                                        <p:tgtEl>
                                          <p:spTgt spid="3"/>
                                        </p:tgtEl>
                                        <p:attrNameLst>
                                          <p:attrName>style.visibility</p:attrName>
                                        </p:attrNameLst>
                                      </p:cBhvr>
                                      <p:to>
                                        <p:strVal val="visible"/>
                                      </p:to>
                                    </p:set>
                                    <p:anim calcmode="lin" valueType="num">
                                      <p:cBhvr>
                                        <p:cTn id="19" dur="100" fill="hold"/>
                                        <p:tgtEl>
                                          <p:spTgt spid="3"/>
                                        </p:tgtEl>
                                        <p:attrNameLst>
                                          <p:attrName>ppt_w</p:attrName>
                                        </p:attrNameLst>
                                      </p:cBhvr>
                                      <p:tavLst>
                                        <p:tav tm="0">
                                          <p:val>
                                            <p:fltVal val="0.000000"/>
                                          </p:val>
                                        </p:tav>
                                        <p:tav tm="100000">
                                          <p:val>
                                            <p:strVal val="#ppt_w"/>
                                          </p:val>
                                        </p:tav>
                                      </p:tavLst>
                                    </p:anim>
                                    <p:anim calcmode="lin" valueType="num">
                                      <p:cBhvr>
                                        <p:cTn id="20" dur="1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03" grpId="0"/>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Rectangle 2"/>
          <p:cNvSpPr>
            <a:spLocks noGrp="1"/>
          </p:cNvSpPr>
          <p:nvPr>
            <p:ph type="ctrTitle"/>
          </p:nvPr>
        </p:nvSpPr>
        <p:spPr>
          <a:xfrm>
            <a:off x="263525" y="476250"/>
            <a:ext cx="10036175" cy="1143000"/>
          </a:xfrm>
        </p:spPr>
        <p:txBody>
          <a:bodyPr vert="horz" wrap="square" lIns="91440" tIns="45720" rIns="91440" bIns="45720" anchor="ctr" anchorCtr="0"/>
          <a:p>
            <a:pPr algn="l" eaLnBrk="1" hangingPunct="1">
              <a:buClrTx/>
              <a:buSzTx/>
              <a:buFontTx/>
            </a:pPr>
            <a:r>
              <a:rPr lang="zh-CN" altLang="en-US" b="1">
                <a:latin typeface="隶书" panose="02010509060101010101" pitchFamily="49" charset="-122"/>
                <a:ea typeface="隶书" panose="02010509060101010101" pitchFamily="49" charset="-122"/>
              </a:rPr>
              <a:t>思考</a:t>
            </a:r>
            <a:r>
              <a:rPr lang="en-US" altLang="zh-CN" b="1">
                <a:latin typeface="隶书" panose="02010509060101010101" pitchFamily="49" charset="-122"/>
                <a:ea typeface="隶书" panose="02010509060101010101" pitchFamily="49" charset="-122"/>
              </a:rPr>
              <a:t>1</a:t>
            </a:r>
            <a:r>
              <a:rPr lang="zh-CN" altLang="en-US" b="1">
                <a:latin typeface="隶书" panose="02010509060101010101" pitchFamily="49" charset="-122"/>
                <a:ea typeface="隶书" panose="02010509060101010101" pitchFamily="49" charset="-122"/>
              </a:rPr>
              <a:t>：电路的断点处有没有电</a:t>
            </a:r>
            <a:r>
              <a:rPr lang="zh-CN" altLang="en-US" b="1">
                <a:latin typeface="隶书" panose="02010509060101010101" pitchFamily="49" charset="-122"/>
                <a:ea typeface="隶书" panose="02010509060101010101" pitchFamily="49" charset="-122"/>
              </a:rPr>
              <a:t>流和</a:t>
            </a:r>
            <a:r>
              <a:rPr lang="zh-CN" altLang="en-US" b="1">
                <a:latin typeface="隶书" panose="02010509060101010101" pitchFamily="49" charset="-122"/>
                <a:ea typeface="隶书" panose="02010509060101010101" pitchFamily="49" charset="-122"/>
              </a:rPr>
              <a:t>电压？</a:t>
            </a:r>
            <a:endParaRPr lang="zh-CN" altLang="en-US" b="1">
              <a:latin typeface="隶书" panose="02010509060101010101" pitchFamily="49" charset="-122"/>
              <a:ea typeface="隶书" panose="02010509060101010101" pitchFamily="49" charset="-122"/>
            </a:endParaRPr>
          </a:p>
        </p:txBody>
      </p:sp>
      <p:sp>
        <p:nvSpPr>
          <p:cNvPr id="2" name="文本框 1"/>
          <p:cNvSpPr txBox="1"/>
          <p:nvPr/>
        </p:nvSpPr>
        <p:spPr>
          <a:xfrm>
            <a:off x="479425" y="1988820"/>
            <a:ext cx="11221085" cy="3046095"/>
          </a:xfrm>
          <a:prstGeom prst="rect">
            <a:avLst/>
          </a:prstGeom>
          <a:noFill/>
        </p:spPr>
        <p:txBody>
          <a:bodyPr wrap="square" rtlCol="0">
            <a:spAutoFit/>
          </a:bodyPr>
          <a:p>
            <a:r>
              <a:rPr lang="en-US" altLang="zh-CN" sz="3200">
                <a:latin typeface="微软雅黑" panose="020B0503020204020204" charset="-122"/>
                <a:ea typeface="微软雅黑" panose="020B0503020204020204" charset="-122"/>
                <a:cs typeface="微软雅黑" panose="020B0503020204020204" charset="-122"/>
              </a:rPr>
              <a:t>1</a:t>
            </a:r>
            <a:r>
              <a:rPr lang="zh-CN" altLang="en-US" sz="3200">
                <a:latin typeface="微软雅黑" panose="020B0503020204020204" charset="-122"/>
                <a:ea typeface="微软雅黑" panose="020B0503020204020204" charset="-122"/>
                <a:cs typeface="微软雅黑" panose="020B0503020204020204" charset="-122"/>
              </a:rPr>
              <a:t>）当只有电压源时，就是短路时电流无穷大（理想状态下）,无电压；断路时，断点的电流为0，断点</a:t>
            </a:r>
            <a:r>
              <a:rPr lang="zh-CN" altLang="en-US" sz="3200">
                <a:latin typeface="微软雅黑" panose="020B0503020204020204" charset="-122"/>
                <a:ea typeface="微软雅黑" panose="020B0503020204020204" charset="-122"/>
                <a:cs typeface="微软雅黑" panose="020B0503020204020204" charset="-122"/>
              </a:rPr>
              <a:t>的电压为电压源电压。</a:t>
            </a:r>
            <a:endParaRPr lang="zh-CN" altLang="en-US" sz="3200">
              <a:latin typeface="微软雅黑" panose="020B0503020204020204" charset="-122"/>
              <a:ea typeface="微软雅黑" panose="020B0503020204020204" charset="-122"/>
              <a:cs typeface="微软雅黑" panose="020B0503020204020204" charset="-122"/>
            </a:endParaRPr>
          </a:p>
          <a:p>
            <a:endParaRPr lang="zh-CN" altLang="en-US" sz="3200">
              <a:latin typeface="微软雅黑" panose="020B0503020204020204" charset="-122"/>
              <a:ea typeface="微软雅黑" panose="020B0503020204020204" charset="-122"/>
              <a:cs typeface="微软雅黑" panose="020B0503020204020204" charset="-122"/>
            </a:endParaRPr>
          </a:p>
          <a:p>
            <a:r>
              <a:rPr lang="en-US" altLang="zh-CN" sz="3200">
                <a:latin typeface="微软雅黑" panose="020B0503020204020204" charset="-122"/>
                <a:ea typeface="微软雅黑" panose="020B0503020204020204" charset="-122"/>
                <a:cs typeface="微软雅黑" panose="020B0503020204020204" charset="-122"/>
              </a:rPr>
              <a:t>2</a:t>
            </a:r>
            <a:r>
              <a:rPr lang="zh-CN" altLang="en-US" sz="3200">
                <a:latin typeface="微软雅黑" panose="020B0503020204020204" charset="-122"/>
                <a:ea typeface="微软雅黑" panose="020B0503020204020204" charset="-122"/>
                <a:cs typeface="微软雅黑" panose="020B0503020204020204" charset="-122"/>
              </a:rPr>
              <a:t>）</a:t>
            </a:r>
            <a:r>
              <a:rPr lang="zh-CN" altLang="en-US" sz="3200">
                <a:latin typeface="微软雅黑" panose="020B0503020204020204" charset="-122"/>
                <a:ea typeface="微软雅黑" panose="020B0503020204020204" charset="-122"/>
                <a:cs typeface="微软雅黑" panose="020B0503020204020204" charset="-122"/>
                <a:sym typeface="+mn-ea"/>
              </a:rPr>
              <a:t>当只有电</a:t>
            </a:r>
            <a:r>
              <a:rPr lang="zh-CN" altLang="en-US" sz="3200">
                <a:latin typeface="微软雅黑" panose="020B0503020204020204" charset="-122"/>
                <a:ea typeface="微软雅黑" panose="020B0503020204020204" charset="-122"/>
                <a:cs typeface="微软雅黑" panose="020B0503020204020204" charset="-122"/>
                <a:sym typeface="+mn-ea"/>
              </a:rPr>
              <a:t>流源时，</a:t>
            </a:r>
            <a:r>
              <a:rPr lang="zh-CN" altLang="en-US" sz="3200">
                <a:latin typeface="微软雅黑" panose="020B0503020204020204" charset="-122"/>
                <a:ea typeface="微软雅黑" panose="020B0503020204020204" charset="-122"/>
                <a:cs typeface="微软雅黑" panose="020B0503020204020204" charset="-122"/>
              </a:rPr>
              <a:t>他只向电路提供电流，而不提供电压。所以在只有电流源的时候，短路时电流值等于电源电流；</a:t>
            </a:r>
            <a:endParaRPr lang="zh-CN" altLang="en-US" sz="3200">
              <a:latin typeface="微软雅黑" panose="020B0503020204020204" charset="-122"/>
              <a:ea typeface="微软雅黑" panose="020B0503020204020204" charset="-122"/>
              <a:cs typeface="微软雅黑" panose="020B0503020204020204" charset="-122"/>
            </a:endParaRPr>
          </a:p>
          <a:p>
            <a:r>
              <a:rPr lang="zh-CN" altLang="en-US" sz="3200">
                <a:latin typeface="微软雅黑" panose="020B0503020204020204" charset="-122"/>
                <a:ea typeface="微软雅黑" panose="020B0503020204020204" charset="-122"/>
                <a:cs typeface="微软雅黑" panose="020B0503020204020204" charset="-122"/>
              </a:rPr>
              <a:t>断路时，</a:t>
            </a:r>
            <a:r>
              <a:rPr lang="zh-CN" altLang="en-US" sz="3200">
                <a:latin typeface="微软雅黑" panose="020B0503020204020204" charset="-122"/>
                <a:ea typeface="微软雅黑" panose="020B0503020204020204" charset="-122"/>
                <a:cs typeface="微软雅黑" panose="020B0503020204020204" charset="-122"/>
              </a:rPr>
              <a:t>断点无电流。在这两种情况都无电压。</a:t>
            </a:r>
            <a:endParaRPr lang="zh-CN" altLang="en-US" sz="320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Rectangle 2"/>
          <p:cNvSpPr>
            <a:spLocks noGrp="1"/>
          </p:cNvSpPr>
          <p:nvPr>
            <p:ph type="ctrTitle"/>
          </p:nvPr>
        </p:nvSpPr>
        <p:spPr>
          <a:xfrm>
            <a:off x="263525" y="476250"/>
            <a:ext cx="8806180" cy="1143000"/>
          </a:xfrm>
        </p:spPr>
        <p:txBody>
          <a:bodyPr vert="horz" wrap="square" lIns="91440" tIns="45720" rIns="91440" bIns="45720" anchor="ctr" anchorCtr="0"/>
          <a:p>
            <a:pPr algn="l" eaLnBrk="1" hangingPunct="1">
              <a:buClrTx/>
              <a:buSzTx/>
              <a:buFontTx/>
            </a:pPr>
            <a:r>
              <a:rPr lang="zh-CN" altLang="en-US" b="1">
                <a:latin typeface="隶书" panose="02010509060101010101" pitchFamily="49" charset="-122"/>
                <a:ea typeface="隶书" panose="02010509060101010101" pitchFamily="49" charset="-122"/>
              </a:rPr>
              <a:t>思考</a:t>
            </a:r>
            <a:r>
              <a:rPr lang="en-US" altLang="zh-CN" b="1">
                <a:latin typeface="隶书" panose="02010509060101010101" pitchFamily="49" charset="-122"/>
                <a:ea typeface="隶书" panose="02010509060101010101" pitchFamily="49" charset="-122"/>
              </a:rPr>
              <a:t>2</a:t>
            </a:r>
            <a:r>
              <a:rPr lang="zh-CN" altLang="en-US" b="1">
                <a:latin typeface="隶书" panose="02010509060101010101" pitchFamily="49" charset="-122"/>
                <a:ea typeface="隶书" panose="02010509060101010101" pitchFamily="49" charset="-122"/>
              </a:rPr>
              <a:t>：电阻与阻抗的</a:t>
            </a:r>
            <a:r>
              <a:rPr lang="zh-CN" altLang="en-US" b="1">
                <a:latin typeface="隶书" panose="02010509060101010101" pitchFamily="49" charset="-122"/>
                <a:ea typeface="隶书" panose="02010509060101010101" pitchFamily="49" charset="-122"/>
              </a:rPr>
              <a:t>区别？</a:t>
            </a:r>
            <a:endParaRPr lang="zh-CN" altLang="en-US" b="1">
              <a:latin typeface="隶书" panose="02010509060101010101" pitchFamily="49" charset="-122"/>
              <a:ea typeface="隶书" panose="02010509060101010101" pitchFamily="49" charset="-122"/>
            </a:endParaRPr>
          </a:p>
        </p:txBody>
      </p:sp>
      <p:sp>
        <p:nvSpPr>
          <p:cNvPr id="2" name="文本框 1"/>
          <p:cNvSpPr txBox="1"/>
          <p:nvPr/>
        </p:nvSpPr>
        <p:spPr>
          <a:xfrm>
            <a:off x="479425" y="1988820"/>
            <a:ext cx="11221085" cy="3538220"/>
          </a:xfrm>
          <a:prstGeom prst="rect">
            <a:avLst/>
          </a:prstGeom>
          <a:noFill/>
        </p:spPr>
        <p:txBody>
          <a:bodyPr wrap="square" rtlCol="0">
            <a:spAutoFit/>
          </a:bodyPr>
          <a:p>
            <a:r>
              <a:rPr sz="3200">
                <a:latin typeface="微软雅黑" panose="020B0503020204020204" charset="-122"/>
                <a:ea typeface="微软雅黑" panose="020B0503020204020204" charset="-122"/>
                <a:cs typeface="微软雅黑" panose="020B0503020204020204" charset="-122"/>
              </a:rPr>
              <a:t>电阻：电阻属于一个限流元件，将电阻接在电路中之后，电阻器的阻值是固定的，一般是有两个引脚，电阻可以限制通过它所连支路的全部电流大小。</a:t>
            </a:r>
            <a:endParaRPr sz="3200">
              <a:latin typeface="微软雅黑" panose="020B0503020204020204" charset="-122"/>
              <a:ea typeface="微软雅黑" panose="020B0503020204020204" charset="-122"/>
              <a:cs typeface="微软雅黑" panose="020B0503020204020204" charset="-122"/>
            </a:endParaRPr>
          </a:p>
          <a:p>
            <a:endParaRPr sz="3200">
              <a:latin typeface="微软雅黑" panose="020B0503020204020204" charset="-122"/>
              <a:ea typeface="微软雅黑" panose="020B0503020204020204" charset="-122"/>
              <a:cs typeface="微软雅黑" panose="020B0503020204020204" charset="-122"/>
            </a:endParaRPr>
          </a:p>
          <a:p>
            <a:r>
              <a:rPr sz="3200">
                <a:latin typeface="微软雅黑" panose="020B0503020204020204" charset="-122"/>
                <a:ea typeface="微软雅黑" panose="020B0503020204020204" charset="-122"/>
                <a:cs typeface="微软雅黑" panose="020B0503020204020204" charset="-122"/>
              </a:rPr>
              <a:t>阻抗：在具有电感、电阻以及电容的电路里，对电路中的电流所起的阻碍作用</a:t>
            </a:r>
            <a:r>
              <a:rPr lang="zh-CN" sz="3200">
                <a:latin typeface="微软雅黑" panose="020B0503020204020204" charset="-122"/>
                <a:ea typeface="微软雅黑" panose="020B0503020204020204" charset="-122"/>
                <a:cs typeface="微软雅黑" panose="020B0503020204020204" charset="-122"/>
              </a:rPr>
              <a:t>都</a:t>
            </a:r>
            <a:r>
              <a:rPr sz="3200">
                <a:latin typeface="微软雅黑" panose="020B0503020204020204" charset="-122"/>
                <a:ea typeface="微软雅黑" panose="020B0503020204020204" charset="-122"/>
                <a:cs typeface="微软雅黑" panose="020B0503020204020204" charset="-122"/>
              </a:rPr>
              <a:t>叫做阻抗。</a:t>
            </a:r>
            <a:r>
              <a:rPr lang="zh-CN" sz="3200">
                <a:latin typeface="微软雅黑" panose="020B0503020204020204" charset="-122"/>
                <a:ea typeface="微软雅黑" panose="020B0503020204020204" charset="-122"/>
                <a:cs typeface="微软雅黑" panose="020B0503020204020204" charset="-122"/>
              </a:rPr>
              <a:t>其中电感产生的阻抗叫感抗，电容产生的阻抗叫容抗。</a:t>
            </a:r>
            <a:r>
              <a:rPr lang="zh-CN" sz="3200">
                <a:solidFill>
                  <a:srgbClr val="FF0000"/>
                </a:solidFill>
                <a:latin typeface="微软雅黑" panose="020B0503020204020204" charset="-122"/>
                <a:ea typeface="微软雅黑" panose="020B0503020204020204" charset="-122"/>
                <a:cs typeface="微软雅黑" panose="020B0503020204020204" charset="-122"/>
              </a:rPr>
              <a:t>感抗和容抗都可以分压，但是不会耗能！</a:t>
            </a:r>
            <a:endParaRPr lang="zh-CN" sz="3200">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COMMONDATA" val="eyJoZGlkIjoiMWQ2ZTIxOWE1Y2RhZTg0ZmE3YTgxZmQzOWUzNmRjMGIifQ=="/>
  <p:tag name="KSO_WPP_MARK_KEY" val="e3a31d2b-f769-40df-8641-36929ea4104e"/>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1539</Words>
  <Application>WPS 演示</Application>
  <PresentationFormat>宽屏</PresentationFormat>
  <Paragraphs>164</Paragraphs>
  <Slides>13</Slides>
  <Notes>1</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15</vt:i4>
      </vt:variant>
      <vt:variant>
        <vt:lpstr>幻灯片标题</vt:lpstr>
      </vt:variant>
      <vt:variant>
        <vt:i4>13</vt:i4>
      </vt:variant>
    </vt:vector>
  </HeadingPairs>
  <TitlesOfParts>
    <vt:vector size="42" baseType="lpstr">
      <vt:lpstr>Arial</vt:lpstr>
      <vt:lpstr>宋体</vt:lpstr>
      <vt:lpstr>Wingdings</vt:lpstr>
      <vt:lpstr>隶书</vt:lpstr>
      <vt:lpstr>微软雅黑</vt:lpstr>
      <vt:lpstr>Times New Roman</vt:lpstr>
      <vt:lpstr>楷体_GB2312</vt:lpstr>
      <vt:lpstr>Symbol</vt:lpstr>
      <vt:lpstr>仿宋_GB2312</vt:lpstr>
      <vt:lpstr>Arial Unicode MS</vt:lpstr>
      <vt:lpstr>新宋体</vt:lpstr>
      <vt:lpstr>仿宋</vt:lpstr>
      <vt:lpstr>默认设计模板</vt:lpstr>
      <vt:lpstr>1_默认设计模板</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Equation.DSMT4</vt:lpstr>
      <vt:lpstr>Equation.DSMT4</vt:lpstr>
      <vt:lpstr>第一章 电路基础</vt:lpstr>
      <vt:lpstr>1  欧姆定律</vt:lpstr>
      <vt:lpstr>1.1 欧姆定律：</vt:lpstr>
      <vt:lpstr>1.2 欧姆定律的物理量解释</vt:lpstr>
      <vt:lpstr>2  电流源和电压源</vt:lpstr>
      <vt:lpstr>2.1 理想电压源</vt:lpstr>
      <vt:lpstr>2.2 理想电压源的电压、电流关系</vt:lpstr>
      <vt:lpstr>2.3 理想电流源</vt:lpstr>
      <vt:lpstr>2.4 理想电流源的电压、电流关系</vt:lpstr>
      <vt:lpstr>2.5 电源的内阻</vt:lpstr>
      <vt:lpstr>2.6 短路</vt:lpstr>
      <vt:lpstr>思考1：电路的断点处有没有电流和电压？</vt:lpstr>
      <vt:lpstr>思考2：电阻与阻抗的区别？</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第二讲 半导体基础知识</dc:title>
  <dc:creator>微软用户</dc:creator>
  <cp:lastModifiedBy>Administrator</cp:lastModifiedBy>
  <cp:revision>49</cp:revision>
  <dcterms:created xsi:type="dcterms:W3CDTF">2013-09-02T02:51:00Z</dcterms:created>
  <dcterms:modified xsi:type="dcterms:W3CDTF">2023-09-06T01:31:35Z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433A0AFF16DF42558BB2DCA68960276E_12</vt:lpwstr>
  </property>
  <property fmtid="{D5CDD505-2E9C-101B-9397-08002B2CF9AE}" pid="3" name="KSOProductBuildVer">
    <vt:lpwstr>2052-12.1.0.15374</vt:lpwstr>
  </property>
</Properties>
</file>