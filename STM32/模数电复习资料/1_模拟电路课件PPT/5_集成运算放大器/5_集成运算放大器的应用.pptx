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wav" ContentType="audio/x-wav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7" r:id="rId3"/>
    <p:sldId id="285" r:id="rId4"/>
    <p:sldId id="286" r:id="rId5"/>
    <p:sldId id="287" r:id="rId6"/>
    <p:sldId id="288" r:id="rId7"/>
    <p:sldId id="289" r:id="rId8"/>
    <p:sldId id="339" r:id="rId9"/>
    <p:sldId id="340" r:id="rId10"/>
    <p:sldId id="341" r:id="rId11"/>
    <p:sldId id="290" r:id="rId12"/>
    <p:sldId id="291" r:id="rId13"/>
    <p:sldId id="292" r:id="rId14"/>
    <p:sldId id="293" r:id="rId15"/>
    <p:sldId id="294" r:id="rId16"/>
    <p:sldId id="258" r:id="rId17"/>
    <p:sldId id="259" r:id="rId19"/>
    <p:sldId id="260" r:id="rId20"/>
    <p:sldId id="261" r:id="rId21"/>
    <p:sldId id="262" r:id="rId22"/>
    <p:sldId id="342" r:id="rId23"/>
    <p:sldId id="264" r:id="rId24"/>
    <p:sldId id="343" r:id="rId25"/>
    <p:sldId id="265" r:id="rId26"/>
    <p:sldId id="266" r:id="rId27"/>
    <p:sldId id="267" r:id="rId28"/>
    <p:sldId id="268" r:id="rId29"/>
    <p:sldId id="269" r:id="rId30"/>
    <p:sldId id="270" r:id="rId31"/>
    <p:sldId id="322" r:id="rId32"/>
    <p:sldId id="323" r:id="rId33"/>
    <p:sldId id="324" r:id="rId34"/>
    <p:sldId id="325" r:id="rId35"/>
    <p:sldId id="326" r:id="rId36"/>
    <p:sldId id="327" r:id="rId37"/>
    <p:sldId id="328" r:id="rId38"/>
    <p:sldId id="329" r:id="rId39"/>
    <p:sldId id="330" r:id="rId40"/>
    <p:sldId id="331" r:id="rId41"/>
    <p:sldId id="332" r:id="rId42"/>
    <p:sldId id="333" r:id="rId43"/>
    <p:sldId id="334" r:id="rId44"/>
    <p:sldId id="335" r:id="rId45"/>
    <p:sldId id="336" r:id="rId46"/>
    <p:sldId id="337" r:id="rId47"/>
    <p:sldId id="338" r:id="rId48"/>
  </p:sldIdLst>
  <p:sldSz cx="12192000" cy="6858000"/>
  <p:notesSz cx="6858000" cy="9144000"/>
  <p:custDataLst>
    <p:tags r:id="rId52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6" userDrawn="1">
          <p15:clr>
            <a:srgbClr val="A4A3A4"/>
          </p15:clr>
        </p15:guide>
        <p15:guide id="2" pos="382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howGuides="1">
      <p:cViewPr varScale="1">
        <p:scale>
          <a:sx n="71" d="100"/>
          <a:sy n="71" d="100"/>
        </p:scale>
        <p:origin x="-1356" y="-96"/>
      </p:cViewPr>
      <p:guideLst>
        <p:guide orient="horz" pos="2136"/>
        <p:guide pos="382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2" Type="http://schemas.openxmlformats.org/officeDocument/2006/relationships/tags" Target="tags/tag4.xml"/><Relationship Id="rId51" Type="http://schemas.openxmlformats.org/officeDocument/2006/relationships/tableStyles" Target="tableStyles.xml"/><Relationship Id="rId50" Type="http://schemas.openxmlformats.org/officeDocument/2006/relationships/viewProps" Target="viewProps.xml"/><Relationship Id="rId5" Type="http://schemas.openxmlformats.org/officeDocument/2006/relationships/slide" Target="slides/slide3.xml"/><Relationship Id="rId49" Type="http://schemas.openxmlformats.org/officeDocument/2006/relationships/presProps" Target="presProps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png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png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.wmf"/><Relationship Id="rId1" Type="http://schemas.openxmlformats.org/officeDocument/2006/relationships/image" Target="../media/image10.wmf"/></Relationships>
</file>

<file path=ppt/drawings/_rels/vmlDrawing6.vml.rels><?xml version="1.0" encoding="UTF-8" standalone="yes"?>
<Relationships xmlns="http://schemas.openxmlformats.org/package/2006/relationships"><Relationship Id="rId7" Type="http://schemas.openxmlformats.org/officeDocument/2006/relationships/image" Target="../media/image20.wmf"/><Relationship Id="rId6" Type="http://schemas.openxmlformats.org/officeDocument/2006/relationships/image" Target="../media/image19.wmf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drawings/_rels/vmlDrawing7.vml.rels><?xml version="1.0" encoding="UTF-8" standalone="yes"?>
<Relationships xmlns="http://schemas.openxmlformats.org/package/2006/relationships"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27.wmf"/><Relationship Id="rId2" Type="http://schemas.openxmlformats.org/officeDocument/2006/relationships/image" Target="../media/image26.wmf"/><Relationship Id="rId1" Type="http://schemas.openxmlformats.org/officeDocument/2006/relationships/image" Target="../media/image25.png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png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wmf"/><Relationship Id="rId1" Type="http://schemas.openxmlformats.org/officeDocument/2006/relationships/image" Target="../media/image32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wmf"/><Relationship Id="rId1" Type="http://schemas.openxmlformats.org/officeDocument/2006/relationships/image" Target="../media/image35.wmf"/></Relationships>
</file>

<file path=ppt/drawings/_rels/vmlDrawing12.vml.rels><?xml version="1.0" encoding="UTF-8" standalone="yes"?>
<Relationships xmlns="http://schemas.openxmlformats.org/package/2006/relationships"><Relationship Id="rId4" Type="http://schemas.openxmlformats.org/officeDocument/2006/relationships/image" Target="../media/image37.png"/><Relationship Id="rId3" Type="http://schemas.openxmlformats.org/officeDocument/2006/relationships/image" Target="../media/image41.wmf"/><Relationship Id="rId2" Type="http://schemas.openxmlformats.org/officeDocument/2006/relationships/image" Target="../media/image40.wmf"/><Relationship Id="rId1" Type="http://schemas.openxmlformats.org/officeDocument/2006/relationships/image" Target="../media/image38.wmf"/></Relationships>
</file>

<file path=ppt/drawings/_rels/vmlDrawing13.vml.rels><?xml version="1.0" encoding="UTF-8" standalone="yes"?>
<Relationships xmlns="http://schemas.openxmlformats.org/package/2006/relationships"><Relationship Id="rId2" Type="http://schemas.openxmlformats.org/officeDocument/2006/relationships/image" Target="../media/image43.wmf"/><Relationship Id="rId1" Type="http://schemas.openxmlformats.org/officeDocument/2006/relationships/image" Target="../media/image42.png"/></Relationships>
</file>

<file path=ppt/drawings/_rels/vmlDrawing14.vml.rels><?xml version="1.0" encoding="UTF-8" standalone="yes"?>
<Relationships xmlns="http://schemas.openxmlformats.org/package/2006/relationships"><Relationship Id="rId7" Type="http://schemas.openxmlformats.org/officeDocument/2006/relationships/image" Target="../media/image49.wmf"/><Relationship Id="rId6" Type="http://schemas.openxmlformats.org/officeDocument/2006/relationships/image" Target="../media/image48.wmf"/><Relationship Id="rId5" Type="http://schemas.openxmlformats.org/officeDocument/2006/relationships/image" Target="../media/image47.wmf"/><Relationship Id="rId4" Type="http://schemas.openxmlformats.org/officeDocument/2006/relationships/image" Target="../media/image46.wmf"/><Relationship Id="rId3" Type="http://schemas.openxmlformats.org/officeDocument/2006/relationships/image" Target="../media/image42.png"/><Relationship Id="rId2" Type="http://schemas.openxmlformats.org/officeDocument/2006/relationships/image" Target="../media/image45.wmf"/><Relationship Id="rId1" Type="http://schemas.openxmlformats.org/officeDocument/2006/relationships/image" Target="../media/image44.wmf"/></Relationships>
</file>

<file path=ppt/drawings/_rels/vmlDrawing15.vml.rels><?xml version="1.0" encoding="UTF-8" standalone="yes"?>
<Relationships xmlns="http://schemas.openxmlformats.org/package/2006/relationships"><Relationship Id="rId4" Type="http://schemas.openxmlformats.org/officeDocument/2006/relationships/image" Target="../media/image53.png"/><Relationship Id="rId3" Type="http://schemas.openxmlformats.org/officeDocument/2006/relationships/image" Target="../media/image52.wmf"/><Relationship Id="rId2" Type="http://schemas.openxmlformats.org/officeDocument/2006/relationships/image" Target="../media/image51.wmf"/><Relationship Id="rId1" Type="http://schemas.openxmlformats.org/officeDocument/2006/relationships/image" Target="../media/image50.png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55.wmf"/></Relationships>
</file>

<file path=ppt/drawings/_rels/vmlDrawing17.v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image" Target="../media/image56.png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image" Target="../media/image60.png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63.png"/></Relationships>
</file>

<file path=ppt/drawings/_rels/vmlDrawing20.vml.rels><?xml version="1.0" encoding="UTF-8" standalone="yes"?>
<Relationships xmlns="http://schemas.openxmlformats.org/package/2006/relationships"><Relationship Id="rId4" Type="http://schemas.openxmlformats.org/officeDocument/2006/relationships/image" Target="../media/image69.png"/><Relationship Id="rId3" Type="http://schemas.openxmlformats.org/officeDocument/2006/relationships/image" Target="../media/image68.wmf"/><Relationship Id="rId2" Type="http://schemas.openxmlformats.org/officeDocument/2006/relationships/image" Target="../media/image67.wmf"/><Relationship Id="rId1" Type="http://schemas.openxmlformats.org/officeDocument/2006/relationships/image" Target="../media/image66.wmf"/></Relationships>
</file>

<file path=ppt/drawings/_rels/vmlDrawing21.vml.rels><?xml version="1.0" encoding="UTF-8" standalone="yes"?>
<Relationships xmlns="http://schemas.openxmlformats.org/package/2006/relationships"><Relationship Id="rId4" Type="http://schemas.openxmlformats.org/officeDocument/2006/relationships/image" Target="../media/image68.wmf"/><Relationship Id="rId3" Type="http://schemas.openxmlformats.org/officeDocument/2006/relationships/image" Target="../media/image71.wmf"/><Relationship Id="rId2" Type="http://schemas.openxmlformats.org/officeDocument/2006/relationships/image" Target="../media/image69.png"/><Relationship Id="rId1" Type="http://schemas.openxmlformats.org/officeDocument/2006/relationships/image" Target="../media/image70.png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image" Target="../media/image72.png"/></Relationships>
</file>

<file path=ppt/drawings/_rels/vmlDrawing23.vml.rels><?xml version="1.0" encoding="UTF-8" standalone="yes"?>
<Relationships xmlns="http://schemas.openxmlformats.org/package/2006/relationships"><Relationship Id="rId2" Type="http://schemas.openxmlformats.org/officeDocument/2006/relationships/image" Target="../media/image76.wmf"/><Relationship Id="rId1" Type="http://schemas.openxmlformats.org/officeDocument/2006/relationships/image" Target="../media/image75.wmf"/></Relationships>
</file>

<file path=ppt/drawings/_rels/vmlDrawing24.vml.rels><?xml version="1.0" encoding="UTF-8" standalone="yes"?>
<Relationships xmlns="http://schemas.openxmlformats.org/package/2006/relationships"><Relationship Id="rId7" Type="http://schemas.openxmlformats.org/officeDocument/2006/relationships/image" Target="../media/image84.png"/><Relationship Id="rId6" Type="http://schemas.openxmlformats.org/officeDocument/2006/relationships/image" Target="../media/image83.wmf"/><Relationship Id="rId5" Type="http://schemas.openxmlformats.org/officeDocument/2006/relationships/image" Target="../media/image82.wmf"/><Relationship Id="rId4" Type="http://schemas.openxmlformats.org/officeDocument/2006/relationships/image" Target="../media/image81.wmf"/><Relationship Id="rId3" Type="http://schemas.openxmlformats.org/officeDocument/2006/relationships/image" Target="../media/image80.wmf"/><Relationship Id="rId2" Type="http://schemas.openxmlformats.org/officeDocument/2006/relationships/image" Target="../media/image79.wmf"/><Relationship Id="rId1" Type="http://schemas.openxmlformats.org/officeDocument/2006/relationships/image" Target="../media/image78.png"/></Relationships>
</file>

<file path=ppt/drawings/_rels/vmlDrawing25.vml.rels><?xml version="1.0" encoding="UTF-8" standalone="yes"?>
<Relationships xmlns="http://schemas.openxmlformats.org/package/2006/relationships"><Relationship Id="rId9" Type="http://schemas.openxmlformats.org/officeDocument/2006/relationships/image" Target="../media/image93.wmf"/><Relationship Id="rId8" Type="http://schemas.openxmlformats.org/officeDocument/2006/relationships/image" Target="../media/image92.png"/><Relationship Id="rId7" Type="http://schemas.openxmlformats.org/officeDocument/2006/relationships/image" Target="../media/image91.wmf"/><Relationship Id="rId6" Type="http://schemas.openxmlformats.org/officeDocument/2006/relationships/image" Target="../media/image90.wmf"/><Relationship Id="rId5" Type="http://schemas.openxmlformats.org/officeDocument/2006/relationships/image" Target="../media/image89.wmf"/><Relationship Id="rId4" Type="http://schemas.openxmlformats.org/officeDocument/2006/relationships/image" Target="../media/image88.wmf"/><Relationship Id="rId3" Type="http://schemas.openxmlformats.org/officeDocument/2006/relationships/image" Target="../media/image87.wmf"/><Relationship Id="rId2" Type="http://schemas.openxmlformats.org/officeDocument/2006/relationships/image" Target="../media/image86.wmf"/><Relationship Id="rId13" Type="http://schemas.openxmlformats.org/officeDocument/2006/relationships/image" Target="../media/image97.png"/><Relationship Id="rId12" Type="http://schemas.openxmlformats.org/officeDocument/2006/relationships/image" Target="../media/image96.wmf"/><Relationship Id="rId11" Type="http://schemas.openxmlformats.org/officeDocument/2006/relationships/image" Target="../media/image95.wmf"/><Relationship Id="rId10" Type="http://schemas.openxmlformats.org/officeDocument/2006/relationships/image" Target="../media/image94.wmf"/><Relationship Id="rId1" Type="http://schemas.openxmlformats.org/officeDocument/2006/relationships/image" Target="../media/image85.png"/></Relationships>
</file>

<file path=ppt/drawings/_rels/vmlDrawing26.vml.rels><?xml version="1.0" encoding="UTF-8" standalone="yes"?>
<Relationships xmlns="http://schemas.openxmlformats.org/package/2006/relationships"><Relationship Id="rId1" Type="http://schemas.openxmlformats.org/officeDocument/2006/relationships/image" Target="../media/image98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122" name="页眉占位符 512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fontAlgn="base"/>
            <a:endParaRPr lang="zh-CN" altLang="en-US" sz="1200" strike="noStrike" noProof="1" dirty="0"/>
          </a:p>
        </p:txBody>
      </p:sp>
      <p:sp>
        <p:nvSpPr>
          <p:cNvPr id="5123" name="日期占位符 512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algn="r" fontAlgn="base"/>
            <a:endParaRPr lang="zh-CN" altLang="en-US" sz="1200" strike="noStrike" noProof="1" dirty="0"/>
          </a:p>
        </p:txBody>
      </p:sp>
      <p:sp>
        <p:nvSpPr>
          <p:cNvPr id="12292" name="幻灯片图像占位符 5123"/>
          <p:cNvSpPr>
            <a:spLocks noRo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2293" name="文本占位符 5124"/>
          <p:cNvSpPr>
            <a:spLocks noGrp="1"/>
          </p:cNvSpPr>
          <p:nvPr>
            <p:ph type="body" sz="quarter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126" name="页脚占位符 512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fontAlgn="base"/>
            <a:endParaRPr lang="zh-CN" altLang="en-US" sz="1200" strike="noStrike" noProof="1" dirty="0"/>
          </a:p>
        </p:txBody>
      </p:sp>
      <p:sp>
        <p:nvSpPr>
          <p:cNvPr id="5127" name="灯片编号占位符 512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fontAlgn="base"/>
            <a:fld id="{9A0DB2DC-4C9A-4742-B13C-FB6460FD3503}" type="slidenum">
              <a:rPr lang="zh-CN" altLang="en-US" sz="1200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z="1200" strike="noStrike" noProof="1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lvl="0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1" name="灯片编号占位符 1"/>
          <p:cNvSpPr/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/>
            <a:fld id="{9A0DB2DC-4C9A-4742-B13C-FB6460FD3503}" type="slidenum">
              <a:rPr lang="zh-CN" altLang="en-US" sz="1200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 sz="1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5602" name="幻灯片图像占位符 6145"/>
          <p:cNvSpPr>
            <a:spLocks noRot="1" noTextEdit="1"/>
          </p:cNvSpPr>
          <p:nvPr>
            <p:ph type="sldImg"/>
          </p:nvPr>
        </p:nvSpPr>
        <p:spPr/>
      </p:sp>
      <p:sp>
        <p:nvSpPr>
          <p:cNvPr id="25603" name="文本占位符 6146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</p:spPr>
        <p:txBody>
          <a:bodyPr anchor="t" anchorCtr="0"/>
          <a:p>
            <a:pPr lvl="0"/>
            <a:r>
              <a:rPr lang="zh-CN" altLang="en-US" dirty="0"/>
              <a:t>本节课的教学目的：</a:t>
            </a:r>
            <a:endParaRPr lang="zh-CN" altLang="en-US" dirty="0"/>
          </a:p>
          <a:p>
            <a:pPr lvl="0"/>
            <a:r>
              <a:rPr lang="en-US" altLang="zh-CN" dirty="0"/>
              <a:t>1</a:t>
            </a:r>
            <a:r>
              <a:rPr lang="zh-CN" altLang="en-US" dirty="0"/>
              <a:t>、掌握运算电路的特征，深入理解只有引入负反馈集成运放才工作在线性区，也才能实现信号的运算；</a:t>
            </a:r>
            <a:endParaRPr lang="zh-CN" altLang="en-US" dirty="0"/>
          </a:p>
          <a:p>
            <a:pPr lvl="0"/>
            <a:r>
              <a:rPr lang="en-US" altLang="zh-CN" dirty="0"/>
              <a:t>2</a:t>
            </a:r>
            <a:r>
              <a:rPr lang="zh-CN" altLang="en-US" dirty="0"/>
              <a:t>、熟悉常用运算电路的运算关系；</a:t>
            </a:r>
            <a:endParaRPr lang="zh-CN" altLang="en-US" dirty="0"/>
          </a:p>
          <a:p>
            <a:pPr lvl="0"/>
            <a:r>
              <a:rPr lang="en-US" altLang="zh-CN" dirty="0"/>
              <a:t>3</a:t>
            </a:r>
            <a:r>
              <a:rPr lang="zh-CN" altLang="en-US" dirty="0"/>
              <a:t>、了解模拟乘法器，熟悉由模拟乘法器组成的运算电路；</a:t>
            </a:r>
            <a:endParaRPr lang="zh-CN" altLang="en-US" dirty="0"/>
          </a:p>
          <a:p>
            <a:pPr lvl="0"/>
            <a:r>
              <a:rPr lang="en-US" altLang="zh-CN" dirty="0"/>
              <a:t>4</a:t>
            </a:r>
            <a:r>
              <a:rPr lang="zh-CN" altLang="en-US" dirty="0"/>
              <a:t>、理解用逆运算的方法组成运算电路。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/>
          <p:nvPr>
            <p:ph type="sldNum" sz="quarter" idx="2"/>
          </p:nvPr>
        </p:nvSpPr>
        <p:spPr/>
        <p:txBody>
          <a:bodyPr/>
          <a:p>
            <a:pPr lvl="0" algn="r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  <p:sp>
        <p:nvSpPr>
          <p:cNvPr id="5122" name="幻灯片图像占位符 5121"/>
          <p:cNvSpPr>
            <a:spLocks noRot="1" noTextEdit="1"/>
          </p:cNvSpPr>
          <p:nvPr>
            <p:ph type="sldImg"/>
          </p:nvPr>
        </p:nvSpPr>
        <p:spPr/>
      </p:sp>
      <p:sp>
        <p:nvSpPr>
          <p:cNvPr id="5123" name="文本占位符 5122"/>
          <p:cNvSpPr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p>
            <a:pPr lvl="0"/>
            <a:r>
              <a:rPr lang="zh-CN" altLang="en-US" dirty="0"/>
              <a:t>本节课的教学目的：</a:t>
            </a:r>
            <a:endParaRPr lang="zh-CN" altLang="en-US" dirty="0"/>
          </a:p>
          <a:p>
            <a:pPr lvl="0"/>
            <a:r>
              <a:rPr lang="en-US" altLang="zh-CN" dirty="0"/>
              <a:t>1</a:t>
            </a:r>
            <a:r>
              <a:rPr lang="zh-CN" altLang="en-US" dirty="0"/>
              <a:t>、学会识别电压比较器；</a:t>
            </a:r>
            <a:endParaRPr lang="zh-CN" altLang="en-US" dirty="0"/>
          </a:p>
          <a:p>
            <a:pPr lvl="0"/>
            <a:r>
              <a:rPr lang="en-US" altLang="zh-CN" dirty="0"/>
              <a:t>2</a:t>
            </a:r>
            <a:r>
              <a:rPr lang="zh-CN" altLang="en-US" dirty="0"/>
              <a:t>、熟悉常见的电压比较器；</a:t>
            </a:r>
            <a:endParaRPr lang="zh-CN" altLang="en-US" dirty="0"/>
          </a:p>
          <a:p>
            <a:pPr lvl="0"/>
            <a:r>
              <a:rPr lang="en-US" altLang="zh-CN" dirty="0"/>
              <a:t>3</a:t>
            </a:r>
            <a:r>
              <a:rPr lang="zh-CN" altLang="en-US" dirty="0"/>
              <a:t>、掌握电压比较器的分析方法；</a:t>
            </a:r>
            <a:endParaRPr lang="zh-CN" altLang="en-US" dirty="0"/>
          </a:p>
          <a:p>
            <a:pPr lvl="0"/>
            <a:r>
              <a:rPr lang="en-US" altLang="zh-CN" dirty="0"/>
              <a:t>4</a:t>
            </a:r>
            <a:r>
              <a:rPr lang="zh-CN" altLang="en-US" dirty="0"/>
              <a:t>、学习在已知电压传输特性的条件下组成电压比较器的方法。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/>
          <p:nvPr>
            <p:ph type="sldNum" sz="quarter" idx="2"/>
          </p:nvPr>
        </p:nvSpPr>
        <p:spPr/>
        <p:txBody>
          <a:bodyPr/>
          <a:p>
            <a:pPr lvl="0" algn="r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  <p:sp>
        <p:nvSpPr>
          <p:cNvPr id="21506" name="幻灯片图像占位符 21505"/>
          <p:cNvSpPr>
            <a:spLocks noRot="1" noTextEdit="1"/>
          </p:cNvSpPr>
          <p:nvPr>
            <p:ph type="sldImg"/>
          </p:nvPr>
        </p:nvSpPr>
        <p:spPr/>
      </p:sp>
      <p:sp>
        <p:nvSpPr>
          <p:cNvPr id="21507" name="文本占位符 21506"/>
          <p:cNvSpPr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p>
            <a:pPr lvl="0"/>
            <a:r>
              <a:rPr lang="zh-CN" altLang="en-US" dirty="0"/>
              <a:t>学会从电压传输特性识别电压比较器，初步学会电压比较器的设计方法。</a:t>
            </a:r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ags" Target="../tags/tag2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ags" Target="../tags/tag3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fontAlgn="base"/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fontAlgn="base"/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pic>
        <p:nvPicPr>
          <p:cNvPr id="1031" name="图片 2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0512425" y="39688"/>
            <a:ext cx="1512888" cy="6032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fld id="{BB962C8B-B14F-4D97-AF65-F5344CB8AC3E}" type="datetime1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pic>
        <p:nvPicPr>
          <p:cNvPr id="1031" name="图片 2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0512425" y="39688"/>
            <a:ext cx="1512888" cy="6032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fontAlgn="base"/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fontAlgn="base"/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76672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05728" y="1600200"/>
            <a:ext cx="5376672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fontAlgn="base"/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fontAlgn="base"/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86775" y="1778438"/>
            <a:ext cx="4873575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86775" y="2665379"/>
            <a:ext cx="4873575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56939" y="1778438"/>
            <a:ext cx="4897576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56939" y="2665379"/>
            <a:ext cx="4897576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fontAlgn="base"/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fontAlgn="base"/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fontAlgn="base"/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fontAlgn="base"/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fontAlgn="base"/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fontAlgn="base"/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pic>
        <p:nvPicPr>
          <p:cNvPr id="1031" name="图片 2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0512425" y="39688"/>
            <a:ext cx="1512888" cy="6032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fontAlgn="base"/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fontAlgn="base"/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4165349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4165349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fontAlgn="base"/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fontAlgn="base"/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fontAlgn="base"/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fontAlgn="base"/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0573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fontAlgn="base"/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fontAlgn="base"/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标题 1025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文本占位符 1026"/>
          <p:cNvSpPr>
            <a:spLocks noGrp="1"/>
          </p:cNvSpPr>
          <p:nvPr>
            <p:ph type="body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28" name="日期占位符 1027"/>
          <p:cNvSpPr>
            <a:spLocks noGrp="1"/>
          </p:cNvSpPr>
          <p:nvPr>
            <p:ph type="dt" sz="half" idx="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/>
            </a:lvl1pPr>
          </a:lstStyle>
          <a:p>
            <a:pPr lvl="0" fontAlgn="base"/>
            <a:fld id="{BB962C8B-B14F-4D97-AF65-F5344CB8AC3E}" type="datetime1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1029" name="页脚占位符 1028"/>
          <p:cNvSpPr>
            <a:spLocks noGrp="1"/>
          </p:cNvSpPr>
          <p:nvPr>
            <p:ph type="ftr" sz="quarter" idx="3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>
            <a:pPr lvl="0" fontAlgn="base"/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1030" name="灯片编号占位符 1029"/>
          <p:cNvSpPr>
            <a:spLocks noGrp="1"/>
          </p:cNvSpPr>
          <p:nvPr>
            <p:ph type="sldNum" sz="quarter" idx="4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marL="0" lvl="0" indent="0" algn="ctr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2pPr>
      <a:lvl3pPr marL="914400" lvl="2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3pPr>
      <a:lvl4pPr marL="1371600" lvl="3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4pPr>
      <a:lvl5pPr marL="1828800" lvl="4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5pPr>
      <a:lvl6pPr marL="2286000" lvl="5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6pPr>
      <a:lvl7pPr marL="2743200" lvl="6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7pPr>
      <a:lvl8pPr marL="3200400" lvl="7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8pPr>
      <a:lvl9pPr marL="3657600" lvl="8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3.png"/><Relationship Id="rId3" Type="http://schemas.openxmlformats.org/officeDocument/2006/relationships/oleObject" Target="../embeddings/oleObject2.bin"/><Relationship Id="rId2" Type="http://schemas.openxmlformats.org/officeDocument/2006/relationships/image" Target="../media/image2.png"/><Relationship Id="rId1" Type="http://schemas.openxmlformats.org/officeDocument/2006/relationships/oleObject" Target="../embeddings/oleObject1.bin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2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6.png"/><Relationship Id="rId3" Type="http://schemas.openxmlformats.org/officeDocument/2006/relationships/oleObject" Target="../embeddings/oleObject4.bin"/><Relationship Id="rId2" Type="http://schemas.openxmlformats.org/officeDocument/2006/relationships/image" Target="../media/image5.png"/><Relationship Id="rId1" Type="http://schemas.openxmlformats.org/officeDocument/2006/relationships/oleObject" Target="../embeddings/oleObject3.bin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1" Type="http://schemas.openxmlformats.org/officeDocument/2006/relationships/oleObject" Target="../embeddings/oleObject5.bin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4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1" Type="http://schemas.openxmlformats.org/officeDocument/2006/relationships/oleObject" Target="../embeddings/oleObject6.bin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5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1.wmf"/><Relationship Id="rId3" Type="http://schemas.openxmlformats.org/officeDocument/2006/relationships/oleObject" Target="../embeddings/oleObject8.bin"/><Relationship Id="rId2" Type="http://schemas.openxmlformats.org/officeDocument/2006/relationships/image" Target="../media/image10.wmf"/><Relationship Id="rId1" Type="http://schemas.openxmlformats.org/officeDocument/2006/relationships/oleObject" Target="../embeddings/oleObject7.bin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slide" Target="slide24.xml"/><Relationship Id="rId1" Type="http://schemas.openxmlformats.org/officeDocument/2006/relationships/slide" Target="slide1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3.bin"/><Relationship Id="rId8" Type="http://schemas.openxmlformats.org/officeDocument/2006/relationships/image" Target="../media/image17.png"/><Relationship Id="rId7" Type="http://schemas.openxmlformats.org/officeDocument/2006/relationships/oleObject" Target="../embeddings/oleObject12.bin"/><Relationship Id="rId6" Type="http://schemas.openxmlformats.org/officeDocument/2006/relationships/image" Target="../media/image16.png"/><Relationship Id="rId5" Type="http://schemas.openxmlformats.org/officeDocument/2006/relationships/oleObject" Target="../embeddings/oleObject11.bin"/><Relationship Id="rId4" Type="http://schemas.openxmlformats.org/officeDocument/2006/relationships/image" Target="../media/image15.png"/><Relationship Id="rId3" Type="http://schemas.openxmlformats.org/officeDocument/2006/relationships/oleObject" Target="../embeddings/oleObject10.bin"/><Relationship Id="rId2" Type="http://schemas.openxmlformats.org/officeDocument/2006/relationships/image" Target="../media/image14.png"/><Relationship Id="rId16" Type="http://schemas.openxmlformats.org/officeDocument/2006/relationships/vmlDrawing" Target="../drawings/vmlDrawing6.vml"/><Relationship Id="rId15" Type="http://schemas.openxmlformats.org/officeDocument/2006/relationships/slideLayout" Target="../slideLayouts/slideLayout2.xml"/><Relationship Id="rId14" Type="http://schemas.openxmlformats.org/officeDocument/2006/relationships/image" Target="../media/image20.wmf"/><Relationship Id="rId13" Type="http://schemas.openxmlformats.org/officeDocument/2006/relationships/oleObject" Target="../embeddings/oleObject15.bin"/><Relationship Id="rId12" Type="http://schemas.openxmlformats.org/officeDocument/2006/relationships/image" Target="../media/image19.wmf"/><Relationship Id="rId11" Type="http://schemas.openxmlformats.org/officeDocument/2006/relationships/oleObject" Target="../embeddings/oleObject14.bin"/><Relationship Id="rId10" Type="http://schemas.openxmlformats.org/officeDocument/2006/relationships/image" Target="../media/image18.png"/><Relationship Id="rId1" Type="http://schemas.openxmlformats.org/officeDocument/2006/relationships/oleObject" Target="../embeddings/oleObject9.bin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0.bin"/><Relationship Id="rId8" Type="http://schemas.openxmlformats.org/officeDocument/2006/relationships/image" Target="../media/image17.png"/><Relationship Id="rId7" Type="http://schemas.openxmlformats.org/officeDocument/2006/relationships/oleObject" Target="../embeddings/oleObject19.bin"/><Relationship Id="rId6" Type="http://schemas.openxmlformats.org/officeDocument/2006/relationships/image" Target="../media/image16.png"/><Relationship Id="rId5" Type="http://schemas.openxmlformats.org/officeDocument/2006/relationships/oleObject" Target="../embeddings/oleObject18.bin"/><Relationship Id="rId4" Type="http://schemas.openxmlformats.org/officeDocument/2006/relationships/image" Target="../media/image15.png"/><Relationship Id="rId3" Type="http://schemas.openxmlformats.org/officeDocument/2006/relationships/oleObject" Target="../embeddings/oleObject17.bin"/><Relationship Id="rId2" Type="http://schemas.openxmlformats.org/officeDocument/2006/relationships/image" Target="../media/image14.png"/><Relationship Id="rId16" Type="http://schemas.openxmlformats.org/officeDocument/2006/relationships/vmlDrawing" Target="../drawings/vmlDrawing7.vml"/><Relationship Id="rId15" Type="http://schemas.openxmlformats.org/officeDocument/2006/relationships/slideLayout" Target="../slideLayouts/slideLayout2.xml"/><Relationship Id="rId14" Type="http://schemas.openxmlformats.org/officeDocument/2006/relationships/image" Target="../media/image24.png"/><Relationship Id="rId13" Type="http://schemas.openxmlformats.org/officeDocument/2006/relationships/image" Target="../media/image23.png"/><Relationship Id="rId12" Type="http://schemas.openxmlformats.org/officeDocument/2006/relationships/image" Target="../media/image22.png"/><Relationship Id="rId11" Type="http://schemas.openxmlformats.org/officeDocument/2006/relationships/image" Target="../media/image21.png"/><Relationship Id="rId10" Type="http://schemas.openxmlformats.org/officeDocument/2006/relationships/image" Target="../media/image18.png"/><Relationship Id="rId1" Type="http://schemas.openxmlformats.org/officeDocument/2006/relationships/oleObject" Target="../embeddings/oleObject16.bin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8.v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27.wmf"/><Relationship Id="rId5" Type="http://schemas.openxmlformats.org/officeDocument/2006/relationships/oleObject" Target="../embeddings/oleObject23.bin"/><Relationship Id="rId4" Type="http://schemas.openxmlformats.org/officeDocument/2006/relationships/image" Target="../media/image26.wmf"/><Relationship Id="rId3" Type="http://schemas.openxmlformats.org/officeDocument/2006/relationships/oleObject" Target="../embeddings/oleObject22.bin"/><Relationship Id="rId2" Type="http://schemas.openxmlformats.org/officeDocument/2006/relationships/image" Target="../media/image25.png"/><Relationship Id="rId1" Type="http://schemas.openxmlformats.org/officeDocument/2006/relationships/oleObject" Target="../embeddings/oleObject21.bin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9.v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Relationship Id="rId3" Type="http://schemas.openxmlformats.org/officeDocument/2006/relationships/image" Target="../media/image28.png"/><Relationship Id="rId2" Type="http://schemas.openxmlformats.org/officeDocument/2006/relationships/image" Target="../media/image25.png"/><Relationship Id="rId1" Type="http://schemas.openxmlformats.org/officeDocument/2006/relationships/oleObject" Target="../embeddings/oleObject24.bin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0.v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oleObject" Target="../embeddings/oleObject27.bin"/><Relationship Id="rId4" Type="http://schemas.openxmlformats.org/officeDocument/2006/relationships/image" Target="../media/image33.wmf"/><Relationship Id="rId3" Type="http://schemas.openxmlformats.org/officeDocument/2006/relationships/oleObject" Target="../embeddings/oleObject26.bin"/><Relationship Id="rId2" Type="http://schemas.openxmlformats.org/officeDocument/2006/relationships/image" Target="../media/image32.wmf"/><Relationship Id="rId1" Type="http://schemas.openxmlformats.org/officeDocument/2006/relationships/oleObject" Target="../embeddings/oleObject25.bin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1.v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oleObject" Target="../embeddings/oleObject30.bin"/><Relationship Id="rId4" Type="http://schemas.openxmlformats.org/officeDocument/2006/relationships/image" Target="../media/image36.wmf"/><Relationship Id="rId3" Type="http://schemas.openxmlformats.org/officeDocument/2006/relationships/oleObject" Target="../embeddings/oleObject29.bin"/><Relationship Id="rId2" Type="http://schemas.openxmlformats.org/officeDocument/2006/relationships/image" Target="../media/image35.wmf"/><Relationship Id="rId1" Type="http://schemas.openxmlformats.org/officeDocument/2006/relationships/oleObject" Target="../embeddings/oleObject28.bin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image" Target="../media/image37.png"/><Relationship Id="rId8" Type="http://schemas.openxmlformats.org/officeDocument/2006/relationships/oleObject" Target="../embeddings/oleObject34.bin"/><Relationship Id="rId7" Type="http://schemas.openxmlformats.org/officeDocument/2006/relationships/image" Target="../media/image41.wmf"/><Relationship Id="rId6" Type="http://schemas.openxmlformats.org/officeDocument/2006/relationships/oleObject" Target="../embeddings/oleObject33.bin"/><Relationship Id="rId5" Type="http://schemas.openxmlformats.org/officeDocument/2006/relationships/image" Target="../media/image40.wmf"/><Relationship Id="rId4" Type="http://schemas.openxmlformats.org/officeDocument/2006/relationships/oleObject" Target="../embeddings/oleObject32.bin"/><Relationship Id="rId3" Type="http://schemas.openxmlformats.org/officeDocument/2006/relationships/image" Target="../media/image39.png"/><Relationship Id="rId2" Type="http://schemas.openxmlformats.org/officeDocument/2006/relationships/image" Target="../media/image38.wmf"/><Relationship Id="rId11" Type="http://schemas.openxmlformats.org/officeDocument/2006/relationships/vmlDrawing" Target="../drawings/vmlDrawing12.vml"/><Relationship Id="rId10" Type="http://schemas.openxmlformats.org/officeDocument/2006/relationships/slideLayout" Target="../slideLayouts/slideLayout2.xml"/><Relationship Id="rId1" Type="http://schemas.openxmlformats.org/officeDocument/2006/relationships/oleObject" Target="../embeddings/oleObject31.bin"/></Relationships>
</file>

<file path=ppt/slides/_rels/slide26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3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3.wmf"/><Relationship Id="rId3" Type="http://schemas.openxmlformats.org/officeDocument/2006/relationships/oleObject" Target="../embeddings/oleObject36.bin"/><Relationship Id="rId2" Type="http://schemas.openxmlformats.org/officeDocument/2006/relationships/image" Target="../media/image42.png"/><Relationship Id="rId1" Type="http://schemas.openxmlformats.org/officeDocument/2006/relationships/oleObject" Target="../embeddings/oleObject35.bin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1.bin"/><Relationship Id="rId8" Type="http://schemas.openxmlformats.org/officeDocument/2006/relationships/image" Target="../media/image46.wmf"/><Relationship Id="rId7" Type="http://schemas.openxmlformats.org/officeDocument/2006/relationships/oleObject" Target="../embeddings/oleObject40.bin"/><Relationship Id="rId6" Type="http://schemas.openxmlformats.org/officeDocument/2006/relationships/image" Target="../media/image42.png"/><Relationship Id="rId5" Type="http://schemas.openxmlformats.org/officeDocument/2006/relationships/oleObject" Target="../embeddings/oleObject39.bin"/><Relationship Id="rId4" Type="http://schemas.openxmlformats.org/officeDocument/2006/relationships/image" Target="../media/image45.wmf"/><Relationship Id="rId3" Type="http://schemas.openxmlformats.org/officeDocument/2006/relationships/oleObject" Target="../embeddings/oleObject38.bin"/><Relationship Id="rId2" Type="http://schemas.openxmlformats.org/officeDocument/2006/relationships/image" Target="../media/image44.wmf"/><Relationship Id="rId16" Type="http://schemas.openxmlformats.org/officeDocument/2006/relationships/vmlDrawing" Target="../drawings/vmlDrawing14.vml"/><Relationship Id="rId15" Type="http://schemas.openxmlformats.org/officeDocument/2006/relationships/slideLayout" Target="../slideLayouts/slideLayout2.xml"/><Relationship Id="rId14" Type="http://schemas.openxmlformats.org/officeDocument/2006/relationships/image" Target="../media/image49.wmf"/><Relationship Id="rId13" Type="http://schemas.openxmlformats.org/officeDocument/2006/relationships/oleObject" Target="../embeddings/oleObject43.bin"/><Relationship Id="rId12" Type="http://schemas.openxmlformats.org/officeDocument/2006/relationships/image" Target="../media/image48.wmf"/><Relationship Id="rId11" Type="http://schemas.openxmlformats.org/officeDocument/2006/relationships/oleObject" Target="../embeddings/oleObject42.bin"/><Relationship Id="rId10" Type="http://schemas.openxmlformats.org/officeDocument/2006/relationships/image" Target="../media/image47.wmf"/><Relationship Id="rId1" Type="http://schemas.openxmlformats.org/officeDocument/2006/relationships/oleObject" Target="../embeddings/oleObject37.bin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53.png"/><Relationship Id="rId7" Type="http://schemas.openxmlformats.org/officeDocument/2006/relationships/oleObject" Target="../embeddings/oleObject47.bin"/><Relationship Id="rId6" Type="http://schemas.openxmlformats.org/officeDocument/2006/relationships/image" Target="../media/image52.wmf"/><Relationship Id="rId5" Type="http://schemas.openxmlformats.org/officeDocument/2006/relationships/oleObject" Target="../embeddings/oleObject46.bin"/><Relationship Id="rId4" Type="http://schemas.openxmlformats.org/officeDocument/2006/relationships/image" Target="../media/image51.wmf"/><Relationship Id="rId3" Type="http://schemas.openxmlformats.org/officeDocument/2006/relationships/oleObject" Target="../embeddings/oleObject45.bin"/><Relationship Id="rId2" Type="http://schemas.openxmlformats.org/officeDocument/2006/relationships/image" Target="../media/image50.png"/><Relationship Id="rId10" Type="http://schemas.openxmlformats.org/officeDocument/2006/relationships/vmlDrawing" Target="../drawings/vmlDrawing15.vml"/><Relationship Id="rId1" Type="http://schemas.openxmlformats.org/officeDocument/2006/relationships/oleObject" Target="../embeddings/oleObject44.bin"/></Relationships>
</file>

<file path=ppt/slides/_rels/slide2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1.xml"/><Relationship Id="rId4" Type="http://schemas.openxmlformats.org/officeDocument/2006/relationships/slide" Target="slide19.xml"/><Relationship Id="rId3" Type="http://schemas.openxmlformats.org/officeDocument/2006/relationships/slide" Target="slide18.xml"/><Relationship Id="rId2" Type="http://schemas.openxmlformats.org/officeDocument/2006/relationships/slide" Target="slide13.xml"/><Relationship Id="rId1" Type="http://schemas.openxmlformats.org/officeDocument/2006/relationships/slide" Target="slide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6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5.wmf"/><Relationship Id="rId2" Type="http://schemas.openxmlformats.org/officeDocument/2006/relationships/oleObject" Target="../embeddings/oleObject48.bin"/><Relationship Id="rId1" Type="http://schemas.openxmlformats.org/officeDocument/2006/relationships/image" Target="../media/image54.png"/></Relationships>
</file>

<file path=ppt/slides/_rels/slide32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7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7.png"/><Relationship Id="rId3" Type="http://schemas.openxmlformats.org/officeDocument/2006/relationships/oleObject" Target="../embeddings/oleObject50.bin"/><Relationship Id="rId2" Type="http://schemas.openxmlformats.org/officeDocument/2006/relationships/image" Target="../media/image56.png"/><Relationship Id="rId1" Type="http://schemas.openxmlformats.org/officeDocument/2006/relationships/oleObject" Target="../embeddings/oleObject49.bin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9.png"/><Relationship Id="rId1" Type="http://schemas.openxmlformats.org/officeDocument/2006/relationships/image" Target="../media/image58.png"/></Relationships>
</file>

<file path=ppt/slides/_rels/slide34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18.vml"/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62.png"/><Relationship Id="rId6" Type="http://schemas.openxmlformats.org/officeDocument/2006/relationships/oleObject" Target="../embeddings/oleObject53.bin"/><Relationship Id="rId5" Type="http://schemas.openxmlformats.org/officeDocument/2006/relationships/image" Target="../media/image61.png"/><Relationship Id="rId4" Type="http://schemas.openxmlformats.org/officeDocument/2006/relationships/oleObject" Target="../embeddings/oleObject52.bin"/><Relationship Id="rId3" Type="http://schemas.openxmlformats.org/officeDocument/2006/relationships/image" Target="../media/image60.png"/><Relationship Id="rId2" Type="http://schemas.openxmlformats.org/officeDocument/2006/relationships/oleObject" Target="../embeddings/oleObject51.bin"/><Relationship Id="rId1" Type="http://schemas.openxmlformats.org/officeDocument/2006/relationships/image" Target="../media/image59.png"/></Relationships>
</file>

<file path=ppt/slides/_rels/slide35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9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3.png"/><Relationship Id="rId1" Type="http://schemas.openxmlformats.org/officeDocument/2006/relationships/oleObject" Target="../embeddings/oleObject54.bin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audio1.wav"/><Relationship Id="rId1" Type="http://schemas.openxmlformats.org/officeDocument/2006/relationships/image" Target="../media/image64.wmf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5.png"/></Relationships>
</file>

<file path=ppt/slides/_rels/slide3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69.png"/><Relationship Id="rId7" Type="http://schemas.openxmlformats.org/officeDocument/2006/relationships/oleObject" Target="../embeddings/oleObject58.bin"/><Relationship Id="rId6" Type="http://schemas.openxmlformats.org/officeDocument/2006/relationships/image" Target="../media/image68.wmf"/><Relationship Id="rId5" Type="http://schemas.openxmlformats.org/officeDocument/2006/relationships/oleObject" Target="../embeddings/oleObject57.bin"/><Relationship Id="rId4" Type="http://schemas.openxmlformats.org/officeDocument/2006/relationships/image" Target="../media/image67.wmf"/><Relationship Id="rId3" Type="http://schemas.openxmlformats.org/officeDocument/2006/relationships/oleObject" Target="../embeddings/oleObject56.bin"/><Relationship Id="rId2" Type="http://schemas.openxmlformats.org/officeDocument/2006/relationships/image" Target="../media/image66.wmf"/><Relationship Id="rId10" Type="http://schemas.openxmlformats.org/officeDocument/2006/relationships/vmlDrawing" Target="../drawings/vmlDrawing20.vml"/><Relationship Id="rId1" Type="http://schemas.openxmlformats.org/officeDocument/2006/relationships/oleObject" Target="../embeddings/oleObject55.bin"/></Relationships>
</file>

<file path=ppt/slides/_rels/slide3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68.wmf"/><Relationship Id="rId7" Type="http://schemas.openxmlformats.org/officeDocument/2006/relationships/oleObject" Target="../embeddings/oleObject62.bin"/><Relationship Id="rId6" Type="http://schemas.openxmlformats.org/officeDocument/2006/relationships/image" Target="../media/image71.wmf"/><Relationship Id="rId5" Type="http://schemas.openxmlformats.org/officeDocument/2006/relationships/oleObject" Target="../embeddings/oleObject61.bin"/><Relationship Id="rId4" Type="http://schemas.openxmlformats.org/officeDocument/2006/relationships/image" Target="../media/image69.png"/><Relationship Id="rId3" Type="http://schemas.openxmlformats.org/officeDocument/2006/relationships/oleObject" Target="../embeddings/oleObject60.bin"/><Relationship Id="rId2" Type="http://schemas.openxmlformats.org/officeDocument/2006/relationships/image" Target="../media/image70.png"/><Relationship Id="rId10" Type="http://schemas.openxmlformats.org/officeDocument/2006/relationships/vmlDrawing" Target="../drawings/vmlDrawing21.vml"/><Relationship Id="rId1" Type="http://schemas.openxmlformats.org/officeDocument/2006/relationships/oleObject" Target="../embeddings/oleObject59.bin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22.v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74.png"/><Relationship Id="rId5" Type="http://schemas.openxmlformats.org/officeDocument/2006/relationships/oleObject" Target="../embeddings/oleObject65.bin"/><Relationship Id="rId4" Type="http://schemas.openxmlformats.org/officeDocument/2006/relationships/image" Target="../media/image73.png"/><Relationship Id="rId3" Type="http://schemas.openxmlformats.org/officeDocument/2006/relationships/oleObject" Target="../embeddings/oleObject64.bin"/><Relationship Id="rId2" Type="http://schemas.openxmlformats.org/officeDocument/2006/relationships/image" Target="../media/image72.png"/><Relationship Id="rId1" Type="http://schemas.openxmlformats.org/officeDocument/2006/relationships/oleObject" Target="../embeddings/oleObject63.bin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23.vml"/><Relationship Id="rId7" Type="http://schemas.openxmlformats.org/officeDocument/2006/relationships/slideLayout" Target="../slideLayouts/slideLayout7.xml"/><Relationship Id="rId6" Type="http://schemas.openxmlformats.org/officeDocument/2006/relationships/audio" Target="../media/audio1.wav"/><Relationship Id="rId5" Type="http://schemas.openxmlformats.org/officeDocument/2006/relationships/image" Target="../media/image77.jpeg"/><Relationship Id="rId4" Type="http://schemas.openxmlformats.org/officeDocument/2006/relationships/image" Target="../media/image76.wmf"/><Relationship Id="rId3" Type="http://schemas.openxmlformats.org/officeDocument/2006/relationships/oleObject" Target="../embeddings/oleObject67.bin"/><Relationship Id="rId2" Type="http://schemas.openxmlformats.org/officeDocument/2006/relationships/image" Target="../media/image75.wmf"/><Relationship Id="rId1" Type="http://schemas.openxmlformats.org/officeDocument/2006/relationships/oleObject" Target="../embeddings/oleObject66.bin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audio1.wav"/><Relationship Id="rId1" Type="http://schemas.openxmlformats.org/officeDocument/2006/relationships/image" Target="../media/image77.jpeg"/></Relationships>
</file>

<file path=ppt/slides/_rels/slide4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72.bin"/><Relationship Id="rId8" Type="http://schemas.openxmlformats.org/officeDocument/2006/relationships/image" Target="../media/image81.wmf"/><Relationship Id="rId7" Type="http://schemas.openxmlformats.org/officeDocument/2006/relationships/oleObject" Target="../embeddings/oleObject71.bin"/><Relationship Id="rId6" Type="http://schemas.openxmlformats.org/officeDocument/2006/relationships/image" Target="../media/image80.wmf"/><Relationship Id="rId5" Type="http://schemas.openxmlformats.org/officeDocument/2006/relationships/oleObject" Target="../embeddings/oleObject70.bin"/><Relationship Id="rId4" Type="http://schemas.openxmlformats.org/officeDocument/2006/relationships/image" Target="../media/image79.wmf"/><Relationship Id="rId3" Type="http://schemas.openxmlformats.org/officeDocument/2006/relationships/oleObject" Target="../embeddings/oleObject69.bin"/><Relationship Id="rId2" Type="http://schemas.openxmlformats.org/officeDocument/2006/relationships/image" Target="../media/image78.png"/><Relationship Id="rId17" Type="http://schemas.openxmlformats.org/officeDocument/2006/relationships/vmlDrawing" Target="../drawings/vmlDrawing24.vml"/><Relationship Id="rId16" Type="http://schemas.openxmlformats.org/officeDocument/2006/relationships/slideLayout" Target="../slideLayouts/slideLayout2.xml"/><Relationship Id="rId15" Type="http://schemas.openxmlformats.org/officeDocument/2006/relationships/image" Target="../media/image84.png"/><Relationship Id="rId14" Type="http://schemas.openxmlformats.org/officeDocument/2006/relationships/oleObject" Target="../embeddings/oleObject75.bin"/><Relationship Id="rId13" Type="http://schemas.openxmlformats.org/officeDocument/2006/relationships/image" Target="../media/image83.wmf"/><Relationship Id="rId12" Type="http://schemas.openxmlformats.org/officeDocument/2006/relationships/oleObject" Target="../embeddings/oleObject74.bin"/><Relationship Id="rId11" Type="http://schemas.openxmlformats.org/officeDocument/2006/relationships/oleObject" Target="../embeddings/oleObject73.bin"/><Relationship Id="rId10" Type="http://schemas.openxmlformats.org/officeDocument/2006/relationships/image" Target="../media/image82.wmf"/><Relationship Id="rId1" Type="http://schemas.openxmlformats.org/officeDocument/2006/relationships/oleObject" Target="../embeddings/oleObject68.bin"/></Relationships>
</file>

<file path=ppt/slides/_rels/slide4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80.bin"/><Relationship Id="rId8" Type="http://schemas.openxmlformats.org/officeDocument/2006/relationships/image" Target="../media/image88.wmf"/><Relationship Id="rId7" Type="http://schemas.openxmlformats.org/officeDocument/2006/relationships/oleObject" Target="../embeddings/oleObject79.bin"/><Relationship Id="rId6" Type="http://schemas.openxmlformats.org/officeDocument/2006/relationships/image" Target="../media/image87.wmf"/><Relationship Id="rId5" Type="http://schemas.openxmlformats.org/officeDocument/2006/relationships/oleObject" Target="../embeddings/oleObject78.bin"/><Relationship Id="rId4" Type="http://schemas.openxmlformats.org/officeDocument/2006/relationships/image" Target="../media/image86.wmf"/><Relationship Id="rId38" Type="http://schemas.openxmlformats.org/officeDocument/2006/relationships/vmlDrawing" Target="../drawings/vmlDrawing25.vml"/><Relationship Id="rId37" Type="http://schemas.openxmlformats.org/officeDocument/2006/relationships/slideLayout" Target="../slideLayouts/slideLayout2.xml"/><Relationship Id="rId36" Type="http://schemas.openxmlformats.org/officeDocument/2006/relationships/oleObject" Target="../embeddings/oleObject98.bin"/><Relationship Id="rId35" Type="http://schemas.openxmlformats.org/officeDocument/2006/relationships/oleObject" Target="../embeddings/oleObject97.bin"/><Relationship Id="rId34" Type="http://schemas.openxmlformats.org/officeDocument/2006/relationships/oleObject" Target="../embeddings/oleObject96.bin"/><Relationship Id="rId33" Type="http://schemas.openxmlformats.org/officeDocument/2006/relationships/oleObject" Target="../embeddings/oleObject95.bin"/><Relationship Id="rId32" Type="http://schemas.openxmlformats.org/officeDocument/2006/relationships/oleObject" Target="../embeddings/oleObject94.bin"/><Relationship Id="rId31" Type="http://schemas.openxmlformats.org/officeDocument/2006/relationships/oleObject" Target="../embeddings/oleObject93.bin"/><Relationship Id="rId30" Type="http://schemas.openxmlformats.org/officeDocument/2006/relationships/image" Target="../media/image97.png"/><Relationship Id="rId3" Type="http://schemas.openxmlformats.org/officeDocument/2006/relationships/oleObject" Target="../embeddings/oleObject77.bin"/><Relationship Id="rId29" Type="http://schemas.openxmlformats.org/officeDocument/2006/relationships/oleObject" Target="../embeddings/oleObject92.bin"/><Relationship Id="rId28" Type="http://schemas.openxmlformats.org/officeDocument/2006/relationships/image" Target="../media/image96.wmf"/><Relationship Id="rId27" Type="http://schemas.openxmlformats.org/officeDocument/2006/relationships/oleObject" Target="../embeddings/oleObject91.bin"/><Relationship Id="rId26" Type="http://schemas.openxmlformats.org/officeDocument/2006/relationships/image" Target="../media/image95.wmf"/><Relationship Id="rId25" Type="http://schemas.openxmlformats.org/officeDocument/2006/relationships/oleObject" Target="../embeddings/oleObject90.bin"/><Relationship Id="rId24" Type="http://schemas.openxmlformats.org/officeDocument/2006/relationships/oleObject" Target="../embeddings/oleObject89.bin"/><Relationship Id="rId23" Type="http://schemas.openxmlformats.org/officeDocument/2006/relationships/image" Target="../media/image94.wmf"/><Relationship Id="rId22" Type="http://schemas.openxmlformats.org/officeDocument/2006/relationships/oleObject" Target="../embeddings/oleObject88.bin"/><Relationship Id="rId21" Type="http://schemas.openxmlformats.org/officeDocument/2006/relationships/image" Target="../media/image93.wmf"/><Relationship Id="rId20" Type="http://schemas.openxmlformats.org/officeDocument/2006/relationships/oleObject" Target="../embeddings/oleObject87.bin"/><Relationship Id="rId2" Type="http://schemas.openxmlformats.org/officeDocument/2006/relationships/image" Target="../media/image85.png"/><Relationship Id="rId19" Type="http://schemas.openxmlformats.org/officeDocument/2006/relationships/oleObject" Target="../embeddings/oleObject86.bin"/><Relationship Id="rId18" Type="http://schemas.openxmlformats.org/officeDocument/2006/relationships/oleObject" Target="../embeddings/oleObject85.bin"/><Relationship Id="rId17" Type="http://schemas.openxmlformats.org/officeDocument/2006/relationships/oleObject" Target="../embeddings/oleObject84.bin"/><Relationship Id="rId16" Type="http://schemas.openxmlformats.org/officeDocument/2006/relationships/image" Target="../media/image92.png"/><Relationship Id="rId15" Type="http://schemas.openxmlformats.org/officeDocument/2006/relationships/oleObject" Target="../embeddings/oleObject83.bin"/><Relationship Id="rId14" Type="http://schemas.openxmlformats.org/officeDocument/2006/relationships/image" Target="../media/image91.wmf"/><Relationship Id="rId13" Type="http://schemas.openxmlformats.org/officeDocument/2006/relationships/oleObject" Target="../embeddings/oleObject82.bin"/><Relationship Id="rId12" Type="http://schemas.openxmlformats.org/officeDocument/2006/relationships/image" Target="../media/image90.wmf"/><Relationship Id="rId11" Type="http://schemas.openxmlformats.org/officeDocument/2006/relationships/oleObject" Target="../embeddings/oleObject81.bin"/><Relationship Id="rId10" Type="http://schemas.openxmlformats.org/officeDocument/2006/relationships/image" Target="../media/image89.wmf"/><Relationship Id="rId1" Type="http://schemas.openxmlformats.org/officeDocument/2006/relationships/oleObject" Target="../embeddings/oleObject76.bin"/></Relationships>
</file>

<file path=ppt/slides/_rels/slide4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vmlDrawing" Target="../drawings/vmlDrawing26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8.png"/><Relationship Id="rId1" Type="http://schemas.openxmlformats.org/officeDocument/2006/relationships/oleObject" Target="../embeddings/oleObject99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3" name="标题 3073"/>
          <p:cNvSpPr>
            <a:spLocks noGrp="1"/>
          </p:cNvSpPr>
          <p:nvPr>
            <p:ph type="title"/>
          </p:nvPr>
        </p:nvSpPr>
        <p:spPr>
          <a:xfrm>
            <a:off x="1524000" y="274638"/>
            <a:ext cx="9144000" cy="1143000"/>
          </a:xfrm>
        </p:spPr>
        <p:txBody>
          <a:bodyPr anchor="ctr" anchorCtr="0"/>
          <a:p>
            <a:r>
              <a:rPr lang="zh-CN" altLang="en-US" sz="5400" b="1" dirty="0">
                <a:latin typeface="隶书" panose="02010509060101010101" pitchFamily="49" charset="-122"/>
                <a:ea typeface="隶书" panose="02010509060101010101" pitchFamily="49" charset="-122"/>
              </a:rPr>
              <a:t>第</a:t>
            </a:r>
            <a:r>
              <a:rPr lang="en-US" altLang="zh-CN" sz="5400" b="1" dirty="0">
                <a:latin typeface="隶书" panose="02010509060101010101" pitchFamily="49" charset="-122"/>
                <a:ea typeface="隶书" panose="02010509060101010101" pitchFamily="49" charset="-122"/>
              </a:rPr>
              <a:t>5</a:t>
            </a:r>
            <a:r>
              <a:rPr lang="zh-CN" altLang="en-US" sz="5400" b="1" dirty="0">
                <a:latin typeface="隶书" panose="02010509060101010101" pitchFamily="49" charset="-122"/>
                <a:ea typeface="隶书" panose="02010509060101010101" pitchFamily="49" charset="-122"/>
              </a:rPr>
              <a:t>章 集成运算放大器的应用</a:t>
            </a:r>
            <a:endParaRPr lang="zh-CN" altLang="en-US" sz="5400" b="1"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13314" name="文本占位符 3075"/>
          <p:cNvSpPr>
            <a:spLocks noGrp="1"/>
          </p:cNvSpPr>
          <p:nvPr>
            <p:ph idx="1"/>
          </p:nvPr>
        </p:nvSpPr>
        <p:spPr>
          <a:xfrm>
            <a:off x="2063750" y="1628775"/>
            <a:ext cx="8229600" cy="4525963"/>
          </a:xfrm>
        </p:spPr>
        <p:txBody>
          <a:bodyPr anchor="t" anchorCtr="0"/>
          <a:p>
            <a:r>
              <a:rPr lang="en-US" altLang="zh-CN" sz="4400">
                <a:latin typeface="隶书" panose="02010509060101010101" pitchFamily="49" charset="-122"/>
                <a:ea typeface="隶书" panose="02010509060101010101" pitchFamily="49" charset="-122"/>
              </a:rPr>
              <a:t>5.1 </a:t>
            </a:r>
            <a:r>
              <a:rPr lang="zh-CN" altLang="en-US" sz="4400" dirty="0">
                <a:latin typeface="隶书" panose="02010509060101010101" pitchFamily="49" charset="-122"/>
                <a:ea typeface="隶书" panose="02010509060101010101" pitchFamily="49" charset="-122"/>
                <a:sym typeface="+mn-ea"/>
              </a:rPr>
              <a:t>集成运放简介</a:t>
            </a:r>
            <a:endParaRPr lang="zh-CN" altLang="en-US" sz="4400" dirty="0"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r>
              <a:rPr lang="en-US" altLang="zh-CN" sz="4400" dirty="0">
                <a:latin typeface="隶书" panose="02010509060101010101" pitchFamily="49" charset="-122"/>
                <a:ea typeface="隶书" panose="02010509060101010101" pitchFamily="49" charset="-122"/>
              </a:rPr>
              <a:t>5.2 </a:t>
            </a:r>
            <a:r>
              <a:rPr lang="zh-CN" altLang="en-US" sz="4400" dirty="0">
                <a:latin typeface="隶书" panose="02010509060101010101" pitchFamily="49" charset="-122"/>
                <a:ea typeface="隶书" panose="02010509060101010101" pitchFamily="49" charset="-122"/>
              </a:rPr>
              <a:t>运算</a:t>
            </a:r>
            <a:r>
              <a:rPr lang="zh-CN" altLang="en-US" sz="4400" dirty="0">
                <a:latin typeface="隶书" panose="02010509060101010101" pitchFamily="49" charset="-122"/>
                <a:ea typeface="隶书" panose="02010509060101010101" pitchFamily="49" charset="-122"/>
              </a:rPr>
              <a:t>电路</a:t>
            </a:r>
            <a:endParaRPr lang="zh-CN" altLang="en-US" sz="4400" dirty="0"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r>
              <a:rPr lang="en-US" altLang="zh-CN" sz="4400">
                <a:latin typeface="隶书" panose="02010509060101010101" pitchFamily="49" charset="-122"/>
                <a:ea typeface="隶书" panose="02010509060101010101" pitchFamily="49" charset="-122"/>
              </a:rPr>
              <a:t>5.3 </a:t>
            </a:r>
            <a:r>
              <a:rPr lang="zh-CN" altLang="en-US" sz="4400" dirty="0">
                <a:latin typeface="隶书" panose="02010509060101010101" pitchFamily="49" charset="-122"/>
                <a:ea typeface="隶书" panose="02010509060101010101" pitchFamily="49" charset="-122"/>
              </a:rPr>
              <a:t>电压比较器</a:t>
            </a:r>
            <a:endParaRPr lang="zh-CN" altLang="en-US" sz="4400" dirty="0"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pPr marL="0" indent="0">
              <a:buNone/>
            </a:pPr>
            <a:endParaRPr lang="zh-CN" altLang="en-US" sz="4400" dirty="0"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7" name="Rectangle 2"/>
          <p:cNvSpPr>
            <a:spLocks noGrp="1"/>
          </p:cNvSpPr>
          <p:nvPr>
            <p:ph type="title"/>
          </p:nvPr>
        </p:nvSpPr>
        <p:spPr>
          <a:xfrm>
            <a:off x="1992313" y="549275"/>
            <a:ext cx="8359775" cy="685800"/>
          </a:xfrm>
        </p:spPr>
        <p:txBody>
          <a:bodyPr vert="horz" wrap="square" lIns="91440" tIns="45720" rIns="91440" bIns="45720" anchor="ctr" anchorCtr="0"/>
          <a:p>
            <a:pPr algn="l">
              <a:lnSpc>
                <a:spcPct val="70000"/>
              </a:lnSpc>
            </a:pPr>
            <a:r>
              <a:rPr lang="en-US" altLang="zh-CN" sz="4000" b="1" dirty="0">
                <a:solidFill>
                  <a:srgbClr val="00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 5.1</a:t>
            </a:r>
            <a:r>
              <a:rPr lang="zh-CN" altLang="en-US" sz="4000" b="1" dirty="0">
                <a:solidFill>
                  <a:srgbClr val="00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，集成电路的概述</a:t>
            </a:r>
            <a:endParaRPr lang="zh-CN" altLang="en-US" sz="2800" b="1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7171" name="Text Box 3"/>
          <p:cNvSpPr txBox="1"/>
          <p:nvPr/>
        </p:nvSpPr>
        <p:spPr>
          <a:xfrm>
            <a:off x="2362200" y="2895600"/>
            <a:ext cx="7772400" cy="293243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110000"/>
              </a:lnSpc>
            </a:pP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）直接耦合方式，充分利用管子性能良好的一致性采用差分放大电路和电流源电路。</a:t>
            </a:r>
            <a:endParaRPr lang="zh-CN" altLang="en-US" sz="24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10000"/>
              </a:lnSpc>
            </a:pP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）用复杂电路实现高性能的放大电路，因为电路复杂并不增加制作工序。</a:t>
            </a:r>
            <a:endParaRPr lang="zh-CN" altLang="en-US" sz="24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10000"/>
              </a:lnSpc>
            </a:pP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）用有源元件替代无源元件，如用晶体管取代难于制作的大电阻。</a:t>
            </a:r>
            <a:endParaRPr lang="zh-CN" altLang="en-US" sz="24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10000"/>
              </a:lnSpc>
            </a:pP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）采用复合管。</a:t>
            </a:r>
            <a:endParaRPr lang="zh-CN" altLang="en-US" sz="24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4339" name="Text Box 4"/>
          <p:cNvSpPr txBox="1"/>
          <p:nvPr/>
        </p:nvSpPr>
        <p:spPr>
          <a:xfrm>
            <a:off x="2590800" y="2438400"/>
            <a:ext cx="7086600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2400" dirty="0">
                <a:latin typeface="Times New Roman" panose="02020603050405020304" charset="0"/>
                <a:ea typeface="宋体" panose="02010600030101010101" pitchFamily="2" charset="-122"/>
              </a:rPr>
              <a:t>    </a:t>
            </a:r>
            <a:endParaRPr lang="en-US" altLang="zh-CN" sz="2400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7173" name="Text Box 5"/>
          <p:cNvSpPr txBox="1"/>
          <p:nvPr/>
        </p:nvSpPr>
        <p:spPr>
          <a:xfrm>
            <a:off x="2286000" y="2438400"/>
            <a:ext cx="3505200" cy="52197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1.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集成运放的特点</a:t>
            </a:r>
            <a:endParaRPr lang="zh-CN" altLang="en-US" sz="28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174" name="Text Box 6"/>
          <p:cNvSpPr txBox="1"/>
          <p:nvPr/>
        </p:nvSpPr>
        <p:spPr>
          <a:xfrm>
            <a:off x="2057400" y="1524000"/>
            <a:ext cx="8153400" cy="82994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charset="0"/>
                <a:ea typeface="宋体" panose="02010600030101010101" pitchFamily="2" charset="-122"/>
              </a:rPr>
              <a:t>    </a:t>
            </a:r>
            <a:r>
              <a:rPr lang="zh-CN" altLang="en-US" sz="2400" b="1" dirty="0">
                <a:latin typeface="Times New Roman" panose="02020603050405020304" charset="0"/>
                <a:ea typeface="宋体" panose="02010600030101010101" pitchFamily="2" charset="-122"/>
              </a:rPr>
              <a:t>集成运算放大电路，简称集成运放，是一个高性能的直接耦合多级放大电路。因首先用于信号的运算，故而得名。</a:t>
            </a:r>
            <a:endParaRPr lang="zh-CN" altLang="en-US" sz="2400" b="1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>
                                            <p:txEl>
                                              <p:charRg st="0" end="5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174">
                                            <p:txEl>
                                              <p:charRg st="0" end="5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>
                                            <p:txEl>
                                              <p:charRg st="0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173">
                                            <p:txEl>
                                              <p:charRg st="0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charRg st="0" end="4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171">
                                            <p:txEl>
                                              <p:charRg st="0" end="4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charRg st="40" end="7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171">
                                            <p:txEl>
                                              <p:charRg st="40" end="7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charRg st="75" end="10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171">
                                            <p:txEl>
                                              <p:charRg st="75" end="10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charRg st="107" end="1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171">
                                            <p:txEl>
                                              <p:charRg st="107" end="1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1" grpId="0" build="p"/>
      <p:bldP spid="7173" grpId="0" build="p"/>
      <p:bldP spid="7174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15361" name="Object 2"/>
          <p:cNvGraphicFramePr/>
          <p:nvPr/>
        </p:nvGraphicFramePr>
        <p:xfrm>
          <a:off x="1752600" y="1600200"/>
          <a:ext cx="4572000" cy="350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3112770" imgH="2359660" progId="Paint.Picture">
                  <p:embed/>
                </p:oleObj>
              </mc:Choice>
              <mc:Fallback>
                <p:oleObj name="" r:id="rId1" imgW="3112770" imgH="2359660" progId="Paint.Picture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752600" y="1600200"/>
                        <a:ext cx="4572000" cy="3505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2" name="Text Box 3"/>
          <p:cNvSpPr txBox="1"/>
          <p:nvPr/>
        </p:nvSpPr>
        <p:spPr>
          <a:xfrm>
            <a:off x="1779588" y="325438"/>
            <a:ext cx="8682037" cy="56832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>
              <a:spcBef>
                <a:spcPct val="50000"/>
              </a:spcBef>
            </a:pPr>
            <a:r>
              <a:rPr lang="zh-CN" altLang="en-US" sz="3100" b="1" dirty="0">
                <a:latin typeface="Times New Roman" panose="02020603050405020304" charset="0"/>
                <a:ea typeface="宋体" panose="02010600030101010101" pitchFamily="2" charset="-122"/>
              </a:rPr>
              <a:t>运算放大器外形图</a:t>
            </a:r>
            <a:endParaRPr lang="zh-CN" altLang="en-US" sz="3100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graphicFrame>
        <p:nvGraphicFramePr>
          <p:cNvPr id="15363" name="Object 4"/>
          <p:cNvGraphicFramePr/>
          <p:nvPr/>
        </p:nvGraphicFramePr>
        <p:xfrm>
          <a:off x="6477000" y="1600200"/>
          <a:ext cx="4008438" cy="350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3" imgW="3112770" imgH="2359660" progId="Paint.Picture">
                  <p:embed/>
                </p:oleObj>
              </mc:Choice>
              <mc:Fallback>
                <p:oleObj name="" r:id="rId3" imgW="3112770" imgH="2359660" progId="Paint.Picture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477000" y="1600200"/>
                        <a:ext cx="4008438" cy="3505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Text Box 2"/>
          <p:cNvSpPr txBox="1">
            <a:spLocks noChangeArrowheads="1"/>
          </p:cNvSpPr>
          <p:nvPr/>
        </p:nvSpPr>
        <p:spPr bwMode="auto">
          <a:xfrm>
            <a:off x="1524000" y="-317182"/>
            <a:ext cx="8683625" cy="1107440"/>
          </a:xfrm>
          <a:prstGeom prst="rect">
            <a:avLst/>
          </a:prstGeom>
          <a:noFill/>
          <a:ln w="9525" algn="ctr">
            <a:noFill/>
            <a:miter lim="800000"/>
          </a:ln>
          <a:effectLst>
            <a:outerShdw dist="35921" dir="2700000" algn="ctr" rotWithShape="0">
              <a:srgbClr val="808080"/>
            </a:outerShdw>
          </a:effectLst>
        </p:spPr>
        <p:txBody>
          <a:bodyPr lIns="36000" tIns="0" rIns="0" bIns="0" anchor="ctr"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endParaRPr kumimoji="0" lang="zh-CN" altLang="en-US" sz="3600" b="1" kern="1200" cap="none" spc="0" normalizeH="0" baseline="0" noProof="0" dirty="0" smtClean="0">
              <a:solidFill>
                <a:srgbClr val="3366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华文行楷" panose="02010800040101010101" pitchFamily="2" charset="-122"/>
              <a:ea typeface="华文行楷" panose="02010800040101010101" pitchFamily="2" charset="-122"/>
              <a:cs typeface="+mn-cs"/>
            </a:endParaRP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3600" b="1" kern="1200" cap="none" spc="0" normalizeH="0" baseline="0" noProof="0" dirty="0" smtClean="0">
                <a:solidFill>
                  <a:srgbClr val="3366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rPr>
              <a:t>集成运算放大器的电路模型</a:t>
            </a:r>
            <a:endParaRPr kumimoji="0" lang="zh-CN" altLang="en-US" sz="3600" b="1" kern="1200" cap="none" spc="0" normalizeH="0" baseline="0" noProof="0" dirty="0" smtClean="0">
              <a:solidFill>
                <a:srgbClr val="3366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华文行楷" panose="02010800040101010101" pitchFamily="2" charset="-122"/>
              <a:ea typeface="华文行楷" panose="02010800040101010101" pitchFamily="2" charset="-122"/>
              <a:cs typeface="+mn-cs"/>
            </a:endParaRPr>
          </a:p>
        </p:txBody>
      </p:sp>
      <p:sp>
        <p:nvSpPr>
          <p:cNvPr id="16386" name="Text Box 3"/>
          <p:cNvSpPr txBox="1"/>
          <p:nvPr/>
        </p:nvSpPr>
        <p:spPr>
          <a:xfrm>
            <a:off x="1631950" y="908685"/>
            <a:ext cx="8723313" cy="861695"/>
          </a:xfrm>
          <a:prstGeom prst="rect">
            <a:avLst/>
          </a:prstGeom>
          <a:noFill/>
          <a:ln w="25400">
            <a:noFill/>
          </a:ln>
        </p:spPr>
        <p:txBody>
          <a:bodyPr lIns="36000" tIns="0" rIns="0" bIns="0" anchor="t" anchorCtr="0">
            <a:spAutoFit/>
          </a:bodyPr>
          <a:p>
            <a:r>
              <a:rPr lang="zh-CN" altLang="en-US" sz="2800" b="1" dirty="0">
                <a:latin typeface="Times New Roman" panose="02020603050405020304" charset="0"/>
                <a:ea typeface="宋体" panose="02010600030101010101" pitchFamily="2" charset="-122"/>
              </a:rPr>
              <a:t>五个引脚：</a:t>
            </a:r>
            <a:endParaRPr lang="zh-CN" altLang="en-US" sz="2800" b="1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r>
              <a:rPr lang="en-US" altLang="zh-CN" sz="2800" b="1" dirty="0">
                <a:latin typeface="Times New Roman" panose="02020603050405020304" charset="0"/>
                <a:ea typeface="宋体" panose="02010600030101010101" pitchFamily="2" charset="-122"/>
              </a:rPr>
              <a:t>+V</a:t>
            </a:r>
            <a:r>
              <a:rPr lang="en-US" altLang="zh-CN" sz="2800" b="1" baseline="-25000" dirty="0">
                <a:latin typeface="Times New Roman" panose="02020603050405020304" charset="0"/>
                <a:ea typeface="宋体" panose="02010600030101010101" pitchFamily="2" charset="-122"/>
              </a:rPr>
              <a:t>CC</a:t>
            </a:r>
            <a:r>
              <a:rPr lang="zh-CN" altLang="en-US" sz="2800" b="1" dirty="0">
                <a:latin typeface="Times New Roman" panose="02020603050405020304" charset="0"/>
                <a:ea typeface="宋体" panose="02010600030101010101" pitchFamily="2" charset="-122"/>
              </a:rPr>
              <a:t>、</a:t>
            </a:r>
            <a:r>
              <a:rPr lang="en-US" altLang="zh-CN" sz="2800" b="1" dirty="0">
                <a:latin typeface="Times New Roman" panose="02020603050405020304" charset="0"/>
                <a:ea typeface="宋体" panose="02010600030101010101" pitchFamily="2" charset="-122"/>
              </a:rPr>
              <a:t>-V</a:t>
            </a:r>
            <a:r>
              <a:rPr lang="en-US" altLang="zh-CN" sz="2800" b="1" baseline="-25000" dirty="0">
                <a:latin typeface="Times New Roman" panose="02020603050405020304" charset="0"/>
                <a:ea typeface="宋体" panose="02010600030101010101" pitchFamily="2" charset="-122"/>
              </a:rPr>
              <a:t>EE</a:t>
            </a:r>
            <a:r>
              <a:rPr lang="zh-CN" altLang="en-US" sz="2800" b="1" dirty="0">
                <a:latin typeface="Times New Roman" panose="02020603050405020304" charset="0"/>
                <a:ea typeface="宋体" panose="02010600030101010101" pitchFamily="2" charset="-122"/>
              </a:rPr>
              <a:t>、同相输入端、反相输入端、输出端</a:t>
            </a:r>
            <a:r>
              <a:rPr lang="en-US" altLang="zh-CN" sz="2800" b="1" dirty="0">
                <a:latin typeface="Times New Roman" panose="02020603050405020304" charset="0"/>
                <a:ea typeface="宋体" panose="02010600030101010101" pitchFamily="2" charset="-122"/>
              </a:rPr>
              <a:t>.</a:t>
            </a:r>
            <a:endParaRPr lang="en-US" altLang="zh-CN" sz="2800" b="1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16387" name="Text Box 4"/>
          <p:cNvSpPr txBox="1"/>
          <p:nvPr/>
        </p:nvSpPr>
        <p:spPr>
          <a:xfrm>
            <a:off x="1631950" y="1988503"/>
            <a:ext cx="8694738" cy="861695"/>
          </a:xfrm>
          <a:prstGeom prst="rect">
            <a:avLst/>
          </a:prstGeom>
          <a:noFill/>
          <a:ln w="25400">
            <a:noFill/>
          </a:ln>
        </p:spPr>
        <p:txBody>
          <a:bodyPr lIns="36000" tIns="0" rIns="0" bIns="0"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charset="0"/>
                <a:ea typeface="宋体" panose="02010600030101010101" pitchFamily="2" charset="-122"/>
              </a:rPr>
              <a:t>在同相端输入信号，输出与输入同相；在反相端输入信号，输出与输入反相。</a:t>
            </a:r>
            <a:endParaRPr lang="zh-CN" altLang="en-US" sz="2800" b="1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pic>
        <p:nvPicPr>
          <p:cNvPr id="16388" name="Picture 5" descr="4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215640" y="2996565"/>
            <a:ext cx="5698490" cy="33528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8" name="Text Box 2"/>
          <p:cNvSpPr txBox="1"/>
          <p:nvPr/>
        </p:nvSpPr>
        <p:spPr>
          <a:xfrm>
            <a:off x="2209800" y="4191000"/>
            <a:ext cx="8153400" cy="90297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110000"/>
              </a:lnSpc>
            </a:pPr>
            <a:r>
              <a:rPr lang="en-US" altLang="zh-CN" sz="2000" dirty="0">
                <a:latin typeface="Times New Roman" panose="02020603050405020304" charset="0"/>
                <a:ea typeface="宋体" panose="02010600030101010101" pitchFamily="2" charset="-122"/>
              </a:rPr>
              <a:t>     </a:t>
            </a:r>
            <a:r>
              <a:rPr lang="zh-CN" altLang="zh-CN" sz="2400" b="1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由于</a:t>
            </a:r>
            <a:r>
              <a:rPr lang="zh-CN" altLang="zh-CN" sz="2400" b="1" i="1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A</a:t>
            </a:r>
            <a:r>
              <a:rPr lang="zh-CN" altLang="zh-CN" sz="2400" b="1" baseline="-25000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od</a:t>
            </a:r>
            <a:r>
              <a:rPr lang="zh-CN" altLang="zh-CN" sz="2400" b="1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高达几十万倍，所以集成运放工作在线性区时的最大输入电压(</a:t>
            </a:r>
            <a:r>
              <a:rPr lang="zh-CN" altLang="zh-CN" sz="2400" b="1" i="1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u</a:t>
            </a:r>
            <a:r>
              <a:rPr lang="zh-CN" altLang="zh-CN" sz="2400" b="1" baseline="-25000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P</a:t>
            </a:r>
            <a:r>
              <a:rPr lang="zh-CN" altLang="zh-CN" sz="2400" b="1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－</a:t>
            </a:r>
            <a:r>
              <a:rPr lang="zh-CN" altLang="zh-CN" sz="2400" b="1" i="1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u</a:t>
            </a:r>
            <a:r>
              <a:rPr lang="zh-CN" altLang="zh-CN" sz="2400" b="1" baseline="-25000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N</a:t>
            </a:r>
            <a:r>
              <a:rPr lang="zh-CN" altLang="zh-CN" sz="2400" b="1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)的数值仅为几十～一百多微伏。</a:t>
            </a:r>
            <a:endParaRPr lang="zh-CN" altLang="en-US" sz="2400" b="1" dirty="0">
              <a:solidFill>
                <a:srgbClr val="CC0066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graphicFrame>
        <p:nvGraphicFramePr>
          <p:cNvPr id="19459" name="Object 3"/>
          <p:cNvGraphicFramePr/>
          <p:nvPr/>
        </p:nvGraphicFramePr>
        <p:xfrm>
          <a:off x="2566988" y="1196975"/>
          <a:ext cx="3352800" cy="1392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1" imgW="9667875" imgH="4010025" progId="MSPhotoEd.3">
                  <p:embed/>
                </p:oleObj>
              </mc:Choice>
              <mc:Fallback>
                <p:oleObj name="" r:id="rId1" imgW="9667875" imgH="4010025" progId="MSPhotoEd.3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566988" y="1196975"/>
                        <a:ext cx="3352800" cy="13922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0" name="Object 4"/>
          <p:cNvGraphicFramePr/>
          <p:nvPr/>
        </p:nvGraphicFramePr>
        <p:xfrm>
          <a:off x="6400800" y="1295400"/>
          <a:ext cx="2971800" cy="2428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" r:id="rId3" imgW="9896475" imgH="8086725" progId="MSPhotoEd.3">
                  <p:embed/>
                </p:oleObj>
              </mc:Choice>
              <mc:Fallback>
                <p:oleObj name="" r:id="rId3" imgW="9896475" imgH="8086725" progId="MSPhotoEd.3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400800" y="1295400"/>
                        <a:ext cx="2971800" cy="24288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1" name="Text Box 5"/>
          <p:cNvSpPr txBox="1"/>
          <p:nvPr/>
        </p:nvSpPr>
        <p:spPr>
          <a:xfrm>
            <a:off x="2362200" y="2819400"/>
            <a:ext cx="3810000" cy="1308735"/>
          </a:xfrm>
          <a:prstGeom prst="rect">
            <a:avLst/>
          </a:prstGeom>
          <a:solidFill>
            <a:srgbClr val="66FFFF"/>
          </a:solidFill>
          <a:ln w="952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>
            <a:spAutoFit/>
          </a:bodyPr>
          <a:p>
            <a:pPr>
              <a:lnSpc>
                <a:spcPct val="110000"/>
              </a:lnSpc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在线性区：</a:t>
            </a:r>
            <a:endParaRPr lang="zh-CN" altLang="en-US" sz="2400" b="1" dirty="0">
              <a:solidFill>
                <a:srgbClr val="000000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  <a:p>
            <a:pPr>
              <a:lnSpc>
                <a:spcPct val="110000"/>
              </a:lnSpc>
            </a:pPr>
            <a:r>
              <a:rPr lang="zh-CN" altLang="zh-CN" sz="2400" b="1" i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u</a:t>
            </a:r>
            <a:r>
              <a:rPr lang="zh-CN" altLang="zh-CN" sz="2400" b="1" baseline="-25000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O</a:t>
            </a:r>
            <a:r>
              <a:rPr lang="zh-CN" altLang="zh-CN" sz="2400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＝</a:t>
            </a:r>
            <a:r>
              <a:rPr lang="zh-CN" altLang="zh-CN" sz="2400" b="1" i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A</a:t>
            </a:r>
            <a:r>
              <a:rPr lang="zh-CN" altLang="zh-CN" sz="2400" b="1" baseline="-25000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od</a:t>
            </a:r>
            <a:r>
              <a:rPr lang="zh-CN" altLang="zh-CN" sz="2400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(</a:t>
            </a:r>
            <a:r>
              <a:rPr lang="zh-CN" altLang="zh-CN" sz="2400" b="1" i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u</a:t>
            </a:r>
            <a:r>
              <a:rPr lang="zh-CN" altLang="zh-CN" sz="2400" b="1" baseline="-25000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P</a:t>
            </a:r>
            <a:r>
              <a:rPr lang="zh-CN" altLang="zh-CN" sz="2400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－</a:t>
            </a:r>
            <a:r>
              <a:rPr lang="zh-CN" altLang="zh-CN" sz="2400" b="1" i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u</a:t>
            </a:r>
            <a:r>
              <a:rPr lang="zh-CN" altLang="zh-CN" sz="2400" b="1" baseline="-25000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N</a:t>
            </a:r>
            <a:r>
              <a:rPr lang="zh-CN" altLang="zh-CN" sz="2400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)</a:t>
            </a:r>
            <a:endParaRPr lang="en-US" altLang="zh-CN" sz="2400" b="1" dirty="0">
              <a:solidFill>
                <a:srgbClr val="FF0000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  <a:p>
            <a:pPr>
              <a:lnSpc>
                <a:spcPct val="110000"/>
              </a:lnSpc>
            </a:pPr>
            <a:r>
              <a:rPr lang="zh-CN" altLang="zh-CN" sz="2400" b="1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 </a:t>
            </a:r>
            <a:r>
              <a:rPr lang="zh-CN" altLang="zh-CN" sz="2400" b="1" i="1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A</a:t>
            </a:r>
            <a:r>
              <a:rPr lang="zh-CN" altLang="zh-CN" sz="2400" b="1" baseline="-25000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od</a:t>
            </a:r>
            <a:r>
              <a:rPr lang="zh-CN" altLang="zh-CN" sz="2400" b="1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是开环差模放大倍数。</a:t>
            </a:r>
            <a:endParaRPr lang="zh-CN" altLang="en-US" sz="2400" b="1" dirty="0">
              <a:solidFill>
                <a:srgbClr val="000000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grpSp>
        <p:nvGrpSpPr>
          <p:cNvPr id="2" name="Group 6"/>
          <p:cNvGrpSpPr/>
          <p:nvPr/>
        </p:nvGrpSpPr>
        <p:grpSpPr>
          <a:xfrm>
            <a:off x="7162800" y="3035300"/>
            <a:ext cx="2438400" cy="850900"/>
            <a:chOff x="3552" y="1912"/>
            <a:chExt cx="1536" cy="536"/>
          </a:xfrm>
        </p:grpSpPr>
        <p:sp>
          <p:nvSpPr>
            <p:cNvPr id="17414" name="AutoShape 7"/>
            <p:cNvSpPr/>
            <p:nvPr/>
          </p:nvSpPr>
          <p:spPr>
            <a:xfrm>
              <a:off x="4473" y="1912"/>
              <a:ext cx="615" cy="536"/>
            </a:xfrm>
            <a:prstGeom prst="borderCallout1">
              <a:avLst>
                <a:gd name="adj1" fmla="val 13431"/>
                <a:gd name="adj2" fmla="val -7806"/>
                <a:gd name="adj3" fmla="val -158769"/>
                <a:gd name="adj4" fmla="val -50894"/>
              </a:avLst>
            </a:prstGeom>
            <a:solidFill>
              <a:srgbClr val="CCFFFF"/>
            </a:solidFill>
            <a:ln w="19050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p>
              <a:pPr algn="ctr"/>
              <a:r>
                <a:rPr lang="zh-CN" altLang="en-US" sz="2400" b="1" dirty="0">
                  <a:latin typeface="Times New Roman" panose="02020603050405020304" charset="0"/>
                  <a:ea typeface="宋体" panose="02010600030101010101" pitchFamily="2" charset="-122"/>
                </a:rPr>
                <a:t>非线性区</a:t>
              </a:r>
              <a:endParaRPr lang="zh-CN" altLang="en-US" sz="2400" b="1" dirty="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17415" name="Line 8"/>
            <p:cNvSpPr/>
            <p:nvPr/>
          </p:nvSpPr>
          <p:spPr>
            <a:xfrm flipV="1">
              <a:off x="3552" y="2064"/>
              <a:ext cx="912" cy="192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19465" name="Text Box 9"/>
          <p:cNvSpPr txBox="1"/>
          <p:nvPr/>
        </p:nvSpPr>
        <p:spPr>
          <a:xfrm>
            <a:off x="2362200" y="5105400"/>
            <a:ext cx="7772400" cy="902970"/>
          </a:xfrm>
          <a:prstGeom prst="rect">
            <a:avLst/>
          </a:prstGeom>
          <a:solidFill>
            <a:srgbClr val="66FFFF"/>
          </a:solidFill>
          <a:ln w="952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>
            <a:spAutoFit/>
          </a:bodyPr>
          <a:p>
            <a:pPr>
              <a:lnSpc>
                <a:spcPct val="110000"/>
              </a:lnSpc>
            </a:pPr>
            <a:r>
              <a:rPr lang="en-US" altLang="zh-CN" sz="2400" b="1" dirty="0">
                <a:solidFill>
                  <a:srgbClr val="CC0066"/>
                </a:solidFill>
                <a:latin typeface="Times New Roman" panose="02020603050405020304" charset="0"/>
                <a:ea typeface="宋体" panose="02010600030101010101" pitchFamily="2" charset="-122"/>
              </a:rPr>
              <a:t>     </a:t>
            </a:r>
            <a:r>
              <a:rPr lang="zh-CN" altLang="zh-CN" sz="2400" b="1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(</a:t>
            </a:r>
            <a:r>
              <a:rPr lang="zh-CN" altLang="zh-CN" sz="2400" b="1" i="1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u</a:t>
            </a:r>
            <a:r>
              <a:rPr lang="zh-CN" altLang="zh-CN" sz="2400" b="1" baseline="-25000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P</a:t>
            </a:r>
            <a:r>
              <a:rPr lang="zh-CN" altLang="zh-CN" sz="2400" b="1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－</a:t>
            </a:r>
            <a:r>
              <a:rPr lang="zh-CN" altLang="zh-CN" sz="2400" b="1" i="1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u</a:t>
            </a:r>
            <a:r>
              <a:rPr lang="zh-CN" altLang="zh-CN" sz="2400" b="1" baseline="-25000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N</a:t>
            </a:r>
            <a:r>
              <a:rPr lang="zh-CN" altLang="zh-CN" sz="2400" b="1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)的数值大于一定值时，</a:t>
            </a:r>
            <a:r>
              <a:rPr lang="zh-CN" altLang="zh-CN" sz="2400" b="1" dirty="0">
                <a:latin typeface="Times New Roman" panose="02020603050405020304" charset="0"/>
                <a:ea typeface="宋体" panose="02010600030101010101" pitchFamily="2" charset="-122"/>
              </a:rPr>
              <a:t>集成运放的输出不是＋</a:t>
            </a:r>
            <a:r>
              <a:rPr lang="zh-CN" altLang="zh-CN" sz="2400" b="1" i="1" dirty="0">
                <a:latin typeface="Times New Roman" panose="02020603050405020304" charset="0"/>
                <a:ea typeface="宋体" panose="02010600030101010101" pitchFamily="2" charset="-122"/>
              </a:rPr>
              <a:t>U</a:t>
            </a:r>
            <a:r>
              <a:rPr lang="zh-CN" altLang="zh-CN" sz="2400" b="1" baseline="-25000" dirty="0">
                <a:latin typeface="Times New Roman" panose="02020603050405020304" charset="0"/>
                <a:ea typeface="宋体" panose="02010600030101010101" pitchFamily="2" charset="-122"/>
              </a:rPr>
              <a:t>OM</a:t>
            </a:r>
            <a:r>
              <a:rPr lang="en-US" altLang="zh-CN" sz="2400" b="1" baseline="-25000" dirty="0">
                <a:latin typeface="Times New Roman" panose="02020603050405020304" charset="0"/>
                <a:ea typeface="宋体" panose="02010600030101010101" pitchFamily="2" charset="-122"/>
              </a:rPr>
              <a:t> </a:t>
            </a:r>
            <a:r>
              <a:rPr lang="zh-CN" altLang="zh-CN" sz="2400" b="1" dirty="0">
                <a:latin typeface="Times New Roman" panose="02020603050405020304" charset="0"/>
                <a:ea typeface="宋体" panose="02010600030101010101" pitchFamily="2" charset="-122"/>
              </a:rPr>
              <a:t>,</a:t>
            </a:r>
            <a:r>
              <a:rPr lang="en-US" altLang="zh-CN" sz="2400" b="1" dirty="0">
                <a:latin typeface="Times New Roman" panose="02020603050405020304" charset="0"/>
                <a:ea typeface="宋体" panose="02010600030101010101" pitchFamily="2" charset="-122"/>
              </a:rPr>
              <a:t> </a:t>
            </a:r>
            <a:r>
              <a:rPr lang="zh-CN" altLang="zh-CN" sz="2400" b="1" dirty="0">
                <a:latin typeface="Times New Roman" panose="02020603050405020304" charset="0"/>
                <a:ea typeface="宋体" panose="02010600030101010101" pitchFamily="2" charset="-122"/>
              </a:rPr>
              <a:t>就是－</a:t>
            </a:r>
            <a:r>
              <a:rPr lang="zh-CN" altLang="zh-CN" sz="2400" b="1" i="1" dirty="0">
                <a:latin typeface="Times New Roman" panose="02020603050405020304" charset="0"/>
                <a:ea typeface="宋体" panose="02010600030101010101" pitchFamily="2" charset="-122"/>
              </a:rPr>
              <a:t>U</a:t>
            </a:r>
            <a:r>
              <a:rPr lang="zh-CN" altLang="zh-CN" sz="2400" b="1" baseline="-25000" dirty="0">
                <a:latin typeface="Times New Roman" panose="02020603050405020304" charset="0"/>
                <a:ea typeface="宋体" panose="02010600030101010101" pitchFamily="2" charset="-122"/>
              </a:rPr>
              <a:t>OM</a:t>
            </a:r>
            <a:r>
              <a:rPr lang="zh-CN" altLang="zh-CN" sz="2400" b="1" dirty="0">
                <a:latin typeface="Times New Roman" panose="02020603050405020304" charset="0"/>
                <a:ea typeface="宋体" panose="02010600030101010101" pitchFamily="2" charset="-122"/>
              </a:rPr>
              <a:t>，即集成运放工作在非线性区。</a:t>
            </a:r>
            <a:endParaRPr lang="zh-CN" altLang="en-US" sz="2400" b="1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17417" name="Text Box 10"/>
          <p:cNvSpPr txBox="1"/>
          <p:nvPr/>
        </p:nvSpPr>
        <p:spPr>
          <a:xfrm>
            <a:off x="1524000" y="258445"/>
            <a:ext cx="7810500" cy="476885"/>
          </a:xfrm>
          <a:prstGeom prst="rect">
            <a:avLst/>
          </a:prstGeom>
          <a:noFill/>
          <a:ln w="9525">
            <a:noFill/>
          </a:ln>
        </p:spPr>
        <p:txBody>
          <a:bodyPr lIns="36000" tIns="0" rIns="0" bIns="0" anchor="ctr" anchorCtr="0">
            <a:spAutoFit/>
          </a:bodyPr>
          <a:p>
            <a:r>
              <a:rPr lang="zh-CN" altLang="en-US" sz="3100" b="1" dirty="0">
                <a:latin typeface="宋体" panose="02010600030101010101" pitchFamily="2" charset="-122"/>
                <a:ea typeface="宋体" panose="02010600030101010101" pitchFamily="2" charset="-122"/>
              </a:rPr>
              <a:t>一、  集成运算放大器的开环电压传输特性</a:t>
            </a:r>
            <a:endParaRPr lang="zh-CN" altLang="en-US" sz="31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94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94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9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9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>
                                            <p:txEl>
                                              <p:charRg st="0" end="5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9458">
                                            <p:txEl>
                                              <p:charRg st="0" end="5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9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8" grpId="0" build="p"/>
      <p:bldP spid="19461" grpId="0" bldLvl="0" animBg="1"/>
      <p:bldP spid="19465" grpId="0" bldLvl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3" name="Rectangle 2"/>
          <p:cNvSpPr/>
          <p:nvPr/>
        </p:nvSpPr>
        <p:spPr>
          <a:xfrm>
            <a:off x="2291080" y="1628775"/>
            <a:ext cx="7929245" cy="127000"/>
          </a:xfrm>
          <a:prstGeom prst="rect">
            <a:avLst/>
          </a:prstGeom>
          <a:noFill/>
          <a:ln w="25400">
            <a:noFill/>
          </a:ln>
        </p:spPr>
        <p:txBody>
          <a:bodyPr lIns="36000" tIns="0" rIns="0" bIns="0" anchor="t" anchorCtr="0">
            <a:noAutofit/>
          </a:bodyPr>
          <a:p>
            <a:pPr>
              <a:spcBef>
                <a:spcPct val="50000"/>
              </a:spcBef>
            </a:pPr>
            <a:r>
              <a:rPr lang="zh-CN" altLang="en-US" sz="3100" dirty="0">
                <a:latin typeface="Times New Roman" panose="02020603050405020304" charset="0"/>
                <a:ea typeface="宋体" panose="02010600030101010101" pitchFamily="2" charset="-122"/>
              </a:rPr>
              <a:t>差模电压放大倍数              </a:t>
            </a:r>
            <a:r>
              <a:rPr lang="en-US" altLang="zh-CN" sz="3100" i="1" dirty="0">
                <a:latin typeface="Times New Roman" panose="02020603050405020304" charset="0"/>
                <a:ea typeface="宋体" panose="02010600030101010101" pitchFamily="2" charset="-122"/>
              </a:rPr>
              <a:t>A</a:t>
            </a:r>
            <a:r>
              <a:rPr lang="en-US" altLang="zh-CN" sz="3100" i="1" baseline="-25000" dirty="0">
                <a:latin typeface="Times New Roman" panose="02020603050405020304" charset="0"/>
                <a:ea typeface="宋体" panose="02010600030101010101" pitchFamily="2" charset="-122"/>
              </a:rPr>
              <a:t>u</a:t>
            </a:r>
            <a:r>
              <a:rPr lang="en-US" altLang="zh-CN" sz="3100" baseline="-25000" dirty="0">
                <a:latin typeface="Times New Roman" panose="02020603050405020304" charset="0"/>
                <a:ea typeface="宋体" panose="02010600030101010101" pitchFamily="2" charset="-122"/>
              </a:rPr>
              <a:t>d</a:t>
            </a:r>
            <a:r>
              <a:rPr lang="en-US" altLang="zh-CN" sz="3100" dirty="0">
                <a:latin typeface="Times New Roman" panose="02020603050405020304" charset="0"/>
                <a:ea typeface="宋体" panose="02010600030101010101" pitchFamily="2" charset="-122"/>
              </a:rPr>
              <a:t>=</a:t>
            </a:r>
            <a:r>
              <a:rPr lang="en-US" altLang="zh-CN" sz="3100" dirty="0">
                <a:latin typeface="Times New Roman" panose="02020603050405020304" charset="0"/>
                <a:ea typeface="宋体" panose="02010600030101010101" pitchFamily="2" charset="-122"/>
                <a:sym typeface="Symbol" panose="05050102010706020507" pitchFamily="18" charset="2"/>
              </a:rPr>
              <a:t></a:t>
            </a:r>
            <a:endParaRPr lang="en-US" altLang="zh-CN" sz="3100" dirty="0">
              <a:latin typeface="Times New Roman" panose="02020603050405020304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18434" name="Rectangle 3"/>
          <p:cNvSpPr/>
          <p:nvPr/>
        </p:nvSpPr>
        <p:spPr>
          <a:xfrm>
            <a:off x="2292985" y="2276475"/>
            <a:ext cx="7951470" cy="127000"/>
          </a:xfrm>
          <a:prstGeom prst="rect">
            <a:avLst/>
          </a:prstGeom>
          <a:noFill/>
          <a:ln w="25400">
            <a:noFill/>
          </a:ln>
        </p:spPr>
        <p:txBody>
          <a:bodyPr lIns="36000" tIns="0" rIns="0" bIns="0" anchor="t" anchorCtr="0">
            <a:noAutofit/>
          </a:bodyPr>
          <a:p>
            <a:pPr>
              <a:spcBef>
                <a:spcPct val="50000"/>
              </a:spcBef>
            </a:pPr>
            <a:r>
              <a:rPr lang="zh-CN" altLang="en-US" sz="3100" dirty="0">
                <a:latin typeface="Times New Roman" panose="02020603050405020304" charset="0"/>
                <a:ea typeface="宋体" panose="02010600030101010101" pitchFamily="2" charset="-122"/>
              </a:rPr>
              <a:t>共模抑制比                          </a:t>
            </a:r>
            <a:r>
              <a:rPr lang="en-US" altLang="zh-CN" sz="3100" dirty="0">
                <a:latin typeface="Times New Roman" panose="02020603050405020304" charset="0"/>
                <a:ea typeface="宋体" panose="02010600030101010101" pitchFamily="2" charset="-122"/>
              </a:rPr>
              <a:t>K</a:t>
            </a:r>
            <a:r>
              <a:rPr lang="en-US" altLang="zh-CN" sz="3100" baseline="-25000" dirty="0">
                <a:latin typeface="Times New Roman" panose="02020603050405020304" charset="0"/>
                <a:ea typeface="宋体" panose="02010600030101010101" pitchFamily="2" charset="-122"/>
              </a:rPr>
              <a:t>CMR</a:t>
            </a:r>
            <a:r>
              <a:rPr lang="en-US" altLang="zh-CN" sz="3100" dirty="0">
                <a:latin typeface="Times New Roman" panose="02020603050405020304" charset="0"/>
                <a:ea typeface="宋体" panose="02010600030101010101" pitchFamily="2" charset="-122"/>
              </a:rPr>
              <a:t>= </a:t>
            </a:r>
            <a:r>
              <a:rPr lang="en-US" altLang="zh-CN" sz="3100" dirty="0">
                <a:latin typeface="Times New Roman" panose="02020603050405020304" charset="0"/>
                <a:ea typeface="宋体" panose="02010600030101010101" pitchFamily="2" charset="-122"/>
                <a:sym typeface="Symbol" panose="05050102010706020507" pitchFamily="18" charset="2"/>
              </a:rPr>
              <a:t></a:t>
            </a:r>
            <a:r>
              <a:rPr lang="en-US" altLang="zh-CN" sz="3100" dirty="0">
                <a:latin typeface="Times New Roman" panose="02020603050405020304" charset="0"/>
                <a:ea typeface="宋体" panose="02010600030101010101" pitchFamily="2" charset="-122"/>
              </a:rPr>
              <a:t> </a:t>
            </a:r>
            <a:endParaRPr lang="en-US" altLang="zh-CN" sz="3100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18435" name="Rectangle 4"/>
          <p:cNvSpPr/>
          <p:nvPr/>
        </p:nvSpPr>
        <p:spPr>
          <a:xfrm>
            <a:off x="2290445" y="2924175"/>
            <a:ext cx="7926705" cy="127000"/>
          </a:xfrm>
          <a:prstGeom prst="rect">
            <a:avLst/>
          </a:prstGeom>
          <a:noFill/>
          <a:ln w="25400">
            <a:noFill/>
          </a:ln>
        </p:spPr>
        <p:txBody>
          <a:bodyPr lIns="36000" tIns="0" rIns="0" bIns="0" anchor="t" anchorCtr="0">
            <a:noAutofit/>
          </a:bodyPr>
          <a:p>
            <a:pPr defTabSz="914400">
              <a:spcBef>
                <a:spcPct val="50000"/>
              </a:spcBef>
              <a:tabLst>
                <a:tab pos="4572000" algn="l"/>
              </a:tabLst>
            </a:pPr>
            <a:r>
              <a:rPr lang="zh-CN" altLang="en-US" sz="3100" dirty="0">
                <a:latin typeface="Times New Roman" panose="02020603050405020304" charset="0"/>
                <a:ea typeface="宋体" panose="02010600030101010101" pitchFamily="2" charset="-122"/>
              </a:rPr>
              <a:t>输入电阻                              </a:t>
            </a:r>
            <a:r>
              <a:rPr lang="en-US" altLang="zh-CN" sz="3100" i="1" dirty="0">
                <a:latin typeface="Times New Roman" panose="02020603050405020304" charset="0"/>
                <a:ea typeface="宋体" panose="02010600030101010101" pitchFamily="2" charset="-122"/>
              </a:rPr>
              <a:t>R</a:t>
            </a:r>
            <a:r>
              <a:rPr lang="en-US" altLang="zh-CN" sz="3100" baseline="-25000" dirty="0">
                <a:latin typeface="Times New Roman" panose="02020603050405020304" charset="0"/>
                <a:ea typeface="宋体" panose="02010600030101010101" pitchFamily="2" charset="-122"/>
              </a:rPr>
              <a:t>id</a:t>
            </a:r>
            <a:r>
              <a:rPr lang="en-US" altLang="zh-CN" sz="3100" dirty="0">
                <a:latin typeface="Times New Roman" panose="02020603050405020304" charset="0"/>
                <a:ea typeface="宋体" panose="02010600030101010101" pitchFamily="2" charset="-122"/>
              </a:rPr>
              <a:t>=</a:t>
            </a:r>
            <a:r>
              <a:rPr lang="en-US" altLang="zh-CN" sz="3100" dirty="0">
                <a:latin typeface="Times New Roman" panose="02020603050405020304" charset="0"/>
                <a:ea typeface="宋体" panose="02010600030101010101" pitchFamily="2" charset="-122"/>
                <a:sym typeface="Symbol" panose="05050102010706020507" pitchFamily="18" charset="2"/>
              </a:rPr>
              <a:t></a:t>
            </a:r>
            <a:endParaRPr lang="en-US" altLang="zh-CN" sz="3100" dirty="0">
              <a:latin typeface="Times New Roman" panose="02020603050405020304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18436" name="Rectangle 5"/>
          <p:cNvSpPr/>
          <p:nvPr/>
        </p:nvSpPr>
        <p:spPr>
          <a:xfrm>
            <a:off x="2288540" y="3573780"/>
            <a:ext cx="7906385" cy="127000"/>
          </a:xfrm>
          <a:prstGeom prst="rect">
            <a:avLst/>
          </a:prstGeom>
          <a:noFill/>
          <a:ln w="25400">
            <a:noFill/>
          </a:ln>
        </p:spPr>
        <p:txBody>
          <a:bodyPr lIns="36000" tIns="0" rIns="0" bIns="0" anchor="t" anchorCtr="0">
            <a:noAutofit/>
          </a:bodyPr>
          <a:p>
            <a:pPr>
              <a:spcBef>
                <a:spcPct val="50000"/>
              </a:spcBef>
            </a:pPr>
            <a:r>
              <a:rPr lang="zh-CN" altLang="en-US" sz="3100" dirty="0">
                <a:latin typeface="Times New Roman" panose="02020603050405020304" charset="0"/>
                <a:ea typeface="宋体" panose="02010600030101010101" pitchFamily="2" charset="-122"/>
              </a:rPr>
              <a:t>输出电阻                              </a:t>
            </a:r>
            <a:r>
              <a:rPr lang="en-US" altLang="zh-CN" sz="3100" i="1" dirty="0">
                <a:latin typeface="Times New Roman" panose="02020603050405020304" charset="0"/>
                <a:ea typeface="宋体" panose="02010600030101010101" pitchFamily="2" charset="-122"/>
              </a:rPr>
              <a:t>R</a:t>
            </a:r>
            <a:r>
              <a:rPr lang="en-US" altLang="zh-CN" sz="3100" baseline="-25000" dirty="0">
                <a:latin typeface="Times New Roman" panose="02020603050405020304" charset="0"/>
                <a:ea typeface="宋体" panose="02010600030101010101" pitchFamily="2" charset="-122"/>
              </a:rPr>
              <a:t>o</a:t>
            </a:r>
            <a:r>
              <a:rPr lang="en-US" altLang="zh-CN" sz="3100" dirty="0">
                <a:latin typeface="Times New Roman" panose="02020603050405020304" charset="0"/>
                <a:ea typeface="宋体" panose="02010600030101010101" pitchFamily="2" charset="-122"/>
              </a:rPr>
              <a:t>=0</a:t>
            </a:r>
            <a:endParaRPr lang="en-US" altLang="zh-CN" sz="3100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18437" name="Text Box 6"/>
          <p:cNvSpPr txBox="1"/>
          <p:nvPr/>
        </p:nvSpPr>
        <p:spPr>
          <a:xfrm>
            <a:off x="2291715" y="4221480"/>
            <a:ext cx="7941310" cy="127000"/>
          </a:xfrm>
          <a:prstGeom prst="rect">
            <a:avLst/>
          </a:prstGeom>
          <a:noFill/>
          <a:ln w="25400">
            <a:noFill/>
          </a:ln>
        </p:spPr>
        <p:txBody>
          <a:bodyPr lIns="36000" tIns="0" rIns="0" bIns="0" anchor="t" anchorCtr="0">
            <a:noAutofit/>
          </a:bodyPr>
          <a:p>
            <a:pPr>
              <a:spcBef>
                <a:spcPct val="50000"/>
              </a:spcBef>
            </a:pPr>
            <a:r>
              <a:rPr lang="zh-CN" altLang="en-US" sz="3100" dirty="0">
                <a:latin typeface="Times New Roman" panose="02020603050405020304" charset="0"/>
                <a:ea typeface="宋体" panose="02010600030101010101" pitchFamily="2" charset="-122"/>
              </a:rPr>
              <a:t>输入偏置电流                      </a:t>
            </a:r>
            <a:r>
              <a:rPr lang="en-US" altLang="zh-CN" sz="3100" dirty="0">
                <a:latin typeface="Times New Roman" panose="02020603050405020304" charset="0"/>
                <a:ea typeface="宋体" panose="02010600030101010101" pitchFamily="2" charset="-122"/>
              </a:rPr>
              <a:t>I</a:t>
            </a:r>
            <a:r>
              <a:rPr lang="en-US" altLang="zh-CN" sz="3100" baseline="-25000" dirty="0">
                <a:latin typeface="Times New Roman" panose="02020603050405020304" charset="0"/>
                <a:ea typeface="宋体" panose="02010600030101010101" pitchFamily="2" charset="-122"/>
              </a:rPr>
              <a:t>IB</a:t>
            </a:r>
            <a:r>
              <a:rPr lang="en-US" altLang="zh-CN" sz="3100" dirty="0">
                <a:latin typeface="Times New Roman" panose="02020603050405020304" charset="0"/>
                <a:ea typeface="宋体" panose="02010600030101010101" pitchFamily="2" charset="-122"/>
              </a:rPr>
              <a:t>=0</a:t>
            </a:r>
            <a:endParaRPr lang="en-US" altLang="zh-CN" sz="3100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18438" name="Text Box 7"/>
          <p:cNvSpPr txBox="1"/>
          <p:nvPr/>
        </p:nvSpPr>
        <p:spPr>
          <a:xfrm>
            <a:off x="2291715" y="4869180"/>
            <a:ext cx="7941310" cy="127000"/>
          </a:xfrm>
          <a:prstGeom prst="rect">
            <a:avLst/>
          </a:prstGeom>
          <a:noFill/>
          <a:ln w="25400">
            <a:noFill/>
          </a:ln>
        </p:spPr>
        <p:txBody>
          <a:bodyPr lIns="36000" tIns="0" rIns="0" bIns="0" anchor="t" anchorCtr="0">
            <a:noAutofit/>
          </a:bodyPr>
          <a:p>
            <a:pPr>
              <a:spcBef>
                <a:spcPct val="50000"/>
              </a:spcBef>
            </a:pPr>
            <a:r>
              <a:rPr lang="zh-CN" altLang="en-US" sz="3100" dirty="0">
                <a:latin typeface="Times New Roman" panose="02020603050405020304" charset="0"/>
                <a:ea typeface="宋体" panose="02010600030101010101" pitchFamily="2" charset="-122"/>
              </a:rPr>
              <a:t>输入失调电流                      </a:t>
            </a:r>
            <a:r>
              <a:rPr lang="en-US" altLang="zh-CN" sz="3100" dirty="0">
                <a:latin typeface="Times New Roman" panose="02020603050405020304" charset="0"/>
                <a:ea typeface="宋体" panose="02010600030101010101" pitchFamily="2" charset="-122"/>
              </a:rPr>
              <a:t>I</a:t>
            </a:r>
            <a:r>
              <a:rPr lang="en-US" altLang="zh-CN" sz="3100" baseline="-25000" dirty="0">
                <a:latin typeface="Times New Roman" panose="02020603050405020304" charset="0"/>
                <a:ea typeface="宋体" panose="02010600030101010101" pitchFamily="2" charset="-122"/>
              </a:rPr>
              <a:t>IO</a:t>
            </a:r>
            <a:r>
              <a:rPr lang="en-US" altLang="zh-CN" sz="3100" dirty="0">
                <a:latin typeface="Times New Roman" panose="02020603050405020304" charset="0"/>
                <a:ea typeface="宋体" panose="02010600030101010101" pitchFamily="2" charset="-122"/>
              </a:rPr>
              <a:t>=0</a:t>
            </a:r>
            <a:endParaRPr lang="en-US" altLang="zh-CN" sz="3100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18439" name="Text Box 8"/>
          <p:cNvSpPr txBox="1"/>
          <p:nvPr/>
        </p:nvSpPr>
        <p:spPr>
          <a:xfrm>
            <a:off x="2286635" y="5589905"/>
            <a:ext cx="7887970" cy="127000"/>
          </a:xfrm>
          <a:prstGeom prst="rect">
            <a:avLst/>
          </a:prstGeom>
          <a:noFill/>
          <a:ln w="25400">
            <a:noFill/>
          </a:ln>
        </p:spPr>
        <p:txBody>
          <a:bodyPr lIns="36000" tIns="0" rIns="0" bIns="0" anchor="t" anchorCtr="0">
            <a:noAutofit/>
          </a:bodyPr>
          <a:p>
            <a:pPr>
              <a:spcBef>
                <a:spcPct val="50000"/>
              </a:spcBef>
            </a:pPr>
            <a:r>
              <a:rPr lang="zh-CN" altLang="en-US" sz="3100" dirty="0">
                <a:latin typeface="Times New Roman" panose="02020603050405020304" charset="0"/>
                <a:ea typeface="宋体" panose="02010600030101010101" pitchFamily="2" charset="-122"/>
              </a:rPr>
              <a:t>输入失调电压                      </a:t>
            </a:r>
            <a:r>
              <a:rPr lang="en-US" altLang="zh-CN" sz="3100" dirty="0">
                <a:latin typeface="Times New Roman" panose="02020603050405020304" charset="0"/>
                <a:ea typeface="宋体" panose="02010600030101010101" pitchFamily="2" charset="-122"/>
              </a:rPr>
              <a:t>U</a:t>
            </a:r>
            <a:r>
              <a:rPr lang="en-US" altLang="zh-CN" sz="3100" baseline="-25000" dirty="0">
                <a:latin typeface="Times New Roman" panose="02020603050405020304" charset="0"/>
                <a:ea typeface="宋体" panose="02010600030101010101" pitchFamily="2" charset="-122"/>
              </a:rPr>
              <a:t>IO</a:t>
            </a:r>
            <a:r>
              <a:rPr lang="en-US" altLang="zh-CN" sz="3100" dirty="0">
                <a:latin typeface="Times New Roman" panose="02020603050405020304" charset="0"/>
                <a:ea typeface="宋体" panose="02010600030101010101" pitchFamily="2" charset="-122"/>
              </a:rPr>
              <a:t>=0</a:t>
            </a:r>
            <a:endParaRPr lang="en-US" altLang="zh-CN" sz="3100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18440" name="Text Box 9"/>
          <p:cNvSpPr txBox="1"/>
          <p:nvPr/>
        </p:nvSpPr>
        <p:spPr>
          <a:xfrm>
            <a:off x="2254885" y="6164580"/>
            <a:ext cx="7927975" cy="127000"/>
          </a:xfrm>
          <a:prstGeom prst="rect">
            <a:avLst/>
          </a:prstGeom>
          <a:noFill/>
          <a:ln w="25400">
            <a:noFill/>
          </a:ln>
        </p:spPr>
        <p:txBody>
          <a:bodyPr lIns="36000" tIns="0" rIns="0" bIns="0" anchor="t" anchorCtr="0">
            <a:noAutofit/>
          </a:bodyPr>
          <a:p>
            <a:pPr>
              <a:spcBef>
                <a:spcPct val="50000"/>
              </a:spcBef>
            </a:pPr>
            <a:r>
              <a:rPr lang="zh-CN" altLang="en-US" sz="3100" dirty="0">
                <a:latin typeface="Times New Roman" panose="02020603050405020304" charset="0"/>
                <a:ea typeface="宋体" panose="02010600030101010101" pitchFamily="2" charset="-122"/>
              </a:rPr>
              <a:t>开环带宽                              </a:t>
            </a:r>
            <a:r>
              <a:rPr lang="en-US" altLang="zh-CN" sz="3100" dirty="0">
                <a:latin typeface="Times New Roman" panose="02020603050405020304" charset="0"/>
                <a:ea typeface="宋体" panose="02010600030101010101" pitchFamily="2" charset="-122"/>
              </a:rPr>
              <a:t>f</a:t>
            </a:r>
            <a:r>
              <a:rPr lang="en-US" altLang="zh-CN" sz="3100" baseline="-25000" dirty="0">
                <a:latin typeface="Times New Roman" panose="02020603050405020304" charset="0"/>
                <a:ea typeface="宋体" panose="02010600030101010101" pitchFamily="2" charset="-122"/>
              </a:rPr>
              <a:t>H</a:t>
            </a:r>
            <a:r>
              <a:rPr lang="en-US" altLang="zh-CN" sz="3100" dirty="0">
                <a:latin typeface="Times New Roman" panose="02020603050405020304" charset="0"/>
                <a:ea typeface="宋体" panose="02010600030101010101" pitchFamily="2" charset="-122"/>
              </a:rPr>
              <a:t>= </a:t>
            </a:r>
            <a:r>
              <a:rPr lang="en-US" altLang="zh-CN" sz="3100" dirty="0">
                <a:latin typeface="Times New Roman" panose="02020603050405020304" charset="0"/>
                <a:ea typeface="宋体" panose="02010600030101010101" pitchFamily="2" charset="-122"/>
                <a:sym typeface="Symbol" panose="05050102010706020507" pitchFamily="18" charset="2"/>
              </a:rPr>
              <a:t></a:t>
            </a:r>
            <a:endParaRPr lang="en-US" altLang="zh-CN" sz="3100" dirty="0">
              <a:latin typeface="Times New Roman" panose="02020603050405020304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pic>
        <p:nvPicPr>
          <p:cNvPr id="18441" name="Picture 10" descr="4"/>
          <p:cNvPicPr>
            <a:picLocks noChangeAspect="1"/>
          </p:cNvPicPr>
          <p:nvPr/>
        </p:nvPicPr>
        <p:blipFill>
          <a:blip r:embed="rId1">
            <a:clrChange>
              <a:clrFrom>
                <a:srgbClr val="FAFAFA"/>
              </a:clrFrom>
              <a:clrTo>
                <a:srgbClr val="FAFAFA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472170" y="2060575"/>
            <a:ext cx="2788285" cy="24352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8442" name="Text Box 11"/>
          <p:cNvSpPr txBox="1"/>
          <p:nvPr/>
        </p:nvSpPr>
        <p:spPr>
          <a:xfrm>
            <a:off x="1919605" y="332740"/>
            <a:ext cx="7121525" cy="127000"/>
          </a:xfrm>
          <a:prstGeom prst="rect">
            <a:avLst/>
          </a:prstGeom>
          <a:noFill/>
          <a:ln w="9525">
            <a:noFill/>
          </a:ln>
        </p:spPr>
        <p:txBody>
          <a:bodyPr lIns="36000" tIns="0" rIns="0" bIns="0" anchor="ctr" anchorCtr="0">
            <a:noAutofit/>
          </a:bodyPr>
          <a:p>
            <a:r>
              <a:rPr lang="zh-CN" altLang="en-US" sz="3100" b="1" dirty="0">
                <a:latin typeface="宋体" panose="02010600030101010101" pitchFamily="2" charset="-122"/>
                <a:ea typeface="宋体" panose="02010600030101010101" pitchFamily="2" charset="-122"/>
              </a:rPr>
              <a:t>二、  集成运算放大器的理想化模型</a:t>
            </a:r>
            <a:endParaRPr lang="zh-CN" altLang="en-US" sz="31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8443" name="Rectangle 12"/>
          <p:cNvSpPr/>
          <p:nvPr/>
        </p:nvSpPr>
        <p:spPr>
          <a:xfrm>
            <a:off x="1908810" y="836930"/>
            <a:ext cx="3982720" cy="127000"/>
          </a:xfrm>
          <a:prstGeom prst="rect">
            <a:avLst/>
          </a:prstGeom>
          <a:noFill/>
          <a:ln w="25400">
            <a:noFill/>
          </a:ln>
        </p:spPr>
        <p:txBody>
          <a:bodyPr wrap="none" lIns="36000" tIns="0" rIns="0" bIns="0" anchor="t" anchorCtr="0">
            <a:noAutofit/>
          </a:bodyPr>
          <a:p>
            <a:pPr>
              <a:spcBef>
                <a:spcPct val="50000"/>
              </a:spcBef>
            </a:pPr>
            <a:r>
              <a:rPr lang="zh-CN" altLang="en-US" sz="3100" dirty="0">
                <a:latin typeface="Times New Roman" panose="02020603050405020304" charset="0"/>
                <a:ea typeface="宋体" panose="02010600030101010101" pitchFamily="2" charset="-122"/>
              </a:rPr>
              <a:t>理想运算放大器的条件：</a:t>
            </a:r>
            <a:endParaRPr lang="zh-CN" altLang="en-US" sz="3100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42" name="Text Box 11"/>
          <p:cNvSpPr txBox="1"/>
          <p:nvPr/>
        </p:nvSpPr>
        <p:spPr>
          <a:xfrm>
            <a:off x="551180" y="205740"/>
            <a:ext cx="7425055" cy="631190"/>
          </a:xfrm>
          <a:prstGeom prst="rect">
            <a:avLst/>
          </a:prstGeom>
          <a:noFill/>
          <a:ln w="9525">
            <a:noFill/>
          </a:ln>
        </p:spPr>
        <p:txBody>
          <a:bodyPr lIns="36000" tIns="0" rIns="0" bIns="0" anchor="ctr" anchorCtr="0">
            <a:noAutofit/>
          </a:bodyPr>
          <a:p>
            <a:r>
              <a:rPr lang="zh-CN" altLang="en-US" sz="3100" b="1" dirty="0">
                <a:latin typeface="宋体" panose="02010600030101010101" pitchFamily="2" charset="-122"/>
                <a:ea typeface="宋体" panose="02010600030101010101" pitchFamily="2" charset="-122"/>
              </a:rPr>
              <a:t>共模信号与差模</a:t>
            </a:r>
            <a:r>
              <a:rPr lang="zh-CN" altLang="en-US" sz="3100" b="1" dirty="0">
                <a:latin typeface="宋体" panose="02010600030101010101" pitchFamily="2" charset="-122"/>
                <a:ea typeface="宋体" panose="02010600030101010101" pitchFamily="2" charset="-122"/>
              </a:rPr>
              <a:t>信号</a:t>
            </a:r>
            <a:endParaRPr lang="zh-CN" altLang="en-US" sz="31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79425" y="1583055"/>
            <a:ext cx="11262995" cy="48456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000"/>
              <a:t>准确定义</a:t>
            </a:r>
            <a:r>
              <a:rPr lang="en-US" altLang="zh-CN" sz="2000"/>
              <a:t>‌</a:t>
            </a:r>
            <a:r>
              <a:rPr lang="zh-CN" altLang="en-US" sz="2000"/>
              <a:t>：</a:t>
            </a:r>
            <a:endParaRPr lang="en-US" altLang="zh-CN" sz="2000"/>
          </a:p>
          <a:p>
            <a:r>
              <a:rPr lang="zh-CN" altLang="en-US" sz="2000"/>
              <a:t>共模信号指同时出现在差分系统两个输入端的相同信号，其幅度、相位和极性均一致，以共同参考点（如地）为基准</a:t>
            </a:r>
            <a:r>
              <a:rPr lang="en-US" altLang="zh-CN" sz="2000"/>
              <a:t>‌</a:t>
            </a:r>
            <a:r>
              <a:rPr lang="zh-CN" altLang="en-US" sz="2000"/>
              <a:t>。例如双线电缆中两根导线对地同时存在的相同干扰电压</a:t>
            </a:r>
            <a:r>
              <a:rPr lang="en-US" altLang="zh-CN" sz="2000"/>
              <a:t>‌</a:t>
            </a:r>
            <a:r>
              <a:rPr lang="zh-CN" altLang="en-US" sz="2000"/>
              <a:t>。</a:t>
            </a:r>
            <a:endParaRPr lang="zh-CN" altLang="en-US" sz="2000"/>
          </a:p>
          <a:p>
            <a:endParaRPr lang="en-US" altLang="zh-CN" sz="2000"/>
          </a:p>
          <a:p>
            <a:r>
              <a:rPr lang="en-US" altLang="zh-CN" sz="2000"/>
              <a:t>‌</a:t>
            </a:r>
            <a:r>
              <a:rPr lang="zh-CN" altLang="en-US" sz="2000"/>
              <a:t>通俗解释</a:t>
            </a:r>
            <a:r>
              <a:rPr lang="en-US" altLang="zh-CN" sz="2000"/>
              <a:t>‌</a:t>
            </a:r>
            <a:r>
              <a:rPr lang="zh-CN" altLang="en-US" sz="2000"/>
              <a:t>：</a:t>
            </a:r>
            <a:endParaRPr lang="en-US" altLang="zh-CN" sz="2000"/>
          </a:p>
          <a:p>
            <a:r>
              <a:rPr lang="zh-CN" altLang="en-US" sz="2000"/>
              <a:t>想象两艘船同时随水位上升</a:t>
            </a:r>
            <a:r>
              <a:rPr lang="en-US" altLang="zh-CN" sz="2000"/>
              <a:t>/</a:t>
            </a:r>
            <a:r>
              <a:rPr lang="zh-CN" altLang="en-US" sz="2000"/>
              <a:t>下降，船上两人感受到的高度变化完全相同。此时两船的</a:t>
            </a:r>
            <a:r>
              <a:rPr lang="en-US" altLang="zh-CN" sz="2000"/>
              <a:t>“</a:t>
            </a:r>
            <a:r>
              <a:rPr lang="zh-CN" altLang="en-US" sz="2000"/>
              <a:t>绝对高度</a:t>
            </a:r>
            <a:r>
              <a:rPr lang="en-US" altLang="zh-CN" sz="2000"/>
              <a:t>”</a:t>
            </a:r>
            <a:r>
              <a:rPr lang="zh-CN" altLang="en-US" sz="2000"/>
              <a:t>就是共模信号</a:t>
            </a:r>
            <a:r>
              <a:rPr lang="en-US" altLang="zh-CN" sz="2000"/>
              <a:t>——</a:t>
            </a:r>
            <a:r>
              <a:rPr lang="zh-CN" altLang="en-US" sz="2000"/>
              <a:t>它们共同受到外界水位变化的影响，但两人之间不会因此产生拉力差</a:t>
            </a:r>
            <a:r>
              <a:rPr lang="en-US" altLang="zh-CN" sz="2000"/>
              <a:t>‌</a:t>
            </a:r>
            <a:r>
              <a:rPr lang="zh-CN" altLang="en-US" sz="2000"/>
              <a:t>。</a:t>
            </a:r>
            <a:endParaRPr lang="zh-CN" altLang="en-US" sz="2000"/>
          </a:p>
          <a:p>
            <a:endParaRPr lang="en-US" altLang="zh-CN" sz="2000"/>
          </a:p>
          <a:p>
            <a:r>
              <a:rPr lang="en-US" altLang="zh-CN" sz="2000"/>
              <a:t>‌</a:t>
            </a:r>
            <a:r>
              <a:rPr lang="zh-CN" altLang="en-US" sz="2000"/>
              <a:t>关键特性</a:t>
            </a:r>
            <a:r>
              <a:rPr lang="en-US" altLang="zh-CN" sz="2000"/>
              <a:t>‌</a:t>
            </a:r>
            <a:r>
              <a:rPr lang="zh-CN" altLang="en-US" sz="2000"/>
              <a:t>：</a:t>
            </a:r>
            <a:endParaRPr lang="en-US" altLang="zh-CN" sz="2000"/>
          </a:p>
          <a:p>
            <a:r>
              <a:rPr lang="en-US" altLang="zh-CN" sz="2000"/>
              <a:t>1</a:t>
            </a:r>
            <a:r>
              <a:rPr lang="zh-CN" altLang="en-US" sz="2000"/>
              <a:t>）干扰源：电磁辐射、电源噪声、地电位差等</a:t>
            </a:r>
            <a:r>
              <a:rPr lang="en-US" altLang="zh-CN" sz="2000"/>
              <a:t>‌</a:t>
            </a:r>
            <a:endParaRPr lang="en-US" altLang="zh-CN" sz="2000"/>
          </a:p>
          <a:p>
            <a:r>
              <a:rPr lang="en-US" altLang="zh-CN" sz="2000"/>
              <a:t>2</a:t>
            </a:r>
            <a:r>
              <a:rPr lang="zh-CN" altLang="en-US" sz="2000"/>
              <a:t>）危害：当电路阻抗不平衡时，共模信号会转化为差模噪声（如信号线一端接地时，共模干扰全部转为差模干扰）</a:t>
            </a:r>
            <a:r>
              <a:rPr lang="en-US" altLang="zh-CN" sz="2000"/>
              <a:t>‌</a:t>
            </a:r>
            <a:endParaRPr lang="en-US" altLang="zh-CN" sz="2000"/>
          </a:p>
          <a:p>
            <a:r>
              <a:rPr lang="en-US" altLang="zh-CN" sz="2000"/>
              <a:t>3</a:t>
            </a:r>
            <a:r>
              <a:rPr lang="zh-CN" altLang="en-US" sz="2000"/>
              <a:t>）抑制手段：差分放大、双绞线传输、共模扼流圈</a:t>
            </a:r>
            <a:r>
              <a:rPr lang="en-US" altLang="zh-CN"/>
              <a:t>‌</a:t>
            </a:r>
            <a:endParaRPr lang="en-US" altLang="zh-CN"/>
          </a:p>
        </p:txBody>
      </p:sp>
      <p:sp>
        <p:nvSpPr>
          <p:cNvPr id="6" name="文本框 5"/>
          <p:cNvSpPr txBox="1"/>
          <p:nvPr/>
        </p:nvSpPr>
        <p:spPr>
          <a:xfrm>
            <a:off x="551180" y="908685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</a:rPr>
              <a:t>共模信号</a:t>
            </a:r>
            <a:endParaRPr lang="zh-CN" altLang="en-US" sz="2400">
              <a:solidFill>
                <a:srgbClr val="FF0000"/>
              </a:solidFill>
              <a:latin typeface="华文新魏" panose="02010800040101010101" charset="-122"/>
              <a:ea typeface="华文新魏" panose="02010800040101010101" charset="-122"/>
            </a:endParaRP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42" name="Text Box 11"/>
          <p:cNvSpPr txBox="1"/>
          <p:nvPr/>
        </p:nvSpPr>
        <p:spPr>
          <a:xfrm>
            <a:off x="551180" y="205740"/>
            <a:ext cx="7425055" cy="631190"/>
          </a:xfrm>
          <a:prstGeom prst="rect">
            <a:avLst/>
          </a:prstGeom>
          <a:noFill/>
          <a:ln w="9525">
            <a:noFill/>
          </a:ln>
        </p:spPr>
        <p:txBody>
          <a:bodyPr lIns="36000" tIns="0" rIns="0" bIns="0" anchor="ctr" anchorCtr="0">
            <a:noAutofit/>
          </a:bodyPr>
          <a:p>
            <a:r>
              <a:rPr lang="zh-CN" altLang="en-US" sz="3100" b="1" dirty="0">
                <a:latin typeface="宋体" panose="02010600030101010101" pitchFamily="2" charset="-122"/>
                <a:ea typeface="宋体" panose="02010600030101010101" pitchFamily="2" charset="-122"/>
              </a:rPr>
              <a:t>共模信号与差模</a:t>
            </a:r>
            <a:r>
              <a:rPr lang="zh-CN" altLang="en-US" sz="3100" b="1" dirty="0">
                <a:latin typeface="宋体" panose="02010600030101010101" pitchFamily="2" charset="-122"/>
                <a:ea typeface="宋体" panose="02010600030101010101" pitchFamily="2" charset="-122"/>
              </a:rPr>
              <a:t>信号</a:t>
            </a:r>
            <a:endParaRPr lang="zh-CN" altLang="en-US" sz="31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79425" y="1583055"/>
            <a:ext cx="11262995" cy="48456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000"/>
              <a:t>准确定义</a:t>
            </a:r>
            <a:r>
              <a:rPr lang="en-US" altLang="zh-CN" sz="2000"/>
              <a:t>‌</a:t>
            </a:r>
            <a:r>
              <a:rPr lang="zh-CN" altLang="en-US" sz="2000"/>
              <a:t>：</a:t>
            </a:r>
            <a:endParaRPr lang="en-US" altLang="zh-CN" sz="2000"/>
          </a:p>
          <a:p>
            <a:r>
              <a:rPr lang="zh-CN" altLang="en-US" sz="2000"/>
              <a:t>差模信号是差分系统中两个输入端之间的有效信号，表现为幅度相同但极性相反的电压差，信号能量通过两根导线形成闭环回路</a:t>
            </a:r>
            <a:r>
              <a:rPr lang="en-US" altLang="zh-CN" sz="2000"/>
              <a:t>‌</a:t>
            </a:r>
            <a:r>
              <a:rPr lang="zh-CN" altLang="en-US" sz="2000"/>
              <a:t>。</a:t>
            </a:r>
            <a:endParaRPr lang="zh-CN" altLang="en-US" sz="2000"/>
          </a:p>
          <a:p>
            <a:endParaRPr lang="en-US" altLang="zh-CN" sz="2000"/>
          </a:p>
          <a:p>
            <a:r>
              <a:rPr lang="en-US" altLang="zh-CN" sz="2000"/>
              <a:t>‌</a:t>
            </a:r>
            <a:r>
              <a:rPr lang="zh-CN" altLang="en-US" sz="2000"/>
              <a:t>通俗解释：</a:t>
            </a:r>
            <a:r>
              <a:rPr lang="en-US" altLang="zh-CN" sz="2000"/>
              <a:t>‌</a:t>
            </a:r>
            <a:endParaRPr lang="en-US" altLang="zh-CN" sz="2000"/>
          </a:p>
          <a:p>
            <a:r>
              <a:rPr lang="zh-CN" altLang="en-US" sz="2000"/>
              <a:t>两人在跷跷板两端上下运动：当一人升高</a:t>
            </a:r>
            <a:r>
              <a:rPr lang="en-US" altLang="zh-CN" sz="2000"/>
              <a:t>10cm</a:t>
            </a:r>
            <a:r>
              <a:rPr lang="zh-CN" altLang="en-US" sz="2000"/>
              <a:t>、另一人降低</a:t>
            </a:r>
            <a:r>
              <a:rPr lang="en-US" altLang="zh-CN" sz="2000"/>
              <a:t>10cm</a:t>
            </a:r>
            <a:r>
              <a:rPr lang="zh-CN" altLang="en-US" sz="2000"/>
              <a:t>时，两人之间的高度差（</a:t>
            </a:r>
            <a:r>
              <a:rPr lang="en-US" altLang="zh-CN" sz="2000"/>
              <a:t>20cm</a:t>
            </a:r>
            <a:r>
              <a:rPr lang="zh-CN" altLang="en-US" sz="2000"/>
              <a:t>）就是差模信号。这种</a:t>
            </a:r>
            <a:r>
              <a:rPr lang="en-US" altLang="zh-CN" sz="2000"/>
              <a:t>“</a:t>
            </a:r>
            <a:r>
              <a:rPr lang="zh-CN" altLang="en-US" sz="2000"/>
              <a:t>相对变化</a:t>
            </a:r>
            <a:r>
              <a:rPr lang="en-US" altLang="zh-CN" sz="2000"/>
              <a:t>”</a:t>
            </a:r>
            <a:r>
              <a:rPr lang="zh-CN" altLang="en-US" sz="2000"/>
              <a:t>才是传递信息的核心</a:t>
            </a:r>
            <a:r>
              <a:rPr lang="en-US" altLang="zh-CN" sz="2000"/>
              <a:t>‌</a:t>
            </a:r>
            <a:r>
              <a:rPr lang="zh-CN" altLang="en-US" sz="2000"/>
              <a:t>。</a:t>
            </a:r>
            <a:endParaRPr lang="zh-CN" altLang="en-US" sz="2000"/>
          </a:p>
          <a:p>
            <a:endParaRPr lang="en-US" altLang="zh-CN" sz="2000"/>
          </a:p>
          <a:p>
            <a:r>
              <a:rPr lang="en-US" altLang="zh-CN" sz="2000"/>
              <a:t>‌</a:t>
            </a:r>
            <a:r>
              <a:rPr lang="zh-CN" altLang="en-US" sz="2000"/>
              <a:t>关键特性</a:t>
            </a:r>
            <a:r>
              <a:rPr lang="en-US" altLang="zh-CN" sz="2000"/>
              <a:t>‌</a:t>
            </a:r>
            <a:r>
              <a:rPr lang="zh-CN" altLang="en-US" sz="2000"/>
              <a:t>：</a:t>
            </a:r>
            <a:endParaRPr lang="en-US" altLang="zh-CN" sz="2000"/>
          </a:p>
          <a:p>
            <a:r>
              <a:rPr lang="en-US" altLang="zh-CN" sz="2000"/>
              <a:t>1</a:t>
            </a:r>
            <a:r>
              <a:rPr lang="zh-CN" altLang="en-US" sz="2000"/>
              <a:t>）有效信号：传感器测量信号、通信数据等</a:t>
            </a:r>
            <a:r>
              <a:rPr lang="en-US" altLang="zh-CN" sz="2000"/>
              <a:t>‌</a:t>
            </a:r>
            <a:endParaRPr lang="en-US" altLang="zh-CN" sz="2000"/>
          </a:p>
          <a:p>
            <a:r>
              <a:rPr lang="en-US" altLang="zh-CN" sz="2000"/>
              <a:t>2</a:t>
            </a:r>
            <a:r>
              <a:rPr lang="zh-CN" altLang="en-US" sz="2000"/>
              <a:t>）抗干扰原理：双绞线通过对称结构使共模干扰在两根线上均等分布，差模信号不受影响</a:t>
            </a:r>
            <a:r>
              <a:rPr lang="en-US" altLang="zh-CN" sz="2000"/>
              <a:t>‌</a:t>
            </a:r>
            <a:endParaRPr lang="en-US" altLang="zh-CN" sz="2000"/>
          </a:p>
          <a:p>
            <a:r>
              <a:rPr lang="en-US" altLang="zh-CN" sz="2000"/>
              <a:t>3</a:t>
            </a:r>
            <a:r>
              <a:rPr lang="zh-CN" altLang="en-US" sz="2000"/>
              <a:t>）传输优势：对外部电磁干扰具有天然抵消能力</a:t>
            </a:r>
            <a:r>
              <a:rPr lang="en-US" altLang="zh-CN" sz="2000"/>
              <a:t>‌</a:t>
            </a:r>
            <a:endParaRPr lang="en-US" altLang="zh-CN" sz="2000"/>
          </a:p>
        </p:txBody>
      </p:sp>
      <p:sp>
        <p:nvSpPr>
          <p:cNvPr id="6" name="文本框 5"/>
          <p:cNvSpPr txBox="1"/>
          <p:nvPr/>
        </p:nvSpPr>
        <p:spPr>
          <a:xfrm>
            <a:off x="551180" y="981075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</a:rPr>
              <a:t>差模信号</a:t>
            </a:r>
            <a:endParaRPr lang="zh-CN" altLang="en-US" sz="2400">
              <a:solidFill>
                <a:srgbClr val="FF0000"/>
              </a:solidFill>
              <a:latin typeface="华文新魏" panose="02010800040101010101" charset="-122"/>
              <a:ea typeface="华文新魏" panose="02010800040101010101" charset="-122"/>
            </a:endParaRP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335280" y="669925"/>
            <a:ext cx="11262995" cy="17392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457200"/>
            <a:r>
              <a:rPr lang="zh-CN" altLang="en-US" sz="2000"/>
              <a:t>在工业生产中传输数据时。有用信号就是差模信号，其通过两条导线的</a:t>
            </a:r>
            <a:r>
              <a:rPr lang="en-US" altLang="zh-CN" sz="2000"/>
              <a:t>‌</a:t>
            </a:r>
            <a:r>
              <a:rPr lang="zh-CN" altLang="en-US" sz="2000"/>
              <a:t>电压差</a:t>
            </a:r>
            <a:r>
              <a:rPr lang="en-US" altLang="zh-CN" sz="2000"/>
              <a:t>‌</a:t>
            </a:r>
            <a:r>
              <a:rPr lang="zh-CN" altLang="en-US" sz="2000"/>
              <a:t>传递信息，而两条导线上的干扰信号就是共模干扰（如电磁辐射、电源噪声）会以</a:t>
            </a:r>
            <a:r>
              <a:rPr lang="en-US" altLang="zh-CN" sz="2000"/>
              <a:t>‌</a:t>
            </a:r>
            <a:r>
              <a:rPr lang="zh-CN" altLang="en-US" sz="2000"/>
              <a:t>相同幅度和相位</a:t>
            </a:r>
            <a:r>
              <a:rPr lang="en-US" altLang="zh-CN" sz="2000"/>
              <a:t>‌</a:t>
            </a:r>
            <a:r>
              <a:rPr lang="zh-CN" altLang="en-US" sz="2000"/>
              <a:t>同时作用于两线。</a:t>
            </a:r>
            <a:endParaRPr lang="zh-CN" altLang="en-US" sz="2000"/>
          </a:p>
          <a:p>
            <a:pPr indent="457200"/>
            <a:r>
              <a:rPr lang="zh-CN" altLang="en-US" sz="2000"/>
              <a:t>所以常见有两种传输方式：</a:t>
            </a:r>
            <a:endParaRPr lang="zh-CN" altLang="en-US" sz="2000"/>
          </a:p>
          <a:p>
            <a:endParaRPr lang="zh-CN" altLang="en-US" sz="2000"/>
          </a:p>
          <a:p>
            <a:r>
              <a:rPr lang="en-US" altLang="zh-CN" sz="2000"/>
              <a:t>‌</a:t>
            </a:r>
            <a:endParaRPr lang="zh-CN" altLang="en-US" sz="2000"/>
          </a:p>
        </p:txBody>
      </p:sp>
      <p:sp>
        <p:nvSpPr>
          <p:cNvPr id="3" name="文本框 2"/>
          <p:cNvSpPr txBox="1"/>
          <p:nvPr/>
        </p:nvSpPr>
        <p:spPr>
          <a:xfrm>
            <a:off x="407035" y="1772920"/>
            <a:ext cx="4995545" cy="28555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2000" b="1">
                <a:sym typeface="+mn-ea"/>
              </a:rPr>
              <a:t>1</a:t>
            </a:r>
            <a:r>
              <a:rPr lang="zh-CN" altLang="en-US" sz="2000" b="1">
                <a:sym typeface="+mn-ea"/>
              </a:rPr>
              <a:t>）单端接地</a:t>
            </a:r>
            <a:endParaRPr lang="en-US" altLang="zh-CN" sz="2000" b="1"/>
          </a:p>
          <a:p>
            <a:r>
              <a:rPr lang="en-US" altLang="zh-CN" sz="2000">
                <a:sym typeface="+mn-ea"/>
              </a:rPr>
              <a:t>‌</a:t>
            </a:r>
            <a:r>
              <a:rPr lang="zh-CN" altLang="en-US" sz="2000">
                <a:sym typeface="+mn-ea"/>
              </a:rPr>
              <a:t>原理</a:t>
            </a:r>
            <a:r>
              <a:rPr lang="en-US" altLang="zh-CN" sz="2000">
                <a:sym typeface="+mn-ea"/>
              </a:rPr>
              <a:t>‌</a:t>
            </a:r>
            <a:r>
              <a:rPr lang="zh-CN" altLang="en-US" sz="2000">
                <a:sym typeface="+mn-ea"/>
              </a:rPr>
              <a:t>：一条线传输信号，另一条线接地（非对称结构）。</a:t>
            </a:r>
            <a:endParaRPr lang="zh-CN" altLang="en-US" sz="2000"/>
          </a:p>
          <a:p>
            <a:r>
              <a:rPr lang="en-US" altLang="zh-CN" sz="2000">
                <a:sym typeface="+mn-ea"/>
              </a:rPr>
              <a:t>‌</a:t>
            </a:r>
            <a:r>
              <a:rPr lang="zh-CN" altLang="en-US" sz="2000">
                <a:sym typeface="+mn-ea"/>
              </a:rPr>
              <a:t>缺点</a:t>
            </a:r>
            <a:r>
              <a:rPr lang="en-US" altLang="zh-CN" sz="2000">
                <a:sym typeface="+mn-ea"/>
              </a:rPr>
              <a:t>‌</a:t>
            </a:r>
            <a:r>
              <a:rPr lang="zh-CN" altLang="en-US" sz="2000">
                <a:sym typeface="+mn-ea"/>
              </a:rPr>
              <a:t>：</a:t>
            </a:r>
            <a:endParaRPr lang="zh-CN" altLang="en-US" sz="2000"/>
          </a:p>
          <a:p>
            <a:pPr indent="457200"/>
            <a:r>
              <a:rPr lang="en-US" altLang="zh-CN" sz="2000">
                <a:sym typeface="+mn-ea"/>
              </a:rPr>
              <a:t>1</a:t>
            </a:r>
            <a:r>
              <a:rPr lang="zh-CN" altLang="en-US" sz="2000">
                <a:sym typeface="+mn-ea"/>
              </a:rPr>
              <a:t>）共模干扰直接转为差模噪声</a:t>
            </a:r>
            <a:endParaRPr lang="zh-CN" altLang="en-US" sz="2000">
              <a:sym typeface="+mn-ea"/>
            </a:endParaRPr>
          </a:p>
          <a:p>
            <a:pPr indent="457200"/>
            <a:r>
              <a:rPr lang="en-US" altLang="zh-CN" sz="2000">
                <a:sym typeface="+mn-ea"/>
              </a:rPr>
              <a:t>2</a:t>
            </a:r>
            <a:r>
              <a:rPr lang="zh-CN" altLang="en-US" sz="2000">
                <a:sym typeface="+mn-ea"/>
              </a:rPr>
              <a:t>）易受地环路影响。</a:t>
            </a:r>
            <a:endParaRPr lang="zh-CN" altLang="en-US" sz="2000"/>
          </a:p>
          <a:p>
            <a:r>
              <a:rPr lang="en-US" altLang="zh-CN" sz="2000">
                <a:sym typeface="+mn-ea"/>
              </a:rPr>
              <a:t>‌</a:t>
            </a:r>
            <a:r>
              <a:rPr lang="zh-CN" altLang="en-US" sz="2000">
                <a:sym typeface="+mn-ea"/>
              </a:rPr>
              <a:t>应用</a:t>
            </a:r>
            <a:r>
              <a:rPr lang="en-US" altLang="zh-CN" sz="2000">
                <a:sym typeface="+mn-ea"/>
              </a:rPr>
              <a:t>‌</a:t>
            </a:r>
            <a:r>
              <a:rPr lang="zh-CN" altLang="en-US" sz="2000">
                <a:sym typeface="+mn-ea"/>
              </a:rPr>
              <a:t>：</a:t>
            </a:r>
            <a:endParaRPr lang="zh-CN" altLang="en-US" sz="2000"/>
          </a:p>
          <a:p>
            <a:pPr indent="457200"/>
            <a:r>
              <a:rPr lang="zh-CN" altLang="en-US" sz="2000">
                <a:sym typeface="+mn-ea"/>
              </a:rPr>
              <a:t>低成本传感器（如温度探头）。</a:t>
            </a:r>
            <a:endParaRPr lang="zh-CN" altLang="en-US" sz="2000"/>
          </a:p>
          <a:p>
            <a:pPr indent="457200"/>
            <a:r>
              <a:rPr lang="zh-CN" altLang="en-US" sz="2000">
                <a:sym typeface="+mn-ea"/>
              </a:rPr>
              <a:t>短距离音频线（</a:t>
            </a:r>
            <a:r>
              <a:rPr lang="en-US" altLang="zh-CN" sz="2000">
                <a:sym typeface="+mn-ea"/>
              </a:rPr>
              <a:t>RCA</a:t>
            </a:r>
            <a:r>
              <a:rPr lang="zh-CN" altLang="en-US" sz="2000">
                <a:sym typeface="+mn-ea"/>
              </a:rPr>
              <a:t>接口）。</a:t>
            </a:r>
            <a:endParaRPr lang="zh-CN" altLang="en-US" sz="2000"/>
          </a:p>
          <a:p>
            <a:endParaRPr lang="zh-CN" altLang="en-US" sz="2000"/>
          </a:p>
        </p:txBody>
      </p:sp>
      <p:sp>
        <p:nvSpPr>
          <p:cNvPr id="7" name="文本框 6"/>
          <p:cNvSpPr txBox="1"/>
          <p:nvPr/>
        </p:nvSpPr>
        <p:spPr>
          <a:xfrm>
            <a:off x="5821680" y="1772920"/>
            <a:ext cx="5776595" cy="29146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000" b="1">
                <a:sym typeface="+mn-ea"/>
              </a:rPr>
              <a:t>2</a:t>
            </a:r>
            <a:r>
              <a:rPr lang="zh-CN" altLang="en-US" sz="2000" b="1">
                <a:sym typeface="+mn-ea"/>
              </a:rPr>
              <a:t>）差分传输</a:t>
            </a:r>
            <a:endParaRPr lang="en-US" altLang="zh-CN" sz="2000" b="1"/>
          </a:p>
          <a:p>
            <a:r>
              <a:rPr lang="en-US" altLang="zh-CN" sz="2000">
                <a:sym typeface="+mn-ea"/>
              </a:rPr>
              <a:t>‌</a:t>
            </a:r>
            <a:r>
              <a:rPr lang="zh-CN" altLang="en-US" sz="2000">
                <a:sym typeface="+mn-ea"/>
              </a:rPr>
              <a:t>原理</a:t>
            </a:r>
            <a:r>
              <a:rPr lang="en-US" altLang="zh-CN" sz="2000">
                <a:sym typeface="+mn-ea"/>
              </a:rPr>
              <a:t>‌</a:t>
            </a:r>
            <a:r>
              <a:rPr lang="zh-CN" altLang="en-US" sz="2000">
                <a:sym typeface="+mn-ea"/>
              </a:rPr>
              <a:t>：用两条导线传输相反信号，接收端取差值。</a:t>
            </a:r>
            <a:endParaRPr lang="zh-CN" altLang="en-US" sz="2000"/>
          </a:p>
          <a:p>
            <a:r>
              <a:rPr lang="en-US" altLang="zh-CN" sz="2000">
                <a:sym typeface="+mn-ea"/>
              </a:rPr>
              <a:t>‌</a:t>
            </a:r>
            <a:r>
              <a:rPr lang="zh-CN" altLang="en-US" sz="2000">
                <a:sym typeface="+mn-ea"/>
              </a:rPr>
              <a:t>优点</a:t>
            </a:r>
            <a:r>
              <a:rPr lang="en-US" altLang="zh-CN" sz="2000">
                <a:sym typeface="+mn-ea"/>
              </a:rPr>
              <a:t>‌</a:t>
            </a:r>
            <a:r>
              <a:rPr lang="zh-CN" altLang="en-US" sz="2000">
                <a:sym typeface="+mn-ea"/>
              </a:rPr>
              <a:t>：</a:t>
            </a:r>
            <a:endParaRPr lang="zh-CN" altLang="en-US" sz="2000"/>
          </a:p>
          <a:p>
            <a:pPr indent="457200"/>
            <a:r>
              <a:rPr lang="en-US" altLang="zh-CN" sz="2000">
                <a:sym typeface="+mn-ea"/>
              </a:rPr>
              <a:t>1</a:t>
            </a:r>
            <a:r>
              <a:rPr lang="zh-CN" altLang="en-US" sz="2000">
                <a:sym typeface="+mn-ea"/>
              </a:rPr>
              <a:t>）天然抑制共模干扰（如双绞线抵消电磁噪声）。</a:t>
            </a:r>
            <a:endParaRPr lang="zh-CN" altLang="en-US" sz="2000"/>
          </a:p>
          <a:p>
            <a:pPr indent="457200"/>
            <a:r>
              <a:rPr lang="en-US" altLang="zh-CN" sz="2000">
                <a:sym typeface="+mn-ea"/>
              </a:rPr>
              <a:t>2</a:t>
            </a:r>
            <a:r>
              <a:rPr lang="zh-CN" altLang="en-US" sz="2000">
                <a:sym typeface="+mn-ea"/>
              </a:rPr>
              <a:t>）抗地电位漂移（不依赖绝对</a:t>
            </a:r>
            <a:r>
              <a:rPr lang="en-US" altLang="zh-CN" sz="2000">
                <a:sym typeface="+mn-ea"/>
              </a:rPr>
              <a:t>“</a:t>
            </a:r>
            <a:r>
              <a:rPr lang="zh-CN" altLang="en-US" sz="2000">
                <a:sym typeface="+mn-ea"/>
              </a:rPr>
              <a:t>地</a:t>
            </a:r>
            <a:r>
              <a:rPr lang="en-US" altLang="zh-CN" sz="2000">
                <a:sym typeface="+mn-ea"/>
              </a:rPr>
              <a:t>”</a:t>
            </a:r>
            <a:r>
              <a:rPr lang="zh-CN" altLang="en-US" sz="2000">
                <a:sym typeface="+mn-ea"/>
              </a:rPr>
              <a:t>电平）。</a:t>
            </a:r>
            <a:endParaRPr lang="zh-CN" altLang="en-US" sz="2000"/>
          </a:p>
          <a:p>
            <a:r>
              <a:rPr lang="en-US" altLang="zh-CN" sz="2000">
                <a:sym typeface="+mn-ea"/>
              </a:rPr>
              <a:t>‌</a:t>
            </a:r>
            <a:r>
              <a:rPr lang="zh-CN" altLang="en-US" sz="2000">
                <a:sym typeface="+mn-ea"/>
              </a:rPr>
              <a:t>应用</a:t>
            </a:r>
            <a:r>
              <a:rPr lang="en-US" altLang="zh-CN" sz="2000">
                <a:sym typeface="+mn-ea"/>
              </a:rPr>
              <a:t>‌</a:t>
            </a:r>
            <a:r>
              <a:rPr lang="zh-CN" altLang="en-US" sz="2000">
                <a:sym typeface="+mn-ea"/>
              </a:rPr>
              <a:t>：</a:t>
            </a:r>
            <a:endParaRPr lang="zh-CN" altLang="en-US" sz="2000"/>
          </a:p>
          <a:p>
            <a:r>
              <a:rPr lang="en-US" altLang="zh-CN" sz="2000">
                <a:sym typeface="+mn-ea"/>
              </a:rPr>
              <a:t>‌	</a:t>
            </a:r>
            <a:r>
              <a:rPr lang="zh-CN" altLang="en-US" sz="2000">
                <a:sym typeface="+mn-ea"/>
              </a:rPr>
              <a:t>双绞线</a:t>
            </a:r>
            <a:r>
              <a:rPr lang="en-US" altLang="zh-CN" sz="2000">
                <a:sym typeface="+mn-ea"/>
              </a:rPr>
              <a:t>‌</a:t>
            </a:r>
            <a:r>
              <a:rPr lang="zh-CN" altLang="en-US" sz="2000">
                <a:sym typeface="+mn-ea"/>
              </a:rPr>
              <a:t>（网线、</a:t>
            </a:r>
            <a:r>
              <a:rPr lang="en-US" altLang="zh-CN" sz="2000">
                <a:sym typeface="+mn-ea"/>
              </a:rPr>
              <a:t>USB</a:t>
            </a:r>
            <a:r>
              <a:rPr lang="zh-CN" altLang="en-US" sz="2000">
                <a:sym typeface="+mn-ea"/>
              </a:rPr>
              <a:t>）</a:t>
            </a:r>
            <a:r>
              <a:rPr lang="zh-CN" altLang="en-US" sz="2000">
                <a:sym typeface="+mn-ea"/>
              </a:rPr>
              <a:t>：高速数据传输。</a:t>
            </a:r>
            <a:endParaRPr lang="zh-CN" altLang="en-US" sz="2000"/>
          </a:p>
          <a:p>
            <a:r>
              <a:rPr lang="en-US" altLang="zh-CN" sz="2000">
                <a:sym typeface="+mn-ea"/>
              </a:rPr>
              <a:t>‌	CAN</a:t>
            </a:r>
            <a:r>
              <a:rPr lang="zh-CN" altLang="en-US" sz="2000">
                <a:sym typeface="+mn-ea"/>
              </a:rPr>
              <a:t>总线</a:t>
            </a:r>
            <a:r>
              <a:rPr lang="en-US" altLang="zh-CN" sz="2000">
                <a:sym typeface="+mn-ea"/>
              </a:rPr>
              <a:t>‌</a:t>
            </a:r>
            <a:r>
              <a:rPr lang="zh-CN" altLang="en-US" sz="2000">
                <a:sym typeface="+mn-ea"/>
              </a:rPr>
              <a:t>：汽车电子抗干扰通信。</a:t>
            </a:r>
            <a:endParaRPr lang="zh-CN" altLang="en-US" sz="2000"/>
          </a:p>
          <a:p>
            <a:endParaRPr lang="zh-CN" altLang="en-US" sz="2000"/>
          </a:p>
        </p:txBody>
      </p:sp>
      <p:sp>
        <p:nvSpPr>
          <p:cNvPr id="8" name="文本框 7"/>
          <p:cNvSpPr txBox="1"/>
          <p:nvPr/>
        </p:nvSpPr>
        <p:spPr>
          <a:xfrm>
            <a:off x="767080" y="5085080"/>
            <a:ext cx="9789160" cy="10375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000" b="1"/>
              <a:t>共模抑制比（</a:t>
            </a:r>
            <a:r>
              <a:rPr lang="en-US" altLang="zh-CN" sz="2000" b="1"/>
              <a:t>CMRR</a:t>
            </a:r>
            <a:r>
              <a:rPr lang="zh-CN" altLang="en-US" sz="2000" b="1"/>
              <a:t>）</a:t>
            </a:r>
            <a:r>
              <a:rPr lang="zh-CN" altLang="en-US" sz="2000"/>
              <a:t>就是用来衡量差分系统抑制共模干扰的能力，</a:t>
            </a:r>
            <a:endParaRPr lang="zh-CN" altLang="en-US" sz="2000"/>
          </a:p>
          <a:p>
            <a:r>
              <a:rPr lang="zh-CN" altLang="en-US" sz="2000"/>
              <a:t>计算公式为差模增益（</a:t>
            </a:r>
            <a:r>
              <a:rPr lang="en-US" altLang="zh-CN" sz="2000"/>
              <a:t>Ad</a:t>
            </a:r>
            <a:r>
              <a:rPr lang="zh-CN" altLang="en-US" sz="2000"/>
              <a:t>）与共模增益（</a:t>
            </a:r>
            <a:r>
              <a:rPr lang="en-US" altLang="zh-CN" sz="2000"/>
              <a:t>Ac</a:t>
            </a:r>
            <a:r>
              <a:rPr lang="zh-CN" altLang="en-US" sz="2000"/>
              <a:t>）的比值，单位为分贝（</a:t>
            </a:r>
            <a:r>
              <a:rPr lang="en-US" altLang="zh-CN" sz="2000"/>
              <a:t>dB</a:t>
            </a:r>
            <a:r>
              <a:rPr lang="zh-CN" altLang="en-US" sz="2000"/>
              <a:t>）</a:t>
            </a:r>
            <a:r>
              <a:rPr lang="en-US" altLang="zh-CN" sz="2000"/>
              <a:t>‌</a:t>
            </a:r>
            <a:r>
              <a:rPr lang="zh-CN" altLang="en-US" sz="2000"/>
              <a:t>。</a:t>
            </a:r>
            <a:endParaRPr lang="zh-CN" altLang="en-US" sz="2000"/>
          </a:p>
          <a:p>
            <a:endParaRPr lang="zh-CN" altLang="en-US" sz="2000"/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7" name="Text Box 2"/>
          <p:cNvSpPr txBox="1"/>
          <p:nvPr/>
        </p:nvSpPr>
        <p:spPr>
          <a:xfrm>
            <a:off x="1719263" y="336550"/>
            <a:ext cx="8743950" cy="199961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en-US" altLang="zh-CN" sz="3100" dirty="0">
                <a:solidFill>
                  <a:srgbClr val="0066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zh-CN" altLang="en-US" sz="3100" dirty="0">
                <a:solidFill>
                  <a:srgbClr val="0066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理想运算放大器具有</a:t>
            </a:r>
            <a:r>
              <a:rPr lang="zh-CN" altLang="en-US" sz="3100" dirty="0">
                <a:solidFill>
                  <a:srgbClr val="006600"/>
                </a:solidFill>
                <a:latin typeface="Times New Roman" panose="02020603050405020304" charset="0"/>
                <a:ea typeface="宋体" panose="02010600030101010101" pitchFamily="2" charset="-122"/>
              </a:rPr>
              <a:t>“</a:t>
            </a:r>
            <a:r>
              <a:rPr lang="zh-CN" altLang="en-US" sz="3100" dirty="0">
                <a:solidFill>
                  <a:srgbClr val="0066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虚短</a:t>
            </a:r>
            <a:r>
              <a:rPr lang="zh-CN" altLang="en-US" sz="3100" dirty="0">
                <a:solidFill>
                  <a:srgbClr val="006600"/>
                </a:solidFill>
                <a:latin typeface="Times New Roman" panose="02020603050405020304" charset="0"/>
                <a:ea typeface="宋体" panose="02010600030101010101" pitchFamily="2" charset="-122"/>
              </a:rPr>
              <a:t>”</a:t>
            </a:r>
            <a:r>
              <a:rPr lang="zh-CN" altLang="en-US" sz="3100" dirty="0">
                <a:solidFill>
                  <a:srgbClr val="0066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lang="zh-CN" altLang="en-US" sz="3100" dirty="0">
                <a:solidFill>
                  <a:srgbClr val="006600"/>
                </a:solidFill>
                <a:latin typeface="Times New Roman" panose="02020603050405020304" charset="0"/>
                <a:ea typeface="宋体" panose="02010600030101010101" pitchFamily="2" charset="-122"/>
              </a:rPr>
              <a:t>“</a:t>
            </a:r>
            <a:r>
              <a:rPr lang="zh-CN" altLang="en-US" sz="3100" dirty="0">
                <a:solidFill>
                  <a:srgbClr val="0066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虚断</a:t>
            </a:r>
            <a:r>
              <a:rPr lang="zh-CN" altLang="en-US" sz="3100" dirty="0">
                <a:solidFill>
                  <a:srgbClr val="006600"/>
                </a:solidFill>
                <a:latin typeface="Times New Roman" panose="02020603050405020304" charset="0"/>
                <a:ea typeface="宋体" panose="02010600030101010101" pitchFamily="2" charset="-122"/>
              </a:rPr>
              <a:t>”</a:t>
            </a:r>
            <a:r>
              <a:rPr lang="zh-CN" altLang="en-US" sz="3100" dirty="0">
                <a:solidFill>
                  <a:srgbClr val="0066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的特性</a:t>
            </a:r>
            <a:r>
              <a:rPr lang="en-US" altLang="zh-CN" sz="3100" dirty="0">
                <a:solidFill>
                  <a:srgbClr val="0066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sz="3100" dirty="0">
                <a:solidFill>
                  <a:srgbClr val="0066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这两个特性对分析线性运用的运放电路十分有用</a:t>
            </a:r>
            <a:r>
              <a:rPr lang="en-US" altLang="zh-CN" sz="3100" dirty="0">
                <a:solidFill>
                  <a:srgbClr val="0066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  <a:r>
              <a:rPr lang="zh-CN" altLang="en-US" sz="3100" dirty="0">
                <a:solidFill>
                  <a:srgbClr val="0066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为了保证线性运用，运放必须在闭环</a:t>
            </a:r>
            <a:r>
              <a:rPr lang="en-US" altLang="zh-CN" sz="3100" dirty="0">
                <a:solidFill>
                  <a:srgbClr val="0066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en-US" sz="3100" dirty="0">
                <a:solidFill>
                  <a:srgbClr val="0066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负反馈</a:t>
            </a:r>
            <a:r>
              <a:rPr lang="en-US" altLang="zh-CN" sz="3100" dirty="0">
                <a:solidFill>
                  <a:srgbClr val="0066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zh-CN" altLang="en-US" sz="3100" dirty="0">
                <a:solidFill>
                  <a:srgbClr val="0066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下工作。    </a:t>
            </a:r>
            <a:endParaRPr lang="zh-CN" altLang="en-US" sz="3100" dirty="0">
              <a:solidFill>
                <a:srgbClr val="006600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21507" name="Text Box 3"/>
          <p:cNvSpPr txBox="1"/>
          <p:nvPr/>
        </p:nvSpPr>
        <p:spPr>
          <a:xfrm>
            <a:off x="1762125" y="2619375"/>
            <a:ext cx="8672513" cy="343090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en-US" altLang="zh-CN" sz="3100" dirty="0">
                <a:solidFill>
                  <a:srgbClr val="CC0066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(1)</a:t>
            </a:r>
            <a:r>
              <a:rPr lang="zh-CN" altLang="en-US" sz="3100" dirty="0">
                <a:solidFill>
                  <a:srgbClr val="CC0066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虚短：</a:t>
            </a:r>
            <a:endParaRPr lang="zh-CN" altLang="en-US" sz="3100" dirty="0">
              <a:solidFill>
                <a:srgbClr val="CC0066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r>
              <a:rPr lang="zh-CN" altLang="en-US" sz="3100" dirty="0">
                <a:solidFill>
                  <a:srgbClr val="0066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由于运放的电压放大倍数很大，一般通用型运算放大器的开环电压放大倍数都在</a:t>
            </a:r>
            <a:r>
              <a:rPr lang="en-US" altLang="zh-CN" sz="3100" dirty="0">
                <a:solidFill>
                  <a:srgbClr val="0066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80 dB</a:t>
            </a:r>
            <a:r>
              <a:rPr lang="zh-CN" altLang="en-US" sz="3100" dirty="0">
                <a:solidFill>
                  <a:srgbClr val="0066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以上。而运放的输出电压是有限的，一般在</a:t>
            </a:r>
            <a:r>
              <a:rPr lang="en-US" altLang="zh-CN" sz="3100" dirty="0">
                <a:solidFill>
                  <a:srgbClr val="0066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10 </a:t>
            </a:r>
            <a:r>
              <a:rPr lang="en-US" altLang="zh-CN" sz="3100" dirty="0">
                <a:solidFill>
                  <a:srgbClr val="006600"/>
                </a:solidFill>
                <a:latin typeface="Times New Roman" panose="02020603050405020304" charset="0"/>
                <a:ea typeface="宋体" panose="02010600030101010101" pitchFamily="2" charset="-122"/>
              </a:rPr>
              <a:t>V</a:t>
            </a:r>
            <a:r>
              <a:rPr lang="zh-CN" altLang="en-US" sz="3100" dirty="0">
                <a:solidFill>
                  <a:srgbClr val="006600"/>
                </a:solidFill>
                <a:latin typeface="Times New Roman" panose="02020603050405020304" charset="0"/>
                <a:ea typeface="宋体" panose="02010600030101010101" pitchFamily="2" charset="-122"/>
              </a:rPr>
              <a:t>～</a:t>
            </a:r>
            <a:r>
              <a:rPr lang="en-US" altLang="zh-CN" sz="3100" dirty="0">
                <a:solidFill>
                  <a:srgbClr val="006600"/>
                </a:solidFill>
                <a:latin typeface="Times New Roman" panose="02020603050405020304" charset="0"/>
                <a:ea typeface="宋体" panose="02010600030101010101" pitchFamily="2" charset="-122"/>
              </a:rPr>
              <a:t>14</a:t>
            </a:r>
            <a:r>
              <a:rPr lang="en-US" altLang="zh-CN" sz="3100" dirty="0">
                <a:solidFill>
                  <a:srgbClr val="0066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3100" dirty="0">
                <a:solidFill>
                  <a:srgbClr val="006600"/>
                </a:solidFill>
                <a:latin typeface="Times New Roman" panose="02020603050405020304" charset="0"/>
                <a:ea typeface="宋体" panose="02010600030101010101" pitchFamily="2" charset="-122"/>
              </a:rPr>
              <a:t>V</a:t>
            </a:r>
            <a:r>
              <a:rPr lang="zh-CN" altLang="en-US" sz="3100" dirty="0">
                <a:solidFill>
                  <a:srgbClr val="006600"/>
                </a:solidFill>
                <a:latin typeface="Times New Roman" panose="02020603050405020304" charset="0"/>
                <a:ea typeface="宋体" panose="02010600030101010101" pitchFamily="2" charset="-122"/>
              </a:rPr>
              <a:t>。</a:t>
            </a:r>
            <a:r>
              <a:rPr lang="zh-CN" altLang="en-US" sz="3100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因此运放的差模输入电压不足</a:t>
            </a:r>
            <a:r>
              <a:rPr lang="en-US" altLang="zh-CN" sz="3100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1</a:t>
            </a:r>
            <a:r>
              <a:rPr lang="en-US" altLang="zh-CN" sz="31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3100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mV</a:t>
            </a:r>
            <a:r>
              <a:rPr lang="zh-CN" altLang="en-US" sz="3100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，两输入端近似等电位，相当于 “短路”</a:t>
            </a:r>
            <a:r>
              <a:rPr lang="zh-CN" altLang="en-US" sz="3100" dirty="0">
                <a:solidFill>
                  <a:srgbClr val="006600"/>
                </a:solidFill>
                <a:latin typeface="Times New Roman" panose="02020603050405020304" charset="0"/>
                <a:ea typeface="宋体" panose="02010600030101010101" pitchFamily="2" charset="-122"/>
              </a:rPr>
              <a:t>。</a:t>
            </a:r>
            <a:r>
              <a:rPr lang="zh-CN" altLang="en-US" sz="3100" dirty="0">
                <a:solidFill>
                  <a:srgbClr val="0066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开环电压放大倍数越大，</a:t>
            </a:r>
            <a:r>
              <a:rPr lang="zh-CN" altLang="en-US" sz="3100" dirty="0">
                <a:solidFill>
                  <a:srgbClr val="006600"/>
                </a:solidFill>
                <a:latin typeface="Times New Roman" panose="02020603050405020304" charset="0"/>
                <a:ea typeface="宋体" panose="02010600030101010101" pitchFamily="2" charset="-122"/>
              </a:rPr>
              <a:t>两输入端的电位越接近相等。</a:t>
            </a:r>
            <a:endParaRPr lang="zh-CN" altLang="en-US" sz="3100" dirty="0">
              <a:solidFill>
                <a:srgbClr val="006600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1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30" name="Text Box 2"/>
          <p:cNvSpPr txBox="1"/>
          <p:nvPr/>
        </p:nvSpPr>
        <p:spPr>
          <a:xfrm>
            <a:off x="1785938" y="295275"/>
            <a:ext cx="8656637" cy="152209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100" dirty="0">
                <a:solidFill>
                  <a:srgbClr val="006600"/>
                </a:solidFill>
                <a:latin typeface="Times New Roman" panose="02020603050405020304" charset="0"/>
                <a:ea typeface="宋体" panose="02010600030101010101" pitchFamily="2" charset="-122"/>
              </a:rPr>
              <a:t>“</a:t>
            </a:r>
            <a:r>
              <a:rPr lang="zh-CN" altLang="en-US" sz="3100" dirty="0">
                <a:solidFill>
                  <a:srgbClr val="FF3300"/>
                </a:solidFill>
                <a:latin typeface="Times New Roman" panose="02020603050405020304" charset="0"/>
                <a:ea typeface="黑体" panose="02010609060101010101" pitchFamily="2" charset="-122"/>
              </a:rPr>
              <a:t>虚短</a:t>
            </a:r>
            <a:r>
              <a:rPr lang="zh-CN" altLang="en-US" sz="3100" dirty="0">
                <a:solidFill>
                  <a:srgbClr val="006600"/>
                </a:solidFill>
                <a:latin typeface="Times New Roman" panose="02020603050405020304" charset="0"/>
                <a:ea typeface="宋体" panose="02010600030101010101" pitchFamily="2" charset="-122"/>
              </a:rPr>
              <a:t>”是指在分析运算放大器处于线性状态时，可把两输入端视为等电位，这一特性称为虚假短路，简称虚短。显然不能将两输入端真正短路。</a:t>
            </a:r>
            <a:endParaRPr lang="zh-CN" altLang="en-US" sz="3100" dirty="0">
              <a:solidFill>
                <a:srgbClr val="006600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22531" name="Text Box 3"/>
          <p:cNvSpPr txBox="1"/>
          <p:nvPr/>
        </p:nvSpPr>
        <p:spPr>
          <a:xfrm>
            <a:off x="1758950" y="1797050"/>
            <a:ext cx="8678863" cy="43846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en-US" altLang="zh-CN" sz="3100" dirty="0">
                <a:solidFill>
                  <a:srgbClr val="CC0066"/>
                </a:solidFill>
                <a:latin typeface="Times New Roman" panose="02020603050405020304" charset="0"/>
                <a:ea typeface="宋体" panose="02010600030101010101" pitchFamily="2" charset="-122"/>
              </a:rPr>
              <a:t>(2)</a:t>
            </a:r>
            <a:r>
              <a:rPr lang="zh-CN" altLang="en-US" sz="3100" dirty="0">
                <a:solidFill>
                  <a:srgbClr val="CC0066"/>
                </a:solidFill>
                <a:latin typeface="Times New Roman" panose="02020603050405020304" charset="0"/>
                <a:ea typeface="宋体" panose="02010600030101010101" pitchFamily="2" charset="-122"/>
              </a:rPr>
              <a:t>虚断：</a:t>
            </a:r>
            <a:endParaRPr lang="zh-CN" altLang="en-US" sz="3100" dirty="0">
              <a:solidFill>
                <a:srgbClr val="CC0066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  <a:p>
            <a:r>
              <a:rPr lang="zh-CN" altLang="en-US" sz="3100" dirty="0">
                <a:solidFill>
                  <a:srgbClr val="0066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由于运放的差模输入电阻很大，一般通用型运算放大器的输入电阻都在</a:t>
            </a:r>
            <a:r>
              <a:rPr lang="en-US" altLang="zh-CN" sz="3100" dirty="0">
                <a:solidFill>
                  <a:srgbClr val="0066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en-US" altLang="zh-CN" sz="3100" dirty="0">
                <a:solidFill>
                  <a:srgbClr val="006600"/>
                </a:solidFill>
                <a:latin typeface="Times New Roman" panose="02020603050405020304" charset="0"/>
                <a:ea typeface="宋体" panose="02010600030101010101" pitchFamily="2" charset="-122"/>
              </a:rPr>
              <a:t>M</a:t>
            </a:r>
            <a:r>
              <a:rPr lang="en-US" altLang="zh-CN" sz="3100" dirty="0">
                <a:solidFill>
                  <a:srgbClr val="006600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</a:t>
            </a:r>
            <a:r>
              <a:rPr lang="zh-CN" altLang="en-US" sz="3100" dirty="0">
                <a:solidFill>
                  <a:srgbClr val="0066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以上。</a:t>
            </a:r>
            <a:r>
              <a:rPr lang="zh-CN" altLang="en-US" sz="3100" dirty="0">
                <a:solidFill>
                  <a:srgbClr val="006600"/>
                </a:solidFill>
                <a:latin typeface="Times New Roman" panose="02020603050405020304" charset="0"/>
                <a:ea typeface="宋体" panose="02010600030101010101" pitchFamily="2" charset="-122"/>
              </a:rPr>
              <a:t>因此流入运放输入端的电流往往不足</a:t>
            </a:r>
            <a:r>
              <a:rPr lang="en-US" altLang="zh-CN" sz="3100" dirty="0">
                <a:solidFill>
                  <a:srgbClr val="006600"/>
                </a:solidFill>
                <a:latin typeface="Times New Roman" panose="02020603050405020304" charset="0"/>
                <a:ea typeface="宋体" panose="02010600030101010101" pitchFamily="2" charset="-122"/>
              </a:rPr>
              <a:t>1</a:t>
            </a:r>
            <a:r>
              <a:rPr lang="en-US" altLang="zh-CN" sz="3100" dirty="0">
                <a:solidFill>
                  <a:srgbClr val="006600"/>
                </a:solidFill>
                <a:latin typeface="Times New Roman" panose="02020603050405020304" charset="0"/>
                <a:ea typeface="宋体" panose="02010600030101010101" pitchFamily="2" charset="-122"/>
                <a:sym typeface="Symbol" panose="05050102010706020507" pitchFamily="18" charset="2"/>
              </a:rPr>
              <a:t></a:t>
            </a:r>
            <a:r>
              <a:rPr lang="en-US" altLang="zh-CN" sz="3100" dirty="0">
                <a:solidFill>
                  <a:srgbClr val="006600"/>
                </a:solidFill>
                <a:latin typeface="Times New Roman" panose="02020603050405020304" charset="0"/>
                <a:ea typeface="宋体" panose="02010600030101010101" pitchFamily="2" charset="-122"/>
              </a:rPr>
              <a:t>A</a:t>
            </a:r>
            <a:r>
              <a:rPr lang="zh-CN" altLang="en-US" sz="3100" dirty="0">
                <a:solidFill>
                  <a:srgbClr val="006600"/>
                </a:solidFill>
                <a:latin typeface="Times New Roman" panose="02020603050405020304" charset="0"/>
                <a:ea typeface="宋体" panose="02010600030101010101" pitchFamily="2" charset="-122"/>
              </a:rPr>
              <a:t>，远小于输入端外电路的电流。</a:t>
            </a:r>
            <a:r>
              <a:rPr lang="zh-CN" altLang="en-US" sz="3100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故通常可把运放的两输入端视为开路</a:t>
            </a:r>
            <a:r>
              <a:rPr lang="en-US" altLang="zh-CN" sz="3100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,</a:t>
            </a:r>
            <a:r>
              <a:rPr lang="zh-CN" altLang="en-US" sz="3100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且输入电阻</a:t>
            </a:r>
            <a:r>
              <a:rPr lang="zh-CN" altLang="en-US" sz="31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越大，两</a:t>
            </a:r>
            <a:r>
              <a:rPr lang="zh-CN" altLang="en-US" sz="3100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输入端越接近开路</a:t>
            </a:r>
            <a:r>
              <a:rPr lang="zh-CN" altLang="en-US" sz="3100" dirty="0">
                <a:solidFill>
                  <a:srgbClr val="006600"/>
                </a:solidFill>
                <a:latin typeface="Times New Roman" panose="02020603050405020304" charset="0"/>
                <a:ea typeface="宋体" panose="02010600030101010101" pitchFamily="2" charset="-122"/>
              </a:rPr>
              <a:t>。 </a:t>
            </a:r>
            <a:endParaRPr lang="zh-CN" altLang="en-US" sz="3100" dirty="0">
              <a:solidFill>
                <a:srgbClr val="006600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  <a:p>
            <a:r>
              <a:rPr lang="zh-CN" altLang="en-US" sz="3100" dirty="0">
                <a:solidFill>
                  <a:srgbClr val="006600"/>
                </a:solidFill>
                <a:latin typeface="Times New Roman" panose="02020603050405020304" charset="0"/>
                <a:ea typeface="宋体" panose="02010600030101010101" pitchFamily="2" charset="-122"/>
              </a:rPr>
              <a:t>“</a:t>
            </a:r>
            <a:r>
              <a:rPr lang="zh-CN" altLang="en-US" sz="3100" dirty="0">
                <a:solidFill>
                  <a:srgbClr val="FF3300"/>
                </a:solidFill>
                <a:latin typeface="Times New Roman" panose="02020603050405020304" charset="0"/>
                <a:ea typeface="黑体" panose="02010609060101010101" pitchFamily="2" charset="-122"/>
              </a:rPr>
              <a:t>虚断</a:t>
            </a:r>
            <a:r>
              <a:rPr lang="zh-CN" altLang="en-US" sz="3100" dirty="0">
                <a:solidFill>
                  <a:srgbClr val="006600"/>
                </a:solidFill>
                <a:latin typeface="Times New Roman" panose="02020603050405020304" charset="0"/>
                <a:ea typeface="宋体" panose="02010600030101010101" pitchFamily="2" charset="-122"/>
              </a:rPr>
              <a:t>”是指在分析运放处于线性状态时，可以把两输入端视为等效开路，这一特性称为虚假开路</a:t>
            </a:r>
            <a:r>
              <a:rPr lang="en-US" altLang="zh-CN" sz="3100" dirty="0">
                <a:solidFill>
                  <a:srgbClr val="006600"/>
                </a:solidFill>
                <a:latin typeface="Times New Roman" panose="02020603050405020304" charset="0"/>
                <a:ea typeface="宋体" panose="02010600030101010101" pitchFamily="2" charset="-122"/>
              </a:rPr>
              <a:t>,</a:t>
            </a:r>
            <a:r>
              <a:rPr lang="zh-CN" altLang="en-US" sz="3100" dirty="0">
                <a:solidFill>
                  <a:srgbClr val="006600"/>
                </a:solidFill>
                <a:latin typeface="Times New Roman" panose="02020603050405020304" charset="0"/>
                <a:ea typeface="宋体" panose="02010600030101010101" pitchFamily="2" charset="-122"/>
              </a:rPr>
              <a:t>简称虚断。显然不能将两输入端真正断路。</a:t>
            </a:r>
            <a:endParaRPr lang="zh-CN" altLang="en-US" sz="3100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25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25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" dur="500"/>
                                        <p:tgtEl>
                                          <p:spTgt spid="22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0" grpId="0"/>
      <p:bldP spid="2253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5" name="Text Box 2"/>
          <p:cNvSpPr txBox="1"/>
          <p:nvPr/>
        </p:nvSpPr>
        <p:spPr>
          <a:xfrm>
            <a:off x="1754188" y="293688"/>
            <a:ext cx="8696325" cy="104521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zh-CN" altLang="en-US" sz="3100" dirty="0">
                <a:solidFill>
                  <a:srgbClr val="FF33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例</a:t>
            </a:r>
            <a:r>
              <a:rPr lang="en-US" altLang="zh-CN" sz="3100" dirty="0">
                <a:solidFill>
                  <a:srgbClr val="FF33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1</a:t>
            </a:r>
            <a:r>
              <a:rPr lang="zh-CN" altLang="en-US" sz="3100" dirty="0">
                <a:latin typeface="宋体" panose="02010600030101010101" pitchFamily="2" charset="-122"/>
                <a:ea typeface="宋体" panose="02010600030101010101" pitchFamily="2" charset="-122"/>
              </a:rPr>
              <a:t>：有一理想运算放大器组成的电路如图所示，试求输出电压的表达式和电压放大倍数。</a:t>
            </a:r>
            <a:endParaRPr lang="zh-CN" altLang="en-US" sz="3100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23555" name="Text Box 3"/>
          <p:cNvSpPr txBox="1"/>
          <p:nvPr/>
        </p:nvSpPr>
        <p:spPr>
          <a:xfrm>
            <a:off x="862965" y="1606550"/>
            <a:ext cx="5582285" cy="43846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 sz="3100" dirty="0">
                <a:latin typeface="宋体" panose="02010600030101010101" pitchFamily="2" charset="-122"/>
                <a:ea typeface="宋体" panose="02010600030101010101" pitchFamily="2" charset="-122"/>
              </a:rPr>
              <a:t>根据虚短，</a:t>
            </a:r>
            <a:r>
              <a:rPr lang="en-US" altLang="zh-CN" sz="3100" i="1" dirty="0">
                <a:latin typeface="Times New Roman" panose="02020603050405020304" charset="0"/>
                <a:ea typeface="宋体" panose="02010600030101010101" pitchFamily="2" charset="-122"/>
              </a:rPr>
              <a:t>V</a:t>
            </a:r>
            <a:r>
              <a:rPr lang="en-US" altLang="zh-CN" sz="3100" baseline="-25000" dirty="0">
                <a:latin typeface="Times New Roman" panose="02020603050405020304" charset="0"/>
                <a:ea typeface="宋体" panose="02010600030101010101" pitchFamily="2" charset="-122"/>
              </a:rPr>
              <a:t>+</a:t>
            </a:r>
            <a:r>
              <a:rPr lang="en-US" altLang="zh-CN" sz="3100" dirty="0">
                <a:latin typeface="Times New Roman" panose="02020603050405020304" charset="0"/>
                <a:ea typeface="宋体" panose="02010600030101010101" pitchFamily="2" charset="-122"/>
                <a:sym typeface="Symbol" panose="05050102010706020507" pitchFamily="18" charset="2"/>
              </a:rPr>
              <a:t></a:t>
            </a:r>
            <a:r>
              <a:rPr lang="en-US" altLang="zh-CN" sz="3100" i="1" dirty="0">
                <a:latin typeface="Times New Roman" panose="02020603050405020304" charset="0"/>
                <a:ea typeface="宋体" panose="02010600030101010101" pitchFamily="2" charset="-122"/>
              </a:rPr>
              <a:t> V</a:t>
            </a:r>
            <a:r>
              <a:rPr lang="en-US" altLang="zh-CN" sz="3100" baseline="-25000" dirty="0">
                <a:latin typeface="宋体" panose="02010600030101010101" pitchFamily="2" charset="-122"/>
                <a:ea typeface="宋体" panose="02010600030101010101" pitchFamily="2" charset="-122"/>
              </a:rPr>
              <a:t>-</a:t>
            </a:r>
            <a:r>
              <a:rPr lang="en-US" altLang="zh-CN" sz="3100" dirty="0">
                <a:latin typeface="Times New Roman" panose="02020603050405020304" charset="0"/>
                <a:ea typeface="宋体" panose="02010600030101010101" pitchFamily="2" charset="-122"/>
              </a:rPr>
              <a:t> </a:t>
            </a:r>
            <a:r>
              <a:rPr lang="en-US" altLang="zh-CN" sz="3100" dirty="0">
                <a:latin typeface="Times New Roman" panose="02020603050405020304" charset="0"/>
                <a:ea typeface="宋体" panose="02010600030101010101" pitchFamily="2" charset="-122"/>
                <a:sym typeface="Symbol" panose="05050102010706020507" pitchFamily="18" charset="2"/>
              </a:rPr>
              <a:t></a:t>
            </a:r>
            <a:r>
              <a:rPr lang="en-US" altLang="zh-CN" sz="3100" dirty="0">
                <a:latin typeface="Times New Roman" panose="02020603050405020304" charset="0"/>
                <a:ea typeface="宋体" panose="02010600030101010101" pitchFamily="2" charset="-122"/>
              </a:rPr>
              <a:t>0</a:t>
            </a:r>
            <a:endParaRPr lang="en-US" altLang="zh-CN" sz="3100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r>
              <a:rPr lang="zh-CN" altLang="en-US" sz="3100" dirty="0">
                <a:latin typeface="宋体" panose="02010600030101010101" pitchFamily="2" charset="-122"/>
                <a:sym typeface="+mn-ea"/>
              </a:rPr>
              <a:t>根据虚断</a:t>
            </a:r>
            <a:r>
              <a:rPr lang="en-US" altLang="zh-CN" sz="3100" i="1" dirty="0">
                <a:latin typeface="Times New Roman" panose="02020603050405020304" charset="0"/>
                <a:sym typeface="+mn-ea"/>
              </a:rPr>
              <a:t>I'</a:t>
            </a:r>
            <a:r>
              <a:rPr lang="en-US" altLang="zh-CN" sz="3100" baseline="-25000" dirty="0">
                <a:latin typeface="Times New Roman" panose="02020603050405020304" charset="0"/>
                <a:sym typeface="+mn-ea"/>
              </a:rPr>
              <a:t>i </a:t>
            </a:r>
            <a:r>
              <a:rPr lang="en-US" altLang="zh-CN" sz="3100" dirty="0">
                <a:latin typeface="Times New Roman" panose="02020603050405020304" charset="0"/>
                <a:sym typeface="Symbol" panose="05050102010706020507" pitchFamily="18" charset="2"/>
              </a:rPr>
              <a:t></a:t>
            </a:r>
            <a:r>
              <a:rPr lang="en-US" altLang="zh-CN" sz="3100" dirty="0">
                <a:latin typeface="Times New Roman" panose="02020603050405020304" charset="0"/>
                <a:sym typeface="+mn-ea"/>
              </a:rPr>
              <a:t>0</a:t>
            </a:r>
            <a:r>
              <a:rPr lang="zh-CN" altLang="en-US" sz="3100" dirty="0">
                <a:latin typeface="Times New Roman" panose="02020603050405020304" charset="0"/>
                <a:sym typeface="+mn-ea"/>
              </a:rPr>
              <a:t>，故</a:t>
            </a:r>
            <a:r>
              <a:rPr lang="en-US" altLang="zh-CN" sz="3100" i="1" dirty="0">
                <a:latin typeface="Times New Roman" panose="02020603050405020304" charset="0"/>
                <a:sym typeface="+mn-ea"/>
              </a:rPr>
              <a:t>V</a:t>
            </a:r>
            <a:r>
              <a:rPr lang="en-US" altLang="zh-CN" sz="3100" baseline="-18000" dirty="0">
                <a:latin typeface="Times New Roman" panose="02020603050405020304" charset="0"/>
                <a:sym typeface="+mn-ea"/>
              </a:rPr>
              <a:t>+</a:t>
            </a:r>
            <a:r>
              <a:rPr lang="en-US" altLang="zh-CN" sz="3100" dirty="0">
                <a:latin typeface="Times New Roman" panose="02020603050405020304" charset="0"/>
                <a:sym typeface="Symbol" panose="05050102010706020507" pitchFamily="18" charset="2"/>
              </a:rPr>
              <a:t></a:t>
            </a:r>
            <a:r>
              <a:rPr lang="en-US" altLang="zh-CN" sz="3100" dirty="0">
                <a:latin typeface="Times New Roman" panose="02020603050405020304" charset="0"/>
                <a:sym typeface="+mn-ea"/>
              </a:rPr>
              <a:t>0</a:t>
            </a:r>
            <a:r>
              <a:rPr lang="zh-CN" altLang="en-US" sz="3100" dirty="0">
                <a:latin typeface="Times New Roman" panose="02020603050405020304" charset="0"/>
                <a:sym typeface="+mn-ea"/>
              </a:rPr>
              <a:t>且</a:t>
            </a:r>
            <a:r>
              <a:rPr lang="en-US" altLang="zh-CN" sz="3100" i="1" dirty="0">
                <a:latin typeface="Times New Roman" panose="02020603050405020304" charset="0"/>
                <a:sym typeface="+mn-ea"/>
              </a:rPr>
              <a:t>I</a:t>
            </a:r>
            <a:r>
              <a:rPr lang="en-US" altLang="zh-CN" sz="3100" baseline="-25000" dirty="0">
                <a:latin typeface="Times New Roman" panose="02020603050405020304" charset="0"/>
                <a:sym typeface="+mn-ea"/>
              </a:rPr>
              <a:t>i </a:t>
            </a:r>
            <a:r>
              <a:rPr lang="en-US" altLang="zh-CN" sz="3100" dirty="0">
                <a:latin typeface="Times New Roman" panose="02020603050405020304" charset="0"/>
                <a:sym typeface="Symbol" panose="05050102010706020507" pitchFamily="18" charset="2"/>
              </a:rPr>
              <a:t></a:t>
            </a:r>
            <a:r>
              <a:rPr lang="en-US" altLang="zh-CN" sz="3100" i="1" dirty="0">
                <a:latin typeface="Times New Roman" panose="02020603050405020304" charset="0"/>
                <a:sym typeface="+mn-ea"/>
              </a:rPr>
              <a:t> I</a:t>
            </a:r>
            <a:r>
              <a:rPr lang="en-US" altLang="zh-CN" sz="3100" baseline="-25000" dirty="0">
                <a:latin typeface="Times New Roman" panose="02020603050405020304" charset="0"/>
                <a:sym typeface="+mn-ea"/>
              </a:rPr>
              <a:t>f</a:t>
            </a:r>
            <a:endParaRPr lang="en-US" altLang="zh-CN" sz="3100" baseline="-25000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endParaRPr lang="en-US" altLang="zh-CN" sz="3100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r>
              <a:rPr lang="en-US" altLang="zh-CN" sz="3100" dirty="0">
                <a:latin typeface="Times New Roman" panose="02020603050405020304" charset="0"/>
                <a:sym typeface="+mn-ea"/>
              </a:rPr>
              <a:t>(</a:t>
            </a:r>
            <a:r>
              <a:rPr lang="en-US" altLang="zh-CN" sz="3100" i="1" dirty="0">
                <a:latin typeface="Times New Roman" panose="02020603050405020304" charset="0"/>
                <a:sym typeface="+mn-ea"/>
              </a:rPr>
              <a:t>V</a:t>
            </a:r>
            <a:r>
              <a:rPr lang="en-US" altLang="zh-CN" sz="3100" baseline="-25000" dirty="0">
                <a:latin typeface="Times New Roman" panose="02020603050405020304" charset="0"/>
                <a:sym typeface="+mn-ea"/>
              </a:rPr>
              <a:t>i</a:t>
            </a:r>
            <a:r>
              <a:rPr lang="zh-CN" altLang="en-US" sz="3100" dirty="0">
                <a:latin typeface="Times New Roman" panose="02020603050405020304" charset="0"/>
                <a:sym typeface="+mn-ea"/>
              </a:rPr>
              <a:t>－</a:t>
            </a:r>
            <a:r>
              <a:rPr lang="zh-CN" altLang="en-US" sz="3100" i="1" dirty="0">
                <a:latin typeface="Times New Roman" panose="02020603050405020304" charset="0"/>
                <a:sym typeface="+mn-ea"/>
              </a:rPr>
              <a:t> </a:t>
            </a:r>
            <a:r>
              <a:rPr lang="en-US" altLang="zh-CN" sz="3100" i="1" dirty="0">
                <a:latin typeface="Times New Roman" panose="02020603050405020304" charset="0"/>
                <a:sym typeface="+mn-ea"/>
              </a:rPr>
              <a:t>V</a:t>
            </a:r>
            <a:r>
              <a:rPr lang="en-US" altLang="zh-CN" sz="3100" baseline="-18000" dirty="0">
                <a:latin typeface="宋体" panose="02010600030101010101" pitchFamily="2" charset="-122"/>
                <a:sym typeface="+mn-ea"/>
              </a:rPr>
              <a:t>-</a:t>
            </a:r>
            <a:r>
              <a:rPr lang="en-US" altLang="zh-CN" sz="3100" dirty="0">
                <a:latin typeface="Times New Roman" panose="02020603050405020304" charset="0"/>
                <a:sym typeface="+mn-ea"/>
              </a:rPr>
              <a:t>)/</a:t>
            </a:r>
            <a:r>
              <a:rPr lang="en-US" altLang="zh-CN" sz="3100" i="1" dirty="0">
                <a:latin typeface="Times New Roman" panose="02020603050405020304" charset="0"/>
                <a:sym typeface="+mn-ea"/>
              </a:rPr>
              <a:t>R</a:t>
            </a:r>
            <a:r>
              <a:rPr lang="en-US" altLang="zh-CN" sz="3100" baseline="-25000" dirty="0">
                <a:latin typeface="Times New Roman" panose="02020603050405020304" charset="0"/>
                <a:sym typeface="+mn-ea"/>
              </a:rPr>
              <a:t>1  </a:t>
            </a:r>
            <a:r>
              <a:rPr lang="en-US" altLang="zh-CN" sz="3100" dirty="0">
                <a:latin typeface="Times New Roman" panose="02020603050405020304" charset="0"/>
                <a:sym typeface="Symbol" panose="05050102010706020507" pitchFamily="18" charset="2"/>
              </a:rPr>
              <a:t>= (</a:t>
            </a:r>
            <a:r>
              <a:rPr lang="en-US" altLang="zh-CN" sz="3100" i="1" dirty="0">
                <a:latin typeface="Times New Roman" panose="02020603050405020304" charset="0"/>
                <a:sym typeface="+mn-ea"/>
              </a:rPr>
              <a:t>V</a:t>
            </a:r>
            <a:r>
              <a:rPr lang="en-US" altLang="zh-CN" sz="3100" baseline="-18000" dirty="0">
                <a:latin typeface="宋体" panose="02010600030101010101" pitchFamily="2" charset="-122"/>
                <a:sym typeface="+mn-ea"/>
              </a:rPr>
              <a:t>-</a:t>
            </a:r>
            <a:r>
              <a:rPr lang="zh-CN" altLang="en-US" sz="3100" dirty="0">
                <a:latin typeface="Times New Roman" panose="02020603050405020304" charset="0"/>
                <a:sym typeface="+mn-ea"/>
              </a:rPr>
              <a:t>－</a:t>
            </a:r>
            <a:r>
              <a:rPr lang="zh-CN" altLang="en-US" sz="3100" i="1" dirty="0">
                <a:latin typeface="Times New Roman" panose="02020603050405020304" charset="0"/>
                <a:sym typeface="+mn-ea"/>
              </a:rPr>
              <a:t> </a:t>
            </a:r>
            <a:r>
              <a:rPr lang="en-US" altLang="zh-CN" sz="3100" i="1" dirty="0">
                <a:latin typeface="Times New Roman" panose="02020603050405020304" charset="0"/>
                <a:sym typeface="+mn-ea"/>
              </a:rPr>
              <a:t>V</a:t>
            </a:r>
            <a:r>
              <a:rPr lang="en-US" altLang="zh-CN" sz="3100" baseline="-25000" dirty="0">
                <a:latin typeface="Times New Roman" panose="02020603050405020304" charset="0"/>
                <a:sym typeface="+mn-ea"/>
              </a:rPr>
              <a:t>o</a:t>
            </a:r>
            <a:r>
              <a:rPr lang="en-US" altLang="zh-CN" sz="3100" dirty="0">
                <a:latin typeface="Times New Roman" panose="02020603050405020304" charset="0"/>
                <a:sym typeface="+mn-ea"/>
              </a:rPr>
              <a:t>)/</a:t>
            </a:r>
            <a:r>
              <a:rPr lang="en-US" altLang="zh-CN" sz="3100" i="1" dirty="0">
                <a:latin typeface="Times New Roman" panose="02020603050405020304" charset="0"/>
                <a:sym typeface="+mn-ea"/>
              </a:rPr>
              <a:t>R</a:t>
            </a:r>
            <a:r>
              <a:rPr lang="en-US" altLang="zh-CN" sz="3100" baseline="-25000" dirty="0">
                <a:latin typeface="Times New Roman" panose="02020603050405020304" charset="0"/>
                <a:sym typeface="+mn-ea"/>
              </a:rPr>
              <a:t>f</a:t>
            </a:r>
            <a:endParaRPr lang="en-US" altLang="zh-CN" sz="3100" baseline="-25000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r>
              <a:rPr lang="en-US" altLang="zh-CN" sz="3100" i="1" dirty="0">
                <a:latin typeface="Times New Roman" panose="02020603050405020304" charset="0"/>
                <a:ea typeface="宋体" panose="02010600030101010101" pitchFamily="2" charset="-122"/>
              </a:rPr>
              <a:t>V</a:t>
            </a:r>
            <a:r>
              <a:rPr lang="en-US" altLang="zh-CN" sz="3100" baseline="-25000" dirty="0">
                <a:latin typeface="Times New Roman" panose="02020603050405020304" charset="0"/>
                <a:ea typeface="宋体" panose="02010600030101010101" pitchFamily="2" charset="-122"/>
              </a:rPr>
              <a:t>o</a:t>
            </a:r>
            <a:r>
              <a:rPr lang="en-US" altLang="zh-CN" sz="3100" dirty="0">
                <a:latin typeface="Times New Roman" panose="02020603050405020304" charset="0"/>
                <a:ea typeface="宋体" panose="02010600030101010101" pitchFamily="2" charset="-122"/>
              </a:rPr>
              <a:t> </a:t>
            </a:r>
            <a:r>
              <a:rPr lang="en-US" altLang="zh-CN" sz="3100" dirty="0">
                <a:latin typeface="Times New Roman" panose="02020603050405020304" charset="0"/>
                <a:ea typeface="宋体" panose="02010600030101010101" pitchFamily="2" charset="-122"/>
                <a:sym typeface="Symbol" panose="05050102010706020507" pitchFamily="18" charset="2"/>
              </a:rPr>
              <a:t></a:t>
            </a:r>
            <a:r>
              <a:rPr lang="zh-CN" altLang="en-US" sz="3100" dirty="0">
                <a:latin typeface="Times New Roman" panose="02020603050405020304" charset="0"/>
                <a:ea typeface="宋体" panose="02010600030101010101" pitchFamily="2" charset="-122"/>
              </a:rPr>
              <a:t>－</a:t>
            </a:r>
            <a:r>
              <a:rPr lang="en-US" altLang="zh-CN" sz="3100" i="1" dirty="0">
                <a:latin typeface="Times New Roman" panose="02020603050405020304" charset="0"/>
                <a:ea typeface="宋体" panose="02010600030101010101" pitchFamily="2" charset="-122"/>
              </a:rPr>
              <a:t>I</a:t>
            </a:r>
            <a:r>
              <a:rPr lang="en-US" altLang="zh-CN" sz="3100" baseline="-25000" dirty="0">
                <a:latin typeface="Times New Roman" panose="02020603050405020304" charset="0"/>
                <a:ea typeface="宋体" panose="02010600030101010101" pitchFamily="2" charset="-122"/>
              </a:rPr>
              <a:t>f </a:t>
            </a:r>
            <a:r>
              <a:rPr lang="en-US" altLang="zh-CN" sz="3100" i="1" dirty="0">
                <a:latin typeface="Times New Roman" panose="02020603050405020304" charset="0"/>
                <a:ea typeface="宋体" panose="02010600030101010101" pitchFamily="2" charset="-122"/>
              </a:rPr>
              <a:t>R</a:t>
            </a:r>
            <a:r>
              <a:rPr lang="en-US" altLang="zh-CN" sz="3100" baseline="-25000" dirty="0">
                <a:latin typeface="Times New Roman" panose="02020603050405020304" charset="0"/>
                <a:ea typeface="宋体" panose="02010600030101010101" pitchFamily="2" charset="-122"/>
              </a:rPr>
              <a:t>f</a:t>
            </a:r>
            <a:r>
              <a:rPr lang="en-US" altLang="zh-CN" sz="3100" dirty="0">
                <a:latin typeface="Times New Roman" panose="02020603050405020304" charset="0"/>
                <a:ea typeface="宋体" panose="02010600030101010101" pitchFamily="2" charset="-122"/>
              </a:rPr>
              <a:t> </a:t>
            </a:r>
            <a:r>
              <a:rPr lang="en-US" altLang="zh-CN" sz="3100" dirty="0">
                <a:latin typeface="Times New Roman" panose="02020603050405020304" charset="0"/>
                <a:sym typeface="Symbol" panose="05050102010706020507" pitchFamily="18" charset="2"/>
              </a:rPr>
              <a:t></a:t>
            </a:r>
            <a:r>
              <a:rPr lang="zh-CN" altLang="en-US" sz="3100" dirty="0">
                <a:latin typeface="Times New Roman" panose="02020603050405020304" charset="0"/>
                <a:sym typeface="+mn-ea"/>
              </a:rPr>
              <a:t>－</a:t>
            </a:r>
            <a:r>
              <a:rPr lang="en-US" altLang="zh-CN" sz="3100" i="1" dirty="0">
                <a:latin typeface="Times New Roman" panose="02020603050405020304" charset="0"/>
                <a:sym typeface="+mn-ea"/>
              </a:rPr>
              <a:t>I</a:t>
            </a:r>
            <a:r>
              <a:rPr lang="en-US" altLang="zh-CN" sz="3100" baseline="-25000" dirty="0">
                <a:latin typeface="Times New Roman" panose="02020603050405020304" charset="0"/>
                <a:sym typeface="+mn-ea"/>
              </a:rPr>
              <a:t>i</a:t>
            </a:r>
            <a:r>
              <a:rPr lang="en-US" altLang="zh-CN" sz="3100" i="1" dirty="0">
                <a:latin typeface="Times New Roman" panose="02020603050405020304" charset="0"/>
                <a:sym typeface="+mn-ea"/>
              </a:rPr>
              <a:t>R</a:t>
            </a:r>
            <a:r>
              <a:rPr lang="en-US" altLang="zh-CN" sz="3100" baseline="-25000" dirty="0">
                <a:latin typeface="Times New Roman" panose="02020603050405020304" charset="0"/>
                <a:sym typeface="+mn-ea"/>
              </a:rPr>
              <a:t>f </a:t>
            </a:r>
            <a:r>
              <a:rPr lang="en-US" altLang="zh-CN" sz="3100" dirty="0">
                <a:latin typeface="Times New Roman" panose="02020603050405020304" charset="0"/>
                <a:ea typeface="宋体" panose="02010600030101010101" pitchFamily="2" charset="-122"/>
              </a:rPr>
              <a:t>=</a:t>
            </a:r>
            <a:r>
              <a:rPr lang="zh-CN" altLang="en-US" sz="3100" dirty="0">
                <a:latin typeface="Times New Roman" panose="02020603050405020304" charset="0"/>
                <a:ea typeface="宋体" panose="02010600030101010101" pitchFamily="2" charset="-122"/>
              </a:rPr>
              <a:t>－</a:t>
            </a:r>
            <a:r>
              <a:rPr lang="en-US" altLang="zh-CN" sz="3100" i="1" dirty="0">
                <a:latin typeface="Times New Roman" panose="02020603050405020304" charset="0"/>
                <a:ea typeface="宋体" panose="02010600030101010101" pitchFamily="2" charset="-122"/>
              </a:rPr>
              <a:t>V</a:t>
            </a:r>
            <a:r>
              <a:rPr lang="en-US" altLang="zh-CN" sz="3100" baseline="-25000" dirty="0">
                <a:latin typeface="Times New Roman" panose="02020603050405020304" charset="0"/>
                <a:ea typeface="宋体" panose="02010600030101010101" pitchFamily="2" charset="-122"/>
              </a:rPr>
              <a:t>i </a:t>
            </a:r>
            <a:r>
              <a:rPr lang="en-US" altLang="zh-CN" sz="3100" i="1" dirty="0">
                <a:latin typeface="Times New Roman" panose="02020603050405020304" charset="0"/>
                <a:ea typeface="宋体" panose="02010600030101010101" pitchFamily="2" charset="-122"/>
              </a:rPr>
              <a:t>R</a:t>
            </a:r>
            <a:r>
              <a:rPr lang="en-US" altLang="zh-CN" sz="3100" baseline="-25000" dirty="0">
                <a:latin typeface="Times New Roman" panose="02020603050405020304" charset="0"/>
                <a:ea typeface="宋体" panose="02010600030101010101" pitchFamily="2" charset="-122"/>
              </a:rPr>
              <a:t>f </a:t>
            </a:r>
            <a:r>
              <a:rPr lang="en-US" altLang="zh-CN" sz="3100" dirty="0">
                <a:latin typeface="Times New Roman" panose="02020603050405020304" charset="0"/>
                <a:ea typeface="宋体" panose="02010600030101010101" pitchFamily="2" charset="-122"/>
              </a:rPr>
              <a:t>/</a:t>
            </a:r>
            <a:r>
              <a:rPr lang="en-US" altLang="zh-CN" sz="3100" i="1" dirty="0">
                <a:latin typeface="Times New Roman" panose="02020603050405020304" charset="0"/>
                <a:ea typeface="宋体" panose="02010600030101010101" pitchFamily="2" charset="-122"/>
              </a:rPr>
              <a:t>R</a:t>
            </a:r>
            <a:r>
              <a:rPr lang="en-US" altLang="zh-CN" sz="3100" baseline="-25000" dirty="0">
                <a:latin typeface="Times New Roman" panose="02020603050405020304" charset="0"/>
                <a:ea typeface="宋体" panose="02010600030101010101" pitchFamily="2" charset="-122"/>
              </a:rPr>
              <a:t>1</a:t>
            </a:r>
            <a:endParaRPr lang="en-US" altLang="zh-CN" sz="3100" baseline="-25000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r>
              <a:rPr lang="zh-CN" altLang="en-US" sz="3100" dirty="0">
                <a:latin typeface="宋体" panose="02010600030101010101" pitchFamily="2" charset="-122"/>
                <a:ea typeface="宋体" panose="02010600030101010101" pitchFamily="2" charset="-122"/>
              </a:rPr>
              <a:t>电压增益：</a:t>
            </a:r>
            <a:endParaRPr lang="zh-CN" altLang="en-US" sz="31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3100" i="1" dirty="0">
                <a:latin typeface="Times New Roman" panose="02020603050405020304" charset="0"/>
                <a:ea typeface="宋体" panose="02010600030101010101" pitchFamily="2" charset="-122"/>
              </a:rPr>
              <a:t>A</a:t>
            </a:r>
            <a:r>
              <a:rPr lang="en-US" altLang="zh-CN" sz="3100" i="1" baseline="-25000" dirty="0">
                <a:latin typeface="Times New Roman" panose="02020603050405020304" charset="0"/>
                <a:ea typeface="宋体" panose="02010600030101010101" pitchFamily="2" charset="-122"/>
              </a:rPr>
              <a:t>v</a:t>
            </a:r>
            <a:r>
              <a:rPr lang="en-US" altLang="zh-CN" sz="3100" baseline="-25000" dirty="0">
                <a:latin typeface="Times New Roman" panose="02020603050405020304" charset="0"/>
                <a:ea typeface="宋体" panose="02010600030101010101" pitchFamily="2" charset="-122"/>
              </a:rPr>
              <a:t>f</a:t>
            </a:r>
            <a:r>
              <a:rPr lang="en-US" altLang="zh-CN" sz="3100" dirty="0">
                <a:latin typeface="Times New Roman" panose="02020603050405020304" charset="0"/>
                <a:ea typeface="宋体" panose="02010600030101010101" pitchFamily="2" charset="-122"/>
              </a:rPr>
              <a:t>=</a:t>
            </a:r>
            <a:r>
              <a:rPr lang="en-US" altLang="zh-CN" sz="3100" i="1" dirty="0">
                <a:latin typeface="Times New Roman" panose="02020603050405020304" charset="0"/>
                <a:ea typeface="宋体" panose="02010600030101010101" pitchFamily="2" charset="-122"/>
              </a:rPr>
              <a:t> V</a:t>
            </a:r>
            <a:r>
              <a:rPr lang="en-US" altLang="zh-CN" sz="3100" baseline="-25000" dirty="0">
                <a:latin typeface="Times New Roman" panose="02020603050405020304" charset="0"/>
                <a:ea typeface="宋体" panose="02010600030101010101" pitchFamily="2" charset="-122"/>
              </a:rPr>
              <a:t>o</a:t>
            </a:r>
            <a:r>
              <a:rPr lang="en-US" altLang="zh-CN" sz="3100" i="1" dirty="0">
                <a:latin typeface="Times New Roman" panose="02020603050405020304" charset="0"/>
                <a:ea typeface="宋体" panose="02010600030101010101" pitchFamily="2" charset="-122"/>
              </a:rPr>
              <a:t> /V</a:t>
            </a:r>
            <a:r>
              <a:rPr lang="en-US" altLang="zh-CN" sz="3100" baseline="-25000" dirty="0">
                <a:latin typeface="Times New Roman" panose="02020603050405020304" charset="0"/>
                <a:ea typeface="宋体" panose="02010600030101010101" pitchFamily="2" charset="-122"/>
              </a:rPr>
              <a:t>i </a:t>
            </a:r>
            <a:r>
              <a:rPr lang="en-US" altLang="zh-CN" sz="3100" dirty="0">
                <a:latin typeface="Times New Roman" panose="02020603050405020304" charset="0"/>
                <a:ea typeface="宋体" panose="02010600030101010101" pitchFamily="2" charset="-122"/>
              </a:rPr>
              <a:t>=</a:t>
            </a:r>
            <a:r>
              <a:rPr lang="zh-CN" altLang="en-US" sz="3100" dirty="0">
                <a:latin typeface="Times New Roman" panose="02020603050405020304" charset="0"/>
                <a:ea typeface="宋体" panose="02010600030101010101" pitchFamily="2" charset="-122"/>
              </a:rPr>
              <a:t>－</a:t>
            </a:r>
            <a:r>
              <a:rPr lang="en-US" altLang="zh-CN" sz="3100" i="1" dirty="0">
                <a:latin typeface="Times New Roman" panose="02020603050405020304" charset="0"/>
                <a:ea typeface="宋体" panose="02010600030101010101" pitchFamily="2" charset="-122"/>
              </a:rPr>
              <a:t>R</a:t>
            </a:r>
            <a:r>
              <a:rPr lang="en-US" altLang="zh-CN" sz="3100" baseline="-25000" dirty="0">
                <a:latin typeface="Times New Roman" panose="02020603050405020304" charset="0"/>
                <a:ea typeface="宋体" panose="02010600030101010101" pitchFamily="2" charset="-122"/>
              </a:rPr>
              <a:t>f </a:t>
            </a:r>
            <a:r>
              <a:rPr lang="en-US" altLang="zh-CN" sz="3100" dirty="0">
                <a:latin typeface="Times New Roman" panose="02020603050405020304" charset="0"/>
                <a:ea typeface="宋体" panose="02010600030101010101" pitchFamily="2" charset="-122"/>
              </a:rPr>
              <a:t>/</a:t>
            </a:r>
            <a:r>
              <a:rPr lang="en-US" altLang="zh-CN" sz="3100" i="1" dirty="0">
                <a:latin typeface="Times New Roman" panose="02020603050405020304" charset="0"/>
                <a:ea typeface="宋体" panose="02010600030101010101" pitchFamily="2" charset="-122"/>
              </a:rPr>
              <a:t>R</a:t>
            </a:r>
            <a:r>
              <a:rPr lang="en-US" altLang="zh-CN" sz="3100" baseline="-25000" dirty="0">
                <a:latin typeface="Times New Roman" panose="02020603050405020304" charset="0"/>
                <a:ea typeface="宋体" panose="02010600030101010101" pitchFamily="2" charset="-122"/>
              </a:rPr>
              <a:t>1</a:t>
            </a:r>
            <a:endParaRPr lang="en-US" altLang="zh-CN" sz="3100" baseline="-25000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r>
              <a:rPr lang="zh-CN" altLang="en-US" sz="3100" dirty="0">
                <a:latin typeface="宋体" panose="02010600030101010101" pitchFamily="2" charset="-122"/>
                <a:ea typeface="宋体" panose="02010600030101010101" pitchFamily="2" charset="-122"/>
              </a:rPr>
              <a:t>根据上述关系式，该电路可用于反相比例运算。</a:t>
            </a:r>
            <a:endParaRPr lang="zh-CN" altLang="en-US" sz="31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21507" name="Group 4"/>
          <p:cNvGrpSpPr/>
          <p:nvPr/>
        </p:nvGrpSpPr>
        <p:grpSpPr>
          <a:xfrm>
            <a:off x="6880225" y="1741488"/>
            <a:ext cx="3581400" cy="3970337"/>
            <a:chOff x="3216" y="1344"/>
            <a:chExt cx="2256" cy="2501"/>
          </a:xfrm>
        </p:grpSpPr>
        <p:sp>
          <p:nvSpPr>
            <p:cNvPr id="21508" name="Text Box 5"/>
            <p:cNvSpPr txBox="1"/>
            <p:nvPr/>
          </p:nvSpPr>
          <p:spPr>
            <a:xfrm>
              <a:off x="3466" y="3187"/>
              <a:ext cx="1757" cy="65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zh-CN" altLang="en-US" sz="3100" dirty="0">
                  <a:solidFill>
                    <a:srgbClr val="FF33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反相比例运算电路</a:t>
              </a:r>
              <a:endParaRPr lang="zh-CN" altLang="en-US" sz="3100" dirty="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21509" name="Object 6"/>
            <p:cNvGraphicFramePr/>
            <p:nvPr/>
          </p:nvGraphicFramePr>
          <p:xfrm>
            <a:off x="3216" y="1344"/>
            <a:ext cx="2256" cy="18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0" name="" r:id="rId1" imgW="1600200" imgH="1304290" progId="Paint.Picture">
                    <p:embed/>
                  </p:oleObj>
                </mc:Choice>
                <mc:Fallback>
                  <p:oleObj name="" r:id="rId1" imgW="1600200" imgH="1304290" progId="Paint.Picture">
                    <p:embed/>
                    <p:pic>
                      <p:nvPicPr>
                        <p:cNvPr id="0" name="图片 3079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3216" y="1344"/>
                          <a:ext cx="2256" cy="183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35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35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35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35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29" name="Text Box 2"/>
          <p:cNvSpPr txBox="1"/>
          <p:nvPr/>
        </p:nvSpPr>
        <p:spPr>
          <a:xfrm>
            <a:off x="1754188" y="293688"/>
            <a:ext cx="8669337" cy="104521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3100" dirty="0">
                <a:solidFill>
                  <a:srgbClr val="FF33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例</a:t>
            </a:r>
            <a:r>
              <a:rPr lang="en-US" altLang="zh-CN" sz="3100" dirty="0">
                <a:solidFill>
                  <a:srgbClr val="FF33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2</a:t>
            </a:r>
            <a:r>
              <a:rPr lang="zh-CN" altLang="en-US" sz="3100" dirty="0">
                <a:latin typeface="宋体" panose="02010600030101010101" pitchFamily="2" charset="-122"/>
                <a:ea typeface="宋体" panose="02010600030101010101" pitchFamily="2" charset="-122"/>
              </a:rPr>
              <a:t>：有一理想运算放大器组成的电路如图所示，试求输出电压的表达式和电压放大倍数。</a:t>
            </a:r>
            <a:endParaRPr lang="zh-CN" altLang="en-US" sz="31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4579" name="Text Box 3"/>
          <p:cNvSpPr txBox="1"/>
          <p:nvPr/>
        </p:nvSpPr>
        <p:spPr>
          <a:xfrm>
            <a:off x="592455" y="1627505"/>
            <a:ext cx="5835650" cy="43846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 sz="3100" dirty="0">
                <a:latin typeface="宋体" panose="02010600030101010101" pitchFamily="2" charset="-122"/>
                <a:ea typeface="宋体" panose="02010600030101010101" pitchFamily="2" charset="-122"/>
              </a:rPr>
              <a:t>根据虚短，</a:t>
            </a:r>
            <a:r>
              <a:rPr lang="en-US" altLang="zh-CN" sz="3100" i="1" dirty="0">
                <a:latin typeface="Times New Roman" panose="02020603050405020304" charset="0"/>
                <a:ea typeface="宋体" panose="02010600030101010101" pitchFamily="2" charset="-122"/>
              </a:rPr>
              <a:t>V</a:t>
            </a:r>
            <a:r>
              <a:rPr lang="en-US" altLang="zh-CN" sz="3100" baseline="-25000" dirty="0">
                <a:latin typeface="Times New Roman" panose="02020603050405020304" charset="0"/>
                <a:ea typeface="宋体" panose="02010600030101010101" pitchFamily="2" charset="-122"/>
              </a:rPr>
              <a:t>i </a:t>
            </a:r>
            <a:r>
              <a:rPr lang="en-US" altLang="zh-CN" sz="3100" dirty="0">
                <a:latin typeface="Times New Roman" panose="02020603050405020304" charset="0"/>
                <a:ea typeface="宋体" panose="02010600030101010101" pitchFamily="2" charset="-122"/>
              </a:rPr>
              <a:t>=</a:t>
            </a:r>
            <a:r>
              <a:rPr lang="en-US" altLang="zh-CN" sz="3100" i="1" dirty="0">
                <a:latin typeface="Times New Roman" panose="02020603050405020304" charset="0"/>
                <a:ea typeface="宋体" panose="02010600030101010101" pitchFamily="2" charset="-122"/>
              </a:rPr>
              <a:t>V</a:t>
            </a:r>
            <a:r>
              <a:rPr lang="en-US" altLang="zh-CN" sz="3100" baseline="-25000" dirty="0">
                <a:latin typeface="Times New Roman" panose="02020603050405020304" charset="0"/>
                <a:ea typeface="宋体" panose="02010600030101010101" pitchFamily="2" charset="-122"/>
              </a:rPr>
              <a:t>+</a:t>
            </a:r>
            <a:r>
              <a:rPr lang="en-US" altLang="zh-CN" sz="3100" dirty="0">
                <a:latin typeface="Times New Roman" panose="02020603050405020304" charset="0"/>
                <a:sym typeface="+mn-ea"/>
              </a:rPr>
              <a:t>=</a:t>
            </a:r>
            <a:r>
              <a:rPr lang="en-US" altLang="zh-CN" sz="3100" i="1" dirty="0">
                <a:latin typeface="Times New Roman" panose="02020603050405020304" charset="0"/>
                <a:sym typeface="+mn-ea"/>
              </a:rPr>
              <a:t>V</a:t>
            </a:r>
            <a:r>
              <a:rPr lang="en-US" altLang="zh-CN" sz="3100" baseline="-25000" dirty="0">
                <a:latin typeface="Times New Roman" panose="02020603050405020304" charset="0"/>
                <a:sym typeface="+mn-ea"/>
              </a:rPr>
              <a:t>-</a:t>
            </a:r>
            <a:endParaRPr lang="en-US" altLang="zh-CN" sz="3100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r>
              <a:rPr lang="zh-CN" altLang="en-US" sz="3100" dirty="0">
                <a:latin typeface="宋体" panose="02010600030101010101" pitchFamily="2" charset="-122"/>
                <a:sym typeface="+mn-ea"/>
              </a:rPr>
              <a:t>根据虚断</a:t>
            </a:r>
            <a:r>
              <a:rPr lang="en-US" altLang="zh-CN" sz="3100" dirty="0"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sz="3100" i="1" dirty="0">
                <a:latin typeface="Times New Roman" panose="02020603050405020304" charset="0"/>
                <a:sym typeface="+mn-ea"/>
              </a:rPr>
              <a:t>I</a:t>
            </a:r>
            <a:r>
              <a:rPr lang="en-US" altLang="zh-CN" sz="3100" baseline="-25000" dirty="0">
                <a:latin typeface="Times New Roman" panose="02020603050405020304" charset="0"/>
                <a:sym typeface="+mn-ea"/>
              </a:rPr>
              <a:t>- </a:t>
            </a:r>
            <a:r>
              <a:rPr lang="en-US" altLang="zh-CN" sz="3100" dirty="0">
                <a:latin typeface="Times New Roman" panose="02020603050405020304" charset="0"/>
                <a:sym typeface="Symbol" panose="05050102010706020507" pitchFamily="18" charset="2"/>
              </a:rPr>
              <a:t></a:t>
            </a:r>
            <a:r>
              <a:rPr lang="en-US" altLang="zh-CN" sz="3100" dirty="0">
                <a:latin typeface="Times New Roman" panose="02020603050405020304" charset="0"/>
                <a:sym typeface="+mn-ea"/>
              </a:rPr>
              <a:t>0</a:t>
            </a:r>
            <a:r>
              <a:rPr lang="zh-CN" altLang="en-US" sz="3100" dirty="0">
                <a:latin typeface="Times New Roman" panose="02020603050405020304" charset="0"/>
                <a:sym typeface="+mn-ea"/>
              </a:rPr>
              <a:t>，</a:t>
            </a:r>
            <a:r>
              <a:rPr lang="en-US" altLang="zh-CN" sz="3100" i="1" dirty="0">
                <a:latin typeface="Times New Roman" panose="02020603050405020304" charset="0"/>
                <a:ea typeface="宋体" panose="02010600030101010101" pitchFamily="2" charset="-122"/>
              </a:rPr>
              <a:t>V</a:t>
            </a:r>
            <a:r>
              <a:rPr lang="en-US" altLang="zh-CN" sz="3100" baseline="-25000" dirty="0">
                <a:latin typeface="Times New Roman" panose="02020603050405020304" charset="0"/>
                <a:ea typeface="宋体" panose="02010600030101010101" pitchFamily="2" charset="-122"/>
              </a:rPr>
              <a:t>- </a:t>
            </a:r>
            <a:r>
              <a:rPr lang="zh-CN" altLang="en-US" sz="3100" dirty="0">
                <a:latin typeface="Times New Roman" panose="02020603050405020304" charset="0"/>
                <a:ea typeface="宋体" panose="02010600030101010101" pitchFamily="2" charset="-122"/>
              </a:rPr>
              <a:t>的电压为</a:t>
            </a:r>
            <a:r>
              <a:rPr lang="en-US" altLang="zh-CN" sz="3100" dirty="0">
                <a:latin typeface="Times New Roman" panose="02020603050405020304" charset="0"/>
                <a:ea typeface="宋体" panose="02010600030101010101" pitchFamily="2" charset="-122"/>
              </a:rPr>
              <a:t>R1</a:t>
            </a:r>
            <a:r>
              <a:rPr lang="zh-CN" altLang="en-US" sz="3100" dirty="0">
                <a:latin typeface="Times New Roman" panose="02020603050405020304" charset="0"/>
                <a:ea typeface="宋体" panose="02010600030101010101" pitchFamily="2" charset="-122"/>
              </a:rPr>
              <a:t>的分压</a:t>
            </a:r>
            <a:r>
              <a:rPr lang="en-US" altLang="zh-CN" sz="3100" dirty="0">
                <a:latin typeface="Times New Roman" panose="02020603050405020304" charset="0"/>
                <a:ea typeface="宋体" panose="02010600030101010101" pitchFamily="2" charset="-122"/>
              </a:rPr>
              <a:t> </a:t>
            </a:r>
            <a:r>
              <a:rPr lang="zh-CN" altLang="en-US" sz="3100" dirty="0">
                <a:latin typeface="Times New Roman" panose="02020603050405020304" charset="0"/>
                <a:ea typeface="宋体" panose="02010600030101010101" pitchFamily="2" charset="-122"/>
              </a:rPr>
              <a:t>：</a:t>
            </a:r>
            <a:endParaRPr lang="en-US" altLang="zh-CN" sz="31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457200"/>
            <a:r>
              <a:rPr lang="en-US" altLang="zh-CN" sz="3100" i="1" dirty="0">
                <a:latin typeface="Times New Roman" panose="02020603050405020304" charset="0"/>
                <a:sym typeface="+mn-ea"/>
              </a:rPr>
              <a:t>V</a:t>
            </a:r>
            <a:r>
              <a:rPr lang="en-US" altLang="zh-CN" sz="3100" baseline="-25000" dirty="0">
                <a:latin typeface="Times New Roman" panose="02020603050405020304" charset="0"/>
                <a:sym typeface="+mn-ea"/>
              </a:rPr>
              <a:t>i </a:t>
            </a:r>
            <a:r>
              <a:rPr lang="en-US" altLang="zh-CN" sz="3100" dirty="0">
                <a:latin typeface="Times New Roman" panose="02020603050405020304" charset="0"/>
                <a:sym typeface="Symbol" panose="05050102010706020507" pitchFamily="18" charset="2"/>
              </a:rPr>
              <a:t></a:t>
            </a:r>
            <a:r>
              <a:rPr lang="en-US" altLang="zh-CN" sz="3100" i="1" dirty="0">
                <a:latin typeface="Times New Roman" panose="02020603050405020304" charset="0"/>
                <a:ea typeface="宋体" panose="02010600030101010101" pitchFamily="2" charset="-122"/>
              </a:rPr>
              <a:t> </a:t>
            </a:r>
            <a:r>
              <a:rPr lang="en-US" altLang="zh-CN" sz="3100" i="1" dirty="0">
                <a:latin typeface="Times New Roman" panose="02020603050405020304" charset="0"/>
                <a:sym typeface="+mn-ea"/>
              </a:rPr>
              <a:t>V</a:t>
            </a:r>
            <a:r>
              <a:rPr lang="en-US" altLang="zh-CN" sz="3100" baseline="-25000" dirty="0">
                <a:latin typeface="宋体" panose="02010600030101010101" pitchFamily="2" charset="-122"/>
                <a:sym typeface="+mn-ea"/>
              </a:rPr>
              <a:t>-</a:t>
            </a:r>
            <a:r>
              <a:rPr lang="en-US" altLang="zh-CN" sz="3100" dirty="0">
                <a:latin typeface="Times New Roman" panose="02020603050405020304" charset="0"/>
                <a:sym typeface="+mn-ea"/>
              </a:rPr>
              <a:t> </a:t>
            </a:r>
            <a:r>
              <a:rPr lang="en-US" altLang="zh-CN" sz="3100" dirty="0">
                <a:latin typeface="Times New Roman" panose="02020603050405020304" charset="0"/>
                <a:ea typeface="宋体" panose="02010600030101010101" pitchFamily="2" charset="-122"/>
              </a:rPr>
              <a:t>=</a:t>
            </a:r>
            <a:r>
              <a:rPr lang="en-US" altLang="zh-CN" sz="3100" i="1" dirty="0">
                <a:latin typeface="Times New Roman" panose="02020603050405020304" charset="0"/>
                <a:ea typeface="宋体" panose="02010600030101010101" pitchFamily="2" charset="-122"/>
              </a:rPr>
              <a:t> V</a:t>
            </a:r>
            <a:r>
              <a:rPr lang="en-US" altLang="zh-CN" sz="3100" baseline="-25000" dirty="0">
                <a:latin typeface="Times New Roman" panose="02020603050405020304" charset="0"/>
                <a:ea typeface="宋体" panose="02010600030101010101" pitchFamily="2" charset="-122"/>
              </a:rPr>
              <a:t>o </a:t>
            </a:r>
            <a:r>
              <a:rPr lang="en-US" altLang="zh-CN" sz="3100" i="1" dirty="0">
                <a:latin typeface="Times New Roman" panose="02020603050405020304" charset="0"/>
                <a:ea typeface="宋体" panose="02010600030101010101" pitchFamily="2" charset="-122"/>
              </a:rPr>
              <a:t>R</a:t>
            </a:r>
            <a:r>
              <a:rPr lang="en-US" altLang="zh-CN" sz="3100" baseline="-25000" dirty="0">
                <a:latin typeface="Times New Roman" panose="02020603050405020304" charset="0"/>
                <a:ea typeface="宋体" panose="02010600030101010101" pitchFamily="2" charset="-122"/>
              </a:rPr>
              <a:t>1 </a:t>
            </a:r>
            <a:r>
              <a:rPr lang="en-US" altLang="zh-CN" sz="3100" dirty="0">
                <a:latin typeface="Times New Roman" panose="02020603050405020304" charset="0"/>
                <a:ea typeface="宋体" panose="02010600030101010101" pitchFamily="2" charset="-122"/>
              </a:rPr>
              <a:t>/(</a:t>
            </a:r>
            <a:r>
              <a:rPr lang="en-US" altLang="zh-CN" sz="3100" i="1" dirty="0">
                <a:latin typeface="Times New Roman" panose="02020603050405020304" charset="0"/>
                <a:ea typeface="宋体" panose="02010600030101010101" pitchFamily="2" charset="-122"/>
              </a:rPr>
              <a:t>R</a:t>
            </a:r>
            <a:r>
              <a:rPr lang="en-US" altLang="zh-CN" sz="3100" baseline="-25000" dirty="0">
                <a:latin typeface="Times New Roman" panose="02020603050405020304" charset="0"/>
                <a:ea typeface="宋体" panose="02010600030101010101" pitchFamily="2" charset="-122"/>
              </a:rPr>
              <a:t>1</a:t>
            </a:r>
            <a:r>
              <a:rPr lang="en-US" altLang="zh-CN" sz="3100" dirty="0">
                <a:latin typeface="Times New Roman" panose="02020603050405020304" charset="0"/>
                <a:ea typeface="宋体" panose="02010600030101010101" pitchFamily="2" charset="-122"/>
              </a:rPr>
              <a:t>+</a:t>
            </a:r>
            <a:r>
              <a:rPr lang="en-US" altLang="zh-CN" sz="3100" i="1" dirty="0">
                <a:latin typeface="Times New Roman" panose="02020603050405020304" charset="0"/>
                <a:ea typeface="宋体" panose="02010600030101010101" pitchFamily="2" charset="-122"/>
              </a:rPr>
              <a:t> R</a:t>
            </a:r>
            <a:r>
              <a:rPr lang="en-US" altLang="zh-CN" sz="3100" baseline="-25000" dirty="0">
                <a:latin typeface="Times New Roman" panose="02020603050405020304" charset="0"/>
                <a:ea typeface="宋体" panose="02010600030101010101" pitchFamily="2" charset="-122"/>
              </a:rPr>
              <a:t>f</a:t>
            </a:r>
            <a:r>
              <a:rPr lang="en-US" altLang="zh-CN" sz="3100" dirty="0">
                <a:latin typeface="Times New Roman" panose="02020603050405020304" charset="0"/>
                <a:ea typeface="宋体" panose="02010600030101010101" pitchFamily="2" charset="-122"/>
              </a:rPr>
              <a:t>)</a:t>
            </a:r>
            <a:endParaRPr lang="en-US" altLang="zh-CN" sz="31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457200"/>
            <a:r>
              <a:rPr lang="en-US" altLang="zh-CN" sz="3100" i="1" dirty="0">
                <a:latin typeface="Times New Roman" panose="02020603050405020304" charset="0"/>
                <a:ea typeface="宋体" panose="02010600030101010101" pitchFamily="2" charset="-122"/>
              </a:rPr>
              <a:t>V</a:t>
            </a:r>
            <a:r>
              <a:rPr lang="en-US" altLang="zh-CN" sz="3100" baseline="-25000" dirty="0">
                <a:latin typeface="Times New Roman" panose="02020603050405020304" charset="0"/>
                <a:ea typeface="宋体" panose="02010600030101010101" pitchFamily="2" charset="-122"/>
              </a:rPr>
              <a:t>o</a:t>
            </a:r>
            <a:r>
              <a:rPr lang="en-US" altLang="zh-CN" sz="3100" dirty="0">
                <a:latin typeface="Times New Roman" panose="02020603050405020304" charset="0"/>
                <a:ea typeface="宋体" panose="02010600030101010101" pitchFamily="2" charset="-122"/>
              </a:rPr>
              <a:t> </a:t>
            </a:r>
            <a:r>
              <a:rPr lang="en-US" altLang="zh-CN" sz="3100" dirty="0">
                <a:latin typeface="Times New Roman" panose="02020603050405020304" charset="0"/>
                <a:ea typeface="宋体" panose="02010600030101010101" pitchFamily="2" charset="-122"/>
                <a:sym typeface="Symbol" panose="05050102010706020507" pitchFamily="18" charset="2"/>
              </a:rPr>
              <a:t></a:t>
            </a:r>
            <a:r>
              <a:rPr lang="en-US" altLang="zh-CN" sz="3100" i="1" dirty="0">
                <a:latin typeface="Times New Roman" panose="02020603050405020304" charset="0"/>
                <a:ea typeface="宋体" panose="02010600030101010101" pitchFamily="2" charset="-122"/>
              </a:rPr>
              <a:t>V</a:t>
            </a:r>
            <a:r>
              <a:rPr lang="en-US" altLang="zh-CN" sz="3100" baseline="-25000" dirty="0">
                <a:latin typeface="Times New Roman" panose="02020603050405020304" charset="0"/>
                <a:ea typeface="宋体" panose="02010600030101010101" pitchFamily="2" charset="-122"/>
              </a:rPr>
              <a:t>i </a:t>
            </a:r>
            <a:r>
              <a:rPr lang="en-US" altLang="zh-CN" sz="3100" dirty="0">
                <a:latin typeface="Times New Roman" panose="02020603050405020304" charset="0"/>
                <a:ea typeface="宋体" panose="02010600030101010101" pitchFamily="2" charset="-122"/>
              </a:rPr>
              <a:t>[1+(</a:t>
            </a:r>
            <a:r>
              <a:rPr lang="en-US" altLang="zh-CN" sz="3100" i="1" dirty="0">
                <a:latin typeface="Times New Roman" panose="02020603050405020304" charset="0"/>
                <a:ea typeface="宋体" panose="02010600030101010101" pitchFamily="2" charset="-122"/>
              </a:rPr>
              <a:t>R</a:t>
            </a:r>
            <a:r>
              <a:rPr lang="en-US" altLang="zh-CN" sz="3100" baseline="-25000" dirty="0">
                <a:latin typeface="Times New Roman" panose="02020603050405020304" charset="0"/>
                <a:ea typeface="宋体" panose="02010600030101010101" pitchFamily="2" charset="-122"/>
              </a:rPr>
              <a:t>f </a:t>
            </a:r>
            <a:r>
              <a:rPr lang="en-US" altLang="zh-CN" sz="3100" dirty="0">
                <a:latin typeface="Times New Roman" panose="02020603050405020304" charset="0"/>
                <a:ea typeface="宋体" panose="02010600030101010101" pitchFamily="2" charset="-122"/>
              </a:rPr>
              <a:t>/</a:t>
            </a:r>
            <a:r>
              <a:rPr lang="en-US" altLang="zh-CN" sz="3100" i="1" dirty="0">
                <a:latin typeface="Times New Roman" panose="02020603050405020304" charset="0"/>
                <a:ea typeface="宋体" panose="02010600030101010101" pitchFamily="2" charset="-122"/>
              </a:rPr>
              <a:t>R</a:t>
            </a:r>
            <a:r>
              <a:rPr lang="en-US" altLang="zh-CN" sz="3100" baseline="-25000" dirty="0">
                <a:latin typeface="Times New Roman" panose="02020603050405020304" charset="0"/>
                <a:ea typeface="宋体" panose="02010600030101010101" pitchFamily="2" charset="-122"/>
              </a:rPr>
              <a:t>1</a:t>
            </a:r>
            <a:r>
              <a:rPr lang="en-US" altLang="zh-CN" sz="3100" dirty="0">
                <a:latin typeface="Times New Roman" panose="02020603050405020304" charset="0"/>
                <a:ea typeface="宋体" panose="02010600030101010101" pitchFamily="2" charset="-122"/>
              </a:rPr>
              <a:t>)]</a:t>
            </a:r>
            <a:r>
              <a:rPr lang="en-US" altLang="zh-CN" sz="31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endParaRPr lang="en-US" altLang="zh-CN" sz="31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3100" dirty="0">
                <a:latin typeface="宋体" panose="02010600030101010101" pitchFamily="2" charset="-122"/>
                <a:ea typeface="宋体" panose="02010600030101010101" pitchFamily="2" charset="-122"/>
              </a:rPr>
              <a:t>电压增益：</a:t>
            </a:r>
            <a:endParaRPr lang="zh-CN" altLang="en-US" sz="31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457200"/>
            <a:r>
              <a:rPr lang="en-US" altLang="zh-CN" sz="3100" i="1" dirty="0">
                <a:latin typeface="Times New Roman" panose="02020603050405020304" charset="0"/>
                <a:ea typeface="宋体" panose="02010600030101010101" pitchFamily="2" charset="-122"/>
              </a:rPr>
              <a:t>A</a:t>
            </a:r>
            <a:r>
              <a:rPr lang="en-US" altLang="zh-CN" sz="3100" i="1" baseline="-25000" dirty="0">
                <a:latin typeface="Times New Roman" panose="02020603050405020304" charset="0"/>
                <a:ea typeface="宋体" panose="02010600030101010101" pitchFamily="2" charset="-122"/>
              </a:rPr>
              <a:t>v</a:t>
            </a:r>
            <a:r>
              <a:rPr lang="en-US" altLang="zh-CN" sz="3100" baseline="-25000" dirty="0">
                <a:latin typeface="Times New Roman" panose="02020603050405020304" charset="0"/>
                <a:ea typeface="宋体" panose="02010600030101010101" pitchFamily="2" charset="-122"/>
              </a:rPr>
              <a:t>f</a:t>
            </a:r>
            <a:r>
              <a:rPr lang="en-US" altLang="zh-CN" sz="3100" dirty="0">
                <a:latin typeface="Times New Roman" panose="02020603050405020304" charset="0"/>
                <a:ea typeface="宋体" panose="02010600030101010101" pitchFamily="2" charset="-122"/>
              </a:rPr>
              <a:t>=</a:t>
            </a:r>
            <a:r>
              <a:rPr lang="en-US" altLang="zh-CN" sz="3100" i="1" dirty="0">
                <a:latin typeface="Times New Roman" panose="02020603050405020304" charset="0"/>
                <a:ea typeface="宋体" panose="02010600030101010101" pitchFamily="2" charset="-122"/>
              </a:rPr>
              <a:t> V</a:t>
            </a:r>
            <a:r>
              <a:rPr lang="en-US" altLang="zh-CN" sz="3100" baseline="-25000" dirty="0">
                <a:latin typeface="Times New Roman" panose="02020603050405020304" charset="0"/>
                <a:ea typeface="宋体" panose="02010600030101010101" pitchFamily="2" charset="-122"/>
              </a:rPr>
              <a:t>o</a:t>
            </a:r>
            <a:r>
              <a:rPr lang="en-US" altLang="zh-CN" sz="3100" i="1" dirty="0">
                <a:latin typeface="Times New Roman" panose="02020603050405020304" charset="0"/>
                <a:ea typeface="宋体" panose="02010600030101010101" pitchFamily="2" charset="-122"/>
              </a:rPr>
              <a:t> /V</a:t>
            </a:r>
            <a:r>
              <a:rPr lang="en-US" altLang="zh-CN" sz="3100" baseline="-25000" dirty="0">
                <a:latin typeface="Times New Roman" panose="02020603050405020304" charset="0"/>
                <a:ea typeface="宋体" panose="02010600030101010101" pitchFamily="2" charset="-122"/>
              </a:rPr>
              <a:t>i </a:t>
            </a:r>
            <a:r>
              <a:rPr lang="en-US" altLang="zh-CN" sz="3100" dirty="0">
                <a:latin typeface="Times New Roman" panose="02020603050405020304" charset="0"/>
                <a:ea typeface="宋体" panose="02010600030101010101" pitchFamily="2" charset="-122"/>
              </a:rPr>
              <a:t>=1+(</a:t>
            </a:r>
            <a:r>
              <a:rPr lang="en-US" altLang="zh-CN" sz="3100" i="1" dirty="0">
                <a:latin typeface="Times New Roman" panose="02020603050405020304" charset="0"/>
                <a:ea typeface="宋体" panose="02010600030101010101" pitchFamily="2" charset="-122"/>
              </a:rPr>
              <a:t>R</a:t>
            </a:r>
            <a:r>
              <a:rPr lang="en-US" altLang="zh-CN" sz="3100" baseline="-25000" dirty="0">
                <a:latin typeface="Times New Roman" panose="02020603050405020304" charset="0"/>
                <a:ea typeface="宋体" panose="02010600030101010101" pitchFamily="2" charset="-122"/>
              </a:rPr>
              <a:t>f </a:t>
            </a:r>
            <a:r>
              <a:rPr lang="en-US" altLang="zh-CN" sz="3100" dirty="0">
                <a:latin typeface="Times New Roman" panose="02020603050405020304" charset="0"/>
                <a:ea typeface="宋体" panose="02010600030101010101" pitchFamily="2" charset="-122"/>
              </a:rPr>
              <a:t>/</a:t>
            </a:r>
            <a:r>
              <a:rPr lang="en-US" altLang="zh-CN" sz="3100" i="1" dirty="0">
                <a:latin typeface="Times New Roman" panose="02020603050405020304" charset="0"/>
                <a:ea typeface="宋体" panose="02010600030101010101" pitchFamily="2" charset="-122"/>
              </a:rPr>
              <a:t>R</a:t>
            </a:r>
            <a:r>
              <a:rPr lang="en-US" altLang="zh-CN" sz="3100" baseline="-25000" dirty="0">
                <a:latin typeface="Times New Roman" panose="02020603050405020304" charset="0"/>
                <a:ea typeface="宋体" panose="02010600030101010101" pitchFamily="2" charset="-122"/>
              </a:rPr>
              <a:t>1</a:t>
            </a:r>
            <a:r>
              <a:rPr lang="en-US" altLang="zh-CN" sz="3100" dirty="0">
                <a:latin typeface="Times New Roman" panose="02020603050405020304" charset="0"/>
                <a:ea typeface="宋体" panose="02010600030101010101" pitchFamily="2" charset="-122"/>
              </a:rPr>
              <a:t>)</a:t>
            </a:r>
            <a:endParaRPr lang="en-US" altLang="zh-CN" sz="3100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r>
              <a:rPr lang="zh-CN" altLang="en-US" sz="3100" dirty="0">
                <a:latin typeface="宋体" panose="02010600030101010101" pitchFamily="2" charset="-122"/>
                <a:ea typeface="宋体" panose="02010600030101010101" pitchFamily="2" charset="-122"/>
              </a:rPr>
              <a:t>根据上述关系式，该电路可用于同相比例运算。</a:t>
            </a:r>
            <a:endParaRPr lang="zh-CN" altLang="en-US" sz="3100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grpSp>
        <p:nvGrpSpPr>
          <p:cNvPr id="22531" name="Group 4"/>
          <p:cNvGrpSpPr/>
          <p:nvPr/>
        </p:nvGrpSpPr>
        <p:grpSpPr>
          <a:xfrm>
            <a:off x="6508750" y="2392363"/>
            <a:ext cx="3581400" cy="3313112"/>
            <a:chOff x="3140" y="1507"/>
            <a:chExt cx="2256" cy="2087"/>
          </a:xfrm>
        </p:grpSpPr>
        <p:sp>
          <p:nvSpPr>
            <p:cNvPr id="22532" name="Text Box 5"/>
            <p:cNvSpPr txBox="1"/>
            <p:nvPr/>
          </p:nvSpPr>
          <p:spPr>
            <a:xfrm>
              <a:off x="3157" y="3236"/>
              <a:ext cx="2223" cy="35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3100" dirty="0">
                  <a:solidFill>
                    <a:srgbClr val="FF33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同相比例运算电路</a:t>
              </a:r>
              <a:endParaRPr lang="zh-CN" altLang="en-US" sz="31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graphicFrame>
          <p:nvGraphicFramePr>
            <p:cNvPr id="22533" name="Object 6"/>
            <p:cNvGraphicFramePr/>
            <p:nvPr/>
          </p:nvGraphicFramePr>
          <p:xfrm>
            <a:off x="3140" y="1507"/>
            <a:ext cx="2256" cy="18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1" name="" r:id="rId1" imgW="1426845" imgH="1146810" progId="Paint.Picture">
                    <p:embed/>
                  </p:oleObj>
                </mc:Choice>
                <mc:Fallback>
                  <p:oleObj name="" r:id="rId1" imgW="1426845" imgH="1146810" progId="Paint.Picture">
                    <p:embed/>
                    <p:pic>
                      <p:nvPicPr>
                        <p:cNvPr id="0" name="图片 3080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3140" y="1507"/>
                          <a:ext cx="2256" cy="180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4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3" name="Rectangle 2"/>
          <p:cNvSpPr>
            <a:spLocks noGrp="1"/>
          </p:cNvSpPr>
          <p:nvPr>
            <p:ph type="title"/>
          </p:nvPr>
        </p:nvSpPr>
        <p:spPr>
          <a:xfrm>
            <a:off x="1905000" y="838200"/>
            <a:ext cx="7772400" cy="762000"/>
          </a:xfrm>
        </p:spPr>
        <p:txBody>
          <a:bodyPr vert="horz" wrap="square" lIns="91440" tIns="45720" rIns="91440" bIns="45720" anchor="ctr" anchorCtr="0"/>
          <a:p>
            <a:pPr algn="l"/>
            <a:r>
              <a:rPr lang="zh-CN" altLang="en-US" sz="3600" dirty="0">
                <a:ea typeface="隶书" panose="02010509060101010101" pitchFamily="49" charset="-122"/>
              </a:rPr>
              <a:t> 集成运放的种类</a:t>
            </a:r>
            <a:endParaRPr lang="zh-CN" altLang="en-US" sz="3600" dirty="0">
              <a:ea typeface="隶书" panose="02010509060101010101" pitchFamily="49" charset="-122"/>
            </a:endParaRPr>
          </a:p>
        </p:txBody>
      </p:sp>
      <p:sp>
        <p:nvSpPr>
          <p:cNvPr id="26627" name="Text Box 3"/>
          <p:cNvSpPr txBox="1"/>
          <p:nvPr/>
        </p:nvSpPr>
        <p:spPr>
          <a:xfrm>
            <a:off x="1905000" y="2438400"/>
            <a:ext cx="1905000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charset="0"/>
                <a:ea typeface="宋体" panose="02010600030101010101" pitchFamily="2" charset="-122"/>
              </a:rPr>
              <a:t>按工作原理</a:t>
            </a:r>
            <a:endParaRPr lang="zh-CN" altLang="en-US" sz="2400" b="1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26628" name="Text Box 4"/>
          <p:cNvSpPr txBox="1"/>
          <p:nvPr/>
        </p:nvSpPr>
        <p:spPr>
          <a:xfrm>
            <a:off x="3962400" y="1752600"/>
            <a:ext cx="6019800" cy="178943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20000"/>
              </a:spcBef>
            </a:pPr>
            <a:r>
              <a:rPr lang="zh-CN" altLang="en-US" sz="2400" b="1" dirty="0">
                <a:latin typeface="Times New Roman" panose="02020603050405020304" charset="0"/>
                <a:ea typeface="宋体" panose="02010600030101010101" pitchFamily="2" charset="-122"/>
              </a:rPr>
              <a:t>电压放大型：输入量与输出量均为电压</a:t>
            </a:r>
            <a:endParaRPr lang="zh-CN" altLang="en-US" sz="2400" b="1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>
              <a:spcBef>
                <a:spcPct val="20000"/>
              </a:spcBef>
            </a:pPr>
            <a:r>
              <a:rPr lang="zh-CN" altLang="en-US" sz="2400" b="1" dirty="0">
                <a:latin typeface="Times New Roman" panose="02020603050405020304" charset="0"/>
                <a:ea typeface="宋体" panose="02010600030101010101" pitchFamily="2" charset="-122"/>
              </a:rPr>
              <a:t>电流放大型：输入量与输出量均为电流</a:t>
            </a:r>
            <a:endParaRPr lang="zh-CN" altLang="en-US" sz="2400" b="1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>
              <a:spcBef>
                <a:spcPct val="20000"/>
              </a:spcBef>
            </a:pPr>
            <a:r>
              <a:rPr lang="zh-CN" altLang="en-US" sz="2400" b="1" dirty="0">
                <a:latin typeface="Times New Roman" panose="02020603050405020304" charset="0"/>
                <a:ea typeface="宋体" panose="02010600030101010101" pitchFamily="2" charset="-122"/>
              </a:rPr>
              <a:t>跨导型：输入量为电压，输出量均为电流</a:t>
            </a:r>
            <a:endParaRPr lang="zh-CN" altLang="en-US" sz="2400" b="1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>
              <a:spcBef>
                <a:spcPct val="20000"/>
              </a:spcBef>
            </a:pPr>
            <a:r>
              <a:rPr lang="zh-CN" altLang="en-US" sz="2400" b="1" dirty="0">
                <a:latin typeface="Times New Roman" panose="02020603050405020304" charset="0"/>
                <a:ea typeface="宋体" panose="02010600030101010101" pitchFamily="2" charset="-122"/>
              </a:rPr>
              <a:t>互阻型：输入量为电流，输出量均为电压</a:t>
            </a:r>
            <a:endParaRPr lang="zh-CN" altLang="en-US" sz="2400" b="1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26629" name="Text Box 5"/>
          <p:cNvSpPr txBox="1"/>
          <p:nvPr/>
        </p:nvSpPr>
        <p:spPr>
          <a:xfrm>
            <a:off x="1981200" y="4419600"/>
            <a:ext cx="1447800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charset="0"/>
                <a:ea typeface="宋体" panose="02010600030101010101" pitchFamily="2" charset="-122"/>
              </a:rPr>
              <a:t>按可控性</a:t>
            </a:r>
            <a:endParaRPr lang="zh-CN" altLang="en-US" sz="2400" b="1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26630" name="Text Box 6"/>
          <p:cNvSpPr txBox="1"/>
          <p:nvPr/>
        </p:nvSpPr>
        <p:spPr>
          <a:xfrm>
            <a:off x="3657600" y="3886200"/>
            <a:ext cx="6553200" cy="134683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20000"/>
              </a:spcBef>
            </a:pPr>
            <a:r>
              <a:rPr lang="zh-CN" altLang="en-US" sz="2400" b="1" dirty="0">
                <a:latin typeface="Times New Roman" panose="02020603050405020304" charset="0"/>
                <a:ea typeface="宋体" panose="02010600030101010101" pitchFamily="2" charset="-122"/>
              </a:rPr>
              <a:t>可控增益：利用外加控制电压控制增益的大小</a:t>
            </a:r>
            <a:endParaRPr lang="zh-CN" altLang="en-US" sz="2400" b="1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>
              <a:spcBef>
                <a:spcPct val="20000"/>
              </a:spcBef>
            </a:pPr>
            <a:r>
              <a:rPr lang="zh-CN" altLang="en-US" sz="2400" b="1" dirty="0">
                <a:latin typeface="Times New Roman" panose="02020603050405020304" charset="0"/>
                <a:ea typeface="宋体" panose="02010600030101010101" pitchFamily="2" charset="-122"/>
              </a:rPr>
              <a:t>选通控制：输入为多通道，利用输入的逻辑信</a:t>
            </a:r>
            <a:endParaRPr lang="zh-CN" altLang="en-US" sz="2400" b="1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>
              <a:spcBef>
                <a:spcPct val="20000"/>
              </a:spcBef>
            </a:pPr>
            <a:r>
              <a:rPr lang="zh-CN" altLang="en-US" sz="2400" b="1" dirty="0">
                <a:latin typeface="Times New Roman" panose="02020603050405020304" charset="0"/>
                <a:ea typeface="宋体" panose="02010600030101010101" pitchFamily="2" charset="-122"/>
              </a:rPr>
              <a:t>                    号控制那个通道的信号放大</a:t>
            </a:r>
            <a:endParaRPr lang="zh-CN" altLang="en-US" sz="2400" b="1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graphicFrame>
        <p:nvGraphicFramePr>
          <p:cNvPr id="26631" name="Object 7"/>
          <p:cNvGraphicFramePr/>
          <p:nvPr/>
        </p:nvGraphicFramePr>
        <p:xfrm>
          <a:off x="3352800" y="3886200"/>
          <a:ext cx="603250" cy="144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190500" imgH="457200" progId="Equation.3">
                  <p:embed/>
                </p:oleObj>
              </mc:Choice>
              <mc:Fallback>
                <p:oleObj name="" r:id="rId1" imgW="190500" imgH="457200" progId="Equation.3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352800" y="3886200"/>
                        <a:ext cx="603250" cy="1447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2" name="Object 8"/>
          <p:cNvGraphicFramePr/>
          <p:nvPr/>
        </p:nvGraphicFramePr>
        <p:xfrm>
          <a:off x="3657600" y="1752600"/>
          <a:ext cx="490538" cy="182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3" imgW="190500" imgH="711200" progId="Equation.3">
                  <p:embed/>
                </p:oleObj>
              </mc:Choice>
              <mc:Fallback>
                <p:oleObj name="" r:id="rId3" imgW="190500" imgH="711200" progId="Equation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657600" y="1752600"/>
                        <a:ext cx="490538" cy="1828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charRg st="0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627">
                                            <p:txEl>
                                              <p:charRg st="0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6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charRg st="0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6628">
                                            <p:txEl>
                                              <p:charRg st="0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charRg st="18" end="3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6628">
                                            <p:txEl>
                                              <p:charRg st="18" end="3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charRg st="36" end="5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6628">
                                            <p:txEl>
                                              <p:charRg st="36" end="5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charRg st="55" end="7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6628">
                                            <p:txEl>
                                              <p:charRg st="55" end="7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>
                                            <p:txEl>
                                              <p:charRg st="0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6629">
                                            <p:txEl>
                                              <p:charRg st="0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6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charRg st="0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6630">
                                            <p:txEl>
                                              <p:charRg st="0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charRg st="21" end="4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6630">
                                            <p:txEl>
                                              <p:charRg st="21" end="4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charRg st="42" end="7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6630">
                                            <p:txEl>
                                              <p:charRg st="42" end="7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7" grpId="0" build="p"/>
      <p:bldP spid="26628" grpId="0" build="p"/>
      <p:bldP spid="26629" grpId="0" build="p"/>
      <p:bldP spid="26630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7" name="标题 4097"/>
          <p:cNvSpPr>
            <a:spLocks noGrp="1"/>
          </p:cNvSpPr>
          <p:nvPr>
            <p:ph type="ctrTitle"/>
          </p:nvPr>
        </p:nvSpPr>
        <p:spPr>
          <a:xfrm>
            <a:off x="2135188" y="1341438"/>
            <a:ext cx="7772400" cy="609600"/>
          </a:xfrm>
        </p:spPr>
        <p:txBody>
          <a:bodyPr anchor="ctr" anchorCtr="0"/>
          <a:p>
            <a:pPr defTabSz="914400">
              <a:buClrTx/>
              <a:buSzTx/>
              <a:buFontTx/>
              <a:buNone/>
            </a:pPr>
            <a:r>
              <a:rPr lang="en-US" altLang="zh-CN" sz="4400" kern="1200" baseline="0">
                <a:latin typeface="隶书" panose="02010509060101010101" pitchFamily="49" charset="-122"/>
                <a:ea typeface="隶书" panose="02010509060101010101" pitchFamily="49" charset="-122"/>
                <a:cs typeface="+mj-cs"/>
              </a:rPr>
              <a:t>5.2 </a:t>
            </a:r>
            <a:r>
              <a:rPr lang="zh-CN" altLang="en-US" sz="4400" kern="1200" baseline="0" dirty="0">
                <a:latin typeface="隶书" panose="02010509060101010101" pitchFamily="49" charset="-122"/>
                <a:ea typeface="隶书" panose="02010509060101010101" pitchFamily="49" charset="-122"/>
                <a:cs typeface="+mj-cs"/>
              </a:rPr>
              <a:t>运算电路</a:t>
            </a:r>
            <a:endParaRPr lang="zh-CN" altLang="en-US" sz="4400" kern="1200" baseline="0">
              <a:latin typeface="隶书" panose="02010509060101010101" pitchFamily="49" charset="-122"/>
              <a:ea typeface="隶书" panose="02010509060101010101" pitchFamily="49" charset="-122"/>
              <a:cs typeface="+mj-cs"/>
            </a:endParaRPr>
          </a:p>
        </p:txBody>
      </p:sp>
      <p:sp>
        <p:nvSpPr>
          <p:cNvPr id="24578" name="文本框 4103">
            <a:hlinkClick r:id="" action="ppaction://hlinkshowjump?jump=nextslide"/>
          </p:cNvPr>
          <p:cNvSpPr txBox="1"/>
          <p:nvPr/>
        </p:nvSpPr>
        <p:spPr>
          <a:xfrm>
            <a:off x="2590800" y="2743200"/>
            <a:ext cx="2743200" cy="58356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3200" dirty="0">
                <a:latin typeface="Times New Roman" panose="02020603050405020304" charset="0"/>
                <a:ea typeface="隶书" panose="02010509060101010101" pitchFamily="49" charset="-122"/>
              </a:rPr>
              <a:t>一、概述</a:t>
            </a:r>
            <a:endParaRPr lang="zh-CN" altLang="en-US" sz="3200">
              <a:latin typeface="Times New Roman" panose="02020603050405020304" charset="0"/>
              <a:ea typeface="隶书" panose="02010509060101010101" pitchFamily="49" charset="-122"/>
            </a:endParaRPr>
          </a:p>
        </p:txBody>
      </p:sp>
      <p:sp>
        <p:nvSpPr>
          <p:cNvPr id="24579" name="文本框 4104">
            <a:hlinkClick r:id="rId1" action="ppaction://hlinksldjump"/>
          </p:cNvPr>
          <p:cNvSpPr txBox="1"/>
          <p:nvPr/>
        </p:nvSpPr>
        <p:spPr>
          <a:xfrm>
            <a:off x="2590800" y="3200400"/>
            <a:ext cx="4724400" cy="58356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3200" dirty="0">
                <a:latin typeface="Times New Roman" panose="02020603050405020304" charset="0"/>
                <a:ea typeface="隶书" panose="02010509060101010101" pitchFamily="49" charset="-122"/>
              </a:rPr>
              <a:t>二、比例运算电路</a:t>
            </a:r>
            <a:endParaRPr lang="zh-CN" altLang="en-US" sz="3200">
              <a:latin typeface="Times New Roman" panose="02020603050405020304" charset="0"/>
              <a:ea typeface="隶书" panose="02010509060101010101" pitchFamily="49" charset="-122"/>
            </a:endParaRPr>
          </a:p>
        </p:txBody>
      </p:sp>
      <p:sp>
        <p:nvSpPr>
          <p:cNvPr id="24580" name="文本框 4105">
            <a:hlinkClick r:id="rId2" action="ppaction://hlinksldjump"/>
          </p:cNvPr>
          <p:cNvSpPr txBox="1"/>
          <p:nvPr/>
        </p:nvSpPr>
        <p:spPr>
          <a:xfrm>
            <a:off x="2590800" y="3657600"/>
            <a:ext cx="4191000" cy="58356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3200" dirty="0">
                <a:latin typeface="Times New Roman" panose="02020603050405020304" charset="0"/>
                <a:ea typeface="隶书" panose="02010509060101010101" pitchFamily="49" charset="-122"/>
              </a:rPr>
              <a:t>三、加减运算电路</a:t>
            </a:r>
            <a:endParaRPr lang="zh-CN" altLang="en-US" sz="3200">
              <a:latin typeface="Times New Roman" panose="02020603050405020304" charset="0"/>
              <a:ea typeface="隶书" panose="02010509060101010101" pitchFamily="49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5" name="标题 7169"/>
          <p:cNvSpPr>
            <a:spLocks noGrp="1"/>
          </p:cNvSpPr>
          <p:nvPr>
            <p:ph type="ctrTitle"/>
          </p:nvPr>
        </p:nvSpPr>
        <p:spPr>
          <a:xfrm>
            <a:off x="2057400" y="609600"/>
            <a:ext cx="7848600" cy="914400"/>
          </a:xfrm>
        </p:spPr>
        <p:txBody>
          <a:bodyPr anchor="ctr" anchorCtr="0"/>
          <a:p>
            <a:pPr algn="l" defTabSz="914400">
              <a:lnSpc>
                <a:spcPct val="110000"/>
              </a:lnSpc>
              <a:buClrTx/>
              <a:buSzTx/>
              <a:buFontTx/>
              <a:buNone/>
            </a:pPr>
            <a:r>
              <a:rPr lang="zh-CN" altLang="en-US" sz="3600" b="1" kern="1200" baseline="0" dirty="0">
                <a:latin typeface="+mj-lt"/>
                <a:ea typeface="隶书" panose="02010509060101010101" pitchFamily="49" charset="-122"/>
                <a:cs typeface="+mj-cs"/>
              </a:rPr>
              <a:t>一、概述</a:t>
            </a:r>
            <a:br>
              <a:rPr lang="zh-CN" altLang="en-US" sz="3600" b="1" kern="1200" baseline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  <a:cs typeface="+mj-cs"/>
              </a:rPr>
            </a:br>
            <a:r>
              <a:rPr lang="zh-CN" altLang="en-US" sz="3600" b="1" kern="1200" baseline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  <a:cs typeface="+mj-cs"/>
              </a:rPr>
              <a:t> </a:t>
            </a:r>
            <a:r>
              <a:rPr lang="en-US" altLang="zh-CN" sz="2800" b="1" kern="1200" baseline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1.</a:t>
            </a:r>
            <a:r>
              <a:rPr lang="en-US" altLang="zh-CN" sz="2800" b="1" kern="1200" baseline="0">
                <a:solidFill>
                  <a:schemeClr val="tx1"/>
                </a:solidFill>
                <a:latin typeface="宋体" panose="02010600030101010101" pitchFamily="2" charset="-122"/>
                <a:ea typeface="+mj-ea"/>
                <a:cs typeface="+mj-cs"/>
              </a:rPr>
              <a:t> </a:t>
            </a:r>
            <a:r>
              <a:rPr lang="zh-CN" altLang="en-US" sz="2800" b="1" kern="1200" baseline="0" dirty="0">
                <a:solidFill>
                  <a:schemeClr val="tx1"/>
                </a:solidFill>
                <a:latin typeface="宋体" panose="02010600030101010101" pitchFamily="2" charset="-122"/>
                <a:ea typeface="+mj-ea"/>
                <a:cs typeface="+mj-cs"/>
              </a:rPr>
              <a:t>电子系统简介</a:t>
            </a:r>
            <a:endParaRPr lang="zh-CN" altLang="en-US" sz="2800" b="1" kern="1200" baseline="0" dirty="0">
              <a:solidFill>
                <a:schemeClr val="tx1"/>
              </a:solidFill>
              <a:latin typeface="宋体" panose="02010600030101010101" pitchFamily="2" charset="-122"/>
              <a:ea typeface="+mj-ea"/>
              <a:cs typeface="+mj-cs"/>
            </a:endParaRPr>
          </a:p>
        </p:txBody>
      </p:sp>
      <p:sp>
        <p:nvSpPr>
          <p:cNvPr id="7171" name="线形标注 2 7170"/>
          <p:cNvSpPr/>
          <p:nvPr/>
        </p:nvSpPr>
        <p:spPr>
          <a:xfrm>
            <a:off x="2895600" y="3200400"/>
            <a:ext cx="1143000" cy="741363"/>
          </a:xfrm>
          <a:prstGeom prst="borderCallout2">
            <a:avLst>
              <a:gd name="adj1" fmla="val 15417"/>
              <a:gd name="adj2" fmla="val -6667"/>
              <a:gd name="adj3" fmla="val 15417"/>
              <a:gd name="adj4" fmla="val -19167"/>
              <a:gd name="adj5" fmla="val -43468"/>
              <a:gd name="adj6" fmla="val -32083"/>
            </a:avLst>
          </a:prstGeom>
          <a:solidFill>
            <a:srgbClr val="66FFFF"/>
          </a:solidFill>
          <a:ln w="19050" cap="flat" cmpd="sng">
            <a:solidFill>
              <a:srgbClr val="FF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algn="ctr" eaLnBrk="0" hangingPunct="0"/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传感器接收器</a:t>
            </a:r>
            <a:endParaRPr lang="zh-CN" altLang="en-US" sz="2000" b="1" dirty="0">
              <a:solidFill>
                <a:srgbClr val="000000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7172" name="线形标注 2 7171"/>
          <p:cNvSpPr/>
          <p:nvPr/>
        </p:nvSpPr>
        <p:spPr>
          <a:xfrm>
            <a:off x="4648200" y="3048000"/>
            <a:ext cx="1524000" cy="990600"/>
          </a:xfrm>
          <a:prstGeom prst="borderCallout2">
            <a:avLst>
              <a:gd name="adj1" fmla="val 11537"/>
              <a:gd name="adj2" fmla="val -5000"/>
              <a:gd name="adj3" fmla="val 11537"/>
              <a:gd name="adj4" fmla="val -11875"/>
              <a:gd name="adj5" fmla="val -17148"/>
              <a:gd name="adj6" fmla="val -19065"/>
            </a:avLst>
          </a:prstGeom>
          <a:solidFill>
            <a:srgbClr val="66FFFF"/>
          </a:solidFill>
          <a:ln w="19050" cap="flat" cmpd="sng">
            <a:solidFill>
              <a:srgbClr val="FF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eaLnBrk="0" hangingPunct="0"/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隔离、滤波放大、阻抗变换</a:t>
            </a:r>
            <a:endParaRPr lang="zh-CN" altLang="en-US" sz="2000" b="1" dirty="0">
              <a:solidFill>
                <a:srgbClr val="000000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7173" name="线形标注 2 7172"/>
          <p:cNvSpPr/>
          <p:nvPr/>
        </p:nvSpPr>
        <p:spPr>
          <a:xfrm>
            <a:off x="6858000" y="3200400"/>
            <a:ext cx="1447800" cy="741363"/>
          </a:xfrm>
          <a:prstGeom prst="borderCallout2">
            <a:avLst>
              <a:gd name="adj1" fmla="val 15417"/>
              <a:gd name="adj2" fmla="val -5264"/>
              <a:gd name="adj3" fmla="val 15417"/>
              <a:gd name="adj4" fmla="val -15681"/>
              <a:gd name="adj5" fmla="val -41755"/>
              <a:gd name="adj6" fmla="val -26537"/>
            </a:avLst>
          </a:prstGeom>
          <a:solidFill>
            <a:srgbClr val="66FFFF"/>
          </a:solidFill>
          <a:ln w="19050" cap="flat" cmpd="sng">
            <a:solidFill>
              <a:srgbClr val="FF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algn="ctr" eaLnBrk="0" hangingPunct="0"/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运算、转换、比较</a:t>
            </a:r>
            <a:endParaRPr lang="zh-CN" altLang="en-US" sz="2000" b="1" dirty="0">
              <a:solidFill>
                <a:srgbClr val="000000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7174" name="线形标注 2 7173"/>
          <p:cNvSpPr/>
          <p:nvPr/>
        </p:nvSpPr>
        <p:spPr>
          <a:xfrm>
            <a:off x="8610600" y="3200400"/>
            <a:ext cx="1295400" cy="741363"/>
          </a:xfrm>
          <a:prstGeom prst="borderCallout2">
            <a:avLst>
              <a:gd name="adj1" fmla="val 15417"/>
              <a:gd name="adj2" fmla="val -5884"/>
              <a:gd name="adj3" fmla="val 15417"/>
              <a:gd name="adj4" fmla="val -14829"/>
              <a:gd name="adj5" fmla="val -43685"/>
              <a:gd name="adj6" fmla="val -23773"/>
            </a:avLst>
          </a:prstGeom>
          <a:solidFill>
            <a:srgbClr val="66FFFF"/>
          </a:solidFill>
          <a:ln w="19050" cap="flat" cmpd="sng">
            <a:solidFill>
              <a:srgbClr val="FF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algn="ctr" eaLnBrk="0" hangingPunct="0"/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功率放大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A/D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转换</a:t>
            </a:r>
            <a:endParaRPr lang="zh-CN" altLang="en-US" sz="2000" b="1" dirty="0">
              <a:solidFill>
                <a:srgbClr val="000000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pic>
        <p:nvPicPr>
          <p:cNvPr id="7184" name="图片 7183" descr="Dz07010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09800" y="2057400"/>
            <a:ext cx="7162800" cy="79851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1" grpId="0" bldLvl="0" animBg="1"/>
      <p:bldP spid="7172" grpId="0" bldLvl="0" animBg="1"/>
      <p:bldP spid="7173" grpId="0" bldLvl="0" animBg="1"/>
      <p:bldP spid="7174" grpId="0" bldLvl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8194" name="图片 8193" descr="Dz07010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38400" y="3886200"/>
            <a:ext cx="2971800" cy="19510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7650" name="标题 8194"/>
          <p:cNvSpPr>
            <a:spLocks noGrp="1"/>
          </p:cNvSpPr>
          <p:nvPr>
            <p:ph type="title"/>
          </p:nvPr>
        </p:nvSpPr>
        <p:spPr>
          <a:xfrm>
            <a:off x="1905000" y="609600"/>
            <a:ext cx="7073900" cy="533400"/>
          </a:xfrm>
        </p:spPr>
        <p:txBody>
          <a:bodyPr anchor="ctr" anchorCtr="0"/>
          <a:p>
            <a:pPr algn="l"/>
            <a:r>
              <a:rPr lang="en-US" altLang="zh-CN" sz="2800" b="1">
                <a:solidFill>
                  <a:schemeClr val="tx1"/>
                </a:solidFill>
              </a:rPr>
              <a:t>2.</a:t>
            </a:r>
            <a:r>
              <a:rPr lang="en-US" altLang="zh-CN" sz="2800" b="1">
                <a:solidFill>
                  <a:schemeClr val="tx1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800" b="1" dirty="0">
                <a:solidFill>
                  <a:schemeClr val="tx1"/>
                </a:solidFill>
                <a:latin typeface="宋体" panose="02010600030101010101" pitchFamily="2" charset="-122"/>
              </a:rPr>
              <a:t>理想运放的参数特点</a:t>
            </a:r>
            <a:endParaRPr lang="zh-CN" altLang="en-US" sz="2800" b="1" dirty="0"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  <p:sp>
        <p:nvSpPr>
          <p:cNvPr id="8196" name="文本框 8195"/>
          <p:cNvSpPr txBox="1"/>
          <p:nvPr/>
        </p:nvSpPr>
        <p:spPr>
          <a:xfrm>
            <a:off x="2209800" y="1066800"/>
            <a:ext cx="7620000" cy="97726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12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     </a:t>
            </a:r>
            <a:r>
              <a:rPr lang="en-US" altLang="zh-CN" sz="2400" b="1" i="1" err="1">
                <a:latin typeface="Times New Roman" panose="02020603050405020304" charset="0"/>
                <a:ea typeface="宋体" panose="02010600030101010101" pitchFamily="2" charset="-122"/>
              </a:rPr>
              <a:t>A</a:t>
            </a:r>
            <a:r>
              <a:rPr lang="en-US" altLang="zh-CN" sz="2400" b="1" baseline="-25000" err="1">
                <a:latin typeface="Times New Roman" panose="02020603050405020304" charset="0"/>
                <a:ea typeface="宋体" panose="02010600030101010101" pitchFamily="2" charset="-122"/>
              </a:rPr>
              <a:t>od</a:t>
            </a:r>
            <a:r>
              <a:rPr lang="zh-CN" altLang="en-US" sz="2400" b="1">
                <a:latin typeface="Times New Roman" panose="02020603050405020304" charset="0"/>
                <a:ea typeface="宋体" panose="02010600030101010101" pitchFamily="2" charset="-122"/>
              </a:rPr>
              <a:t>、 </a:t>
            </a:r>
            <a:r>
              <a:rPr lang="en-US" altLang="zh-CN" sz="2400" b="1" i="1">
                <a:latin typeface="Times New Roman" panose="02020603050405020304" charset="0"/>
                <a:ea typeface="宋体" panose="02010600030101010101" pitchFamily="2" charset="-122"/>
              </a:rPr>
              <a:t>r</a:t>
            </a:r>
            <a:r>
              <a:rPr lang="en-US" altLang="zh-CN" sz="2400" b="1" baseline="-25000">
                <a:latin typeface="Times New Roman" panose="02020603050405020304" charset="0"/>
                <a:ea typeface="宋体" panose="02010600030101010101" pitchFamily="2" charset="-122"/>
              </a:rPr>
              <a:t>id</a:t>
            </a:r>
            <a:r>
              <a:rPr lang="en-US" altLang="zh-CN" sz="2400" b="1">
                <a:latin typeface="Times New Roman" panose="02020603050405020304" charset="0"/>
                <a:ea typeface="宋体" panose="02010600030101010101" pitchFamily="2" charset="-122"/>
              </a:rPr>
              <a:t> </a:t>
            </a:r>
            <a:r>
              <a:rPr lang="zh-CN" altLang="en-US" sz="2400" b="1">
                <a:latin typeface="Times New Roman" panose="02020603050405020304" charset="0"/>
                <a:ea typeface="宋体" panose="02010600030101010101" pitchFamily="2" charset="-122"/>
              </a:rPr>
              <a:t>、</a:t>
            </a:r>
            <a:r>
              <a:rPr lang="en-US" altLang="zh-CN" sz="2400" b="1" i="1" err="1">
                <a:latin typeface="Times New Roman" panose="02020603050405020304" charset="0"/>
                <a:ea typeface="宋体" panose="02010600030101010101" pitchFamily="2" charset="-122"/>
              </a:rPr>
              <a:t>f</a:t>
            </a:r>
            <a:r>
              <a:rPr lang="en-US" altLang="zh-CN" sz="2400" b="1" baseline="-25000" err="1">
                <a:latin typeface="Times New Roman" panose="02020603050405020304" charset="0"/>
                <a:ea typeface="宋体" panose="02010600030101010101" pitchFamily="2" charset="-122"/>
              </a:rPr>
              <a:t>H</a:t>
            </a:r>
            <a:r>
              <a:rPr lang="en-US" altLang="zh-CN" sz="2400" b="1" baseline="-25000">
                <a:latin typeface="Times New Roman" panose="02020603050405020304" charset="0"/>
                <a:ea typeface="宋体" panose="02010600030101010101" pitchFamily="2" charset="-122"/>
              </a:rPr>
              <a:t> </a:t>
            </a:r>
            <a:r>
              <a:rPr lang="zh-CN" altLang="zh-CN" sz="2400" b="1">
                <a:latin typeface="Times New Roman" panose="02020603050405020304" charset="0"/>
                <a:ea typeface="宋体" panose="02010600030101010101" pitchFamily="2" charset="-122"/>
              </a:rPr>
              <a:t>均</a:t>
            </a:r>
            <a:r>
              <a:rPr lang="zh-CN" altLang="en-US" sz="2400" b="1" dirty="0">
                <a:latin typeface="Times New Roman" panose="02020603050405020304" charset="0"/>
                <a:ea typeface="宋体" panose="02010600030101010101" pitchFamily="2" charset="-122"/>
              </a:rPr>
              <a:t>为无穷大，</a:t>
            </a:r>
            <a:r>
              <a:rPr lang="en-US" altLang="zh-CN" sz="2400" b="1" i="1" err="1">
                <a:latin typeface="Times New Roman" panose="02020603050405020304" charset="0"/>
                <a:ea typeface="宋体" panose="02010600030101010101" pitchFamily="2" charset="-122"/>
              </a:rPr>
              <a:t>r</a:t>
            </a:r>
            <a:r>
              <a:rPr lang="en-US" altLang="zh-CN" sz="2400" b="1" baseline="-25000" err="1">
                <a:latin typeface="Times New Roman" panose="02020603050405020304" charset="0"/>
                <a:ea typeface="宋体" panose="02010600030101010101" pitchFamily="2" charset="-122"/>
              </a:rPr>
              <a:t>o</a:t>
            </a:r>
            <a:r>
              <a:rPr lang="zh-CN" altLang="en-US" sz="2400" b="1">
                <a:latin typeface="Times New Roman" panose="02020603050405020304" charset="0"/>
                <a:ea typeface="宋体" panose="02010600030101010101" pitchFamily="2" charset="-122"/>
              </a:rPr>
              <a:t>、</a:t>
            </a:r>
            <a:r>
              <a:rPr lang="zh-CN" altLang="zh-CN" sz="2400" b="1" dirty="0">
                <a:latin typeface="Times New Roman" panose="02020603050405020304" charset="0"/>
                <a:ea typeface="宋体" panose="02010600030101010101" pitchFamily="2" charset="-122"/>
              </a:rPr>
              <a:t>失调电压及其温漂、失调电流及其温漂、噪声均为</a:t>
            </a:r>
            <a:r>
              <a:rPr lang="en-US" altLang="zh-CN" sz="2400" b="1">
                <a:latin typeface="Times New Roman" panose="02020603050405020304" charset="0"/>
                <a:ea typeface="宋体" panose="02010600030101010101" pitchFamily="2" charset="-122"/>
              </a:rPr>
              <a:t>0</a:t>
            </a:r>
            <a:r>
              <a:rPr lang="zh-CN" altLang="en-US" sz="2400" b="1" dirty="0">
                <a:latin typeface="Times New Roman" panose="02020603050405020304" charset="0"/>
                <a:ea typeface="宋体" panose="02010600030101010101" pitchFamily="2" charset="-122"/>
              </a:rPr>
              <a:t>。</a:t>
            </a:r>
            <a:endParaRPr lang="zh-CN" altLang="en-US" sz="2400" b="1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8197" name="文本框 8196"/>
          <p:cNvSpPr txBox="1"/>
          <p:nvPr/>
        </p:nvSpPr>
        <p:spPr>
          <a:xfrm>
            <a:off x="5410200" y="3581400"/>
            <a:ext cx="4724400" cy="142049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120000"/>
              </a:lnSpc>
            </a:pPr>
            <a:r>
              <a:rPr lang="en-US" altLang="zh-CN" sz="2400" dirty="0">
                <a:solidFill>
                  <a:schemeClr val="bg1"/>
                </a:solidFill>
                <a:latin typeface="Times New Roman" panose="02020603050405020304" charset="0"/>
                <a:ea typeface="宋体" panose="02010600030101010101" pitchFamily="2" charset="-122"/>
              </a:rPr>
              <a:t>       </a:t>
            </a:r>
            <a:r>
              <a:rPr lang="zh-CN" altLang="en-US" sz="2400" b="1" dirty="0">
                <a:latin typeface="Times New Roman" panose="02020603050405020304" charset="0"/>
                <a:ea typeface="宋体" panose="02010600030101010101" pitchFamily="2" charset="-122"/>
              </a:rPr>
              <a:t>因为</a:t>
            </a:r>
            <a:r>
              <a:rPr lang="en-US" altLang="zh-CN" sz="2400" b="1" i="1" err="1">
                <a:latin typeface="Times New Roman" panose="02020603050405020304" charset="0"/>
                <a:ea typeface="宋体" panose="02010600030101010101" pitchFamily="2" charset="-122"/>
              </a:rPr>
              <a:t>u</a:t>
            </a:r>
            <a:r>
              <a:rPr lang="en-US" altLang="zh-CN" sz="2400" b="1" baseline="-25000" err="1">
                <a:latin typeface="Times New Roman" panose="02020603050405020304" charset="0"/>
                <a:ea typeface="宋体" panose="02010600030101010101" pitchFamily="2" charset="-122"/>
              </a:rPr>
              <a:t>O</a:t>
            </a:r>
            <a:r>
              <a:rPr lang="zh-CN" altLang="zh-CN" sz="2400" b="1" dirty="0">
                <a:latin typeface="Times New Roman" panose="02020603050405020304" charset="0"/>
                <a:ea typeface="宋体" panose="02010600030101010101" pitchFamily="2" charset="-122"/>
              </a:rPr>
              <a:t>为有限值， </a:t>
            </a:r>
            <a:r>
              <a:rPr lang="en-US" altLang="zh-CN" sz="2400" b="1" i="1" err="1">
                <a:latin typeface="Times New Roman" panose="02020603050405020304" charset="0"/>
                <a:ea typeface="宋体" panose="02010600030101010101" pitchFamily="2" charset="-122"/>
              </a:rPr>
              <a:t>A</a:t>
            </a:r>
            <a:r>
              <a:rPr lang="en-US" altLang="zh-CN" sz="2400" b="1" baseline="-25000" err="1">
                <a:latin typeface="Times New Roman" panose="02020603050405020304" charset="0"/>
                <a:ea typeface="宋体" panose="02010600030101010101" pitchFamily="2" charset="-122"/>
              </a:rPr>
              <a:t>od</a:t>
            </a:r>
            <a:r>
              <a:rPr lang="zh-CN" altLang="en-US" sz="2400" b="1">
                <a:latin typeface="Times New Roman" panose="02020603050405020304" charset="0"/>
                <a:ea typeface="宋体" panose="02010600030101010101" pitchFamily="2" charset="-122"/>
              </a:rPr>
              <a:t>＝</a:t>
            </a:r>
            <a:r>
              <a:rPr lang="en-US" altLang="zh-CN" sz="2400" b="1">
                <a:latin typeface="Times New Roman" panose="02020603050405020304" charset="0"/>
                <a:ea typeface="宋体" panose="02010600030101010101" pitchFamily="2" charset="-122"/>
              </a:rPr>
              <a:t>∞</a:t>
            </a:r>
            <a:r>
              <a:rPr lang="zh-CN" altLang="en-US" sz="2400" b="1">
                <a:latin typeface="Times New Roman" panose="02020603050405020304" charset="0"/>
                <a:ea typeface="宋体" panose="02010600030101010101" pitchFamily="2" charset="-122"/>
              </a:rPr>
              <a:t>，</a:t>
            </a:r>
            <a:r>
              <a:rPr lang="zh-CN" altLang="zh-CN" sz="2400" b="1" dirty="0">
                <a:latin typeface="Times New Roman" panose="02020603050405020304" charset="0"/>
                <a:ea typeface="宋体" panose="02010600030101010101" pitchFamily="2" charset="-122"/>
              </a:rPr>
              <a:t>所以 </a:t>
            </a:r>
            <a:r>
              <a:rPr lang="en-US" altLang="zh-CN" sz="2400" b="1" i="1" err="1">
                <a:latin typeface="Times New Roman" panose="02020603050405020304" charset="0"/>
                <a:ea typeface="宋体" panose="02010600030101010101" pitchFamily="2" charset="-122"/>
              </a:rPr>
              <a:t>u</a:t>
            </a:r>
            <a:r>
              <a:rPr lang="en-US" altLang="zh-CN" sz="2400" b="1" baseline="-25000" err="1">
                <a:latin typeface="Times New Roman" panose="02020603050405020304" charset="0"/>
                <a:ea typeface="宋体" panose="02010600030101010101" pitchFamily="2" charset="-122"/>
              </a:rPr>
              <a:t>N</a:t>
            </a:r>
            <a:r>
              <a:rPr lang="zh-CN" altLang="en-US" sz="2400" b="1">
                <a:latin typeface="Times New Roman" panose="02020603050405020304" charset="0"/>
                <a:ea typeface="宋体" panose="02010600030101010101" pitchFamily="2" charset="-122"/>
              </a:rPr>
              <a:t>－</a:t>
            </a:r>
            <a:r>
              <a:rPr lang="en-US" altLang="zh-CN" sz="2400" b="1" i="1" err="1">
                <a:latin typeface="Times New Roman" panose="02020603050405020304" charset="0"/>
                <a:ea typeface="宋体" panose="02010600030101010101" pitchFamily="2" charset="-122"/>
              </a:rPr>
              <a:t>u</a:t>
            </a:r>
            <a:r>
              <a:rPr lang="en-US" altLang="zh-CN" sz="2400" b="1" baseline="-25000" err="1">
                <a:latin typeface="Times New Roman" panose="02020603050405020304" charset="0"/>
                <a:ea typeface="宋体" panose="02010600030101010101" pitchFamily="2" charset="-122"/>
              </a:rPr>
              <a:t>P</a:t>
            </a:r>
            <a:r>
              <a:rPr lang="zh-CN" altLang="en-US" sz="2400" b="1">
                <a:latin typeface="Times New Roman" panose="02020603050405020304" charset="0"/>
                <a:ea typeface="宋体" panose="02010600030101010101" pitchFamily="2" charset="-122"/>
              </a:rPr>
              <a:t>＝</a:t>
            </a:r>
            <a:r>
              <a:rPr lang="en-US" altLang="zh-CN" sz="2400" b="1">
                <a:latin typeface="Times New Roman" panose="02020603050405020304" charset="0"/>
                <a:ea typeface="宋体" panose="02010600030101010101" pitchFamily="2" charset="-122"/>
              </a:rPr>
              <a:t>0</a:t>
            </a:r>
            <a:r>
              <a:rPr lang="zh-CN" altLang="en-US" sz="2400" b="1">
                <a:latin typeface="Times New Roman" panose="02020603050405020304" charset="0"/>
                <a:ea typeface="宋体" panose="02010600030101010101" pitchFamily="2" charset="-122"/>
              </a:rPr>
              <a:t>，</a:t>
            </a:r>
            <a:r>
              <a:rPr lang="zh-CN" altLang="zh-CN" sz="2400" b="1" dirty="0">
                <a:latin typeface="Times New Roman" panose="02020603050405020304" charset="0"/>
                <a:ea typeface="宋体" panose="02010600030101010101" pitchFamily="2" charset="-122"/>
              </a:rPr>
              <a:t>即</a:t>
            </a:r>
            <a:endParaRPr lang="zh-CN" altLang="zh-CN" sz="2400" b="1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zh-CN" altLang="zh-CN" sz="2400" b="1" dirty="0">
                <a:latin typeface="Times New Roman" panose="02020603050405020304" charset="0"/>
                <a:ea typeface="宋体" panose="02010600030101010101" pitchFamily="2" charset="-122"/>
              </a:rPr>
              <a:t>     </a:t>
            </a:r>
            <a:r>
              <a:rPr lang="zh-CN" altLang="en-US" sz="2400" b="1" dirty="0">
                <a:latin typeface="Times New Roman" panose="02020603050405020304" charset="0"/>
                <a:ea typeface="宋体" panose="02010600030101010101" pitchFamily="2" charset="-122"/>
              </a:rPr>
              <a:t>    </a:t>
            </a:r>
            <a:r>
              <a:rPr lang="en-US" altLang="zh-CN" sz="2400" b="1" i="1" err="1">
                <a:solidFill>
                  <a:srgbClr val="D60093"/>
                </a:solidFill>
                <a:latin typeface="Times New Roman" panose="02020603050405020304" charset="0"/>
                <a:ea typeface="宋体" panose="02010600030101010101" pitchFamily="2" charset="-122"/>
              </a:rPr>
              <a:t>u</a:t>
            </a:r>
            <a:r>
              <a:rPr lang="en-US" altLang="zh-CN" sz="2400" b="1" baseline="-25000" err="1">
                <a:solidFill>
                  <a:srgbClr val="D60093"/>
                </a:solidFill>
                <a:latin typeface="Times New Roman" panose="02020603050405020304" charset="0"/>
                <a:ea typeface="宋体" panose="02010600030101010101" pitchFamily="2" charset="-122"/>
              </a:rPr>
              <a:t>N</a:t>
            </a:r>
            <a:r>
              <a:rPr lang="zh-CN" altLang="en-US" sz="2400" b="1">
                <a:solidFill>
                  <a:srgbClr val="D60093"/>
                </a:solidFill>
                <a:latin typeface="Times New Roman" panose="02020603050405020304" charset="0"/>
                <a:ea typeface="宋体" panose="02010600030101010101" pitchFamily="2" charset="-122"/>
              </a:rPr>
              <a:t>＝</a:t>
            </a:r>
            <a:r>
              <a:rPr lang="en-US" altLang="zh-CN" sz="2400" b="1" i="1" err="1">
                <a:solidFill>
                  <a:srgbClr val="D60093"/>
                </a:solidFill>
                <a:latin typeface="Times New Roman" panose="02020603050405020304" charset="0"/>
                <a:ea typeface="宋体" panose="02010600030101010101" pitchFamily="2" charset="-122"/>
              </a:rPr>
              <a:t>u</a:t>
            </a:r>
            <a:r>
              <a:rPr lang="en-US" altLang="zh-CN" sz="2400" b="1" baseline="-25000" err="1">
                <a:solidFill>
                  <a:srgbClr val="D60093"/>
                </a:solidFill>
                <a:latin typeface="Times New Roman" panose="02020603050405020304" charset="0"/>
                <a:ea typeface="宋体" panose="02010600030101010101" pitchFamily="2" charset="-122"/>
              </a:rPr>
              <a:t>P</a:t>
            </a:r>
            <a:r>
              <a:rPr lang="en-US" altLang="zh-CN" sz="2400" b="1">
                <a:solidFill>
                  <a:srgbClr val="D60093"/>
                </a:solidFill>
                <a:latin typeface="Times New Roman" panose="02020603050405020304" charset="0"/>
                <a:ea typeface="宋体" panose="02010600030101010101" pitchFamily="2" charset="-122"/>
              </a:rPr>
              <a:t>…………</a:t>
            </a:r>
            <a:r>
              <a:rPr lang="zh-CN" altLang="zh-CN" sz="2400" b="1" dirty="0">
                <a:solidFill>
                  <a:srgbClr val="D60093"/>
                </a:solidFill>
                <a:latin typeface="Times New Roman" panose="02020603050405020304" charset="0"/>
                <a:ea typeface="宋体" panose="02010600030101010101" pitchFamily="2" charset="-122"/>
              </a:rPr>
              <a:t>虚短路</a:t>
            </a:r>
            <a:endParaRPr lang="zh-CN" altLang="en-US" sz="1200" b="1">
              <a:solidFill>
                <a:srgbClr val="D60093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8198" name="文本框 8197"/>
          <p:cNvSpPr txBox="1"/>
          <p:nvPr/>
        </p:nvSpPr>
        <p:spPr>
          <a:xfrm>
            <a:off x="5867400" y="5029200"/>
            <a:ext cx="3886200" cy="97726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120000"/>
              </a:lnSpc>
            </a:pPr>
            <a:r>
              <a:rPr lang="zh-CN" altLang="zh-CN" sz="2400" b="1" dirty="0">
                <a:latin typeface="Times New Roman" panose="02020603050405020304" charset="0"/>
                <a:ea typeface="宋体" panose="02010600030101010101" pitchFamily="2" charset="-122"/>
              </a:rPr>
              <a:t>因为</a:t>
            </a:r>
            <a:r>
              <a:rPr lang="en-US" altLang="zh-CN" sz="2400" b="1" i="1">
                <a:latin typeface="Times New Roman" panose="02020603050405020304" charset="0"/>
                <a:ea typeface="宋体" panose="02010600030101010101" pitchFamily="2" charset="-122"/>
              </a:rPr>
              <a:t>r</a:t>
            </a:r>
            <a:r>
              <a:rPr lang="en-US" altLang="zh-CN" sz="2400" b="1" baseline="-25000">
                <a:latin typeface="Times New Roman" panose="02020603050405020304" charset="0"/>
                <a:ea typeface="宋体" panose="02010600030101010101" pitchFamily="2" charset="-122"/>
              </a:rPr>
              <a:t>id</a:t>
            </a:r>
            <a:r>
              <a:rPr lang="zh-CN" altLang="en-US" sz="2400" b="1">
                <a:latin typeface="Times New Roman" panose="02020603050405020304" charset="0"/>
                <a:ea typeface="宋体" panose="02010600030101010101" pitchFamily="2" charset="-122"/>
              </a:rPr>
              <a:t>＝</a:t>
            </a:r>
            <a:r>
              <a:rPr lang="en-US" altLang="zh-CN" sz="2400" b="1">
                <a:latin typeface="Times New Roman" panose="02020603050405020304" charset="0"/>
                <a:ea typeface="宋体" panose="02010600030101010101" pitchFamily="2" charset="-122"/>
              </a:rPr>
              <a:t>∞</a:t>
            </a:r>
            <a:r>
              <a:rPr lang="zh-CN" altLang="en-US" sz="2400" b="1">
                <a:latin typeface="Times New Roman" panose="02020603050405020304" charset="0"/>
                <a:ea typeface="宋体" panose="02010600030101010101" pitchFamily="2" charset="-122"/>
              </a:rPr>
              <a:t>，</a:t>
            </a:r>
            <a:r>
              <a:rPr lang="zh-CN" altLang="zh-CN" sz="2400" b="1" dirty="0">
                <a:latin typeface="Times New Roman" panose="02020603050405020304" charset="0"/>
                <a:ea typeface="宋体" panose="02010600030101010101" pitchFamily="2" charset="-122"/>
              </a:rPr>
              <a:t>所以 </a:t>
            </a:r>
            <a:endParaRPr lang="zh-CN" altLang="zh-CN" sz="2400" b="1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400" b="1" i="1">
                <a:latin typeface="Times New Roman" panose="02020603050405020304" charset="0"/>
                <a:ea typeface="宋体" panose="02010600030101010101" pitchFamily="2" charset="-122"/>
              </a:rPr>
              <a:t>   </a:t>
            </a:r>
            <a:r>
              <a:rPr lang="en-US" altLang="zh-CN" sz="2400" b="1" i="1" err="1">
                <a:solidFill>
                  <a:srgbClr val="D60093"/>
                </a:solidFill>
                <a:latin typeface="Times New Roman" panose="02020603050405020304" charset="0"/>
                <a:ea typeface="宋体" panose="02010600030101010101" pitchFamily="2" charset="-122"/>
              </a:rPr>
              <a:t>i</a:t>
            </a:r>
            <a:r>
              <a:rPr lang="en-US" altLang="zh-CN" sz="2400" b="1" baseline="-25000" err="1">
                <a:solidFill>
                  <a:srgbClr val="D60093"/>
                </a:solidFill>
                <a:latin typeface="Times New Roman" panose="02020603050405020304" charset="0"/>
                <a:ea typeface="宋体" panose="02010600030101010101" pitchFamily="2" charset="-122"/>
              </a:rPr>
              <a:t>N</a:t>
            </a:r>
            <a:r>
              <a:rPr lang="zh-CN" altLang="en-US" sz="2400" b="1">
                <a:solidFill>
                  <a:srgbClr val="D60093"/>
                </a:solidFill>
                <a:latin typeface="Times New Roman" panose="02020603050405020304" charset="0"/>
                <a:ea typeface="宋体" panose="02010600030101010101" pitchFamily="2" charset="-122"/>
              </a:rPr>
              <a:t>＝</a:t>
            </a:r>
            <a:r>
              <a:rPr lang="en-US" altLang="zh-CN" sz="2400" b="1" i="1" err="1">
                <a:solidFill>
                  <a:srgbClr val="D60093"/>
                </a:solidFill>
                <a:latin typeface="Times New Roman" panose="02020603050405020304" charset="0"/>
                <a:ea typeface="宋体" panose="02010600030101010101" pitchFamily="2" charset="-122"/>
              </a:rPr>
              <a:t>i</a:t>
            </a:r>
            <a:r>
              <a:rPr lang="en-US" altLang="zh-CN" sz="2400" b="1" baseline="-25000" err="1">
                <a:solidFill>
                  <a:srgbClr val="D60093"/>
                </a:solidFill>
                <a:latin typeface="Times New Roman" panose="02020603050405020304" charset="0"/>
                <a:ea typeface="宋体" panose="02010600030101010101" pitchFamily="2" charset="-122"/>
              </a:rPr>
              <a:t>P</a:t>
            </a:r>
            <a:r>
              <a:rPr lang="zh-CN" altLang="en-US" sz="2400" b="1">
                <a:solidFill>
                  <a:srgbClr val="D60093"/>
                </a:solidFill>
                <a:latin typeface="Times New Roman" panose="02020603050405020304" charset="0"/>
                <a:ea typeface="宋体" panose="02010600030101010101" pitchFamily="2" charset="-122"/>
              </a:rPr>
              <a:t>＝</a:t>
            </a:r>
            <a:r>
              <a:rPr lang="en-US" altLang="zh-CN" sz="2400" b="1">
                <a:solidFill>
                  <a:srgbClr val="D60093"/>
                </a:solidFill>
                <a:latin typeface="Times New Roman" panose="02020603050405020304" charset="0"/>
                <a:ea typeface="宋体" panose="02010600030101010101" pitchFamily="2" charset="-122"/>
              </a:rPr>
              <a:t>0………</a:t>
            </a:r>
            <a:r>
              <a:rPr lang="zh-CN" altLang="zh-CN" sz="2400" b="1" dirty="0">
                <a:solidFill>
                  <a:srgbClr val="D60093"/>
                </a:solidFill>
                <a:latin typeface="Times New Roman" panose="02020603050405020304" charset="0"/>
                <a:ea typeface="宋体" panose="02010600030101010101" pitchFamily="2" charset="-122"/>
              </a:rPr>
              <a:t>虚断路</a:t>
            </a:r>
            <a:endParaRPr lang="zh-CN" altLang="en-US" sz="2400" b="1">
              <a:solidFill>
                <a:srgbClr val="D60093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8199" name="文本框 8198"/>
          <p:cNvSpPr txBox="1"/>
          <p:nvPr/>
        </p:nvSpPr>
        <p:spPr>
          <a:xfrm>
            <a:off x="2438400" y="3200400"/>
            <a:ext cx="4114800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charset="0"/>
                <a:ea typeface="宋体" panose="02010600030101010101" pitchFamily="2" charset="-122"/>
              </a:rPr>
              <a:t>电路特征：引入电压负反馈。</a:t>
            </a:r>
            <a:endParaRPr lang="zh-CN" altLang="en-US" sz="2400" b="1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8200" name="线形标注 1 8199"/>
          <p:cNvSpPr/>
          <p:nvPr/>
        </p:nvSpPr>
        <p:spPr>
          <a:xfrm>
            <a:off x="7239000" y="3124200"/>
            <a:ext cx="1716088" cy="466725"/>
          </a:xfrm>
          <a:prstGeom prst="borderCallout1">
            <a:avLst>
              <a:gd name="adj1" fmla="val 24491"/>
              <a:gd name="adj2" fmla="val -4440"/>
              <a:gd name="adj3" fmla="val 184352"/>
              <a:gd name="adj4" fmla="val -156245"/>
            </a:avLst>
          </a:prstGeom>
          <a:solidFill>
            <a:srgbClr val="CCFFFF"/>
          </a:solidFill>
          <a:ln w="1905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algn="ctr"/>
            <a:r>
              <a:rPr lang="zh-CN" altLang="en-US" sz="2400" b="1" dirty="0">
                <a:latin typeface="Times New Roman" panose="02020603050405020304" charset="0"/>
                <a:ea typeface="宋体" panose="02010600030101010101" pitchFamily="2" charset="-122"/>
              </a:rPr>
              <a:t>无源网络</a:t>
            </a:r>
            <a:endParaRPr lang="zh-CN" altLang="en-US" sz="2400" b="1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8201" name="文本框 8200"/>
          <p:cNvSpPr txBox="1"/>
          <p:nvPr/>
        </p:nvSpPr>
        <p:spPr>
          <a:xfrm>
            <a:off x="1905000" y="2057400"/>
            <a:ext cx="4876800" cy="105092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120000"/>
              </a:lnSpc>
            </a:pPr>
            <a:r>
              <a:rPr lang="en-US" altLang="zh-CN" sz="2800" b="1">
                <a:latin typeface="Times New Roman" panose="02020603050405020304" charset="0"/>
                <a:ea typeface="宋体" panose="02010600030101010101" pitchFamily="2" charset="-122"/>
              </a:rPr>
              <a:t>3.</a:t>
            </a:r>
            <a:r>
              <a:rPr lang="en-US" altLang="zh-CN" sz="2800" b="1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集成运放的线性工作区</a:t>
            </a:r>
            <a:r>
              <a:rPr lang="zh-CN" altLang="en-US" sz="2400" dirty="0">
                <a:latin typeface="Times New Roman" panose="02020603050405020304" charset="0"/>
                <a:ea typeface="宋体" panose="02010600030101010101" pitchFamily="2" charset="-122"/>
              </a:rPr>
              <a:t>    </a:t>
            </a:r>
            <a:endParaRPr lang="zh-CN" altLang="en-US" sz="2400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400" b="1" i="1">
                <a:latin typeface="Times New Roman" panose="02020603050405020304" charset="0"/>
                <a:ea typeface="宋体" panose="02010600030101010101" pitchFamily="2" charset="-122"/>
              </a:rPr>
              <a:t>  </a:t>
            </a:r>
            <a:r>
              <a:rPr lang="zh-CN" altLang="en-US" sz="2400" b="1" i="1" dirty="0">
                <a:latin typeface="Times New Roman" panose="02020603050405020304" charset="0"/>
                <a:ea typeface="宋体" panose="02010600030101010101" pitchFamily="2" charset="-122"/>
              </a:rPr>
              <a:t>        </a:t>
            </a:r>
            <a:r>
              <a:rPr lang="en-US" altLang="zh-CN" sz="2400" b="1" i="1" err="1">
                <a:latin typeface="Times New Roman" panose="02020603050405020304" charset="0"/>
                <a:ea typeface="宋体" panose="02010600030101010101" pitchFamily="2" charset="-122"/>
              </a:rPr>
              <a:t>u</a:t>
            </a:r>
            <a:r>
              <a:rPr lang="en-US" altLang="zh-CN" sz="2400" b="1" baseline="-25000" err="1">
                <a:latin typeface="Times New Roman" panose="02020603050405020304" charset="0"/>
                <a:ea typeface="宋体" panose="02010600030101010101" pitchFamily="2" charset="-122"/>
              </a:rPr>
              <a:t>O</a:t>
            </a:r>
            <a:r>
              <a:rPr lang="zh-CN" altLang="en-US" sz="2400" b="1">
                <a:latin typeface="Times New Roman" panose="02020603050405020304" charset="0"/>
                <a:ea typeface="宋体" panose="02010600030101010101" pitchFamily="2" charset="-122"/>
              </a:rPr>
              <a:t>＝</a:t>
            </a:r>
            <a:r>
              <a:rPr lang="en-US" altLang="zh-CN" sz="2400" b="1" i="1" err="1">
                <a:latin typeface="Times New Roman" panose="02020603050405020304" charset="0"/>
                <a:ea typeface="宋体" panose="02010600030101010101" pitchFamily="2" charset="-122"/>
              </a:rPr>
              <a:t>A</a:t>
            </a:r>
            <a:r>
              <a:rPr lang="en-US" altLang="zh-CN" sz="2400" b="1" baseline="-25000" err="1">
                <a:latin typeface="Times New Roman" panose="02020603050405020304" charset="0"/>
                <a:ea typeface="宋体" panose="02010600030101010101" pitchFamily="2" charset="-122"/>
              </a:rPr>
              <a:t>od</a:t>
            </a:r>
            <a:r>
              <a:rPr lang="en-US" altLang="zh-CN" sz="2400" b="1" err="1">
                <a:latin typeface="Times New Roman" panose="02020603050405020304" charset="0"/>
                <a:ea typeface="宋体" panose="02010600030101010101" pitchFamily="2" charset="-122"/>
              </a:rPr>
              <a:t>(</a:t>
            </a:r>
            <a:r>
              <a:rPr lang="en-US" altLang="zh-CN" sz="2400" b="1" i="1" err="1">
                <a:latin typeface="Times New Roman" panose="02020603050405020304" charset="0"/>
                <a:ea typeface="宋体" panose="02010600030101010101" pitchFamily="2" charset="-122"/>
              </a:rPr>
              <a:t>u</a:t>
            </a:r>
            <a:r>
              <a:rPr lang="en-US" altLang="zh-CN" sz="2400" b="1" baseline="-25000" err="1">
                <a:latin typeface="Times New Roman" panose="02020603050405020304" charset="0"/>
                <a:ea typeface="宋体" panose="02010600030101010101" pitchFamily="2" charset="-122"/>
              </a:rPr>
              <a:t>P</a:t>
            </a:r>
            <a:r>
              <a:rPr lang="zh-CN" altLang="en-US" sz="2400" b="1">
                <a:latin typeface="Times New Roman" panose="02020603050405020304" charset="0"/>
                <a:ea typeface="宋体" panose="02010600030101010101" pitchFamily="2" charset="-122"/>
              </a:rPr>
              <a:t>－ </a:t>
            </a:r>
            <a:r>
              <a:rPr lang="en-US" altLang="zh-CN" sz="2400" b="1" i="1" err="1">
                <a:latin typeface="Times New Roman" panose="02020603050405020304" charset="0"/>
                <a:ea typeface="宋体" panose="02010600030101010101" pitchFamily="2" charset="-122"/>
              </a:rPr>
              <a:t>u</a:t>
            </a:r>
            <a:r>
              <a:rPr lang="en-US" altLang="zh-CN" sz="2400" b="1" baseline="-25000" err="1">
                <a:latin typeface="Times New Roman" panose="02020603050405020304" charset="0"/>
                <a:ea typeface="宋体" panose="02010600030101010101" pitchFamily="2" charset="-122"/>
              </a:rPr>
              <a:t>N</a:t>
            </a:r>
            <a:r>
              <a:rPr lang="en-US" altLang="zh-CN" sz="2400" b="1">
                <a:latin typeface="Times New Roman" panose="02020603050405020304" charset="0"/>
                <a:ea typeface="宋体" panose="02010600030101010101" pitchFamily="2" charset="-122"/>
              </a:rPr>
              <a:t>)</a:t>
            </a:r>
            <a:endParaRPr lang="en-US" altLang="zh-CN" sz="2400" b="1" baseline="-2500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charRg st="0" end="5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196">
                                            <p:txEl>
                                              <p:charRg st="0" end="5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1">
                                            <p:txEl>
                                              <p:charRg st="0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201">
                                            <p:txEl>
                                              <p:charRg st="0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1">
                                            <p:txEl>
                                              <p:charRg st="18" end="4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201">
                                            <p:txEl>
                                              <p:charRg st="18" end="4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9">
                                            <p:txEl>
                                              <p:charRg st="0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199">
                                            <p:txEl>
                                              <p:charRg st="0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>
                                            <p:txEl>
                                              <p:charRg st="0" end="3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8197">
                                            <p:txEl>
                                              <p:charRg st="0" end="3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>
                                            <p:txEl>
                                              <p:charRg st="36" end="5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8197">
                                            <p:txEl>
                                              <p:charRg st="36" end="5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">
                                            <p:txEl>
                                              <p:charRg st="0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8198">
                                            <p:txEl>
                                              <p:charRg st="0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">
                                            <p:txEl>
                                              <p:charRg st="12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8198">
                                            <p:txEl>
                                              <p:charRg st="12" end="2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6" grpId="0" build="p"/>
      <p:bldP spid="8197" grpId="0" build="p"/>
      <p:bldP spid="8198" grpId="0" build="p"/>
      <p:bldP spid="8199" grpId="0" build="p"/>
      <p:bldP spid="8200" grpId="0" bldLvl="0" animBg="1"/>
      <p:bldP spid="8201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3" name="标题 9217"/>
          <p:cNvSpPr>
            <a:spLocks noGrp="1"/>
          </p:cNvSpPr>
          <p:nvPr>
            <p:ph type="title"/>
          </p:nvPr>
        </p:nvSpPr>
        <p:spPr>
          <a:xfrm>
            <a:off x="2133600" y="1066800"/>
            <a:ext cx="7073900" cy="533400"/>
          </a:xfrm>
        </p:spPr>
        <p:txBody>
          <a:bodyPr anchor="ctr" anchorCtr="0"/>
          <a:p>
            <a:pPr algn="l"/>
            <a:r>
              <a:rPr lang="en-US" altLang="zh-CN" sz="2800" b="1">
                <a:solidFill>
                  <a:schemeClr val="tx1"/>
                </a:solidFill>
              </a:rPr>
              <a:t>4.  </a:t>
            </a:r>
            <a:r>
              <a:rPr lang="zh-CN" altLang="en-US" sz="2800" b="1" dirty="0">
                <a:solidFill>
                  <a:schemeClr val="tx1"/>
                </a:solidFill>
              </a:rPr>
              <a:t>研究的问题</a:t>
            </a:r>
            <a:endParaRPr lang="zh-CN" altLang="en-US" sz="2800" b="1" dirty="0"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  <p:sp>
        <p:nvSpPr>
          <p:cNvPr id="9219" name="矩形 9218"/>
          <p:cNvSpPr/>
          <p:nvPr/>
        </p:nvSpPr>
        <p:spPr>
          <a:xfrm>
            <a:off x="2362200" y="1676400"/>
            <a:ext cx="7848600" cy="22098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>
              <a:lnSpc>
                <a:spcPct val="120000"/>
              </a:lnSpc>
            </a:pPr>
            <a:r>
              <a:rPr lang="en-US" altLang="zh-CN" sz="2400" b="1" dirty="0">
                <a:latin typeface="Times New Roman" panose="02020603050405020304" charset="0"/>
                <a:ea typeface="宋体" panose="02010600030101010101" pitchFamily="2" charset="-122"/>
              </a:rPr>
              <a:t>     </a:t>
            </a:r>
            <a:r>
              <a:rPr lang="zh-CN" altLang="en-US" sz="2400" b="1" dirty="0">
                <a:latin typeface="Times New Roman" panose="02020603050405020304" charset="0"/>
                <a:ea typeface="宋体" panose="02010600030101010101" pitchFamily="2" charset="-122"/>
              </a:rPr>
              <a:t>（</a:t>
            </a:r>
            <a:r>
              <a:rPr lang="en-US" altLang="zh-CN" sz="2400" b="1">
                <a:latin typeface="Times New Roman" panose="02020603050405020304" charset="0"/>
                <a:ea typeface="宋体" panose="02010600030101010101" pitchFamily="2" charset="-122"/>
              </a:rPr>
              <a:t>1</a:t>
            </a:r>
            <a:r>
              <a:rPr lang="zh-CN" altLang="en-US" sz="2400" b="1" dirty="0">
                <a:latin typeface="Times New Roman" panose="02020603050405020304" charset="0"/>
                <a:ea typeface="宋体" panose="02010600030101010101" pitchFamily="2" charset="-122"/>
              </a:rPr>
              <a:t>）什么是运算电路：运算电路的输出电压是输入电压某种运算的结果，如加、减、乘、除、乘方、开方、积分、微分、对数、指数等。</a:t>
            </a:r>
            <a:endParaRPr lang="zh-CN" altLang="en-US" sz="2400" b="1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400" b="1" dirty="0">
                <a:latin typeface="Times New Roman" panose="02020603050405020304" charset="0"/>
                <a:ea typeface="宋体" panose="02010600030101010101" pitchFamily="2" charset="-122"/>
              </a:rPr>
              <a:t>     （</a:t>
            </a:r>
            <a:r>
              <a:rPr lang="en-US" altLang="zh-CN" sz="2400" b="1">
                <a:latin typeface="Times New Roman" panose="02020603050405020304" charset="0"/>
                <a:ea typeface="宋体" panose="02010600030101010101" pitchFamily="2" charset="-122"/>
              </a:rPr>
              <a:t>2</a:t>
            </a:r>
            <a:r>
              <a:rPr lang="zh-CN" altLang="en-US" sz="2400" b="1" dirty="0">
                <a:latin typeface="Times New Roman" panose="02020603050405020304" charset="0"/>
                <a:ea typeface="宋体" panose="02010600030101010101" pitchFamily="2" charset="-122"/>
              </a:rPr>
              <a:t>）描述方法：运算关系式 </a:t>
            </a:r>
            <a:r>
              <a:rPr lang="en-US" altLang="zh-CN" sz="2400" b="1" i="1" err="1">
                <a:latin typeface="Times New Roman" panose="02020603050405020304" charset="0"/>
                <a:ea typeface="宋体" panose="02010600030101010101" pitchFamily="2" charset="-122"/>
              </a:rPr>
              <a:t>u</a:t>
            </a:r>
            <a:r>
              <a:rPr lang="en-US" altLang="zh-CN" sz="2400" b="1" baseline="-25000" err="1">
                <a:latin typeface="Times New Roman" panose="02020603050405020304" charset="0"/>
                <a:ea typeface="宋体" panose="02010600030101010101" pitchFamily="2" charset="-122"/>
              </a:rPr>
              <a:t>O</a:t>
            </a:r>
            <a:r>
              <a:rPr lang="zh-CN" altLang="en-US" sz="2400" b="1">
                <a:latin typeface="Times New Roman" panose="02020603050405020304" charset="0"/>
                <a:ea typeface="宋体" panose="02010600030101010101" pitchFamily="2" charset="-122"/>
              </a:rPr>
              <a:t>＝</a:t>
            </a:r>
            <a:r>
              <a:rPr lang="en-US" altLang="zh-CN" sz="2400" b="1" i="1">
                <a:latin typeface="Times New Roman" panose="02020603050405020304" charset="0"/>
                <a:ea typeface="宋体" panose="02010600030101010101" pitchFamily="2" charset="-122"/>
              </a:rPr>
              <a:t>f </a:t>
            </a:r>
            <a:r>
              <a:rPr lang="en-US" altLang="zh-CN" sz="2400" b="1">
                <a:latin typeface="Times New Roman" panose="02020603050405020304" charset="0"/>
                <a:ea typeface="宋体" panose="02010600030101010101" pitchFamily="2" charset="-122"/>
              </a:rPr>
              <a:t>(</a:t>
            </a:r>
            <a:r>
              <a:rPr lang="en-US" altLang="zh-CN" sz="2400" b="1" i="1" err="1">
                <a:latin typeface="Times New Roman" panose="02020603050405020304" charset="0"/>
                <a:ea typeface="宋体" panose="02010600030101010101" pitchFamily="2" charset="-122"/>
              </a:rPr>
              <a:t>u</a:t>
            </a:r>
            <a:r>
              <a:rPr lang="en-US" altLang="zh-CN" sz="2400" b="1" baseline="-25000" err="1">
                <a:latin typeface="Times New Roman" panose="02020603050405020304" charset="0"/>
                <a:ea typeface="宋体" panose="02010600030101010101" pitchFamily="2" charset="-122"/>
              </a:rPr>
              <a:t>I</a:t>
            </a:r>
            <a:r>
              <a:rPr lang="en-US" altLang="zh-CN" sz="2400" b="1">
                <a:latin typeface="Times New Roman" panose="02020603050405020304" charset="0"/>
                <a:ea typeface="宋体" panose="02010600030101010101" pitchFamily="2" charset="-122"/>
              </a:rPr>
              <a:t>)</a:t>
            </a:r>
            <a:endParaRPr lang="en-US" altLang="zh-CN" sz="2400" b="1">
              <a:latin typeface="Times New Roman" panose="02020603050405020304" charset="0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2400" b="1">
                <a:latin typeface="Times New Roman" panose="02020603050405020304" charset="0"/>
                <a:ea typeface="宋体" panose="02010600030101010101" pitchFamily="2" charset="-122"/>
              </a:rPr>
              <a:t>     </a:t>
            </a:r>
            <a:r>
              <a:rPr lang="zh-CN" altLang="en-US" sz="2400" b="1">
                <a:latin typeface="Times New Roman" panose="02020603050405020304" charset="0"/>
                <a:ea typeface="宋体" panose="02010600030101010101" pitchFamily="2" charset="-122"/>
              </a:rPr>
              <a:t>（</a:t>
            </a:r>
            <a:r>
              <a:rPr lang="en-US" altLang="zh-CN" sz="2400" b="1">
                <a:latin typeface="Times New Roman" panose="02020603050405020304" charset="0"/>
                <a:ea typeface="宋体" panose="02010600030101010101" pitchFamily="2" charset="-122"/>
              </a:rPr>
              <a:t>3</a:t>
            </a:r>
            <a:r>
              <a:rPr lang="zh-CN" altLang="en-US" sz="2400" b="1">
                <a:latin typeface="Times New Roman" panose="02020603050405020304" charset="0"/>
                <a:ea typeface="宋体" panose="02010600030101010101" pitchFamily="2" charset="-122"/>
              </a:rPr>
              <a:t>）</a:t>
            </a:r>
            <a:r>
              <a:rPr lang="zh-CN" altLang="en-US" sz="2400" b="1" dirty="0">
                <a:latin typeface="Times New Roman" panose="02020603050405020304" charset="0"/>
                <a:ea typeface="宋体" panose="02010600030101010101" pitchFamily="2" charset="-122"/>
              </a:rPr>
              <a:t>分析方法：“虚短”和“虚断”是基本出发点。</a:t>
            </a:r>
            <a:endParaRPr lang="zh-CN" altLang="en-US" sz="2400" b="1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9220" name="文本框 9219"/>
          <p:cNvSpPr txBox="1"/>
          <p:nvPr/>
        </p:nvSpPr>
        <p:spPr>
          <a:xfrm>
            <a:off x="2667000" y="4419600"/>
            <a:ext cx="7162800" cy="97726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120000"/>
              </a:lnSpc>
            </a:pPr>
            <a:r>
              <a:rPr lang="zh-CN" altLang="en-US" sz="2400" b="1">
                <a:latin typeface="Times New Roman" panose="02020603050405020304" charset="0"/>
                <a:ea typeface="宋体" panose="02010600030101010101" pitchFamily="2" charset="-122"/>
              </a:rPr>
              <a:t>（</a:t>
            </a:r>
            <a:r>
              <a:rPr lang="en-US" altLang="zh-CN" sz="2400" b="1">
                <a:latin typeface="Times New Roman" panose="02020603050405020304" charset="0"/>
                <a:ea typeface="宋体" panose="02010600030101010101" pitchFamily="2" charset="-122"/>
              </a:rPr>
              <a:t>1</a:t>
            </a:r>
            <a:r>
              <a:rPr lang="zh-CN" altLang="en-US" sz="2400" b="1" dirty="0">
                <a:latin typeface="Times New Roman" panose="02020603050405020304" charset="0"/>
                <a:ea typeface="宋体" panose="02010600030101010101" pitchFamily="2" charset="-122"/>
              </a:rPr>
              <a:t>）识别电路。</a:t>
            </a:r>
            <a:endParaRPr lang="zh-CN" altLang="en-US" sz="2400" b="1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400" b="1" dirty="0">
                <a:latin typeface="Times New Roman" panose="02020603050405020304" charset="0"/>
                <a:ea typeface="宋体" panose="02010600030101010101" pitchFamily="2" charset="-122"/>
              </a:rPr>
              <a:t>（</a:t>
            </a:r>
            <a:r>
              <a:rPr lang="en-US" altLang="zh-CN" sz="2400" b="1">
                <a:latin typeface="Times New Roman" panose="02020603050405020304" charset="0"/>
                <a:ea typeface="宋体" panose="02010600030101010101" pitchFamily="2" charset="-122"/>
              </a:rPr>
              <a:t>2</a:t>
            </a:r>
            <a:r>
              <a:rPr lang="zh-CN" altLang="en-US" sz="2400" b="1" dirty="0">
                <a:latin typeface="Times New Roman" panose="02020603050405020304" charset="0"/>
                <a:ea typeface="宋体" panose="02010600030101010101" pitchFamily="2" charset="-122"/>
              </a:rPr>
              <a:t>）求解运算关系式。</a:t>
            </a:r>
            <a:endParaRPr lang="zh-CN" altLang="en-US" sz="2400" b="1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9221" name="文本框 9220"/>
          <p:cNvSpPr txBox="1"/>
          <p:nvPr/>
        </p:nvSpPr>
        <p:spPr>
          <a:xfrm>
            <a:off x="2133600" y="3962400"/>
            <a:ext cx="4800600" cy="52197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2800" b="1">
                <a:latin typeface="Times New Roman" panose="02020603050405020304" charset="0"/>
                <a:ea typeface="宋体" panose="02010600030101010101" pitchFamily="2" charset="-122"/>
              </a:rPr>
              <a:t>5</a:t>
            </a:r>
            <a:r>
              <a:rPr lang="zh-CN" altLang="en-US" sz="2800" b="1" dirty="0">
                <a:latin typeface="Times New Roman" panose="02020603050405020304" charset="0"/>
                <a:ea typeface="宋体" panose="02010600030101010101" pitchFamily="2" charset="-122"/>
              </a:rPr>
              <a:t>、学习运算电路的基本要求</a:t>
            </a:r>
            <a:endParaRPr lang="zh-CN" altLang="en-US" sz="2800" b="1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charRg st="0" end="6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219">
                                            <p:txEl>
                                              <p:charRg st="0" end="6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charRg st="67" end="9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219">
                                            <p:txEl>
                                              <p:charRg st="67" end="9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charRg st="96" end="1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219">
                                            <p:txEl>
                                              <p:charRg st="96" end="1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>
                                            <p:txEl>
                                              <p:charRg st="0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221">
                                            <p:txEl>
                                              <p:charRg st="0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charRg st="0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220">
                                            <p:txEl>
                                              <p:charRg st="0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charRg st="9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220">
                                            <p:txEl>
                                              <p:charRg st="9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9" grpId="0" build="p"/>
      <p:bldP spid="9220" grpId="0" build="p"/>
      <p:bldP spid="9221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2" name="标题 10241"/>
          <p:cNvSpPr>
            <a:spLocks noGrp="1"/>
          </p:cNvSpPr>
          <p:nvPr>
            <p:ph type="title"/>
          </p:nvPr>
        </p:nvSpPr>
        <p:spPr>
          <a:xfrm>
            <a:off x="1828800" y="304800"/>
            <a:ext cx="7772400" cy="1143000"/>
          </a:xfrm>
        </p:spPr>
        <p:txBody>
          <a:bodyPr anchor="ctr" anchorCtr="0"/>
          <a:p>
            <a:pPr marL="0" marR="0" indent="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3600" b="0" i="0" u="none" strike="noStrike" kern="1200" cap="none" spc="0" normalizeH="0" baseline="0" noProof="1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  <a:cs typeface="+mj-cs"/>
              </a:rPr>
              <a:t>二、比例运算电路</a:t>
            </a:r>
            <a:br>
              <a:rPr lang="zh-CN" altLang="en-US" sz="3600" dirty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</a:br>
            <a:r>
              <a:rPr kumimoji="0" lang="zh-CN" altLang="en-US" sz="3200" b="0" i="0" u="none" strike="noStrike" kern="1200" cap="none" spc="0" normalizeH="0" baseline="0" noProof="1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  <a:cs typeface="+mj-cs"/>
              </a:rPr>
              <a:t> </a:t>
            </a:r>
            <a:r>
              <a:rPr kumimoji="0" lang="zh-CN" altLang="en-US" sz="2400" b="0" i="0" u="none" strike="noStrike" kern="1200" cap="none" spc="0" normalizeH="0" baseline="0" noProof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   </a:t>
            </a:r>
            <a:r>
              <a:rPr kumimoji="0" lang="en-US" altLang="zh-CN" sz="2800" b="1" i="0" u="none" strike="noStrike" kern="1200" cap="none" spc="0" normalizeH="0" baseline="0" noProof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1.  </a:t>
            </a:r>
            <a:r>
              <a:rPr kumimoji="0" lang="zh-CN" altLang="en-US" sz="2800" b="1" i="0" u="none" strike="noStrike" kern="1200" cap="none" spc="0" normalizeH="0" baseline="0" noProof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反相输入</a:t>
            </a:r>
            <a:endParaRPr kumimoji="0" lang="zh-CN" altLang="en-US" sz="2800" b="1" i="0" u="none" strike="noStrike" kern="1200" cap="none" spc="0" normalizeH="0" baseline="0" noProof="1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0243" name="文本框 10242"/>
          <p:cNvSpPr txBox="1"/>
          <p:nvPr/>
        </p:nvSpPr>
        <p:spPr>
          <a:xfrm>
            <a:off x="1981200" y="4079240"/>
            <a:ext cx="8077200" cy="186372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457200" indent="-457200" eaLnBrk="0" hangingPunct="0">
              <a:lnSpc>
                <a:spcPct val="120000"/>
              </a:lnSpc>
              <a:buAutoNum type="arabicParenR"/>
            </a:pPr>
            <a:r>
              <a:rPr lang="zh-CN" altLang="en-US" sz="2400" b="1" dirty="0">
                <a:latin typeface="Times New Roman" panose="02020603050405020304" charset="0"/>
                <a:ea typeface="宋体" panose="02010600030101010101" pitchFamily="2" charset="-122"/>
              </a:rPr>
              <a:t>电路引入了哪种组态的负反馈？</a:t>
            </a:r>
            <a:endParaRPr lang="zh-CN" altLang="en-US" sz="2400" b="1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457200" indent="-457200" eaLnBrk="0" hangingPunct="0">
              <a:lnSpc>
                <a:spcPct val="120000"/>
              </a:lnSpc>
              <a:buAutoNum type="arabicParenR"/>
            </a:pPr>
            <a:r>
              <a:rPr lang="zh-CN" altLang="en-US" sz="2400" b="1" dirty="0">
                <a:latin typeface="Times New Roman" panose="02020603050405020304" charset="0"/>
                <a:ea typeface="宋体" panose="02010600030101010101" pitchFamily="2" charset="-122"/>
              </a:rPr>
              <a:t>电路的输入电阻为多少？</a:t>
            </a:r>
            <a:endParaRPr lang="zh-CN" altLang="en-US" sz="2400" b="1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457200" indent="-457200" eaLnBrk="0" hangingPunct="0">
              <a:lnSpc>
                <a:spcPct val="120000"/>
              </a:lnSpc>
              <a:buNone/>
            </a:pPr>
            <a:r>
              <a:rPr lang="en-US" altLang="zh-CN" sz="2400" b="1">
                <a:latin typeface="Times New Roman" panose="02020603050405020304" charset="0"/>
                <a:ea typeface="宋体" panose="02010600030101010101" pitchFamily="2" charset="-122"/>
              </a:rPr>
              <a:t>3)   </a:t>
            </a:r>
            <a:r>
              <a:rPr lang="en-US" altLang="zh-CN" sz="2400" b="1" i="1">
                <a:latin typeface="Times New Roman" panose="02020603050405020304" charset="0"/>
                <a:ea typeface="宋体" panose="02010600030101010101" pitchFamily="2" charset="-122"/>
              </a:rPr>
              <a:t>R</a:t>
            </a:r>
            <a:r>
              <a:rPr lang="en-US" altLang="zh-CN" sz="2400" b="1" baseline="30000">
                <a:latin typeface="Times New Roman" panose="02020603050405020304" charset="0"/>
                <a:ea typeface="宋体" panose="02010600030101010101" pitchFamily="2" charset="-122"/>
              </a:rPr>
              <a:t>’</a:t>
            </a:r>
            <a:r>
              <a:rPr lang="zh-CN" altLang="en-US" sz="2400" b="1">
                <a:latin typeface="Times New Roman" panose="02020603050405020304" charset="0"/>
                <a:ea typeface="宋体" panose="02010600030101010101" pitchFamily="2" charset="-122"/>
              </a:rPr>
              <a:t>＝？</a:t>
            </a:r>
            <a:r>
              <a:rPr lang="zh-CN" altLang="en-US" sz="2400" b="1" dirty="0">
                <a:latin typeface="Times New Roman" panose="02020603050405020304" charset="0"/>
                <a:ea typeface="宋体" panose="02010600030101010101" pitchFamily="2" charset="-122"/>
              </a:rPr>
              <a:t>为什么？</a:t>
            </a:r>
            <a:endParaRPr lang="zh-CN" altLang="en-US" sz="2400" b="1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457200" indent="-457200" eaLnBrk="0" hangingPunct="0">
              <a:lnSpc>
                <a:spcPct val="120000"/>
              </a:lnSpc>
              <a:buNone/>
            </a:pPr>
            <a:r>
              <a:rPr lang="en-US" altLang="zh-CN" sz="2400" b="1">
                <a:latin typeface="Times New Roman" panose="02020603050405020304" charset="0"/>
                <a:ea typeface="宋体" panose="02010600030101010101" pitchFamily="2" charset="-122"/>
              </a:rPr>
              <a:t>4)  </a:t>
            </a:r>
            <a:r>
              <a:rPr lang="zh-CN" altLang="en-US" sz="2400" b="1" dirty="0">
                <a:latin typeface="Times New Roman" panose="02020603050405020304" charset="0"/>
                <a:ea typeface="宋体" panose="02010600030101010101" pitchFamily="2" charset="-122"/>
              </a:rPr>
              <a:t>若要</a:t>
            </a:r>
            <a:r>
              <a:rPr lang="en-US" altLang="zh-CN" sz="2400" b="1" i="1" err="1">
                <a:latin typeface="Times New Roman" panose="02020603050405020304" charset="0"/>
                <a:ea typeface="宋体" panose="02010600030101010101" pitchFamily="2" charset="-122"/>
              </a:rPr>
              <a:t>R</a:t>
            </a:r>
            <a:r>
              <a:rPr lang="en-US" altLang="zh-CN" sz="2400" b="1" baseline="-25000" err="1">
                <a:latin typeface="Times New Roman" panose="02020603050405020304" charset="0"/>
                <a:ea typeface="宋体" panose="02010600030101010101" pitchFamily="2" charset="-122"/>
              </a:rPr>
              <a:t>i</a:t>
            </a:r>
            <a:r>
              <a:rPr lang="zh-CN" altLang="en-US" sz="2400" b="1">
                <a:latin typeface="Times New Roman" panose="02020603050405020304" charset="0"/>
                <a:ea typeface="宋体" panose="02010600030101010101" pitchFamily="2" charset="-122"/>
              </a:rPr>
              <a:t>＝</a:t>
            </a:r>
            <a:r>
              <a:rPr lang="en-US" altLang="zh-CN" sz="2400" b="1">
                <a:latin typeface="Times New Roman" panose="02020603050405020304" charset="0"/>
                <a:ea typeface="宋体" panose="02010600030101010101" pitchFamily="2" charset="-122"/>
              </a:rPr>
              <a:t>100kΩ</a:t>
            </a:r>
            <a:r>
              <a:rPr lang="zh-CN" altLang="en-US" sz="2400" b="1">
                <a:latin typeface="Times New Roman" panose="02020603050405020304" charset="0"/>
                <a:ea typeface="宋体" panose="02010600030101010101" pitchFamily="2" charset="-122"/>
              </a:rPr>
              <a:t>，</a:t>
            </a:r>
            <a:r>
              <a:rPr lang="zh-CN" altLang="en-US" sz="2400" b="1" dirty="0">
                <a:latin typeface="Times New Roman" panose="02020603050405020304" charset="0"/>
                <a:ea typeface="宋体" panose="02010600030101010101" pitchFamily="2" charset="-122"/>
              </a:rPr>
              <a:t>比例系数为－</a:t>
            </a:r>
            <a:r>
              <a:rPr lang="en-US" altLang="zh-CN" sz="2400" b="1">
                <a:latin typeface="Times New Roman" panose="02020603050405020304" charset="0"/>
                <a:ea typeface="宋体" panose="02010600030101010101" pitchFamily="2" charset="-122"/>
              </a:rPr>
              <a:t>100</a:t>
            </a:r>
            <a:r>
              <a:rPr lang="zh-CN" altLang="en-US" sz="2400" b="1" dirty="0">
                <a:latin typeface="Times New Roman" panose="02020603050405020304" charset="0"/>
                <a:ea typeface="宋体" panose="02010600030101010101" pitchFamily="2" charset="-122"/>
              </a:rPr>
              <a:t>，</a:t>
            </a:r>
            <a:r>
              <a:rPr lang="en-US" altLang="zh-CN" sz="2400" b="1" i="1">
                <a:latin typeface="Times New Roman" panose="02020603050405020304" charset="0"/>
                <a:ea typeface="宋体" panose="02010600030101010101" pitchFamily="2" charset="-122"/>
              </a:rPr>
              <a:t>R</a:t>
            </a:r>
            <a:r>
              <a:rPr lang="en-US" altLang="zh-CN" sz="2400" b="1" baseline="-25000">
                <a:latin typeface="Times New Roman" panose="02020603050405020304" charset="0"/>
                <a:ea typeface="宋体" panose="02010600030101010101" pitchFamily="2" charset="-122"/>
              </a:rPr>
              <a:t>1</a:t>
            </a:r>
            <a:r>
              <a:rPr lang="zh-CN" altLang="en-US" sz="2400" b="1">
                <a:latin typeface="Times New Roman" panose="02020603050405020304" charset="0"/>
                <a:ea typeface="宋体" panose="02010600030101010101" pitchFamily="2" charset="-122"/>
              </a:rPr>
              <a:t>＝？ </a:t>
            </a:r>
            <a:r>
              <a:rPr lang="en-US" altLang="zh-CN" sz="2400" b="1" i="1" err="1">
                <a:latin typeface="Times New Roman" panose="02020603050405020304" charset="0"/>
                <a:ea typeface="宋体" panose="02010600030101010101" pitchFamily="2" charset="-122"/>
              </a:rPr>
              <a:t>R</a:t>
            </a:r>
            <a:r>
              <a:rPr lang="en-US" altLang="zh-CN" sz="2400" b="1" baseline="-25000" err="1">
                <a:latin typeface="Times New Roman" panose="02020603050405020304" charset="0"/>
                <a:ea typeface="宋体" panose="02010600030101010101" pitchFamily="2" charset="-122"/>
              </a:rPr>
              <a:t>f</a:t>
            </a:r>
            <a:r>
              <a:rPr lang="zh-CN" altLang="en-US" sz="2400" b="1">
                <a:latin typeface="Times New Roman" panose="02020603050405020304" charset="0"/>
                <a:ea typeface="宋体" panose="02010600030101010101" pitchFamily="2" charset="-122"/>
              </a:rPr>
              <a:t>＝？</a:t>
            </a:r>
            <a:endParaRPr lang="zh-CN" altLang="en-US" sz="2400" b="1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10244" name="线形标注 2 10243"/>
          <p:cNvSpPr/>
          <p:nvPr/>
        </p:nvSpPr>
        <p:spPr>
          <a:xfrm>
            <a:off x="3352800" y="5984240"/>
            <a:ext cx="4114800" cy="762000"/>
          </a:xfrm>
          <a:prstGeom prst="borderCallout2">
            <a:avLst>
              <a:gd name="adj1" fmla="val 15000"/>
              <a:gd name="adj2" fmla="val 101852"/>
              <a:gd name="adj3" fmla="val 15000"/>
              <a:gd name="adj4" fmla="val 113310"/>
              <a:gd name="adj5" fmla="val -16042"/>
              <a:gd name="adj6" fmla="val 125116"/>
            </a:avLst>
          </a:prstGeom>
          <a:solidFill>
            <a:srgbClr val="CCFFFF"/>
          </a:solidFill>
          <a:ln w="19050" cap="flat" cmpd="sng">
            <a:solidFill>
              <a:srgbClr val="FF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eaLnBrk="0" hangingPunct="0"/>
            <a:r>
              <a:rPr lang="en-US" altLang="zh-CN" sz="2000" b="1" i="1" err="1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R</a:t>
            </a:r>
            <a:r>
              <a:rPr lang="en-US" altLang="zh-CN" sz="2000" b="1" baseline="-25000" err="1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f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太大，噪声大。如何利用相对小的电阻获得－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100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的比例系数？</a:t>
            </a:r>
            <a:endParaRPr lang="zh-CN" altLang="en-US" sz="2000" b="1" dirty="0">
              <a:solidFill>
                <a:srgbClr val="000000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graphicFrame>
        <p:nvGraphicFramePr>
          <p:cNvPr id="10245" name="对象 10244"/>
          <p:cNvGraphicFramePr/>
          <p:nvPr/>
        </p:nvGraphicFramePr>
        <p:xfrm>
          <a:off x="6777990" y="353695"/>
          <a:ext cx="3200400" cy="2143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1" imgW="10848975" imgH="7267575" progId="MSPhotoEd.3">
                  <p:embed/>
                </p:oleObj>
              </mc:Choice>
              <mc:Fallback>
                <p:oleObj name="" r:id="rId1" imgW="10848975" imgH="7267575" progId="MSPhotoEd.3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777990" y="353695"/>
                        <a:ext cx="3200400" cy="21431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6" name="对象 10245"/>
          <p:cNvGraphicFramePr/>
          <p:nvPr/>
        </p:nvGraphicFramePr>
        <p:xfrm>
          <a:off x="7158990" y="1191895"/>
          <a:ext cx="381000" cy="296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" r:id="rId3" imgW="1304925" imgH="1019175" progId="MSPhotoEd.3">
                  <p:embed/>
                </p:oleObj>
              </mc:Choice>
              <mc:Fallback>
                <p:oleObj name="" r:id="rId3" imgW="1304925" imgH="1019175" progId="MSPhotoEd.3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158990" y="1191895"/>
                        <a:ext cx="381000" cy="2968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7" name="对象 10246"/>
          <p:cNvGraphicFramePr/>
          <p:nvPr/>
        </p:nvGraphicFramePr>
        <p:xfrm>
          <a:off x="7886065" y="752158"/>
          <a:ext cx="304800" cy="287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0" name="" r:id="rId5" imgW="962025" imgH="904875" progId="MSPhotoEd.3">
                  <p:embed/>
                </p:oleObj>
              </mc:Choice>
              <mc:Fallback>
                <p:oleObj name="" r:id="rId5" imgW="962025" imgH="904875" progId="MSPhotoEd.3">
                  <p:embed/>
                  <p:pic>
                    <p:nvPicPr>
                      <p:cNvPr id="0" name="图片 3099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886065" y="752158"/>
                        <a:ext cx="304800" cy="2873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8" name="对象 10247"/>
          <p:cNvGraphicFramePr/>
          <p:nvPr/>
        </p:nvGraphicFramePr>
        <p:xfrm>
          <a:off x="7900353" y="1612583"/>
          <a:ext cx="287337" cy="274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8" name="" r:id="rId7" imgW="923925" imgH="885825" progId="MSPhotoEd.3">
                  <p:embed/>
                </p:oleObj>
              </mc:Choice>
              <mc:Fallback>
                <p:oleObj name="" r:id="rId7" imgW="923925" imgH="885825" progId="MSPhotoEd.3">
                  <p:embed/>
                  <p:pic>
                    <p:nvPicPr>
                      <p:cNvPr id="0" name="图片 3097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900353" y="1612583"/>
                        <a:ext cx="287337" cy="2746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9" name="对象 10248"/>
          <p:cNvGraphicFramePr/>
          <p:nvPr/>
        </p:nvGraphicFramePr>
        <p:xfrm>
          <a:off x="8911590" y="301308"/>
          <a:ext cx="457200" cy="320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1" name="" r:id="rId9" imgW="1285875" imgH="904875" progId="MSPhotoEd.3">
                  <p:embed/>
                </p:oleObj>
              </mc:Choice>
              <mc:Fallback>
                <p:oleObj name="" r:id="rId9" imgW="1285875" imgH="904875" progId="MSPhotoEd.3">
                  <p:embed/>
                  <p:pic>
                    <p:nvPicPr>
                      <p:cNvPr id="0" name="图片 3100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8911590" y="301308"/>
                        <a:ext cx="457200" cy="3206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50" name="文本框 10249"/>
          <p:cNvSpPr txBox="1"/>
          <p:nvPr/>
        </p:nvSpPr>
        <p:spPr>
          <a:xfrm>
            <a:off x="6777990" y="658495"/>
            <a:ext cx="609600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2400" b="1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+</a:t>
            </a:r>
            <a:endParaRPr lang="en-US" altLang="zh-CN" sz="2400" b="1">
              <a:solidFill>
                <a:srgbClr val="FF0000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10251" name="文本框 10250"/>
          <p:cNvSpPr txBox="1"/>
          <p:nvPr/>
        </p:nvSpPr>
        <p:spPr>
          <a:xfrm>
            <a:off x="9521190" y="810895"/>
            <a:ext cx="609600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2400" b="1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_</a:t>
            </a:r>
            <a:endParaRPr lang="en-US" altLang="zh-CN" sz="2400" b="1">
              <a:solidFill>
                <a:srgbClr val="FF0000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10252" name="文本框 10251"/>
          <p:cNvSpPr txBox="1"/>
          <p:nvPr/>
        </p:nvSpPr>
        <p:spPr>
          <a:xfrm>
            <a:off x="2514600" y="1524000"/>
            <a:ext cx="2743200" cy="97726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120000"/>
              </a:lnSpc>
            </a:pPr>
            <a:r>
              <a:rPr lang="en-US" altLang="zh-CN" sz="2400" b="1" i="1" err="1">
                <a:latin typeface="Times New Roman" panose="02020603050405020304" charset="0"/>
                <a:ea typeface="宋体" panose="02010600030101010101" pitchFamily="2" charset="-122"/>
              </a:rPr>
              <a:t>i</a:t>
            </a:r>
            <a:r>
              <a:rPr lang="en-US" altLang="zh-CN" sz="2400" b="1" baseline="-25000" err="1">
                <a:latin typeface="Times New Roman" panose="02020603050405020304" charset="0"/>
                <a:ea typeface="宋体" panose="02010600030101010101" pitchFamily="2" charset="-122"/>
              </a:rPr>
              <a:t>N</a:t>
            </a:r>
            <a:r>
              <a:rPr lang="en-US" altLang="zh-CN" sz="2400" b="1">
                <a:latin typeface="Times New Roman" panose="02020603050405020304" charset="0"/>
                <a:ea typeface="宋体" panose="02010600030101010101" pitchFamily="2" charset="-122"/>
              </a:rPr>
              <a:t>=</a:t>
            </a:r>
            <a:r>
              <a:rPr lang="en-US" altLang="zh-CN" sz="2400" b="1" i="1" err="1">
                <a:latin typeface="Times New Roman" panose="02020603050405020304" charset="0"/>
                <a:ea typeface="宋体" panose="02010600030101010101" pitchFamily="2" charset="-122"/>
              </a:rPr>
              <a:t>i</a:t>
            </a:r>
            <a:r>
              <a:rPr lang="en-US" altLang="zh-CN" sz="2400" b="1" baseline="-25000" err="1">
                <a:latin typeface="Times New Roman" panose="02020603050405020304" charset="0"/>
                <a:ea typeface="宋体" panose="02010600030101010101" pitchFamily="2" charset="-122"/>
              </a:rPr>
              <a:t>P</a:t>
            </a:r>
            <a:r>
              <a:rPr lang="en-US" altLang="zh-CN" sz="2400" b="1">
                <a:latin typeface="Times New Roman" panose="02020603050405020304" charset="0"/>
                <a:ea typeface="宋体" panose="02010600030101010101" pitchFamily="2" charset="-122"/>
              </a:rPr>
              <a:t>=0</a:t>
            </a:r>
            <a:r>
              <a:rPr lang="zh-CN" altLang="en-US" sz="2400" b="1">
                <a:latin typeface="Times New Roman" panose="02020603050405020304" charset="0"/>
                <a:ea typeface="宋体" panose="02010600030101010101" pitchFamily="2" charset="-122"/>
              </a:rPr>
              <a:t>，</a:t>
            </a:r>
            <a:endParaRPr lang="zh-CN" altLang="en-US" sz="2400" b="1">
              <a:latin typeface="Times New Roman" panose="02020603050405020304" charset="0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2400" b="1" i="1" err="1">
                <a:latin typeface="Times New Roman" panose="02020603050405020304" charset="0"/>
                <a:ea typeface="宋体" panose="02010600030101010101" pitchFamily="2" charset="-122"/>
              </a:rPr>
              <a:t>u</a:t>
            </a:r>
            <a:r>
              <a:rPr lang="en-US" altLang="zh-CN" sz="2400" b="1" baseline="-25000" err="1">
                <a:latin typeface="Times New Roman" panose="02020603050405020304" charset="0"/>
                <a:ea typeface="宋体" panose="02010600030101010101" pitchFamily="2" charset="-122"/>
              </a:rPr>
              <a:t>N</a:t>
            </a:r>
            <a:r>
              <a:rPr lang="en-US" altLang="zh-CN" sz="2400" b="1">
                <a:latin typeface="Times New Roman" panose="02020603050405020304" charset="0"/>
                <a:ea typeface="宋体" panose="02010600030101010101" pitchFamily="2" charset="-122"/>
              </a:rPr>
              <a:t>=</a:t>
            </a:r>
            <a:r>
              <a:rPr lang="en-US" altLang="zh-CN" sz="2400" b="1" i="1" err="1">
                <a:latin typeface="Times New Roman" panose="02020603050405020304" charset="0"/>
                <a:ea typeface="宋体" panose="02010600030101010101" pitchFamily="2" charset="-122"/>
              </a:rPr>
              <a:t>u</a:t>
            </a:r>
            <a:r>
              <a:rPr lang="en-US" altLang="zh-CN" sz="2400" b="1" baseline="-25000" err="1">
                <a:latin typeface="Times New Roman" panose="02020603050405020304" charset="0"/>
                <a:ea typeface="宋体" panose="02010600030101010101" pitchFamily="2" charset="-122"/>
              </a:rPr>
              <a:t>P</a:t>
            </a:r>
            <a:r>
              <a:rPr lang="en-US" altLang="zh-CN" sz="2400" b="1">
                <a:latin typeface="Times New Roman" panose="02020603050405020304" charset="0"/>
                <a:ea typeface="宋体" panose="02010600030101010101" pitchFamily="2" charset="-122"/>
              </a:rPr>
              <a:t>=0</a:t>
            </a:r>
            <a:r>
              <a:rPr lang="zh-CN" altLang="en-US" sz="2400" b="1">
                <a:latin typeface="Times New Roman" panose="02020603050405020304" charset="0"/>
                <a:ea typeface="宋体" panose="02010600030101010101" pitchFamily="2" charset="-122"/>
              </a:rPr>
              <a:t>－－</a:t>
            </a:r>
            <a:r>
              <a:rPr lang="zh-CN" altLang="en-US" sz="2400" b="1" dirty="0">
                <a:latin typeface="Times New Roman" panose="02020603050405020304" charset="0"/>
                <a:ea typeface="宋体" panose="02010600030101010101" pitchFamily="2" charset="-122"/>
              </a:rPr>
              <a:t>虚地</a:t>
            </a:r>
            <a:endParaRPr lang="zh-CN" altLang="en-US" sz="2400" b="1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29709" name="文本框 10253"/>
          <p:cNvSpPr txBox="1"/>
          <p:nvPr/>
        </p:nvSpPr>
        <p:spPr>
          <a:xfrm>
            <a:off x="2514600" y="2743200"/>
            <a:ext cx="2362200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2400" b="1">
                <a:latin typeface="Times New Roman" panose="02020603050405020304" charset="0"/>
                <a:ea typeface="宋体" panose="02010600030101010101" pitchFamily="2" charset="-122"/>
              </a:rPr>
              <a:t>在</a:t>
            </a:r>
            <a:r>
              <a:rPr lang="zh-CN" altLang="en-US" sz="2400" b="1" dirty="0">
                <a:latin typeface="Times New Roman" panose="02020603050405020304" charset="0"/>
                <a:ea typeface="宋体" panose="02010600030101010101" pitchFamily="2" charset="-122"/>
              </a:rPr>
              <a:t>节点</a:t>
            </a:r>
            <a:r>
              <a:rPr lang="en-US" altLang="zh-CN" sz="2400" b="1">
                <a:latin typeface="Times New Roman" panose="02020603050405020304" charset="0"/>
                <a:ea typeface="宋体" panose="02010600030101010101" pitchFamily="2" charset="-122"/>
              </a:rPr>
              <a:t>N</a:t>
            </a:r>
            <a:r>
              <a:rPr lang="zh-CN" altLang="en-US" sz="2400" b="1">
                <a:latin typeface="Times New Roman" panose="02020603050405020304" charset="0"/>
                <a:ea typeface="宋体" panose="02010600030101010101" pitchFamily="2" charset="-122"/>
              </a:rPr>
              <a:t>：</a:t>
            </a:r>
            <a:endParaRPr lang="zh-CN" altLang="en-US" sz="2400" b="1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graphicFrame>
        <p:nvGraphicFramePr>
          <p:cNvPr id="10256" name="对象 10255"/>
          <p:cNvGraphicFramePr/>
          <p:nvPr/>
        </p:nvGraphicFramePr>
        <p:xfrm>
          <a:off x="4095274" y="2566194"/>
          <a:ext cx="3425190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9" name="" r:id="rId11" imgW="1765300" imgH="241300" progId="Equation.3">
                  <p:embed/>
                </p:oleObj>
              </mc:Choice>
              <mc:Fallback>
                <p:oleObj name="" r:id="rId11" imgW="1765300" imgH="241300" progId="Equation.3">
                  <p:embed/>
                  <p:pic>
                    <p:nvPicPr>
                      <p:cNvPr id="0" name="图片 3098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095274" y="2566194"/>
                        <a:ext cx="3425190" cy="466725"/>
                      </a:xfrm>
                      <a:prstGeom prst="rect">
                        <a:avLst/>
                      </a:prstGeom>
                      <a:solidFill>
                        <a:srgbClr val="66FFFF"/>
                      </a:solidFill>
                      <a:ln w="9525" cap="flat" cmpd="sng">
                        <a:solidFill>
                          <a:srgbClr val="FF3300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/>
          <p:nvPr/>
        </p:nvGraphicFramePr>
        <p:xfrm>
          <a:off x="4840129" y="3282792"/>
          <a:ext cx="1601470" cy="7607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13" imgW="825500" imgH="393700" progId="Equation.3">
                  <p:embed/>
                </p:oleObj>
              </mc:Choice>
              <mc:Fallback>
                <p:oleObj name="" r:id="rId13" imgW="825500" imgH="393700" progId="Equation.3">
                  <p:embed/>
                  <p:pic>
                    <p:nvPicPr>
                      <p:cNvPr id="0" name="图片 3098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840129" y="3282792"/>
                        <a:ext cx="1601470" cy="760730"/>
                      </a:xfrm>
                      <a:prstGeom prst="rect">
                        <a:avLst/>
                      </a:prstGeom>
                      <a:solidFill>
                        <a:srgbClr val="66FFFF"/>
                      </a:solidFill>
                      <a:ln w="9525" cap="flat" cmpd="sng">
                        <a:solidFill>
                          <a:srgbClr val="FF3300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右箭头 3"/>
          <p:cNvSpPr/>
          <p:nvPr/>
        </p:nvSpPr>
        <p:spPr>
          <a:xfrm>
            <a:off x="2578735" y="3500755"/>
            <a:ext cx="1512570" cy="360045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50">
                                            <p:txEl>
                                              <p:charRg st="0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51">
                                            <p:txEl>
                                              <p:charRg st="0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2">
                                            <p:txEl>
                                              <p:charRg st="0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0252">
                                            <p:txEl>
                                              <p:charRg st="0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2">
                                            <p:txEl>
                                              <p:charRg st="9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0252">
                                            <p:txEl>
                                              <p:charRg st="9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0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charRg st="0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0243">
                                            <p:txEl>
                                              <p:charRg st="0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charRg st="15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0243">
                                            <p:txEl>
                                              <p:charRg st="15" end="2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charRg st="27" end="4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0243">
                                            <p:txEl>
                                              <p:charRg st="27" end="4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charRg st="41" end="7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0243">
                                            <p:txEl>
                                              <p:charRg st="41" end="7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3" grpId="0" build="p"/>
      <p:bldP spid="10244" grpId="0" bldLvl="0" animBg="1"/>
      <p:bldP spid="10250" grpId="0" build="p"/>
      <p:bldP spid="10251" grpId="0" build="p"/>
      <p:bldP spid="10252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3" name="文本框 10242"/>
          <p:cNvSpPr txBox="1"/>
          <p:nvPr/>
        </p:nvSpPr>
        <p:spPr>
          <a:xfrm>
            <a:off x="479425" y="548640"/>
            <a:ext cx="8077200" cy="496506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457200" indent="-457200" eaLnBrk="0" hangingPunct="0">
              <a:lnSpc>
                <a:spcPct val="120000"/>
              </a:lnSpc>
              <a:buAutoNum type="arabicParenR"/>
            </a:pPr>
            <a:r>
              <a:rPr lang="zh-CN" altLang="en-US" sz="2400" b="1" dirty="0">
                <a:latin typeface="Times New Roman" panose="02020603050405020304" charset="0"/>
                <a:ea typeface="宋体" panose="02010600030101010101" pitchFamily="2" charset="-122"/>
              </a:rPr>
              <a:t>电路引入了哪种组态的负反馈？</a:t>
            </a:r>
            <a:endParaRPr lang="zh-CN" altLang="en-US" sz="2400" b="1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457200" indent="-457200" eaLnBrk="0" hangingPunct="0">
              <a:lnSpc>
                <a:spcPct val="120000"/>
              </a:lnSpc>
              <a:buAutoNum type="arabicParenR"/>
            </a:pPr>
            <a:endParaRPr lang="zh-CN" altLang="en-US" sz="2400" b="1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457200" indent="-457200" eaLnBrk="0" hangingPunct="0">
              <a:lnSpc>
                <a:spcPct val="120000"/>
              </a:lnSpc>
              <a:buAutoNum type="arabicParenR"/>
            </a:pPr>
            <a:endParaRPr lang="zh-CN" altLang="en-US" sz="2400" b="1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457200" indent="-457200" eaLnBrk="0" hangingPunct="0">
              <a:lnSpc>
                <a:spcPct val="120000"/>
              </a:lnSpc>
              <a:buAutoNum type="arabicParenR"/>
            </a:pPr>
            <a:r>
              <a:rPr lang="zh-CN" altLang="en-US" sz="2400" b="1" dirty="0">
                <a:latin typeface="Times New Roman" panose="02020603050405020304" charset="0"/>
                <a:ea typeface="宋体" panose="02010600030101010101" pitchFamily="2" charset="-122"/>
              </a:rPr>
              <a:t>电路的输入电阻为多少？</a:t>
            </a:r>
            <a:endParaRPr lang="zh-CN" altLang="en-US" sz="2400" b="1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457200" indent="-457200" eaLnBrk="0" hangingPunct="0">
              <a:lnSpc>
                <a:spcPct val="120000"/>
              </a:lnSpc>
              <a:buAutoNum type="arabicParenR"/>
            </a:pPr>
            <a:endParaRPr lang="zh-CN" altLang="en-US" sz="2400" b="1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457200" indent="-457200" eaLnBrk="0" hangingPunct="0">
              <a:lnSpc>
                <a:spcPct val="120000"/>
              </a:lnSpc>
              <a:buAutoNum type="arabicParenR"/>
            </a:pPr>
            <a:endParaRPr lang="zh-CN" altLang="en-US" sz="2400" b="1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457200" indent="-457200" eaLnBrk="0" hangingPunct="0">
              <a:lnSpc>
                <a:spcPct val="120000"/>
              </a:lnSpc>
              <a:buNone/>
            </a:pPr>
            <a:r>
              <a:rPr lang="en-US" altLang="zh-CN" sz="2400" b="1">
                <a:latin typeface="Times New Roman" panose="02020603050405020304" charset="0"/>
                <a:ea typeface="宋体" panose="02010600030101010101" pitchFamily="2" charset="-122"/>
              </a:rPr>
              <a:t>3)   </a:t>
            </a:r>
            <a:r>
              <a:rPr lang="en-US" altLang="zh-CN" sz="2400" b="1" i="1">
                <a:latin typeface="Times New Roman" panose="02020603050405020304" charset="0"/>
                <a:ea typeface="宋体" panose="02010600030101010101" pitchFamily="2" charset="-122"/>
              </a:rPr>
              <a:t>R</a:t>
            </a:r>
            <a:r>
              <a:rPr lang="en-US" altLang="zh-CN" sz="2400" b="1" baseline="30000">
                <a:latin typeface="Times New Roman" panose="02020603050405020304" charset="0"/>
                <a:ea typeface="宋体" panose="02010600030101010101" pitchFamily="2" charset="-122"/>
              </a:rPr>
              <a:t>’</a:t>
            </a:r>
            <a:r>
              <a:rPr lang="zh-CN" altLang="en-US" sz="2400" b="1">
                <a:latin typeface="Times New Roman" panose="02020603050405020304" charset="0"/>
                <a:ea typeface="宋体" panose="02010600030101010101" pitchFamily="2" charset="-122"/>
              </a:rPr>
              <a:t>＝？</a:t>
            </a:r>
            <a:r>
              <a:rPr lang="zh-CN" altLang="en-US" sz="2400" b="1" dirty="0">
                <a:latin typeface="Times New Roman" panose="02020603050405020304" charset="0"/>
                <a:ea typeface="宋体" panose="02010600030101010101" pitchFamily="2" charset="-122"/>
              </a:rPr>
              <a:t>为什么？</a:t>
            </a:r>
            <a:endParaRPr lang="zh-CN" altLang="en-US" sz="2400" b="1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457200" indent="-457200" eaLnBrk="0" hangingPunct="0">
              <a:lnSpc>
                <a:spcPct val="120000"/>
              </a:lnSpc>
              <a:buNone/>
            </a:pPr>
            <a:endParaRPr lang="zh-CN" altLang="en-US" sz="2400" b="1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457200" indent="-457200" eaLnBrk="0" hangingPunct="0">
              <a:lnSpc>
                <a:spcPct val="120000"/>
              </a:lnSpc>
              <a:buNone/>
            </a:pPr>
            <a:endParaRPr lang="zh-CN" altLang="en-US" sz="2400" b="1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457200" indent="-457200" eaLnBrk="0" hangingPunct="0">
              <a:lnSpc>
                <a:spcPct val="120000"/>
              </a:lnSpc>
              <a:buNone/>
            </a:pPr>
            <a:endParaRPr lang="en-US" altLang="zh-CN" sz="2400" b="1"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457200" indent="-457200" eaLnBrk="0" hangingPunct="0">
              <a:lnSpc>
                <a:spcPct val="120000"/>
              </a:lnSpc>
              <a:buNone/>
            </a:pPr>
            <a:r>
              <a:rPr lang="en-US" altLang="zh-CN" sz="2400" b="1">
                <a:latin typeface="Times New Roman" panose="02020603050405020304" charset="0"/>
                <a:ea typeface="宋体" panose="02010600030101010101" pitchFamily="2" charset="-122"/>
              </a:rPr>
              <a:t>4)  </a:t>
            </a:r>
            <a:r>
              <a:rPr lang="zh-CN" altLang="en-US" sz="2400" b="1" dirty="0">
                <a:latin typeface="Times New Roman" panose="02020603050405020304" charset="0"/>
                <a:ea typeface="宋体" panose="02010600030101010101" pitchFamily="2" charset="-122"/>
              </a:rPr>
              <a:t>若要</a:t>
            </a:r>
            <a:r>
              <a:rPr lang="en-US" altLang="zh-CN" sz="2400" b="1" i="1" err="1">
                <a:latin typeface="Times New Roman" panose="02020603050405020304" charset="0"/>
                <a:ea typeface="宋体" panose="02010600030101010101" pitchFamily="2" charset="-122"/>
              </a:rPr>
              <a:t>R</a:t>
            </a:r>
            <a:r>
              <a:rPr lang="en-US" altLang="zh-CN" sz="2400" b="1" baseline="-25000" err="1">
                <a:latin typeface="Times New Roman" panose="02020603050405020304" charset="0"/>
                <a:ea typeface="宋体" panose="02010600030101010101" pitchFamily="2" charset="-122"/>
              </a:rPr>
              <a:t>i</a:t>
            </a:r>
            <a:r>
              <a:rPr lang="zh-CN" altLang="en-US" sz="2400" b="1">
                <a:latin typeface="Times New Roman" panose="02020603050405020304" charset="0"/>
                <a:ea typeface="宋体" panose="02010600030101010101" pitchFamily="2" charset="-122"/>
              </a:rPr>
              <a:t>＝</a:t>
            </a:r>
            <a:r>
              <a:rPr lang="en-US" altLang="zh-CN" sz="2400" b="1">
                <a:latin typeface="Times New Roman" panose="02020603050405020304" charset="0"/>
                <a:ea typeface="宋体" panose="02010600030101010101" pitchFamily="2" charset="-122"/>
              </a:rPr>
              <a:t>100kΩ</a:t>
            </a:r>
            <a:r>
              <a:rPr lang="zh-CN" altLang="en-US" sz="2400" b="1">
                <a:latin typeface="Times New Roman" panose="02020603050405020304" charset="0"/>
                <a:ea typeface="宋体" panose="02010600030101010101" pitchFamily="2" charset="-122"/>
              </a:rPr>
              <a:t>，</a:t>
            </a:r>
            <a:r>
              <a:rPr lang="zh-CN" altLang="en-US" sz="2400" b="1" dirty="0">
                <a:latin typeface="Times New Roman" panose="02020603050405020304" charset="0"/>
                <a:ea typeface="宋体" panose="02010600030101010101" pitchFamily="2" charset="-122"/>
              </a:rPr>
              <a:t>比例系数为－</a:t>
            </a:r>
            <a:r>
              <a:rPr lang="en-US" altLang="zh-CN" sz="2400" b="1">
                <a:latin typeface="Times New Roman" panose="02020603050405020304" charset="0"/>
                <a:ea typeface="宋体" panose="02010600030101010101" pitchFamily="2" charset="-122"/>
              </a:rPr>
              <a:t>100</a:t>
            </a:r>
            <a:r>
              <a:rPr lang="zh-CN" altLang="en-US" sz="2400" b="1" dirty="0">
                <a:latin typeface="Times New Roman" panose="02020603050405020304" charset="0"/>
                <a:ea typeface="宋体" panose="02010600030101010101" pitchFamily="2" charset="-122"/>
              </a:rPr>
              <a:t>，</a:t>
            </a:r>
            <a:r>
              <a:rPr lang="en-US" altLang="zh-CN" sz="2400" b="1" i="1">
                <a:latin typeface="Times New Roman" panose="02020603050405020304" charset="0"/>
                <a:ea typeface="宋体" panose="02010600030101010101" pitchFamily="2" charset="-122"/>
              </a:rPr>
              <a:t>R</a:t>
            </a:r>
            <a:r>
              <a:rPr lang="en-US" altLang="zh-CN" sz="2400" b="1" baseline="-25000">
                <a:latin typeface="Times New Roman" panose="02020603050405020304" charset="0"/>
                <a:ea typeface="宋体" panose="02010600030101010101" pitchFamily="2" charset="-122"/>
              </a:rPr>
              <a:t>1</a:t>
            </a:r>
            <a:r>
              <a:rPr lang="zh-CN" altLang="en-US" sz="2400" b="1">
                <a:latin typeface="Times New Roman" panose="02020603050405020304" charset="0"/>
                <a:ea typeface="宋体" panose="02010600030101010101" pitchFamily="2" charset="-122"/>
              </a:rPr>
              <a:t>＝？ </a:t>
            </a:r>
            <a:r>
              <a:rPr lang="en-US" altLang="zh-CN" sz="2400" b="1" i="1" err="1">
                <a:latin typeface="Times New Roman" panose="02020603050405020304" charset="0"/>
                <a:ea typeface="宋体" panose="02010600030101010101" pitchFamily="2" charset="-122"/>
              </a:rPr>
              <a:t>R</a:t>
            </a:r>
            <a:r>
              <a:rPr lang="en-US" altLang="zh-CN" sz="2400" b="1" baseline="-25000" err="1">
                <a:latin typeface="Times New Roman" panose="02020603050405020304" charset="0"/>
                <a:ea typeface="宋体" panose="02010600030101010101" pitchFamily="2" charset="-122"/>
              </a:rPr>
              <a:t>f</a:t>
            </a:r>
            <a:r>
              <a:rPr lang="zh-CN" altLang="en-US" sz="2400" b="1">
                <a:latin typeface="Times New Roman" panose="02020603050405020304" charset="0"/>
                <a:ea typeface="宋体" panose="02010600030101010101" pitchFamily="2" charset="-122"/>
              </a:rPr>
              <a:t>＝？</a:t>
            </a:r>
            <a:endParaRPr lang="zh-CN" altLang="en-US" sz="2400" b="1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graphicFrame>
        <p:nvGraphicFramePr>
          <p:cNvPr id="10245" name="对象 10244"/>
          <p:cNvGraphicFramePr/>
          <p:nvPr/>
        </p:nvGraphicFramePr>
        <p:xfrm>
          <a:off x="6777990" y="353695"/>
          <a:ext cx="3200400" cy="2143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1" imgW="10848975" imgH="7267575" progId="MSPhotoEd.3">
                  <p:embed/>
                </p:oleObj>
              </mc:Choice>
              <mc:Fallback>
                <p:oleObj name="" r:id="rId1" imgW="10848975" imgH="7267575" progId="MSPhotoEd.3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777990" y="353695"/>
                        <a:ext cx="3200400" cy="21431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6" name="对象 10245"/>
          <p:cNvGraphicFramePr/>
          <p:nvPr/>
        </p:nvGraphicFramePr>
        <p:xfrm>
          <a:off x="7158990" y="1191895"/>
          <a:ext cx="381000" cy="296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" r:id="rId3" imgW="1304925" imgH="1019175" progId="MSPhotoEd.3">
                  <p:embed/>
                </p:oleObj>
              </mc:Choice>
              <mc:Fallback>
                <p:oleObj name="" r:id="rId3" imgW="1304925" imgH="1019175" progId="MSPhotoEd.3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158990" y="1191895"/>
                        <a:ext cx="381000" cy="2968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7" name="对象 10246"/>
          <p:cNvGraphicFramePr/>
          <p:nvPr/>
        </p:nvGraphicFramePr>
        <p:xfrm>
          <a:off x="7886065" y="752158"/>
          <a:ext cx="304800" cy="287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0" name="" r:id="rId5" imgW="962025" imgH="904875" progId="MSPhotoEd.3">
                  <p:embed/>
                </p:oleObj>
              </mc:Choice>
              <mc:Fallback>
                <p:oleObj name="" r:id="rId5" imgW="962025" imgH="904875" progId="MSPhotoEd.3">
                  <p:embed/>
                  <p:pic>
                    <p:nvPicPr>
                      <p:cNvPr id="0" name="图片 3099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886065" y="752158"/>
                        <a:ext cx="304800" cy="2873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8" name="对象 10247"/>
          <p:cNvGraphicFramePr/>
          <p:nvPr/>
        </p:nvGraphicFramePr>
        <p:xfrm>
          <a:off x="7900353" y="1612583"/>
          <a:ext cx="287337" cy="274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8" name="" r:id="rId7" imgW="923925" imgH="885825" progId="MSPhotoEd.3">
                  <p:embed/>
                </p:oleObj>
              </mc:Choice>
              <mc:Fallback>
                <p:oleObj name="" r:id="rId7" imgW="923925" imgH="885825" progId="MSPhotoEd.3">
                  <p:embed/>
                  <p:pic>
                    <p:nvPicPr>
                      <p:cNvPr id="0" name="图片 3097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900353" y="1612583"/>
                        <a:ext cx="287337" cy="2746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9" name="对象 10248"/>
          <p:cNvGraphicFramePr/>
          <p:nvPr/>
        </p:nvGraphicFramePr>
        <p:xfrm>
          <a:off x="8911590" y="301308"/>
          <a:ext cx="457200" cy="320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1" name="" r:id="rId9" imgW="1285875" imgH="904875" progId="MSPhotoEd.3">
                  <p:embed/>
                </p:oleObj>
              </mc:Choice>
              <mc:Fallback>
                <p:oleObj name="" r:id="rId9" imgW="1285875" imgH="904875" progId="MSPhotoEd.3">
                  <p:embed/>
                  <p:pic>
                    <p:nvPicPr>
                      <p:cNvPr id="0" name="图片 3100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8911590" y="301308"/>
                        <a:ext cx="457200" cy="3206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50" name="文本框 10249"/>
          <p:cNvSpPr txBox="1"/>
          <p:nvPr/>
        </p:nvSpPr>
        <p:spPr>
          <a:xfrm>
            <a:off x="6777990" y="658495"/>
            <a:ext cx="609600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2400" b="1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+</a:t>
            </a:r>
            <a:endParaRPr lang="en-US" altLang="zh-CN" sz="2400" b="1">
              <a:solidFill>
                <a:srgbClr val="FF0000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10251" name="文本框 10250"/>
          <p:cNvSpPr txBox="1"/>
          <p:nvPr/>
        </p:nvSpPr>
        <p:spPr>
          <a:xfrm>
            <a:off x="9521190" y="810895"/>
            <a:ext cx="609600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2400" b="1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_</a:t>
            </a:r>
            <a:endParaRPr lang="en-US" altLang="zh-CN" sz="2400" b="1">
              <a:solidFill>
                <a:srgbClr val="FF0000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5325" y="981075"/>
            <a:ext cx="6172200" cy="100584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3570" y="2277110"/>
            <a:ext cx="7223760" cy="100584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79425" y="3645535"/>
            <a:ext cx="5928360" cy="134874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35280" y="5661660"/>
            <a:ext cx="5326380" cy="6324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50">
                                            <p:txEl>
                                              <p:charRg st="0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51">
                                            <p:txEl>
                                              <p:charRg st="0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charRg st="0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0243">
                                            <p:txEl>
                                              <p:charRg st="0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charRg st="41" end="7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0243">
                                            <p:txEl>
                                              <p:charRg st="41" end="7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3" grpId="0" build="p"/>
      <p:bldP spid="10250" grpId="0" build="p"/>
      <p:bldP spid="10251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31745" name="对象 12289"/>
          <p:cNvGraphicFramePr/>
          <p:nvPr/>
        </p:nvGraphicFramePr>
        <p:xfrm>
          <a:off x="2438400" y="1447800"/>
          <a:ext cx="3581400" cy="181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name="" r:id="rId1" imgW="11039475" imgH="5581650" progId="MSPhotoEd.3">
                  <p:embed/>
                </p:oleObj>
              </mc:Choice>
              <mc:Fallback>
                <p:oleObj name="" r:id="rId1" imgW="11039475" imgH="5581650" progId="MSPhotoEd.3">
                  <p:embed/>
                  <p:pic>
                    <p:nvPicPr>
                      <p:cNvPr id="0" name="图片 308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438400" y="1447800"/>
                        <a:ext cx="3581400" cy="18129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1" name="对象 12290"/>
          <p:cNvGraphicFramePr/>
          <p:nvPr/>
        </p:nvGraphicFramePr>
        <p:xfrm>
          <a:off x="7046437" y="1381602"/>
          <a:ext cx="3440430" cy="10718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7" name="" r:id="rId3" imgW="1358900" imgH="482600" progId="Equation.3">
                  <p:embed/>
                </p:oleObj>
              </mc:Choice>
              <mc:Fallback>
                <p:oleObj name="" r:id="rId3" imgW="1358900" imgH="482600" progId="Equation.3">
                  <p:embed/>
                  <p:pic>
                    <p:nvPicPr>
                      <p:cNvPr id="0" name="图片 308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046437" y="1381602"/>
                        <a:ext cx="3440430" cy="1071880"/>
                      </a:xfrm>
                      <a:prstGeom prst="rect">
                        <a:avLst/>
                      </a:prstGeom>
                      <a:solidFill>
                        <a:srgbClr val="66FFFF"/>
                      </a:solidFill>
                      <a:ln w="9525" cap="flat" cmpd="sng">
                        <a:solidFill>
                          <a:srgbClr val="FF3300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48" name="标题 12292"/>
          <p:cNvSpPr>
            <a:spLocks noGrp="1"/>
          </p:cNvSpPr>
          <p:nvPr>
            <p:ph type="title"/>
          </p:nvPr>
        </p:nvSpPr>
        <p:spPr>
          <a:xfrm>
            <a:off x="1981200" y="609600"/>
            <a:ext cx="4648200" cy="609600"/>
          </a:xfrm>
        </p:spPr>
        <p:txBody>
          <a:bodyPr anchor="ctr" anchorCtr="0"/>
          <a:p>
            <a:pPr algn="l"/>
            <a:r>
              <a:rPr lang="en-US" altLang="zh-CN" sz="2800" b="1">
                <a:solidFill>
                  <a:schemeClr val="tx1"/>
                </a:solidFill>
              </a:rPr>
              <a:t>2.</a:t>
            </a:r>
            <a:r>
              <a:rPr lang="en-US" altLang="zh-CN" sz="2800" b="1">
                <a:solidFill>
                  <a:schemeClr val="tx1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800" b="1" dirty="0">
                <a:solidFill>
                  <a:schemeClr val="tx1"/>
                </a:solidFill>
                <a:latin typeface="宋体" panose="02010600030101010101" pitchFamily="2" charset="-122"/>
              </a:rPr>
              <a:t>同相输入</a:t>
            </a:r>
            <a:endParaRPr lang="zh-CN" altLang="en-US" sz="2800" b="1"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  <p:sp>
        <p:nvSpPr>
          <p:cNvPr id="12294" name="文本框 12293"/>
          <p:cNvSpPr txBox="1"/>
          <p:nvPr/>
        </p:nvSpPr>
        <p:spPr>
          <a:xfrm>
            <a:off x="2438400" y="3581400"/>
            <a:ext cx="8229600" cy="186372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457200" indent="-457200">
              <a:lnSpc>
                <a:spcPct val="120000"/>
              </a:lnSpc>
              <a:buAutoNum type="arabicParenR"/>
            </a:pPr>
            <a:r>
              <a:rPr lang="zh-CN" altLang="en-US" sz="2400" b="1" dirty="0">
                <a:latin typeface="Times New Roman" panose="02020603050405020304" charset="0"/>
                <a:ea typeface="宋体" panose="02010600030101010101" pitchFamily="2" charset="-122"/>
              </a:rPr>
              <a:t>电路引入了哪种组态的负反馈？</a:t>
            </a:r>
            <a:endParaRPr lang="zh-CN" altLang="en-US" sz="2400" b="1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457200" indent="-457200">
              <a:lnSpc>
                <a:spcPct val="120000"/>
              </a:lnSpc>
              <a:buAutoNum type="arabicParenR"/>
            </a:pPr>
            <a:r>
              <a:rPr lang="zh-CN" altLang="en-US" sz="2400" b="1" dirty="0">
                <a:latin typeface="Times New Roman" panose="02020603050405020304" charset="0"/>
                <a:ea typeface="宋体" panose="02010600030101010101" pitchFamily="2" charset="-122"/>
              </a:rPr>
              <a:t>输入电阻为多少？</a:t>
            </a:r>
            <a:endParaRPr lang="zh-CN" altLang="en-US" sz="2400" b="1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457200" indent="-457200">
              <a:lnSpc>
                <a:spcPct val="120000"/>
              </a:lnSpc>
              <a:buAutoNum type="arabicParenR"/>
            </a:pPr>
            <a:r>
              <a:rPr lang="zh-CN" altLang="en-US" sz="2400" b="1" dirty="0">
                <a:latin typeface="Times New Roman" panose="02020603050405020304" charset="0"/>
                <a:ea typeface="宋体" panose="02010600030101010101" pitchFamily="2" charset="-122"/>
              </a:rPr>
              <a:t>电阻</a:t>
            </a:r>
            <a:r>
              <a:rPr lang="en-US" altLang="zh-CN" sz="2400" b="1" i="1">
                <a:latin typeface="Times New Roman" panose="02020603050405020304" charset="0"/>
                <a:ea typeface="宋体" panose="02010600030101010101" pitchFamily="2" charset="-122"/>
              </a:rPr>
              <a:t>R</a:t>
            </a:r>
            <a:r>
              <a:rPr lang="en-US" altLang="zh-CN" sz="2400" b="1">
                <a:latin typeface="Times New Roman" panose="02020603050405020304" charset="0"/>
                <a:ea typeface="宋体" panose="02010600030101010101" pitchFamily="2" charset="-122"/>
              </a:rPr>
              <a:t>’</a:t>
            </a:r>
            <a:r>
              <a:rPr lang="zh-CN" altLang="en-US" sz="2400" b="1">
                <a:latin typeface="Times New Roman" panose="02020603050405020304" charset="0"/>
                <a:ea typeface="宋体" panose="02010600030101010101" pitchFamily="2" charset="-122"/>
              </a:rPr>
              <a:t>＝？</a:t>
            </a:r>
            <a:r>
              <a:rPr lang="zh-CN" altLang="en-US" sz="2400" b="1" dirty="0">
                <a:latin typeface="Times New Roman" panose="02020603050405020304" charset="0"/>
                <a:ea typeface="宋体" panose="02010600030101010101" pitchFamily="2" charset="-122"/>
              </a:rPr>
              <a:t>为什么？</a:t>
            </a:r>
            <a:endParaRPr lang="zh-CN" altLang="en-US" sz="2400" b="1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457200" indent="-457200">
              <a:lnSpc>
                <a:spcPct val="120000"/>
              </a:lnSpc>
              <a:buAutoNum type="arabicParenR"/>
            </a:pPr>
            <a:r>
              <a:rPr lang="zh-CN" altLang="en-US" sz="2400" b="1" dirty="0">
                <a:latin typeface="Times New Roman" panose="02020603050405020304" charset="0"/>
                <a:ea typeface="宋体" panose="02010600030101010101" pitchFamily="2" charset="-122"/>
              </a:rPr>
              <a:t>共模抑制比</a:t>
            </a:r>
            <a:r>
              <a:rPr lang="en-US" altLang="zh-CN" sz="2400" b="1" i="1">
                <a:latin typeface="Times New Roman" panose="02020603050405020304" charset="0"/>
                <a:ea typeface="宋体" panose="02010600030101010101" pitchFamily="2" charset="-122"/>
              </a:rPr>
              <a:t>K</a:t>
            </a:r>
            <a:r>
              <a:rPr lang="en-US" altLang="zh-CN" sz="2400" b="1" baseline="-25000">
                <a:latin typeface="Times New Roman" panose="02020603050405020304" charset="0"/>
                <a:ea typeface="宋体" panose="02010600030101010101" pitchFamily="2" charset="-122"/>
              </a:rPr>
              <a:t>CMR</a:t>
            </a:r>
            <a:r>
              <a:rPr lang="en-US" altLang="zh-CN" sz="2400" b="1">
                <a:latin typeface="Times New Roman" panose="02020603050405020304" charset="0"/>
                <a:ea typeface="宋体" panose="02010600030101010101" pitchFamily="2" charset="-122"/>
              </a:rPr>
              <a:t>≠∞</a:t>
            </a:r>
            <a:r>
              <a:rPr lang="zh-CN" altLang="en-US" sz="2400" b="1" dirty="0">
                <a:latin typeface="Times New Roman" panose="02020603050405020304" charset="0"/>
                <a:ea typeface="宋体" panose="02010600030101010101" pitchFamily="2" charset="-122"/>
              </a:rPr>
              <a:t>时会影响运算精度吗？为什么？</a:t>
            </a:r>
            <a:endParaRPr lang="zh-CN" altLang="en-US" sz="2400" b="1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graphicFrame>
        <p:nvGraphicFramePr>
          <p:cNvPr id="2" name="对象 1"/>
          <p:cNvGraphicFramePr/>
          <p:nvPr/>
        </p:nvGraphicFramePr>
        <p:xfrm>
          <a:off x="8129905" y="2708910"/>
          <a:ext cx="2765425" cy="10401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5" imgW="1002665" imgH="393700" progId="Equation.3">
                  <p:embed/>
                </p:oleObj>
              </mc:Choice>
              <mc:Fallback>
                <p:oleObj name="" r:id="rId5" imgW="1002665" imgH="393700" progId="Equation.3">
                  <p:embed/>
                  <p:pic>
                    <p:nvPicPr>
                      <p:cNvPr id="0" name="图片 308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129905" y="2708910"/>
                        <a:ext cx="2765425" cy="1040130"/>
                      </a:xfrm>
                      <a:prstGeom prst="rect">
                        <a:avLst/>
                      </a:prstGeom>
                      <a:solidFill>
                        <a:srgbClr val="66FFFF"/>
                      </a:solidFill>
                      <a:ln w="9525" cap="flat" cmpd="sng">
                        <a:solidFill>
                          <a:srgbClr val="FF3300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右箭头 3"/>
          <p:cNvSpPr/>
          <p:nvPr/>
        </p:nvSpPr>
        <p:spPr>
          <a:xfrm>
            <a:off x="6456045" y="2997200"/>
            <a:ext cx="1296035" cy="431800"/>
          </a:xfrm>
          <a:prstGeom prst="rightArrow">
            <a:avLst/>
          </a:prstGeom>
          <a:solidFill>
            <a:srgbClr val="C0000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">
                                            <p:txEl>
                                              <p:charRg st="0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294">
                                            <p:txEl>
                                              <p:charRg st="0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">
                                            <p:txEl>
                                              <p:charRg st="15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294">
                                            <p:txEl>
                                              <p:charRg st="15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">
                                            <p:txEl>
                                              <p:charRg st="24" end="3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294">
                                            <p:txEl>
                                              <p:charRg st="24" end="3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">
                                            <p:txEl>
                                              <p:charRg st="35" end="6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294">
                                            <p:txEl>
                                              <p:charRg st="35" end="6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4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31745" name="对象 12289"/>
          <p:cNvGraphicFramePr/>
          <p:nvPr/>
        </p:nvGraphicFramePr>
        <p:xfrm>
          <a:off x="8040370" y="765175"/>
          <a:ext cx="3581400" cy="181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name="" r:id="rId1" imgW="11039475" imgH="5581650" progId="MSPhotoEd.3">
                  <p:embed/>
                </p:oleObj>
              </mc:Choice>
              <mc:Fallback>
                <p:oleObj name="" r:id="rId1" imgW="11039475" imgH="5581650" progId="MSPhotoEd.3">
                  <p:embed/>
                  <p:pic>
                    <p:nvPicPr>
                      <p:cNvPr id="0" name="图片 308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8040370" y="765175"/>
                        <a:ext cx="3581400" cy="18129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4" name="文本框 12293"/>
          <p:cNvSpPr txBox="1"/>
          <p:nvPr/>
        </p:nvSpPr>
        <p:spPr>
          <a:xfrm>
            <a:off x="335280" y="188595"/>
            <a:ext cx="11478895" cy="548259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marL="457200" indent="-457200">
              <a:lnSpc>
                <a:spcPct val="120000"/>
              </a:lnSpc>
              <a:buAutoNum type="arabicParenR"/>
            </a:pPr>
            <a:r>
              <a:rPr lang="zh-CN" altLang="en-US" sz="2000" b="1" dirty="0">
                <a:latin typeface="Times New Roman" panose="02020603050405020304" charset="0"/>
                <a:ea typeface="宋体" panose="02010600030101010101" pitchFamily="2" charset="-122"/>
              </a:rPr>
              <a:t>电路引入了哪种组态的负反馈？</a:t>
            </a:r>
            <a:endParaRPr lang="zh-CN" altLang="en-US" sz="2000" b="1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457200" indent="-457200">
              <a:lnSpc>
                <a:spcPct val="120000"/>
              </a:lnSpc>
              <a:buAutoNum type="arabicParenR"/>
            </a:pPr>
            <a:endParaRPr lang="zh-CN" altLang="en-US" sz="2000" b="1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457200" indent="-457200">
              <a:lnSpc>
                <a:spcPct val="120000"/>
              </a:lnSpc>
              <a:buAutoNum type="arabicParenR"/>
            </a:pPr>
            <a:endParaRPr lang="zh-CN" altLang="en-US" sz="2400" b="1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457200" indent="-457200">
              <a:lnSpc>
                <a:spcPct val="120000"/>
              </a:lnSpc>
              <a:buAutoNum type="arabicParenR"/>
            </a:pPr>
            <a:endParaRPr lang="zh-CN" altLang="en-US" sz="2400" b="1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457200" indent="-457200">
              <a:lnSpc>
                <a:spcPct val="120000"/>
              </a:lnSpc>
              <a:buAutoNum type="arabicParenR"/>
            </a:pPr>
            <a:r>
              <a:rPr lang="zh-CN" altLang="en-US" sz="2000" b="1" dirty="0">
                <a:latin typeface="Times New Roman" panose="02020603050405020304" charset="0"/>
                <a:ea typeface="宋体" panose="02010600030101010101" pitchFamily="2" charset="-122"/>
              </a:rPr>
              <a:t>输入电阻为多少？</a:t>
            </a:r>
            <a:endParaRPr lang="zh-CN" altLang="en-US" sz="2000" b="1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457200" indent="-457200">
              <a:lnSpc>
                <a:spcPct val="120000"/>
              </a:lnSpc>
              <a:buAutoNum type="arabicParenR"/>
            </a:pPr>
            <a:endParaRPr lang="zh-CN" altLang="en-US" sz="2400" b="1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457200" indent="-457200">
              <a:lnSpc>
                <a:spcPct val="120000"/>
              </a:lnSpc>
              <a:buAutoNum type="arabicParenR"/>
            </a:pPr>
            <a:endParaRPr lang="zh-CN" altLang="en-US" sz="2400" b="1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457200" indent="-457200">
              <a:lnSpc>
                <a:spcPct val="120000"/>
              </a:lnSpc>
              <a:buAutoNum type="arabicParenR"/>
            </a:pPr>
            <a:r>
              <a:rPr lang="zh-CN" altLang="en-US" sz="2000" b="1" dirty="0">
                <a:latin typeface="Times New Roman" panose="02020603050405020304" charset="0"/>
                <a:ea typeface="宋体" panose="02010600030101010101" pitchFamily="2" charset="-122"/>
              </a:rPr>
              <a:t>电阻</a:t>
            </a:r>
            <a:r>
              <a:rPr lang="en-US" altLang="zh-CN" sz="2000" b="1" i="1">
                <a:latin typeface="Times New Roman" panose="02020603050405020304" charset="0"/>
                <a:ea typeface="宋体" panose="02010600030101010101" pitchFamily="2" charset="-122"/>
              </a:rPr>
              <a:t>R</a:t>
            </a:r>
            <a:r>
              <a:rPr lang="en-US" altLang="zh-CN" sz="2000" b="1">
                <a:latin typeface="Times New Roman" panose="02020603050405020304" charset="0"/>
                <a:ea typeface="宋体" panose="02010600030101010101" pitchFamily="2" charset="-122"/>
              </a:rPr>
              <a:t>’</a:t>
            </a:r>
            <a:r>
              <a:rPr lang="zh-CN" altLang="en-US" sz="2000" b="1">
                <a:latin typeface="Times New Roman" panose="02020603050405020304" charset="0"/>
                <a:ea typeface="宋体" panose="02010600030101010101" pitchFamily="2" charset="-122"/>
              </a:rPr>
              <a:t>＝？</a:t>
            </a:r>
            <a:r>
              <a:rPr lang="zh-CN" altLang="en-US" sz="2000" b="1" dirty="0">
                <a:latin typeface="Times New Roman" panose="02020603050405020304" charset="0"/>
                <a:ea typeface="宋体" panose="02010600030101010101" pitchFamily="2" charset="-122"/>
              </a:rPr>
              <a:t>为什么？</a:t>
            </a:r>
            <a:endParaRPr lang="zh-CN" altLang="en-US" sz="2000" b="1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457200" indent="-457200">
              <a:lnSpc>
                <a:spcPct val="120000"/>
              </a:lnSpc>
              <a:buAutoNum type="arabicParenR"/>
            </a:pPr>
            <a:endParaRPr lang="zh-CN" altLang="en-US" sz="2400" b="1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457200" indent="-457200">
              <a:lnSpc>
                <a:spcPct val="120000"/>
              </a:lnSpc>
              <a:buAutoNum type="arabicParenR"/>
            </a:pPr>
            <a:endParaRPr lang="zh-CN" altLang="en-US" sz="2400" b="1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457200" indent="-457200">
              <a:lnSpc>
                <a:spcPct val="120000"/>
              </a:lnSpc>
              <a:buAutoNum type="arabicParenR"/>
            </a:pPr>
            <a:endParaRPr lang="zh-CN" altLang="en-US" sz="2400" b="1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457200" indent="-457200">
              <a:lnSpc>
                <a:spcPct val="120000"/>
              </a:lnSpc>
              <a:buAutoNum type="arabicParenR"/>
            </a:pPr>
            <a:endParaRPr lang="zh-CN" altLang="en-US" sz="2400" b="1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457200" indent="-457200">
              <a:lnSpc>
                <a:spcPct val="120000"/>
              </a:lnSpc>
              <a:buAutoNum type="arabicParenR"/>
            </a:pPr>
            <a:r>
              <a:rPr lang="zh-CN" altLang="en-US" sz="2000" b="1" dirty="0">
                <a:latin typeface="Times New Roman" panose="02020603050405020304" charset="0"/>
                <a:ea typeface="宋体" panose="02010600030101010101" pitchFamily="2" charset="-122"/>
              </a:rPr>
              <a:t>共模抑制比</a:t>
            </a:r>
            <a:r>
              <a:rPr lang="en-US" altLang="zh-CN" sz="2000" b="1" i="1">
                <a:latin typeface="Times New Roman" panose="02020603050405020304" charset="0"/>
                <a:ea typeface="宋体" panose="02010600030101010101" pitchFamily="2" charset="-122"/>
              </a:rPr>
              <a:t>K</a:t>
            </a:r>
            <a:r>
              <a:rPr lang="en-US" altLang="zh-CN" sz="2000" b="1" baseline="-25000">
                <a:latin typeface="Times New Roman" panose="02020603050405020304" charset="0"/>
                <a:ea typeface="宋体" panose="02010600030101010101" pitchFamily="2" charset="-122"/>
              </a:rPr>
              <a:t>CMR</a:t>
            </a:r>
            <a:r>
              <a:rPr lang="en-US" altLang="zh-CN" sz="2000" b="1">
                <a:latin typeface="Times New Roman" panose="02020603050405020304" charset="0"/>
                <a:ea typeface="宋体" panose="02010600030101010101" pitchFamily="2" charset="-122"/>
              </a:rPr>
              <a:t>≠∞</a:t>
            </a:r>
            <a:r>
              <a:rPr lang="zh-CN" altLang="en-US" sz="2000" b="1" dirty="0">
                <a:latin typeface="Times New Roman" panose="02020603050405020304" charset="0"/>
                <a:ea typeface="宋体" panose="02010600030101010101" pitchFamily="2" charset="-122"/>
              </a:rPr>
              <a:t>时会影响运算精度吗？为什么？</a:t>
            </a:r>
            <a:endParaRPr lang="zh-CN" altLang="en-US" sz="2000" b="1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425" y="908685"/>
            <a:ext cx="6553200" cy="89916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570" y="2277110"/>
            <a:ext cx="5783580" cy="70104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5960" y="3500755"/>
            <a:ext cx="5989320" cy="156972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9425" y="5596890"/>
            <a:ext cx="6819900" cy="22631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  <p:bldLst>
      <p:bldP spid="12294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13314" name="对象 13313"/>
          <p:cNvGraphicFramePr/>
          <p:nvPr/>
        </p:nvGraphicFramePr>
        <p:xfrm>
          <a:off x="4495800" y="3505200"/>
          <a:ext cx="2668588" cy="566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1" name="" r:id="rId1" imgW="1079500" imgH="228600" progId="Equation.3">
                  <p:embed/>
                </p:oleObj>
              </mc:Choice>
              <mc:Fallback>
                <p:oleObj name="" r:id="rId1" imgW="1079500" imgH="228600" progId="Equation.3">
                  <p:embed/>
                  <p:pic>
                    <p:nvPicPr>
                      <p:cNvPr id="0" name="图片 309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495800" y="3505200"/>
                        <a:ext cx="2668588" cy="566738"/>
                      </a:xfrm>
                      <a:prstGeom prst="rect">
                        <a:avLst/>
                      </a:prstGeom>
                      <a:solidFill>
                        <a:srgbClr val="66FFFF"/>
                      </a:solidFill>
                      <a:ln w="9525" cap="flat" cmpd="sng">
                        <a:solidFill>
                          <a:srgbClr val="FF3300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70" name="标题 13314"/>
          <p:cNvSpPr>
            <a:spLocks noGrp="1"/>
          </p:cNvSpPr>
          <p:nvPr>
            <p:ph type="title"/>
          </p:nvPr>
        </p:nvSpPr>
        <p:spPr>
          <a:xfrm>
            <a:off x="1981200" y="762000"/>
            <a:ext cx="7848600" cy="609600"/>
          </a:xfrm>
        </p:spPr>
        <p:txBody>
          <a:bodyPr anchor="ctr" anchorCtr="0"/>
          <a:p>
            <a:pPr algn="l"/>
            <a:r>
              <a:rPr lang="zh-CN" altLang="en-US" sz="2800" b="1" dirty="0">
                <a:solidFill>
                  <a:schemeClr val="tx1"/>
                </a:solidFill>
                <a:latin typeface="宋体" panose="02010600030101010101" pitchFamily="2" charset="-122"/>
              </a:rPr>
              <a:t>同相输入比例运算电路的特例：电压跟随器</a:t>
            </a:r>
            <a:endParaRPr lang="zh-CN" altLang="en-US" sz="2800" b="1" dirty="0"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  <p:graphicFrame>
        <p:nvGraphicFramePr>
          <p:cNvPr id="13316" name="对象 13315"/>
          <p:cNvGraphicFramePr/>
          <p:nvPr/>
        </p:nvGraphicFramePr>
        <p:xfrm>
          <a:off x="1631315" y="4293235"/>
          <a:ext cx="2057400" cy="1528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4" name="" r:id="rId3" imgW="939800" imgH="698500" progId="Equation.3">
                  <p:embed/>
                </p:oleObj>
              </mc:Choice>
              <mc:Fallback>
                <p:oleObj name="" r:id="rId3" imgW="939800" imgH="698500" progId="Equation.3">
                  <p:embed/>
                  <p:pic>
                    <p:nvPicPr>
                      <p:cNvPr id="0" name="图片 309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31315" y="4293235"/>
                        <a:ext cx="2057400" cy="15287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7" name="对象 13316"/>
          <p:cNvGraphicFramePr/>
          <p:nvPr/>
        </p:nvGraphicFramePr>
        <p:xfrm>
          <a:off x="2895600" y="1752600"/>
          <a:ext cx="6096000" cy="1565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2" name="" r:id="rId5" imgW="20659725" imgH="5305425" progId="MSPhotoEd.3">
                  <p:embed/>
                </p:oleObj>
              </mc:Choice>
              <mc:Fallback>
                <p:oleObj name="" r:id="rId5" imgW="20659725" imgH="5305425" progId="MSPhotoEd.3">
                  <p:embed/>
                  <p:pic>
                    <p:nvPicPr>
                      <p:cNvPr id="0" name="图片 309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895600" y="1752600"/>
                        <a:ext cx="6096000" cy="15652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4541520" y="4694555"/>
            <a:ext cx="5864860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>
                <a:solidFill>
                  <a:srgbClr val="FF0000"/>
                </a:solidFill>
              </a:rPr>
              <a:t>电压跟随器的输入电阻无穷大，用于耦合前后级电路，并对后级电路进行电流保护</a:t>
            </a:r>
            <a:endParaRPr lang="zh-CN" altLang="en-US" sz="2800" b="1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793" name="标题 14337"/>
          <p:cNvSpPr>
            <a:spLocks noGrp="1"/>
          </p:cNvSpPr>
          <p:nvPr>
            <p:ph type="title"/>
          </p:nvPr>
        </p:nvSpPr>
        <p:spPr>
          <a:xfrm>
            <a:off x="1981200" y="744538"/>
            <a:ext cx="7073900" cy="838200"/>
          </a:xfrm>
        </p:spPr>
        <p:txBody>
          <a:bodyPr anchor="ctr" anchorCtr="0"/>
          <a:p>
            <a:pPr algn="l">
              <a:lnSpc>
                <a:spcPct val="110000"/>
              </a:lnSpc>
            </a:pPr>
            <a:r>
              <a:rPr lang="zh-CN" altLang="en-US" sz="3600" b="1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三、加减运算电路</a:t>
            </a:r>
            <a:br>
              <a:rPr lang="zh-CN" altLang="en-US" sz="3600" b="1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</a:br>
            <a:r>
              <a:rPr lang="zh-CN" altLang="en-US" sz="3600" b="1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 </a:t>
            </a:r>
            <a:r>
              <a:rPr lang="en-US" altLang="zh-CN" sz="2800" b="1">
                <a:solidFill>
                  <a:schemeClr val="tx1"/>
                </a:solidFill>
              </a:rPr>
              <a:t>1.</a:t>
            </a:r>
            <a:r>
              <a:rPr lang="en-US" altLang="zh-CN" sz="2800" b="1">
                <a:solidFill>
                  <a:schemeClr val="tx1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800" b="1" dirty="0">
                <a:solidFill>
                  <a:schemeClr val="tx1"/>
                </a:solidFill>
                <a:latin typeface="宋体" panose="02010600030101010101" pitchFamily="2" charset="-122"/>
              </a:rPr>
              <a:t>反相求和</a:t>
            </a:r>
            <a:endParaRPr lang="zh-CN" altLang="en-US" sz="2800" b="1" dirty="0"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  <p:graphicFrame>
        <p:nvGraphicFramePr>
          <p:cNvPr id="14339" name="对象 14338"/>
          <p:cNvGraphicFramePr/>
          <p:nvPr/>
        </p:nvGraphicFramePr>
        <p:xfrm>
          <a:off x="6096000" y="2514600"/>
          <a:ext cx="2514600" cy="1958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6" name="" r:id="rId1" imgW="1155065" imgH="901065" progId="Equation.3">
                  <p:embed/>
                </p:oleObj>
              </mc:Choice>
              <mc:Fallback>
                <p:oleObj name="" r:id="rId1" imgW="1155065" imgH="901065" progId="Equation.3">
                  <p:embed/>
                  <p:pic>
                    <p:nvPicPr>
                      <p:cNvPr id="0" name="图片 309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096000" y="2514600"/>
                        <a:ext cx="2514600" cy="1958975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0" name="对象 14339"/>
          <p:cNvGraphicFramePr/>
          <p:nvPr/>
        </p:nvGraphicFramePr>
        <p:xfrm>
          <a:off x="3962400" y="4783138"/>
          <a:ext cx="41910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3" name="" r:id="rId3" imgW="2031365" imgH="431800" progId="Equation.3">
                  <p:embed/>
                </p:oleObj>
              </mc:Choice>
              <mc:Fallback>
                <p:oleObj name="" r:id="rId3" imgW="2031365" imgH="431800" progId="Equation.3">
                  <p:embed/>
                  <p:pic>
                    <p:nvPicPr>
                      <p:cNvPr id="0" name="图片 309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962400" y="4783138"/>
                        <a:ext cx="4191000" cy="889000"/>
                      </a:xfrm>
                      <a:prstGeom prst="rect">
                        <a:avLst/>
                      </a:prstGeom>
                      <a:solidFill>
                        <a:srgbClr val="66FFFF"/>
                      </a:solidFill>
                      <a:ln w="9525" cap="flat" cmpd="sng">
                        <a:solidFill>
                          <a:srgbClr val="FF3300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1" name="文本框 14340"/>
          <p:cNvSpPr txBox="1"/>
          <p:nvPr/>
        </p:nvSpPr>
        <p:spPr>
          <a:xfrm>
            <a:off x="5486400" y="1811338"/>
            <a:ext cx="3962400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charset="0"/>
                <a:ea typeface="宋体" panose="02010600030101010101" pitchFamily="2" charset="-122"/>
              </a:rPr>
              <a:t>方法一：节点电流法</a:t>
            </a:r>
            <a:endParaRPr lang="zh-CN" altLang="en-US" sz="2400" b="1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graphicFrame>
        <p:nvGraphicFramePr>
          <p:cNvPr id="14342" name="对象 14341"/>
          <p:cNvGraphicFramePr/>
          <p:nvPr/>
        </p:nvGraphicFramePr>
        <p:xfrm>
          <a:off x="2438400" y="1963738"/>
          <a:ext cx="3103563" cy="2609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0" name="" r:id="rId5" imgW="11249025" imgH="9458325" progId="MSPhotoEd.3">
                  <p:embed/>
                </p:oleObj>
              </mc:Choice>
              <mc:Fallback>
                <p:oleObj name="" r:id="rId5" imgW="11249025" imgH="9458325" progId="MSPhotoEd.3">
                  <p:embed/>
                  <p:pic>
                    <p:nvPicPr>
                      <p:cNvPr id="0" name="图片 3089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438400" y="1963738"/>
                        <a:ext cx="3103563" cy="26098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>
                                            <p:txEl>
                                              <p:charRg st="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341">
                                            <p:txEl>
                                              <p:charRg st="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41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817" name="标题 15361"/>
          <p:cNvSpPr>
            <a:spLocks noGrp="1"/>
          </p:cNvSpPr>
          <p:nvPr>
            <p:ph type="title"/>
          </p:nvPr>
        </p:nvSpPr>
        <p:spPr>
          <a:xfrm>
            <a:off x="1981200" y="457200"/>
            <a:ext cx="4267200" cy="685800"/>
          </a:xfrm>
        </p:spPr>
        <p:txBody>
          <a:bodyPr anchor="ctr" anchorCtr="0"/>
          <a:p>
            <a:pPr algn="l"/>
            <a:r>
              <a:rPr lang="en-US" altLang="zh-CN" sz="2800" b="1">
                <a:solidFill>
                  <a:schemeClr val="tx1"/>
                </a:solidFill>
              </a:rPr>
              <a:t>1.</a:t>
            </a:r>
            <a:r>
              <a:rPr lang="en-US" altLang="zh-CN" sz="2800" b="1">
                <a:solidFill>
                  <a:schemeClr val="tx1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800" b="1" dirty="0">
                <a:solidFill>
                  <a:schemeClr val="tx1"/>
                </a:solidFill>
                <a:latin typeface="宋体" panose="02010600030101010101" pitchFamily="2" charset="-122"/>
              </a:rPr>
              <a:t>反相求和</a:t>
            </a:r>
            <a:endParaRPr lang="zh-CN" altLang="en-US" sz="2800" b="1" dirty="0"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  <p:graphicFrame>
        <p:nvGraphicFramePr>
          <p:cNvPr id="15363" name="对象 15362"/>
          <p:cNvGraphicFramePr/>
          <p:nvPr/>
        </p:nvGraphicFramePr>
        <p:xfrm>
          <a:off x="3048000" y="5334000"/>
          <a:ext cx="6019800" cy="871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5" name="" r:id="rId1" imgW="2970530" imgH="431800" progId="Equation.3">
                  <p:embed/>
                </p:oleObj>
              </mc:Choice>
              <mc:Fallback>
                <p:oleObj name="" r:id="rId1" imgW="2970530" imgH="431800" progId="Equation.3">
                  <p:embed/>
                  <p:pic>
                    <p:nvPicPr>
                      <p:cNvPr id="0" name="图片 309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048000" y="5334000"/>
                        <a:ext cx="6019800" cy="871538"/>
                      </a:xfrm>
                      <a:prstGeom prst="rect">
                        <a:avLst/>
                      </a:prstGeom>
                      <a:solidFill>
                        <a:srgbClr val="66FFFF"/>
                      </a:solidFill>
                      <a:ln w="9525" cap="flat" cmpd="sng">
                        <a:solidFill>
                          <a:srgbClr val="FF3300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4" name="文本框 15363"/>
          <p:cNvSpPr txBox="1"/>
          <p:nvPr/>
        </p:nvSpPr>
        <p:spPr>
          <a:xfrm>
            <a:off x="2209800" y="1066800"/>
            <a:ext cx="8153400" cy="142049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120000"/>
              </a:lnSpc>
            </a:pPr>
            <a:r>
              <a:rPr lang="zh-CN" altLang="en-US" sz="2400" b="1" dirty="0">
                <a:latin typeface="Times New Roman" panose="02020603050405020304" charset="0"/>
                <a:ea typeface="宋体" panose="02010600030101010101" pitchFamily="2" charset="-122"/>
              </a:rPr>
              <a:t>方法二：利用叠加原理</a:t>
            </a:r>
            <a:endParaRPr lang="zh-CN" altLang="en-US" sz="2400" b="1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400" b="1" dirty="0">
                <a:latin typeface="Times New Roman" panose="02020603050405020304" charset="0"/>
                <a:ea typeface="宋体" panose="02010600030101010101" pitchFamily="2" charset="-122"/>
              </a:rPr>
              <a:t>    </a:t>
            </a:r>
            <a:r>
              <a:rPr lang="zh-CN" altLang="en-US" sz="2400" b="1" dirty="0">
                <a:solidFill>
                  <a:srgbClr val="D60093"/>
                </a:solidFill>
                <a:latin typeface="Times New Roman" panose="02020603050405020304" charset="0"/>
                <a:ea typeface="宋体" panose="02010600030101010101" pitchFamily="2" charset="-122"/>
              </a:rPr>
              <a:t>首先求解每个输入信号单独作用时的输出电压，然后将所有结果相加，即得到所有输入信号同时作用时的输出电压。</a:t>
            </a:r>
            <a:endParaRPr lang="zh-CN" altLang="en-US" sz="2400" b="1">
              <a:solidFill>
                <a:srgbClr val="D60093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pic>
        <p:nvPicPr>
          <p:cNvPr id="15365" name="图片 15364" descr="Dz07020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1600" y="2514600"/>
            <a:ext cx="2819400" cy="2366963"/>
          </a:xfrm>
          <a:prstGeom prst="rect">
            <a:avLst/>
          </a:prstGeom>
          <a:noFill/>
          <a:ln w="9525">
            <a:noFill/>
          </a:ln>
        </p:spPr>
      </p:pic>
      <p:graphicFrame>
        <p:nvGraphicFramePr>
          <p:cNvPr id="15366" name="对象 15365"/>
          <p:cNvGraphicFramePr/>
          <p:nvPr/>
        </p:nvGraphicFramePr>
        <p:xfrm>
          <a:off x="8534400" y="2819400"/>
          <a:ext cx="1668463" cy="2009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" r:id="rId4" imgW="927100" imgH="1117600" progId="Equation.3">
                  <p:embed/>
                </p:oleObj>
              </mc:Choice>
              <mc:Fallback>
                <p:oleObj name="" r:id="rId4" imgW="927100" imgH="1117600" progId="Equation.3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8534400" y="2819400"/>
                        <a:ext cx="1668463" cy="2009775"/>
                      </a:xfrm>
                      <a:prstGeom prst="rect">
                        <a:avLst/>
                      </a:prstGeom>
                      <a:solidFill>
                        <a:srgbClr val="66FFFF"/>
                      </a:solidFill>
                      <a:ln w="9525" cap="flat" cmpd="sng">
                        <a:solidFill>
                          <a:srgbClr val="FF3300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7" name="对象 15366"/>
          <p:cNvGraphicFramePr/>
          <p:nvPr/>
        </p:nvGraphicFramePr>
        <p:xfrm>
          <a:off x="6629400" y="4343400"/>
          <a:ext cx="1600200" cy="776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" name="" r:id="rId6" imgW="888365" imgH="431800" progId="Equation.3">
                  <p:embed/>
                </p:oleObj>
              </mc:Choice>
              <mc:Fallback>
                <p:oleObj name="" r:id="rId6" imgW="888365" imgH="431800" progId="Equation.3">
                  <p:embed/>
                  <p:pic>
                    <p:nvPicPr>
                      <p:cNvPr id="0" name="图片 3083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629400" y="4343400"/>
                        <a:ext cx="1600200" cy="776288"/>
                      </a:xfrm>
                      <a:prstGeom prst="rect">
                        <a:avLst/>
                      </a:prstGeom>
                      <a:solidFill>
                        <a:srgbClr val="66FFFF"/>
                      </a:solidFill>
                      <a:ln w="9525" cap="flat" cmpd="sng">
                        <a:solidFill>
                          <a:srgbClr val="FF3300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3" name="对象 15367"/>
          <p:cNvGraphicFramePr/>
          <p:nvPr/>
        </p:nvGraphicFramePr>
        <p:xfrm>
          <a:off x="2209800" y="2590800"/>
          <a:ext cx="2895600" cy="2435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7" name="" r:id="rId8" imgW="11249025" imgH="9458325" progId="MSPhotoEd.3">
                  <p:embed/>
                </p:oleObj>
              </mc:Choice>
              <mc:Fallback>
                <p:oleObj name="" r:id="rId8" imgW="11249025" imgH="9458325" progId="MSPhotoEd.3">
                  <p:embed/>
                  <p:pic>
                    <p:nvPicPr>
                      <p:cNvPr id="0" name="图片 3096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209800" y="2590800"/>
                        <a:ext cx="2895600" cy="24352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charRg st="0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364">
                                            <p:txEl>
                                              <p:charRg st="0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charRg st="11" end="6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364">
                                            <p:txEl>
                                              <p:charRg st="11" end="6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4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841" name="标题 16385"/>
          <p:cNvSpPr>
            <a:spLocks noGrp="1"/>
          </p:cNvSpPr>
          <p:nvPr>
            <p:ph type="title"/>
          </p:nvPr>
        </p:nvSpPr>
        <p:spPr>
          <a:xfrm>
            <a:off x="1981200" y="609600"/>
            <a:ext cx="7142163" cy="533400"/>
          </a:xfrm>
        </p:spPr>
        <p:txBody>
          <a:bodyPr anchor="ctr" anchorCtr="0"/>
          <a:p>
            <a:pPr algn="l">
              <a:spcBef>
                <a:spcPct val="50000"/>
              </a:spcBef>
            </a:pPr>
            <a:r>
              <a:rPr lang="en-US" altLang="zh-CN" sz="2800" b="1">
                <a:solidFill>
                  <a:schemeClr val="tx1"/>
                </a:solidFill>
              </a:rPr>
              <a:t>2.</a:t>
            </a:r>
            <a:r>
              <a:rPr lang="en-US" altLang="zh-CN" sz="2800" b="1">
                <a:solidFill>
                  <a:schemeClr val="tx1"/>
                </a:solidFill>
                <a:latin typeface="宋体" panose="02010600030101010101" pitchFamily="2" charset="-122"/>
              </a:rPr>
              <a:t> </a:t>
            </a:r>
            <a:r>
              <a:rPr lang="zh-CN" altLang="zh-CN" sz="2800" b="1" dirty="0">
                <a:solidFill>
                  <a:schemeClr val="tx1"/>
                </a:solidFill>
                <a:latin typeface="宋体" panose="02010600030101010101" pitchFamily="2" charset="-122"/>
              </a:rPr>
              <a:t>同相求和</a:t>
            </a:r>
            <a:r>
              <a:rPr lang="zh-CN" altLang="zh-CN" sz="2400" b="1" dirty="0">
                <a:solidFill>
                  <a:schemeClr val="tx1"/>
                </a:solidFill>
              </a:rPr>
              <a:t>    设  </a:t>
            </a:r>
            <a:r>
              <a:rPr lang="en-US" altLang="zh-CN" sz="2400" b="1" i="1">
                <a:solidFill>
                  <a:schemeClr val="tx1"/>
                </a:solidFill>
              </a:rPr>
              <a:t>R</a:t>
            </a:r>
            <a:r>
              <a:rPr lang="en-US" altLang="zh-CN" sz="2400" b="1" baseline="-25000">
                <a:solidFill>
                  <a:schemeClr val="tx1"/>
                </a:solidFill>
              </a:rPr>
              <a:t>1</a:t>
            </a:r>
            <a:r>
              <a:rPr lang="en-US" altLang="zh-CN" sz="2400" b="1">
                <a:solidFill>
                  <a:schemeClr val="tx1"/>
                </a:solidFill>
              </a:rPr>
              <a:t>∥ </a:t>
            </a:r>
            <a:r>
              <a:rPr lang="en-US" altLang="zh-CN" sz="2400" b="1" i="1">
                <a:solidFill>
                  <a:schemeClr val="tx1"/>
                </a:solidFill>
              </a:rPr>
              <a:t>R</a:t>
            </a:r>
            <a:r>
              <a:rPr lang="en-US" altLang="zh-CN" sz="2400" b="1" baseline="-25000">
                <a:solidFill>
                  <a:schemeClr val="tx1"/>
                </a:solidFill>
              </a:rPr>
              <a:t>2</a:t>
            </a:r>
            <a:r>
              <a:rPr lang="en-US" altLang="zh-CN" sz="2400" b="1">
                <a:solidFill>
                  <a:schemeClr val="tx1"/>
                </a:solidFill>
              </a:rPr>
              <a:t>∥ </a:t>
            </a:r>
            <a:r>
              <a:rPr lang="en-US" altLang="zh-CN" sz="2400" b="1" i="1">
                <a:solidFill>
                  <a:schemeClr val="tx1"/>
                </a:solidFill>
              </a:rPr>
              <a:t>R</a:t>
            </a:r>
            <a:r>
              <a:rPr lang="en-US" altLang="zh-CN" sz="2400" b="1" baseline="-25000">
                <a:solidFill>
                  <a:schemeClr val="tx1"/>
                </a:solidFill>
              </a:rPr>
              <a:t>3</a:t>
            </a:r>
            <a:r>
              <a:rPr lang="en-US" altLang="zh-CN" sz="2400" b="1">
                <a:solidFill>
                  <a:schemeClr val="tx1"/>
                </a:solidFill>
              </a:rPr>
              <a:t>∥ </a:t>
            </a:r>
            <a:r>
              <a:rPr lang="en-US" altLang="zh-CN" sz="2400" b="1" i="1">
                <a:solidFill>
                  <a:schemeClr val="tx1"/>
                </a:solidFill>
              </a:rPr>
              <a:t>R</a:t>
            </a:r>
            <a:r>
              <a:rPr lang="en-US" altLang="zh-CN" sz="2400" b="1" baseline="-25000">
                <a:solidFill>
                  <a:schemeClr val="tx1"/>
                </a:solidFill>
              </a:rPr>
              <a:t>4</a:t>
            </a:r>
            <a:r>
              <a:rPr lang="zh-CN" altLang="en-US" sz="2400" b="1">
                <a:solidFill>
                  <a:schemeClr val="tx1"/>
                </a:solidFill>
              </a:rPr>
              <a:t>＝ </a:t>
            </a:r>
            <a:r>
              <a:rPr lang="en-US" altLang="zh-CN" sz="2400" b="1" i="1">
                <a:solidFill>
                  <a:schemeClr val="tx1"/>
                </a:solidFill>
              </a:rPr>
              <a:t>R</a:t>
            </a:r>
            <a:r>
              <a:rPr lang="en-US" altLang="zh-CN" sz="2400" b="1">
                <a:solidFill>
                  <a:schemeClr val="tx1"/>
                </a:solidFill>
              </a:rPr>
              <a:t>∥ </a:t>
            </a:r>
            <a:r>
              <a:rPr lang="en-US" altLang="zh-CN" sz="2400" b="1" i="1" err="1">
                <a:solidFill>
                  <a:schemeClr val="tx1"/>
                </a:solidFill>
              </a:rPr>
              <a:t>R</a:t>
            </a:r>
            <a:r>
              <a:rPr lang="en-US" altLang="zh-CN" sz="2400" b="1" baseline="-25000" err="1">
                <a:solidFill>
                  <a:schemeClr val="tx1"/>
                </a:solidFill>
              </a:rPr>
              <a:t>f</a:t>
            </a:r>
            <a:endParaRPr lang="en-US" altLang="zh-CN" sz="2400" b="1" baseline="-25000">
              <a:solidFill>
                <a:schemeClr val="tx1"/>
              </a:solidFill>
            </a:endParaRPr>
          </a:p>
        </p:txBody>
      </p:sp>
      <p:sp>
        <p:nvSpPr>
          <p:cNvPr id="16387" name="文本框 16386"/>
          <p:cNvSpPr txBox="1"/>
          <p:nvPr/>
        </p:nvSpPr>
        <p:spPr>
          <a:xfrm>
            <a:off x="5791200" y="1295400"/>
            <a:ext cx="3733800" cy="142049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120000"/>
              </a:lnSpc>
            </a:pPr>
            <a:r>
              <a:rPr lang="zh-CN" altLang="en-US" sz="2400" b="1" dirty="0">
                <a:latin typeface="Times New Roman" panose="02020603050405020304" charset="0"/>
                <a:ea typeface="宋体" panose="02010600030101010101" pitchFamily="2" charset="-122"/>
              </a:rPr>
              <a:t>利用叠加原理求解：</a:t>
            </a:r>
            <a:endParaRPr lang="zh-CN" altLang="en-US" sz="2400" b="1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400" b="1" dirty="0">
                <a:latin typeface="Times New Roman" panose="02020603050405020304" charset="0"/>
                <a:ea typeface="宋体" panose="02010600030101010101" pitchFamily="2" charset="-122"/>
              </a:rPr>
              <a:t>    令</a:t>
            </a:r>
            <a:r>
              <a:rPr lang="en-US" altLang="zh-CN" sz="2400" b="1" i="1">
                <a:latin typeface="Times New Roman" panose="02020603050405020304" charset="0"/>
                <a:ea typeface="宋体" panose="02010600030101010101" pitchFamily="2" charset="-122"/>
              </a:rPr>
              <a:t>u</a:t>
            </a:r>
            <a:r>
              <a:rPr lang="en-US" altLang="zh-CN" sz="2400" b="1" baseline="-25000">
                <a:latin typeface="Times New Roman" panose="02020603050405020304" charset="0"/>
                <a:ea typeface="宋体" panose="02010600030101010101" pitchFamily="2" charset="-122"/>
              </a:rPr>
              <a:t>I2</a:t>
            </a:r>
            <a:r>
              <a:rPr lang="en-US" altLang="zh-CN" sz="2400" b="1">
                <a:latin typeface="Times New Roman" panose="02020603050405020304" charset="0"/>
                <a:ea typeface="宋体" panose="02010600030101010101" pitchFamily="2" charset="-122"/>
              </a:rPr>
              <a:t>= </a:t>
            </a:r>
            <a:r>
              <a:rPr lang="en-US" altLang="zh-CN" sz="2400" b="1" i="1">
                <a:latin typeface="Times New Roman" panose="02020603050405020304" charset="0"/>
                <a:ea typeface="宋体" panose="02010600030101010101" pitchFamily="2" charset="-122"/>
              </a:rPr>
              <a:t>u</a:t>
            </a:r>
            <a:r>
              <a:rPr lang="en-US" altLang="zh-CN" sz="2400" b="1" baseline="-25000">
                <a:latin typeface="Times New Roman" panose="02020603050405020304" charset="0"/>
                <a:ea typeface="宋体" panose="02010600030101010101" pitchFamily="2" charset="-122"/>
              </a:rPr>
              <a:t>I3</a:t>
            </a:r>
            <a:r>
              <a:rPr lang="en-US" altLang="zh-CN" sz="2400" b="1">
                <a:latin typeface="Times New Roman" panose="02020603050405020304" charset="0"/>
                <a:ea typeface="宋体" panose="02010600030101010101" pitchFamily="2" charset="-122"/>
              </a:rPr>
              <a:t>=0</a:t>
            </a:r>
            <a:r>
              <a:rPr lang="zh-CN" altLang="en-US" sz="2400" b="1">
                <a:latin typeface="Times New Roman" panose="02020603050405020304" charset="0"/>
                <a:ea typeface="宋体" panose="02010600030101010101" pitchFamily="2" charset="-122"/>
              </a:rPr>
              <a:t>，求</a:t>
            </a:r>
            <a:r>
              <a:rPr lang="en-US" altLang="zh-CN" sz="2400" b="1" i="1">
                <a:latin typeface="Times New Roman" panose="02020603050405020304" charset="0"/>
                <a:ea typeface="宋体" panose="02010600030101010101" pitchFamily="2" charset="-122"/>
              </a:rPr>
              <a:t>u</a:t>
            </a:r>
            <a:r>
              <a:rPr lang="en-US" altLang="zh-CN" sz="2400" b="1" baseline="-25000">
                <a:latin typeface="Times New Roman" panose="02020603050405020304" charset="0"/>
                <a:ea typeface="宋体" panose="02010600030101010101" pitchFamily="2" charset="-122"/>
              </a:rPr>
              <a:t>I1</a:t>
            </a:r>
            <a:r>
              <a:rPr lang="zh-CN" altLang="en-US" sz="2400" b="1" dirty="0">
                <a:latin typeface="Times New Roman" panose="02020603050405020304" charset="0"/>
                <a:ea typeface="宋体" panose="02010600030101010101" pitchFamily="2" charset="-122"/>
              </a:rPr>
              <a:t>单独作用时的输出电压</a:t>
            </a:r>
            <a:endParaRPr lang="zh-CN" altLang="en-US" sz="2400" b="1" baseline="-2500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16388" name="文本框 16387"/>
          <p:cNvSpPr txBox="1"/>
          <p:nvPr/>
        </p:nvSpPr>
        <p:spPr>
          <a:xfrm>
            <a:off x="2286000" y="5181600"/>
            <a:ext cx="7543800" cy="82994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2400" dirty="0">
                <a:solidFill>
                  <a:srgbClr val="D60093"/>
                </a:solidFill>
                <a:latin typeface="Times New Roman" panose="02020603050405020304" charset="0"/>
                <a:ea typeface="宋体" panose="02010600030101010101" pitchFamily="2" charset="-122"/>
              </a:rPr>
              <a:t>    </a:t>
            </a:r>
            <a:r>
              <a:rPr lang="zh-CN" altLang="en-US" sz="2400" b="1" dirty="0">
                <a:solidFill>
                  <a:srgbClr val="D60093"/>
                </a:solidFill>
                <a:latin typeface="Times New Roman" panose="02020603050405020304" charset="0"/>
                <a:ea typeface="宋体" panose="02010600030101010101" pitchFamily="2" charset="-122"/>
              </a:rPr>
              <a:t>在求解运算电路时，应选择合适的方法，使运算结果简单明了，易于计算。</a:t>
            </a:r>
            <a:endParaRPr lang="zh-CN" altLang="en-US" sz="2400" b="1">
              <a:solidFill>
                <a:srgbClr val="D60093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graphicFrame>
        <p:nvGraphicFramePr>
          <p:cNvPr id="16389" name="对象 16388"/>
          <p:cNvGraphicFramePr/>
          <p:nvPr/>
        </p:nvGraphicFramePr>
        <p:xfrm>
          <a:off x="2133600" y="1295400"/>
          <a:ext cx="3429000" cy="2476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5" name="" r:id="rId1" imgW="12049125" imgH="8696325" progId="MSPhotoEd.3">
                  <p:embed/>
                </p:oleObj>
              </mc:Choice>
              <mc:Fallback>
                <p:oleObj name="" r:id="rId1" imgW="12049125" imgH="8696325" progId="MSPhotoEd.3">
                  <p:embed/>
                  <p:pic>
                    <p:nvPicPr>
                      <p:cNvPr id="0" name="图片 310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133600" y="1295400"/>
                        <a:ext cx="3429000" cy="2476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0" name="对象 16389"/>
          <p:cNvGraphicFramePr/>
          <p:nvPr/>
        </p:nvGraphicFramePr>
        <p:xfrm>
          <a:off x="5410200" y="2819400"/>
          <a:ext cx="433705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4" name="" r:id="rId3" imgW="2272030" imgH="431800" progId="Equation.3">
                  <p:embed/>
                </p:oleObj>
              </mc:Choice>
              <mc:Fallback>
                <p:oleObj name="" r:id="rId3" imgW="2272030" imgH="431800" progId="Equation.3">
                  <p:embed/>
                  <p:pic>
                    <p:nvPicPr>
                      <p:cNvPr id="0" name="图片 310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410200" y="2819400"/>
                        <a:ext cx="4337050" cy="825500"/>
                      </a:xfrm>
                      <a:prstGeom prst="rect">
                        <a:avLst/>
                      </a:prstGeom>
                      <a:solidFill>
                        <a:srgbClr val="CCFFFF"/>
                      </a:solidFill>
                      <a:ln w="9525" cap="flat" cmpd="sng">
                        <a:solidFill>
                          <a:srgbClr val="FF0000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1" name="文本框 16390"/>
          <p:cNvSpPr txBox="1"/>
          <p:nvPr/>
        </p:nvSpPr>
        <p:spPr>
          <a:xfrm>
            <a:off x="2362200" y="3733800"/>
            <a:ext cx="7467600" cy="142049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120000"/>
              </a:lnSpc>
            </a:pPr>
            <a:r>
              <a:rPr lang="en-US" altLang="zh-CN" sz="2400" b="1" dirty="0">
                <a:latin typeface="Times New Roman" panose="02020603050405020304" charset="0"/>
                <a:ea typeface="宋体" panose="02010600030101010101" pitchFamily="2" charset="-122"/>
              </a:rPr>
              <a:t>    </a:t>
            </a:r>
            <a:r>
              <a:rPr lang="zh-CN" altLang="en-US" sz="2400" b="1" dirty="0">
                <a:latin typeface="Times New Roman" panose="02020603050405020304" charset="0"/>
                <a:ea typeface="宋体" panose="02010600030101010101" pitchFamily="2" charset="-122"/>
              </a:rPr>
              <a:t>同理可得，</a:t>
            </a:r>
            <a:r>
              <a:rPr lang="zh-CN" altLang="en-US" sz="2400" dirty="0">
                <a:latin typeface="Times New Roman" panose="02020603050405020304" charset="0"/>
                <a:ea typeface="宋体" panose="02010600030101010101" pitchFamily="2" charset="-122"/>
              </a:rPr>
              <a:t> </a:t>
            </a:r>
            <a:r>
              <a:rPr lang="en-US" altLang="zh-CN" sz="2400" b="1" i="1">
                <a:latin typeface="Times New Roman" panose="02020603050405020304" charset="0"/>
                <a:ea typeface="宋体" panose="02010600030101010101" pitchFamily="2" charset="-122"/>
              </a:rPr>
              <a:t>u</a:t>
            </a:r>
            <a:r>
              <a:rPr lang="en-US" altLang="zh-CN" sz="2400" b="1" baseline="-25000">
                <a:latin typeface="Times New Roman" panose="02020603050405020304" charset="0"/>
                <a:ea typeface="宋体" panose="02010600030101010101" pitchFamily="2" charset="-122"/>
              </a:rPr>
              <a:t>I2</a:t>
            </a:r>
            <a:r>
              <a:rPr lang="zh-CN" altLang="en-US" sz="2400" b="1">
                <a:latin typeface="Times New Roman" panose="02020603050405020304" charset="0"/>
                <a:ea typeface="宋体" panose="02010600030101010101" pitchFamily="2" charset="-122"/>
              </a:rPr>
              <a:t>、 </a:t>
            </a:r>
            <a:r>
              <a:rPr lang="en-US" altLang="zh-CN" sz="2400" b="1" i="1">
                <a:latin typeface="Times New Roman" panose="02020603050405020304" charset="0"/>
                <a:ea typeface="宋体" panose="02010600030101010101" pitchFamily="2" charset="-122"/>
              </a:rPr>
              <a:t>u</a:t>
            </a:r>
            <a:r>
              <a:rPr lang="en-US" altLang="zh-CN" sz="2400" b="1" baseline="-25000">
                <a:latin typeface="Times New Roman" panose="02020603050405020304" charset="0"/>
                <a:ea typeface="宋体" panose="02010600030101010101" pitchFamily="2" charset="-122"/>
              </a:rPr>
              <a:t>I3</a:t>
            </a:r>
            <a:r>
              <a:rPr lang="zh-CN" altLang="en-US" sz="2400" b="1" dirty="0">
                <a:latin typeface="Times New Roman" panose="02020603050405020304" charset="0"/>
                <a:ea typeface="宋体" panose="02010600030101010101" pitchFamily="2" charset="-122"/>
              </a:rPr>
              <a:t>单独作用时的</a:t>
            </a:r>
            <a:r>
              <a:rPr lang="en-US" altLang="zh-CN" sz="2400" b="1" i="1">
                <a:latin typeface="Times New Roman" panose="02020603050405020304" charset="0"/>
                <a:ea typeface="宋体" panose="02010600030101010101" pitchFamily="2" charset="-122"/>
              </a:rPr>
              <a:t>u</a:t>
            </a:r>
            <a:r>
              <a:rPr lang="en-US" altLang="zh-CN" sz="2400" b="1" baseline="-25000">
                <a:latin typeface="Times New Roman" panose="02020603050405020304" charset="0"/>
                <a:ea typeface="宋体" panose="02010600030101010101" pitchFamily="2" charset="-122"/>
              </a:rPr>
              <a:t>O2</a:t>
            </a:r>
            <a:r>
              <a:rPr lang="zh-CN" altLang="en-US" sz="2400" b="1">
                <a:latin typeface="Times New Roman" panose="02020603050405020304" charset="0"/>
                <a:ea typeface="宋体" panose="02010600030101010101" pitchFamily="2" charset="-122"/>
              </a:rPr>
              <a:t>、 </a:t>
            </a:r>
            <a:r>
              <a:rPr lang="en-US" altLang="zh-CN" sz="2400" b="1" i="1">
                <a:latin typeface="Times New Roman" panose="02020603050405020304" charset="0"/>
                <a:ea typeface="宋体" panose="02010600030101010101" pitchFamily="2" charset="-122"/>
              </a:rPr>
              <a:t>u</a:t>
            </a:r>
            <a:r>
              <a:rPr lang="en-US" altLang="zh-CN" sz="2400" b="1" baseline="-25000">
                <a:latin typeface="Times New Roman" panose="02020603050405020304" charset="0"/>
                <a:ea typeface="宋体" panose="02010600030101010101" pitchFamily="2" charset="-122"/>
              </a:rPr>
              <a:t>O3</a:t>
            </a:r>
            <a:r>
              <a:rPr lang="zh-CN" altLang="en-US" sz="2400" b="1">
                <a:latin typeface="Times New Roman" panose="02020603050405020304" charset="0"/>
                <a:ea typeface="宋体" panose="02010600030101010101" pitchFamily="2" charset="-122"/>
              </a:rPr>
              <a:t>，</a:t>
            </a:r>
            <a:r>
              <a:rPr lang="zh-CN" altLang="en-US" sz="2400" b="1" dirty="0">
                <a:latin typeface="Times New Roman" panose="02020603050405020304" charset="0"/>
                <a:ea typeface="宋体" panose="02010600030101010101" pitchFamily="2" charset="-122"/>
              </a:rPr>
              <a:t>形式与</a:t>
            </a:r>
            <a:r>
              <a:rPr lang="en-US" altLang="zh-CN" sz="2400" b="1" i="1">
                <a:latin typeface="Times New Roman" panose="02020603050405020304" charset="0"/>
                <a:ea typeface="宋体" panose="02010600030101010101" pitchFamily="2" charset="-122"/>
              </a:rPr>
              <a:t>u</a:t>
            </a:r>
            <a:r>
              <a:rPr lang="en-US" altLang="zh-CN" sz="2400" b="1" baseline="-25000">
                <a:latin typeface="Times New Roman" panose="02020603050405020304" charset="0"/>
                <a:ea typeface="宋体" panose="02010600030101010101" pitchFamily="2" charset="-122"/>
              </a:rPr>
              <a:t>O1</a:t>
            </a:r>
            <a:r>
              <a:rPr lang="zh-CN" altLang="en-US" sz="2400" b="1" dirty="0">
                <a:latin typeface="Times New Roman" panose="02020603050405020304" charset="0"/>
                <a:ea typeface="宋体" panose="02010600030101010101" pitchFamily="2" charset="-122"/>
              </a:rPr>
              <a:t>相同， </a:t>
            </a:r>
            <a:r>
              <a:rPr lang="en-US" altLang="zh-CN" sz="2400" b="1" i="1" err="1">
                <a:latin typeface="Times New Roman" panose="02020603050405020304" charset="0"/>
                <a:ea typeface="宋体" panose="02010600030101010101" pitchFamily="2" charset="-122"/>
              </a:rPr>
              <a:t>u</a:t>
            </a:r>
            <a:r>
              <a:rPr lang="en-US" altLang="zh-CN" sz="2400" b="1" baseline="-25000" err="1">
                <a:latin typeface="Times New Roman" panose="02020603050405020304" charset="0"/>
                <a:ea typeface="宋体" panose="02010600030101010101" pitchFamily="2" charset="-122"/>
              </a:rPr>
              <a:t>O</a:t>
            </a:r>
            <a:r>
              <a:rPr lang="en-US" altLang="zh-CN" sz="2400" b="1">
                <a:latin typeface="Times New Roman" panose="02020603050405020304" charset="0"/>
                <a:ea typeface="宋体" panose="02010600030101010101" pitchFamily="2" charset="-122"/>
              </a:rPr>
              <a:t> =</a:t>
            </a:r>
            <a:r>
              <a:rPr lang="en-US" altLang="zh-CN" sz="2400" b="1" i="1">
                <a:latin typeface="Times New Roman" panose="02020603050405020304" charset="0"/>
                <a:ea typeface="宋体" panose="02010600030101010101" pitchFamily="2" charset="-122"/>
              </a:rPr>
              <a:t>u</a:t>
            </a:r>
            <a:r>
              <a:rPr lang="en-US" altLang="zh-CN" sz="2400" b="1" baseline="-25000">
                <a:latin typeface="Times New Roman" panose="02020603050405020304" charset="0"/>
                <a:ea typeface="宋体" panose="02010600030101010101" pitchFamily="2" charset="-122"/>
              </a:rPr>
              <a:t>O1</a:t>
            </a:r>
            <a:r>
              <a:rPr lang="en-US" altLang="zh-CN" sz="2400" b="1">
                <a:latin typeface="Times New Roman" panose="02020603050405020304" charset="0"/>
                <a:ea typeface="宋体" panose="02010600030101010101" pitchFamily="2" charset="-122"/>
              </a:rPr>
              <a:t>+</a:t>
            </a:r>
            <a:r>
              <a:rPr lang="en-US" altLang="zh-CN" sz="2400" b="1" i="1">
                <a:latin typeface="Times New Roman" panose="02020603050405020304" charset="0"/>
                <a:ea typeface="宋体" panose="02010600030101010101" pitchFamily="2" charset="-122"/>
              </a:rPr>
              <a:t>u</a:t>
            </a:r>
            <a:r>
              <a:rPr lang="en-US" altLang="zh-CN" sz="2400" b="1" baseline="-25000">
                <a:latin typeface="Times New Roman" panose="02020603050405020304" charset="0"/>
                <a:ea typeface="宋体" panose="02010600030101010101" pitchFamily="2" charset="-122"/>
              </a:rPr>
              <a:t>O2</a:t>
            </a:r>
            <a:r>
              <a:rPr lang="en-US" altLang="zh-CN" sz="2400" b="1">
                <a:latin typeface="Times New Roman" panose="02020603050405020304" charset="0"/>
                <a:ea typeface="宋体" panose="02010600030101010101" pitchFamily="2" charset="-122"/>
              </a:rPr>
              <a:t>+</a:t>
            </a:r>
            <a:r>
              <a:rPr lang="en-US" altLang="zh-CN" sz="2400" b="1" i="1">
                <a:latin typeface="Times New Roman" panose="02020603050405020304" charset="0"/>
                <a:ea typeface="宋体" panose="02010600030101010101" pitchFamily="2" charset="-122"/>
              </a:rPr>
              <a:t>u</a:t>
            </a:r>
            <a:r>
              <a:rPr lang="en-US" altLang="zh-CN" sz="2400" b="1" baseline="-25000">
                <a:latin typeface="Times New Roman" panose="02020603050405020304" charset="0"/>
                <a:ea typeface="宋体" panose="02010600030101010101" pitchFamily="2" charset="-122"/>
              </a:rPr>
              <a:t>O3</a:t>
            </a:r>
            <a:r>
              <a:rPr lang="en-US" altLang="zh-CN" sz="2400" b="1">
                <a:latin typeface="Times New Roman" panose="02020603050405020304" charset="0"/>
                <a:ea typeface="宋体" panose="02010600030101010101" pitchFamily="2" charset="-122"/>
              </a:rPr>
              <a:t> </a:t>
            </a:r>
            <a:r>
              <a:rPr lang="zh-CN" altLang="en-US" sz="2400" b="1">
                <a:latin typeface="Times New Roman" panose="02020603050405020304" charset="0"/>
                <a:ea typeface="宋体" panose="02010600030101010101" pitchFamily="2" charset="-122"/>
              </a:rPr>
              <a:t>。</a:t>
            </a:r>
            <a:endParaRPr lang="zh-CN" altLang="en-US" sz="2400" b="1">
              <a:latin typeface="Times New Roman" panose="02020603050405020304" charset="0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400" b="1">
                <a:latin typeface="Times New Roman" panose="02020603050405020304" charset="0"/>
                <a:ea typeface="宋体" panose="02010600030101010101" pitchFamily="2" charset="-122"/>
              </a:rPr>
              <a:t>    </a:t>
            </a:r>
            <a:r>
              <a:rPr lang="zh-CN" altLang="en-US" sz="2400" b="1" dirty="0">
                <a:latin typeface="Times New Roman" panose="02020603050405020304" charset="0"/>
                <a:ea typeface="宋体" panose="02010600030101010101" pitchFamily="2" charset="-122"/>
              </a:rPr>
              <a:t>物理意义清楚，计算麻烦！ </a:t>
            </a:r>
            <a:endParaRPr lang="zh-CN" altLang="en-US" sz="2400" b="1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grpSp>
        <p:nvGrpSpPr>
          <p:cNvPr id="16392" name="组合 16391"/>
          <p:cNvGrpSpPr/>
          <p:nvPr/>
        </p:nvGrpSpPr>
        <p:grpSpPr>
          <a:xfrm>
            <a:off x="2325688" y="2914650"/>
            <a:ext cx="266700" cy="914400"/>
            <a:chOff x="505" y="1836"/>
            <a:chExt cx="168" cy="576"/>
          </a:xfrm>
        </p:grpSpPr>
        <p:sp>
          <p:nvSpPr>
            <p:cNvPr id="35848" name="直接连接符 16392"/>
            <p:cNvSpPr/>
            <p:nvPr/>
          </p:nvSpPr>
          <p:spPr>
            <a:xfrm>
              <a:off x="589" y="1836"/>
              <a:ext cx="0" cy="576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849" name="直接连接符 16393"/>
            <p:cNvSpPr/>
            <p:nvPr/>
          </p:nvSpPr>
          <p:spPr>
            <a:xfrm>
              <a:off x="505" y="2400"/>
              <a:ext cx="168" cy="0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charRg st="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387">
                                            <p:txEl>
                                              <p:charRg st="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charRg st="10" end="4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387">
                                            <p:txEl>
                                              <p:charRg st="10" end="4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6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1">
                                            <p:txEl>
                                              <p:charRg st="0" end="6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6391">
                                            <p:txEl>
                                              <p:charRg st="0" end="6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1">
                                            <p:txEl>
                                              <p:charRg st="61" end="7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6391">
                                            <p:txEl>
                                              <p:charRg st="61" end="7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charRg st="0" end="3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6388">
                                            <p:txEl>
                                              <p:charRg st="0" end="3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" grpId="0" build="p"/>
      <p:bldP spid="16388" grpId="0" build="p"/>
      <p:bldP spid="16391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865" name="标题 17409"/>
          <p:cNvSpPr>
            <a:spLocks noGrp="1"/>
          </p:cNvSpPr>
          <p:nvPr>
            <p:ph type="title"/>
          </p:nvPr>
        </p:nvSpPr>
        <p:spPr>
          <a:xfrm>
            <a:off x="1981200" y="609600"/>
            <a:ext cx="7142163" cy="533400"/>
          </a:xfrm>
        </p:spPr>
        <p:txBody>
          <a:bodyPr anchor="ctr" anchorCtr="0"/>
          <a:p>
            <a:pPr algn="l">
              <a:spcBef>
                <a:spcPct val="50000"/>
              </a:spcBef>
            </a:pPr>
            <a:r>
              <a:rPr lang="en-US" altLang="zh-CN" sz="2800" b="1">
                <a:solidFill>
                  <a:schemeClr val="tx1"/>
                </a:solidFill>
              </a:rPr>
              <a:t>2.</a:t>
            </a:r>
            <a:r>
              <a:rPr lang="en-US" altLang="zh-CN" sz="2800" b="1">
                <a:solidFill>
                  <a:schemeClr val="tx1"/>
                </a:solidFill>
                <a:latin typeface="宋体" panose="02010600030101010101" pitchFamily="2" charset="-122"/>
              </a:rPr>
              <a:t> </a:t>
            </a:r>
            <a:r>
              <a:rPr lang="zh-CN" altLang="zh-CN" sz="2800" b="1" dirty="0">
                <a:solidFill>
                  <a:schemeClr val="tx1"/>
                </a:solidFill>
                <a:latin typeface="宋体" panose="02010600030101010101" pitchFamily="2" charset="-122"/>
              </a:rPr>
              <a:t>同相求和</a:t>
            </a:r>
            <a:r>
              <a:rPr lang="zh-CN" altLang="zh-CN" sz="2400" b="1" dirty="0">
                <a:solidFill>
                  <a:schemeClr val="tx1"/>
                </a:solidFill>
              </a:rPr>
              <a:t>    设  </a:t>
            </a:r>
            <a:r>
              <a:rPr lang="en-US" altLang="zh-CN" sz="2400" b="1" i="1">
                <a:solidFill>
                  <a:schemeClr val="tx1"/>
                </a:solidFill>
              </a:rPr>
              <a:t>R</a:t>
            </a:r>
            <a:r>
              <a:rPr lang="en-US" altLang="zh-CN" sz="2400" b="1" baseline="-25000">
                <a:solidFill>
                  <a:schemeClr val="tx1"/>
                </a:solidFill>
              </a:rPr>
              <a:t>1</a:t>
            </a:r>
            <a:r>
              <a:rPr lang="en-US" altLang="zh-CN" sz="2400" b="1">
                <a:solidFill>
                  <a:schemeClr val="tx1"/>
                </a:solidFill>
              </a:rPr>
              <a:t>∥ </a:t>
            </a:r>
            <a:r>
              <a:rPr lang="en-US" altLang="zh-CN" sz="2400" b="1" i="1">
                <a:solidFill>
                  <a:schemeClr val="tx1"/>
                </a:solidFill>
              </a:rPr>
              <a:t>R</a:t>
            </a:r>
            <a:r>
              <a:rPr lang="en-US" altLang="zh-CN" sz="2400" b="1" baseline="-25000">
                <a:solidFill>
                  <a:schemeClr val="tx1"/>
                </a:solidFill>
              </a:rPr>
              <a:t>2</a:t>
            </a:r>
            <a:r>
              <a:rPr lang="en-US" altLang="zh-CN" sz="2400" b="1">
                <a:solidFill>
                  <a:schemeClr val="tx1"/>
                </a:solidFill>
              </a:rPr>
              <a:t>∥ </a:t>
            </a:r>
            <a:r>
              <a:rPr lang="en-US" altLang="zh-CN" sz="2400" b="1" i="1">
                <a:solidFill>
                  <a:schemeClr val="tx1"/>
                </a:solidFill>
              </a:rPr>
              <a:t>R</a:t>
            </a:r>
            <a:r>
              <a:rPr lang="en-US" altLang="zh-CN" sz="2400" b="1" baseline="-25000">
                <a:solidFill>
                  <a:schemeClr val="tx1"/>
                </a:solidFill>
              </a:rPr>
              <a:t>3</a:t>
            </a:r>
            <a:r>
              <a:rPr lang="en-US" altLang="zh-CN" sz="2400" b="1">
                <a:solidFill>
                  <a:schemeClr val="tx1"/>
                </a:solidFill>
              </a:rPr>
              <a:t>∥ </a:t>
            </a:r>
            <a:r>
              <a:rPr lang="en-US" altLang="zh-CN" sz="2400" b="1" i="1">
                <a:solidFill>
                  <a:schemeClr val="tx1"/>
                </a:solidFill>
              </a:rPr>
              <a:t>R</a:t>
            </a:r>
            <a:r>
              <a:rPr lang="en-US" altLang="zh-CN" sz="2400" b="1" baseline="-25000">
                <a:solidFill>
                  <a:schemeClr val="tx1"/>
                </a:solidFill>
              </a:rPr>
              <a:t>4</a:t>
            </a:r>
            <a:r>
              <a:rPr lang="zh-CN" altLang="en-US" sz="2400" b="1">
                <a:solidFill>
                  <a:schemeClr val="tx1"/>
                </a:solidFill>
              </a:rPr>
              <a:t>＝ </a:t>
            </a:r>
            <a:r>
              <a:rPr lang="en-US" altLang="zh-CN" sz="2400" b="1" i="1">
                <a:solidFill>
                  <a:schemeClr val="tx1"/>
                </a:solidFill>
              </a:rPr>
              <a:t>R</a:t>
            </a:r>
            <a:r>
              <a:rPr lang="en-US" altLang="zh-CN" sz="2400" b="1">
                <a:solidFill>
                  <a:schemeClr val="tx1"/>
                </a:solidFill>
              </a:rPr>
              <a:t>∥ </a:t>
            </a:r>
            <a:r>
              <a:rPr lang="en-US" altLang="zh-CN" sz="2400" b="1" i="1" err="1">
                <a:solidFill>
                  <a:schemeClr val="tx1"/>
                </a:solidFill>
              </a:rPr>
              <a:t>R</a:t>
            </a:r>
            <a:r>
              <a:rPr lang="en-US" altLang="zh-CN" sz="2400" b="1" baseline="-25000" err="1">
                <a:solidFill>
                  <a:schemeClr val="tx1"/>
                </a:solidFill>
              </a:rPr>
              <a:t>f</a:t>
            </a:r>
            <a:endParaRPr lang="en-US" altLang="zh-CN" sz="2400" b="1" baseline="-25000">
              <a:solidFill>
                <a:schemeClr val="tx1"/>
              </a:solidFill>
            </a:endParaRPr>
          </a:p>
        </p:txBody>
      </p:sp>
      <p:graphicFrame>
        <p:nvGraphicFramePr>
          <p:cNvPr id="17411" name="对象 17410"/>
          <p:cNvGraphicFramePr/>
          <p:nvPr/>
        </p:nvGraphicFramePr>
        <p:xfrm>
          <a:off x="3048000" y="4343400"/>
          <a:ext cx="56388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1" name="" r:id="rId1" imgW="3046730" imgH="431800" progId="Equation.3">
                  <p:embed/>
                </p:oleObj>
              </mc:Choice>
              <mc:Fallback>
                <p:oleObj name="" r:id="rId1" imgW="3046730" imgH="431800" progId="Equation.3">
                  <p:embed/>
                  <p:pic>
                    <p:nvPicPr>
                      <p:cNvPr id="0" name="图片 311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048000" y="4343400"/>
                        <a:ext cx="5638800" cy="800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2" name="对象 17411"/>
          <p:cNvGraphicFramePr/>
          <p:nvPr/>
        </p:nvGraphicFramePr>
        <p:xfrm>
          <a:off x="3429000" y="5257800"/>
          <a:ext cx="2971800" cy="842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9" name="" r:id="rId3" imgW="1523365" imgH="431800" progId="Equation.3">
                  <p:embed/>
                </p:oleObj>
              </mc:Choice>
              <mc:Fallback>
                <p:oleObj name="" r:id="rId3" imgW="1523365" imgH="431800" progId="Equation.3">
                  <p:embed/>
                  <p:pic>
                    <p:nvPicPr>
                      <p:cNvPr id="0" name="图片 310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429000" y="5257800"/>
                        <a:ext cx="2971800" cy="842963"/>
                      </a:xfrm>
                      <a:prstGeom prst="rect">
                        <a:avLst/>
                      </a:prstGeom>
                      <a:solidFill>
                        <a:srgbClr val="66FFFF"/>
                      </a:solidFill>
                      <a:ln w="9525" cap="flat" cmpd="sng">
                        <a:solidFill>
                          <a:srgbClr val="FF3300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3" name="线形标注 1 17412"/>
          <p:cNvSpPr/>
          <p:nvPr/>
        </p:nvSpPr>
        <p:spPr>
          <a:xfrm>
            <a:off x="6781800" y="5334000"/>
            <a:ext cx="2514600" cy="685800"/>
          </a:xfrm>
          <a:prstGeom prst="borderCallout1">
            <a:avLst>
              <a:gd name="adj1" fmla="val 16667"/>
              <a:gd name="adj2" fmla="val -3032"/>
              <a:gd name="adj3" fmla="val 50463"/>
              <a:gd name="adj4" fmla="val -15088"/>
            </a:avLst>
          </a:prstGeom>
          <a:solidFill>
            <a:srgbClr val="CCFFFF"/>
          </a:solidFill>
          <a:ln w="1905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algn="ctr"/>
            <a:r>
              <a:rPr lang="zh-CN" altLang="en-US" sz="2000" b="1">
                <a:latin typeface="Times New Roman" panose="02020603050405020304" charset="0"/>
                <a:ea typeface="宋体" panose="02010600030101010101" pitchFamily="2" charset="-122"/>
              </a:rPr>
              <a:t>与</a:t>
            </a:r>
            <a:r>
              <a:rPr lang="zh-CN" altLang="en-US" sz="2000" b="1" dirty="0">
                <a:latin typeface="Times New Roman" panose="02020603050405020304" charset="0"/>
                <a:ea typeface="宋体" panose="02010600030101010101" pitchFamily="2" charset="-122"/>
              </a:rPr>
              <a:t>反相求和运算电路的结果差一负号</a:t>
            </a:r>
            <a:endParaRPr lang="zh-CN" altLang="en-US" sz="2000" b="1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graphicFrame>
        <p:nvGraphicFramePr>
          <p:cNvPr id="36869" name="对象 17413"/>
          <p:cNvGraphicFramePr/>
          <p:nvPr/>
        </p:nvGraphicFramePr>
        <p:xfrm>
          <a:off x="2286000" y="1371600"/>
          <a:ext cx="3200400" cy="231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0" name="" r:id="rId5" imgW="12049125" imgH="8696325" progId="MSPhotoEd.3">
                  <p:embed/>
                </p:oleObj>
              </mc:Choice>
              <mc:Fallback>
                <p:oleObj name="" r:id="rId5" imgW="12049125" imgH="8696325" progId="MSPhotoEd.3">
                  <p:embed/>
                  <p:pic>
                    <p:nvPicPr>
                      <p:cNvPr id="0" name="图片 3109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286000" y="1371600"/>
                        <a:ext cx="3200400" cy="2311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5" name="对象 17414"/>
          <p:cNvGraphicFramePr/>
          <p:nvPr/>
        </p:nvGraphicFramePr>
        <p:xfrm>
          <a:off x="5791200" y="1219200"/>
          <a:ext cx="1573213" cy="436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3" name="" r:id="rId7" imgW="825500" imgH="228600" progId="Equation.3">
                  <p:embed/>
                </p:oleObj>
              </mc:Choice>
              <mc:Fallback>
                <p:oleObj name="" r:id="rId7" imgW="825500" imgH="228600" progId="Equation.3">
                  <p:embed/>
                  <p:pic>
                    <p:nvPicPr>
                      <p:cNvPr id="0" name="图片 3102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791200" y="1219200"/>
                        <a:ext cx="1573213" cy="436563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6" name="对象 17415"/>
          <p:cNvGraphicFramePr/>
          <p:nvPr/>
        </p:nvGraphicFramePr>
        <p:xfrm>
          <a:off x="5791200" y="1676400"/>
          <a:ext cx="3895725" cy="822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6" name="" r:id="rId9" imgW="2044065" imgH="431800" progId="Equation.3">
                  <p:embed/>
                </p:oleObj>
              </mc:Choice>
              <mc:Fallback>
                <p:oleObj name="" r:id="rId9" imgW="2044065" imgH="431800" progId="Equation.3">
                  <p:embed/>
                  <p:pic>
                    <p:nvPicPr>
                      <p:cNvPr id="0" name="图片 3105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791200" y="1676400"/>
                        <a:ext cx="3895725" cy="822325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7" name="对象 17416"/>
          <p:cNvGraphicFramePr/>
          <p:nvPr/>
        </p:nvGraphicFramePr>
        <p:xfrm>
          <a:off x="5791200" y="2590800"/>
          <a:ext cx="4548188" cy="822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7" name="" r:id="rId11" imgW="2386330" imgH="431800" progId="Equation.3">
                  <p:embed/>
                </p:oleObj>
              </mc:Choice>
              <mc:Fallback>
                <p:oleObj name="" r:id="rId11" imgW="2386330" imgH="431800" progId="Equation.3">
                  <p:embed/>
                  <p:pic>
                    <p:nvPicPr>
                      <p:cNvPr id="0" name="图片 3106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791200" y="2590800"/>
                        <a:ext cx="4548188" cy="822325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8" name="对象 17417"/>
          <p:cNvGraphicFramePr/>
          <p:nvPr/>
        </p:nvGraphicFramePr>
        <p:xfrm>
          <a:off x="3048000" y="3505200"/>
          <a:ext cx="6240463" cy="823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8" name="" r:id="rId13" imgW="3275330" imgH="431800" progId="Equation.3">
                  <p:embed/>
                </p:oleObj>
              </mc:Choice>
              <mc:Fallback>
                <p:oleObj name="" r:id="rId13" imgW="3275330" imgH="431800" progId="Equation.3">
                  <p:embed/>
                  <p:pic>
                    <p:nvPicPr>
                      <p:cNvPr id="0" name="图片 3107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048000" y="3505200"/>
                        <a:ext cx="6240463" cy="823913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9" name="线形标注 1 17418"/>
          <p:cNvSpPr/>
          <p:nvPr/>
        </p:nvSpPr>
        <p:spPr>
          <a:xfrm>
            <a:off x="4183063" y="2701925"/>
            <a:ext cx="1531937" cy="422275"/>
          </a:xfrm>
          <a:prstGeom prst="borderCallout1">
            <a:avLst>
              <a:gd name="adj1" fmla="val 27069"/>
              <a:gd name="adj2" fmla="val -4972"/>
              <a:gd name="adj3" fmla="val 78569"/>
              <a:gd name="adj4" fmla="val -13472"/>
            </a:avLst>
          </a:prstGeom>
          <a:solidFill>
            <a:srgbClr val="CCFFFF"/>
          </a:solidFill>
          <a:ln w="1905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algn="ctr"/>
            <a:r>
              <a:rPr lang="zh-CN" altLang="en-US" sz="2000" b="1" dirty="0">
                <a:latin typeface="Times New Roman" panose="02020603050405020304" charset="0"/>
                <a:ea typeface="宋体" panose="02010600030101010101" pitchFamily="2" charset="-122"/>
              </a:rPr>
              <a:t>必不可少吗？</a:t>
            </a:r>
            <a:endParaRPr lang="zh-CN" altLang="en-US" sz="2000" b="1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472170" y="1062355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>
                <a:solidFill>
                  <a:srgbClr val="FF0000"/>
                </a:solidFill>
              </a:rPr>
              <a:t>节点电流法</a:t>
            </a:r>
            <a:endParaRPr lang="zh-CN" altLang="en-US" sz="2800" b="1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7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7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7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7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3" grpId="0" bldLvl="0" animBg="1"/>
      <p:bldP spid="17419" grpId="0" bldLvl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18434" name="对象 18433"/>
          <p:cNvGraphicFramePr/>
          <p:nvPr/>
        </p:nvGraphicFramePr>
        <p:xfrm>
          <a:off x="2057400" y="1387475"/>
          <a:ext cx="3276600" cy="2419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5" name="" r:id="rId1" imgW="11782425" imgH="8696325" progId="MSPhotoEd.3">
                  <p:embed/>
                </p:oleObj>
              </mc:Choice>
              <mc:Fallback>
                <p:oleObj name="" r:id="rId1" imgW="11782425" imgH="8696325" progId="MSPhotoEd.3">
                  <p:embed/>
                  <p:pic>
                    <p:nvPicPr>
                      <p:cNvPr id="0" name="图片 312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057400" y="1387475"/>
                        <a:ext cx="3276600" cy="24193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890" name="标题 18434"/>
          <p:cNvSpPr>
            <a:spLocks noGrp="1"/>
          </p:cNvSpPr>
          <p:nvPr>
            <p:ph type="title"/>
          </p:nvPr>
        </p:nvSpPr>
        <p:spPr>
          <a:xfrm>
            <a:off x="1905000" y="609600"/>
            <a:ext cx="8077200" cy="609600"/>
          </a:xfrm>
        </p:spPr>
        <p:txBody>
          <a:bodyPr anchor="ctr" anchorCtr="0"/>
          <a:p>
            <a:pPr algn="l">
              <a:spcBef>
                <a:spcPct val="50000"/>
              </a:spcBef>
            </a:pPr>
            <a:r>
              <a:rPr lang="en-US" altLang="zh-CN" sz="2800" b="1">
                <a:solidFill>
                  <a:schemeClr val="tx1"/>
                </a:solidFill>
              </a:rPr>
              <a:t>3.</a:t>
            </a:r>
            <a:r>
              <a:rPr lang="en-US" altLang="zh-CN" sz="2800" b="1">
                <a:solidFill>
                  <a:schemeClr val="tx1"/>
                </a:solidFill>
                <a:latin typeface="宋体" panose="02010600030101010101" pitchFamily="2" charset="-122"/>
              </a:rPr>
              <a:t> </a:t>
            </a:r>
            <a:r>
              <a:rPr lang="zh-CN" altLang="zh-CN" sz="2800" b="1" dirty="0">
                <a:solidFill>
                  <a:schemeClr val="tx1"/>
                </a:solidFill>
                <a:latin typeface="宋体" panose="02010600030101010101" pitchFamily="2" charset="-122"/>
              </a:rPr>
              <a:t>加减运算</a:t>
            </a:r>
            <a:r>
              <a:rPr lang="zh-CN" altLang="en-US" sz="2800" b="1">
                <a:solidFill>
                  <a:schemeClr val="tx1"/>
                </a:solidFill>
                <a:latin typeface="宋体" panose="02010600030101010101" pitchFamily="2" charset="-122"/>
              </a:rPr>
              <a:t>   </a:t>
            </a:r>
            <a:r>
              <a:rPr lang="zh-CN" altLang="en-US" sz="2800" b="1" dirty="0">
                <a:solidFill>
                  <a:schemeClr val="tx1"/>
                </a:solidFill>
                <a:latin typeface="宋体" panose="02010600030101010101" pitchFamily="2" charset="-122"/>
              </a:rPr>
              <a:t>利用求和运算电路的分析结果</a:t>
            </a:r>
            <a:endParaRPr lang="zh-CN" altLang="en-US" sz="2800"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  <p:graphicFrame>
        <p:nvGraphicFramePr>
          <p:cNvPr id="18436" name="对象 18435"/>
          <p:cNvGraphicFramePr/>
          <p:nvPr/>
        </p:nvGraphicFramePr>
        <p:xfrm>
          <a:off x="5791200" y="2133600"/>
          <a:ext cx="3886200" cy="908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7" name="" r:id="rId3" imgW="1840865" imgH="431800" progId="Equation.3">
                  <p:embed/>
                </p:oleObj>
              </mc:Choice>
              <mc:Fallback>
                <p:oleObj name="" r:id="rId3" imgW="1840865" imgH="431800" progId="Equation.3">
                  <p:embed/>
                  <p:pic>
                    <p:nvPicPr>
                      <p:cNvPr id="0" name="图片 312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791200" y="2133600"/>
                        <a:ext cx="3886200" cy="908050"/>
                      </a:xfrm>
                      <a:prstGeom prst="rect">
                        <a:avLst/>
                      </a:prstGeom>
                      <a:solidFill>
                        <a:srgbClr val="66FFFF"/>
                      </a:solidFill>
                      <a:ln w="9525" cap="flat" cmpd="sng">
                        <a:solidFill>
                          <a:srgbClr val="FF3300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37" name="文本框 18436"/>
          <p:cNvSpPr txBox="1"/>
          <p:nvPr/>
        </p:nvSpPr>
        <p:spPr>
          <a:xfrm>
            <a:off x="5715000" y="1447800"/>
            <a:ext cx="4572000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zh-CN" sz="2400" b="1" dirty="0">
                <a:latin typeface="Times New Roman" panose="02020603050405020304" charset="0"/>
                <a:ea typeface="宋体" panose="02010600030101010101" pitchFamily="2" charset="-122"/>
              </a:rPr>
              <a:t>设  </a:t>
            </a:r>
            <a:r>
              <a:rPr lang="en-US" altLang="zh-CN" sz="2400" b="1" i="1">
                <a:latin typeface="Times New Roman" panose="02020603050405020304" charset="0"/>
                <a:ea typeface="宋体" panose="02010600030101010101" pitchFamily="2" charset="-122"/>
              </a:rPr>
              <a:t>R</a:t>
            </a:r>
            <a:r>
              <a:rPr lang="en-US" altLang="zh-CN" sz="2400" b="1" baseline="-25000">
                <a:latin typeface="Times New Roman" panose="02020603050405020304" charset="0"/>
                <a:ea typeface="宋体" panose="02010600030101010101" pitchFamily="2" charset="-122"/>
              </a:rPr>
              <a:t>1</a:t>
            </a:r>
            <a:r>
              <a:rPr lang="en-US" altLang="zh-CN" sz="2400" b="1">
                <a:latin typeface="Times New Roman" panose="02020603050405020304" charset="0"/>
                <a:ea typeface="宋体" panose="02010600030101010101" pitchFamily="2" charset="-122"/>
              </a:rPr>
              <a:t>∥ </a:t>
            </a:r>
            <a:r>
              <a:rPr lang="en-US" altLang="zh-CN" sz="2400" b="1" i="1">
                <a:latin typeface="Times New Roman" panose="02020603050405020304" charset="0"/>
                <a:ea typeface="宋体" panose="02010600030101010101" pitchFamily="2" charset="-122"/>
              </a:rPr>
              <a:t>R</a:t>
            </a:r>
            <a:r>
              <a:rPr lang="en-US" altLang="zh-CN" sz="2400" b="1" baseline="-25000">
                <a:latin typeface="Times New Roman" panose="02020603050405020304" charset="0"/>
                <a:ea typeface="宋体" panose="02010600030101010101" pitchFamily="2" charset="-122"/>
              </a:rPr>
              <a:t>2</a:t>
            </a:r>
            <a:r>
              <a:rPr lang="en-US" altLang="zh-CN" sz="2400" b="1">
                <a:latin typeface="Times New Roman" panose="02020603050405020304" charset="0"/>
                <a:ea typeface="宋体" panose="02010600030101010101" pitchFamily="2" charset="-122"/>
              </a:rPr>
              <a:t>∥ </a:t>
            </a:r>
            <a:r>
              <a:rPr lang="en-US" altLang="zh-CN" sz="2400" b="1" i="1" err="1">
                <a:latin typeface="Times New Roman" panose="02020603050405020304" charset="0"/>
                <a:ea typeface="宋体" panose="02010600030101010101" pitchFamily="2" charset="-122"/>
              </a:rPr>
              <a:t>R</a:t>
            </a:r>
            <a:r>
              <a:rPr lang="en-US" altLang="zh-CN" sz="2400" b="1" baseline="-25000" err="1">
                <a:latin typeface="Times New Roman" panose="02020603050405020304" charset="0"/>
                <a:ea typeface="宋体" panose="02010600030101010101" pitchFamily="2" charset="-122"/>
              </a:rPr>
              <a:t>f</a:t>
            </a:r>
            <a:r>
              <a:rPr lang="zh-CN" altLang="en-US" sz="2400" b="1">
                <a:latin typeface="Times New Roman" panose="02020603050405020304" charset="0"/>
                <a:ea typeface="宋体" panose="02010600030101010101" pitchFamily="2" charset="-122"/>
              </a:rPr>
              <a:t>＝ </a:t>
            </a:r>
            <a:r>
              <a:rPr lang="en-US" altLang="zh-CN" sz="2400" b="1" i="1">
                <a:latin typeface="Times New Roman" panose="02020603050405020304" charset="0"/>
                <a:ea typeface="宋体" panose="02010600030101010101" pitchFamily="2" charset="-122"/>
              </a:rPr>
              <a:t>R</a:t>
            </a:r>
            <a:r>
              <a:rPr lang="en-US" altLang="zh-CN" sz="2400" b="1" i="1" baseline="-25000">
                <a:latin typeface="Times New Roman" panose="02020603050405020304" charset="0"/>
                <a:ea typeface="宋体" panose="02010600030101010101" pitchFamily="2" charset="-122"/>
              </a:rPr>
              <a:t>3</a:t>
            </a:r>
            <a:r>
              <a:rPr lang="en-US" altLang="zh-CN" sz="2400" b="1">
                <a:latin typeface="Times New Roman" panose="02020603050405020304" charset="0"/>
                <a:ea typeface="宋体" panose="02010600030101010101" pitchFamily="2" charset="-122"/>
              </a:rPr>
              <a:t>∥ </a:t>
            </a:r>
            <a:r>
              <a:rPr lang="en-US" altLang="zh-CN" sz="2400" b="1" i="1">
                <a:latin typeface="Times New Roman" panose="02020603050405020304" charset="0"/>
                <a:ea typeface="宋体" panose="02010600030101010101" pitchFamily="2" charset="-122"/>
              </a:rPr>
              <a:t>R</a:t>
            </a:r>
            <a:r>
              <a:rPr lang="en-US" altLang="zh-CN" sz="2400" b="1" baseline="-25000">
                <a:latin typeface="Times New Roman" panose="02020603050405020304" charset="0"/>
                <a:ea typeface="宋体" panose="02010600030101010101" pitchFamily="2" charset="-122"/>
              </a:rPr>
              <a:t>4 </a:t>
            </a:r>
            <a:r>
              <a:rPr lang="en-US" altLang="zh-CN" sz="2400" b="1">
                <a:latin typeface="Times New Roman" panose="02020603050405020304" charset="0"/>
                <a:ea typeface="宋体" panose="02010600030101010101" pitchFamily="2" charset="-122"/>
              </a:rPr>
              <a:t>∥ </a:t>
            </a:r>
            <a:r>
              <a:rPr lang="en-US" altLang="zh-CN" sz="2400" b="1" i="1">
                <a:latin typeface="Times New Roman" panose="02020603050405020304" charset="0"/>
                <a:ea typeface="宋体" panose="02010600030101010101" pitchFamily="2" charset="-122"/>
              </a:rPr>
              <a:t>R</a:t>
            </a:r>
            <a:r>
              <a:rPr lang="en-US" altLang="zh-CN" sz="2400" b="1" baseline="-25000">
                <a:latin typeface="Times New Roman" panose="02020603050405020304" charset="0"/>
                <a:ea typeface="宋体" panose="02010600030101010101" pitchFamily="2" charset="-122"/>
              </a:rPr>
              <a:t>5</a:t>
            </a:r>
            <a:endParaRPr lang="en-US" altLang="zh-CN" sz="1200" b="1" baseline="-2500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graphicFrame>
        <p:nvGraphicFramePr>
          <p:cNvPr id="18438" name="对象 18437"/>
          <p:cNvGraphicFramePr/>
          <p:nvPr/>
        </p:nvGraphicFramePr>
        <p:xfrm>
          <a:off x="5867400" y="4267200"/>
          <a:ext cx="2466975" cy="827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4" name="" r:id="rId5" imgW="1167765" imgH="393700" progId="Equation.3">
                  <p:embed/>
                </p:oleObj>
              </mc:Choice>
              <mc:Fallback>
                <p:oleObj name="" r:id="rId5" imgW="1167765" imgH="393700" progId="Equation.3">
                  <p:embed/>
                  <p:pic>
                    <p:nvPicPr>
                      <p:cNvPr id="0" name="图片 3123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867400" y="4267200"/>
                        <a:ext cx="2466975" cy="827088"/>
                      </a:xfrm>
                      <a:prstGeom prst="rect">
                        <a:avLst/>
                      </a:prstGeom>
                      <a:solidFill>
                        <a:srgbClr val="66FFFF"/>
                      </a:solidFill>
                      <a:ln w="9525" cap="flat" cmpd="sng">
                        <a:solidFill>
                          <a:srgbClr val="FF3300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39" name="文本框 18438"/>
          <p:cNvSpPr txBox="1"/>
          <p:nvPr/>
        </p:nvSpPr>
        <p:spPr>
          <a:xfrm>
            <a:off x="4038600" y="3200400"/>
            <a:ext cx="6019800" cy="51562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115000"/>
              </a:lnSpc>
            </a:pPr>
            <a:r>
              <a:rPr lang="zh-CN" altLang="en-US" sz="2400" b="1">
                <a:latin typeface="Times New Roman" panose="02020603050405020304" charset="0"/>
                <a:ea typeface="宋体" panose="02010600030101010101" pitchFamily="2" charset="-122"/>
              </a:rPr>
              <a:t>若</a:t>
            </a:r>
            <a:r>
              <a:rPr lang="en-US" altLang="zh-CN" sz="2400" b="1" i="1">
                <a:latin typeface="Times New Roman" panose="02020603050405020304" charset="0"/>
                <a:ea typeface="宋体" panose="02010600030101010101" pitchFamily="2" charset="-122"/>
              </a:rPr>
              <a:t>R</a:t>
            </a:r>
            <a:r>
              <a:rPr lang="en-US" altLang="zh-CN" sz="2400" b="1" baseline="-25000">
                <a:latin typeface="Times New Roman" panose="02020603050405020304" charset="0"/>
                <a:ea typeface="宋体" panose="02010600030101010101" pitchFamily="2" charset="-122"/>
              </a:rPr>
              <a:t>1</a:t>
            </a:r>
            <a:r>
              <a:rPr lang="en-US" altLang="zh-CN" sz="2400" b="1">
                <a:latin typeface="Times New Roman" panose="02020603050405020304" charset="0"/>
                <a:ea typeface="宋体" panose="02010600030101010101" pitchFamily="2" charset="-122"/>
              </a:rPr>
              <a:t>∥ </a:t>
            </a:r>
            <a:r>
              <a:rPr lang="en-US" altLang="zh-CN" sz="2400" b="1" i="1">
                <a:latin typeface="Times New Roman" panose="02020603050405020304" charset="0"/>
                <a:ea typeface="宋体" panose="02010600030101010101" pitchFamily="2" charset="-122"/>
              </a:rPr>
              <a:t>R</a:t>
            </a:r>
            <a:r>
              <a:rPr lang="en-US" altLang="zh-CN" sz="2400" b="1" baseline="-25000">
                <a:latin typeface="Times New Roman" panose="02020603050405020304" charset="0"/>
                <a:ea typeface="宋体" panose="02010600030101010101" pitchFamily="2" charset="-122"/>
              </a:rPr>
              <a:t>2</a:t>
            </a:r>
            <a:r>
              <a:rPr lang="en-US" altLang="zh-CN" sz="2400" b="1">
                <a:latin typeface="Times New Roman" panose="02020603050405020304" charset="0"/>
                <a:ea typeface="宋体" panose="02010600030101010101" pitchFamily="2" charset="-122"/>
              </a:rPr>
              <a:t>∥ </a:t>
            </a:r>
            <a:r>
              <a:rPr lang="en-US" altLang="zh-CN" sz="2400" b="1" i="1" err="1">
                <a:latin typeface="Times New Roman" panose="02020603050405020304" charset="0"/>
                <a:ea typeface="宋体" panose="02010600030101010101" pitchFamily="2" charset="-122"/>
              </a:rPr>
              <a:t>R</a:t>
            </a:r>
            <a:r>
              <a:rPr lang="en-US" altLang="zh-CN" sz="2400" b="1" baseline="-25000" err="1">
                <a:latin typeface="Times New Roman" panose="02020603050405020304" charset="0"/>
                <a:ea typeface="宋体" panose="02010600030101010101" pitchFamily="2" charset="-122"/>
              </a:rPr>
              <a:t>f</a:t>
            </a:r>
            <a:r>
              <a:rPr lang="en-US" altLang="zh-CN" sz="2400" b="1">
                <a:latin typeface="Times New Roman" panose="02020603050405020304" charset="0"/>
                <a:ea typeface="宋体" panose="02010600030101010101" pitchFamily="2" charset="-122"/>
              </a:rPr>
              <a:t>≠ </a:t>
            </a:r>
            <a:r>
              <a:rPr lang="en-US" altLang="zh-CN" sz="2400" b="1" i="1">
                <a:latin typeface="Times New Roman" panose="02020603050405020304" charset="0"/>
                <a:ea typeface="宋体" panose="02010600030101010101" pitchFamily="2" charset="-122"/>
              </a:rPr>
              <a:t>R</a:t>
            </a:r>
            <a:r>
              <a:rPr lang="en-US" altLang="zh-CN" sz="2400" b="1" i="1" baseline="-25000">
                <a:latin typeface="Times New Roman" panose="02020603050405020304" charset="0"/>
                <a:ea typeface="宋体" panose="02010600030101010101" pitchFamily="2" charset="-122"/>
              </a:rPr>
              <a:t>3</a:t>
            </a:r>
            <a:r>
              <a:rPr lang="en-US" altLang="zh-CN" sz="2400" b="1">
                <a:latin typeface="Times New Roman" panose="02020603050405020304" charset="0"/>
                <a:ea typeface="宋体" panose="02010600030101010101" pitchFamily="2" charset="-122"/>
              </a:rPr>
              <a:t>∥ </a:t>
            </a:r>
            <a:r>
              <a:rPr lang="en-US" altLang="zh-CN" sz="2400" b="1" i="1">
                <a:latin typeface="Times New Roman" panose="02020603050405020304" charset="0"/>
                <a:ea typeface="宋体" panose="02010600030101010101" pitchFamily="2" charset="-122"/>
              </a:rPr>
              <a:t>R</a:t>
            </a:r>
            <a:r>
              <a:rPr lang="en-US" altLang="zh-CN" sz="2400" b="1" baseline="-25000">
                <a:latin typeface="Times New Roman" panose="02020603050405020304" charset="0"/>
                <a:ea typeface="宋体" panose="02010600030101010101" pitchFamily="2" charset="-122"/>
              </a:rPr>
              <a:t>4 </a:t>
            </a:r>
            <a:r>
              <a:rPr lang="en-US" altLang="zh-CN" sz="2400" b="1">
                <a:latin typeface="Times New Roman" panose="02020603050405020304" charset="0"/>
                <a:ea typeface="宋体" panose="02010600030101010101" pitchFamily="2" charset="-122"/>
              </a:rPr>
              <a:t>∥ </a:t>
            </a:r>
            <a:r>
              <a:rPr lang="en-US" altLang="zh-CN" sz="2400" b="1" i="1">
                <a:latin typeface="Times New Roman" panose="02020603050405020304" charset="0"/>
                <a:ea typeface="宋体" panose="02010600030101010101" pitchFamily="2" charset="-122"/>
              </a:rPr>
              <a:t>R</a:t>
            </a:r>
            <a:r>
              <a:rPr lang="en-US" altLang="zh-CN" sz="2400" b="1" baseline="-25000">
                <a:latin typeface="Times New Roman" panose="02020603050405020304" charset="0"/>
                <a:ea typeface="宋体" panose="02010600030101010101" pitchFamily="2" charset="-122"/>
              </a:rPr>
              <a:t>5</a:t>
            </a:r>
            <a:r>
              <a:rPr lang="zh-CN" altLang="en-US" sz="2400" b="1">
                <a:latin typeface="Times New Roman" panose="02020603050405020304" charset="0"/>
                <a:ea typeface="宋体" panose="02010600030101010101" pitchFamily="2" charset="-122"/>
              </a:rPr>
              <a:t>，</a:t>
            </a:r>
            <a:r>
              <a:rPr lang="en-US" altLang="zh-CN" sz="2400" b="1" i="1" err="1">
                <a:latin typeface="Times New Roman" panose="02020603050405020304" charset="0"/>
                <a:ea typeface="宋体" panose="02010600030101010101" pitchFamily="2" charset="-122"/>
              </a:rPr>
              <a:t>u</a:t>
            </a:r>
            <a:r>
              <a:rPr lang="en-US" altLang="zh-CN" sz="2400" b="1" baseline="-25000" err="1">
                <a:latin typeface="Times New Roman" panose="02020603050405020304" charset="0"/>
                <a:ea typeface="宋体" panose="02010600030101010101" pitchFamily="2" charset="-122"/>
              </a:rPr>
              <a:t>O</a:t>
            </a:r>
            <a:r>
              <a:rPr lang="zh-CN" altLang="en-US" sz="2400" b="1">
                <a:latin typeface="Times New Roman" panose="02020603050405020304" charset="0"/>
                <a:ea typeface="宋体" panose="02010600030101010101" pitchFamily="2" charset="-122"/>
              </a:rPr>
              <a:t>＝</a:t>
            </a:r>
            <a:r>
              <a:rPr lang="en-US" altLang="zh-CN" sz="2400" b="1">
                <a:latin typeface="Times New Roman" panose="02020603050405020304" charset="0"/>
                <a:ea typeface="宋体" panose="02010600030101010101" pitchFamily="2" charset="-122"/>
              </a:rPr>
              <a:t>?</a:t>
            </a:r>
            <a:endParaRPr lang="en-US" altLang="zh-CN" sz="2400" b="1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18440" name="线形标注 1 18439"/>
          <p:cNvSpPr/>
          <p:nvPr/>
        </p:nvSpPr>
        <p:spPr>
          <a:xfrm>
            <a:off x="7616825" y="5321300"/>
            <a:ext cx="1527175" cy="774700"/>
          </a:xfrm>
          <a:prstGeom prst="borderCallout1">
            <a:avLst>
              <a:gd name="adj1" fmla="val 14755"/>
              <a:gd name="adj2" fmla="val -4991"/>
              <a:gd name="adj3" fmla="val -30125"/>
              <a:gd name="adj4" fmla="val -41162"/>
            </a:avLst>
          </a:prstGeom>
          <a:solidFill>
            <a:srgbClr val="CCFFFF"/>
          </a:solidFill>
          <a:ln w="1905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algn="ctr"/>
            <a:r>
              <a:rPr lang="zh-CN" altLang="en-US" sz="2000" b="1" dirty="0">
                <a:latin typeface="Times New Roman" panose="02020603050405020304" charset="0"/>
                <a:ea typeface="宋体" panose="02010600030101010101" pitchFamily="2" charset="-122"/>
              </a:rPr>
              <a:t>实现了差分放大电路</a:t>
            </a:r>
            <a:endParaRPr lang="zh-CN" altLang="en-US" sz="2000" b="1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graphicFrame>
        <p:nvGraphicFramePr>
          <p:cNvPr id="18441" name="对象 18440"/>
          <p:cNvGraphicFramePr/>
          <p:nvPr/>
        </p:nvGraphicFramePr>
        <p:xfrm>
          <a:off x="2209800" y="3886200"/>
          <a:ext cx="3200400" cy="208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9" name="" r:id="rId7" imgW="11668125" imgH="7591425" progId="MSPhotoEd.3">
                  <p:embed/>
                </p:oleObj>
              </mc:Choice>
              <mc:Fallback>
                <p:oleObj name="" r:id="rId7" imgW="11668125" imgH="7591425" progId="MSPhotoEd.3">
                  <p:embed/>
                  <p:pic>
                    <p:nvPicPr>
                      <p:cNvPr id="0" name="图片 3118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209800" y="3886200"/>
                        <a:ext cx="3200400" cy="2082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>
                                            <p:txEl>
                                              <p:charRg st="0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437">
                                            <p:txEl>
                                              <p:charRg st="0" end="2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8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9">
                                            <p:txEl>
                                              <p:charRg st="0" end="3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8439">
                                            <p:txEl>
                                              <p:charRg st="0" end="3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8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8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7" grpId="0" build="p"/>
      <p:bldP spid="18439" grpId="0" build="p"/>
      <p:bldP spid="18440" grpId="0" bldLvl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4" name="标题 3073"/>
          <p:cNvSpPr>
            <a:spLocks noGrp="1"/>
          </p:cNvSpPr>
          <p:nvPr>
            <p:ph type="ctrTitle"/>
          </p:nvPr>
        </p:nvSpPr>
        <p:spPr>
          <a:xfrm>
            <a:off x="2135188" y="1557338"/>
            <a:ext cx="7772400" cy="609600"/>
          </a:xfrm>
        </p:spPr>
        <p:txBody>
          <a:bodyPr anchor="ctr" anchorCtr="0"/>
          <a:p>
            <a:pPr defTabSz="914400">
              <a:buClrTx/>
              <a:buSzTx/>
              <a:buFontTx/>
              <a:buNone/>
            </a:pPr>
            <a:r>
              <a:rPr lang="en-US" altLang="zh-CN" sz="4400" kern="1200" baseline="0">
                <a:latin typeface="隶书" panose="02010509060101010101" pitchFamily="49" charset="-122"/>
                <a:ea typeface="隶书" panose="02010509060101010101" pitchFamily="49" charset="-122"/>
              </a:rPr>
              <a:t>5.3  </a:t>
            </a:r>
            <a:r>
              <a:rPr lang="zh-CN" altLang="en-US" sz="4400" kern="1200" baseline="0" dirty="0">
                <a:latin typeface="隶书" panose="02010509060101010101" pitchFamily="49" charset="-122"/>
                <a:ea typeface="隶书" panose="02010509060101010101" pitchFamily="49" charset="-122"/>
              </a:rPr>
              <a:t>电压比较器</a:t>
            </a:r>
            <a:endParaRPr lang="zh-CN" altLang="en-US" sz="4400" kern="1200" baseline="0"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3075" name="文本框 3074">
            <a:hlinkClick r:id="" action="ppaction://hlinkshowjump?jump=nextslide"/>
          </p:cNvPr>
          <p:cNvSpPr txBox="1"/>
          <p:nvPr/>
        </p:nvSpPr>
        <p:spPr>
          <a:xfrm>
            <a:off x="3581400" y="2819400"/>
            <a:ext cx="3962400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3200" dirty="0">
                <a:latin typeface="Times New Roman" panose="02020603050405020304" charset="0"/>
                <a:ea typeface="隶书" panose="02010509060101010101" pitchFamily="49" charset="-122"/>
              </a:rPr>
              <a:t>一、概述</a:t>
            </a:r>
            <a:endParaRPr lang="zh-CN" altLang="en-US" sz="3200">
              <a:latin typeface="Times New Roman" panose="02020603050405020304" charset="0"/>
              <a:ea typeface="隶书" panose="02010509060101010101" pitchFamily="49" charset="-122"/>
            </a:endParaRPr>
          </a:p>
        </p:txBody>
      </p:sp>
      <p:sp>
        <p:nvSpPr>
          <p:cNvPr id="3076" name="文本框 3075">
            <a:hlinkClick r:id="rId1" action="ppaction://hlinksldjump"/>
          </p:cNvPr>
          <p:cNvSpPr txBox="1"/>
          <p:nvPr/>
        </p:nvSpPr>
        <p:spPr>
          <a:xfrm>
            <a:off x="3581400" y="3352800"/>
            <a:ext cx="3200400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3200" dirty="0">
                <a:latin typeface="Times New Roman" panose="02020603050405020304" charset="0"/>
                <a:ea typeface="隶书" panose="02010509060101010101" pitchFamily="49" charset="-122"/>
              </a:rPr>
              <a:t>二、单限比较器</a:t>
            </a:r>
            <a:endParaRPr lang="zh-CN" altLang="en-US" sz="3200">
              <a:latin typeface="Times New Roman" panose="02020603050405020304" charset="0"/>
              <a:ea typeface="隶书" panose="02010509060101010101" pitchFamily="49" charset="-122"/>
            </a:endParaRPr>
          </a:p>
        </p:txBody>
      </p:sp>
      <p:sp>
        <p:nvSpPr>
          <p:cNvPr id="3077" name="文本框 3076">
            <a:hlinkClick r:id="rId2" action="ppaction://hlinksldjump"/>
          </p:cNvPr>
          <p:cNvSpPr txBox="1"/>
          <p:nvPr/>
        </p:nvSpPr>
        <p:spPr>
          <a:xfrm>
            <a:off x="3581400" y="3886200"/>
            <a:ext cx="3124200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3200" dirty="0">
                <a:latin typeface="Times New Roman" panose="02020603050405020304" charset="0"/>
                <a:ea typeface="隶书" panose="02010509060101010101" pitchFamily="49" charset="-122"/>
              </a:rPr>
              <a:t>三、滞回比较器</a:t>
            </a:r>
            <a:endParaRPr lang="zh-CN" altLang="en-US" sz="3200">
              <a:latin typeface="Times New Roman" panose="02020603050405020304" charset="0"/>
              <a:ea typeface="隶书" panose="02010509060101010101" pitchFamily="49" charset="-122"/>
            </a:endParaRPr>
          </a:p>
        </p:txBody>
      </p:sp>
      <p:sp>
        <p:nvSpPr>
          <p:cNvPr id="3078" name="文本框 3077">
            <a:hlinkClick r:id="rId3" action="ppaction://hlinksldjump"/>
          </p:cNvPr>
          <p:cNvSpPr txBox="1"/>
          <p:nvPr/>
        </p:nvSpPr>
        <p:spPr>
          <a:xfrm>
            <a:off x="3581400" y="4419600"/>
            <a:ext cx="3581400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3200" dirty="0">
                <a:latin typeface="Times New Roman" panose="02020603050405020304" charset="0"/>
                <a:ea typeface="隶书" panose="02010509060101010101" pitchFamily="49" charset="-122"/>
              </a:rPr>
              <a:t>四、窗口比较器</a:t>
            </a:r>
            <a:endParaRPr lang="zh-CN" altLang="en-US" sz="3200">
              <a:latin typeface="Times New Roman" panose="02020603050405020304" charset="0"/>
              <a:ea typeface="隶书" panose="02010509060101010101" pitchFamily="49" charset="-122"/>
            </a:endParaRPr>
          </a:p>
        </p:txBody>
      </p:sp>
      <p:sp>
        <p:nvSpPr>
          <p:cNvPr id="3079" name="文本框 3078">
            <a:hlinkClick r:id="rId4" action="ppaction://hlinksldjump"/>
          </p:cNvPr>
          <p:cNvSpPr txBox="1"/>
          <p:nvPr/>
        </p:nvSpPr>
        <p:spPr>
          <a:xfrm>
            <a:off x="3581400" y="4953000"/>
            <a:ext cx="4191000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3200" dirty="0">
                <a:latin typeface="Times New Roman" panose="02020603050405020304" charset="0"/>
                <a:ea typeface="隶书" panose="02010509060101010101" pitchFamily="49" charset="-122"/>
              </a:rPr>
              <a:t>五、集成电压比较器</a:t>
            </a:r>
            <a:endParaRPr lang="zh-CN" altLang="en-US" sz="3200">
              <a:latin typeface="Times New Roman" panose="02020603050405020304" charset="0"/>
              <a:ea typeface="隶书" panose="02010509060101010101" pitchFamily="49" charset="-122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6" name="标题 6145"/>
          <p:cNvSpPr>
            <a:spLocks noGrp="1"/>
          </p:cNvSpPr>
          <p:nvPr>
            <p:ph type="title"/>
          </p:nvPr>
        </p:nvSpPr>
        <p:spPr>
          <a:xfrm>
            <a:off x="1828800" y="609600"/>
            <a:ext cx="7772400" cy="762000"/>
          </a:xfrm>
        </p:spPr>
        <p:txBody>
          <a:bodyPr anchor="ctr" anchorCtr="0"/>
          <a:p>
            <a:pPr algn="l"/>
            <a:r>
              <a:rPr lang="zh-CN" altLang="en-US" sz="3600" b="1" dirty="0">
                <a:ea typeface="隶书" panose="02010509060101010101" pitchFamily="49" charset="-122"/>
              </a:rPr>
              <a:t>一、概述</a:t>
            </a:r>
            <a:endParaRPr lang="zh-CN" altLang="en-US" sz="3600" b="1" dirty="0"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6147" name="文本框 6146"/>
          <p:cNvSpPr txBox="1"/>
          <p:nvPr/>
        </p:nvSpPr>
        <p:spPr>
          <a:xfrm>
            <a:off x="2133600" y="1447800"/>
            <a:ext cx="7543800" cy="21583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10000"/>
              </a:spcBef>
            </a:pPr>
            <a:r>
              <a:rPr lang="en-US" altLang="zh-CN" sz="2400" b="1">
                <a:solidFill>
                  <a:schemeClr val="tx2"/>
                </a:solidFill>
                <a:latin typeface="Times New Roman" panose="02020603050405020304" charset="0"/>
              </a:rPr>
              <a:t>1.  </a:t>
            </a:r>
            <a:r>
              <a:rPr lang="zh-CN" altLang="en-US" sz="2400" b="1" dirty="0">
                <a:solidFill>
                  <a:schemeClr val="tx2"/>
                </a:solidFill>
                <a:latin typeface="Times New Roman" panose="02020603050405020304" charset="0"/>
              </a:rPr>
              <a:t>电压比较器的功能：比较电压的大小。</a:t>
            </a:r>
            <a:endParaRPr lang="zh-CN" altLang="en-US" sz="2400" b="1" dirty="0">
              <a:solidFill>
                <a:schemeClr val="tx2"/>
              </a:solidFill>
              <a:latin typeface="Times New Roman" panose="02020603050405020304" charset="0"/>
            </a:endParaRPr>
          </a:p>
          <a:p>
            <a:pPr>
              <a:lnSpc>
                <a:spcPct val="115000"/>
              </a:lnSpc>
            </a:pPr>
            <a:r>
              <a:rPr lang="zh-CN" altLang="en-US" sz="2400" b="1" dirty="0">
                <a:solidFill>
                  <a:schemeClr val="tx2"/>
                </a:solidFill>
                <a:latin typeface="Times New Roman" panose="02020603050405020304" charset="0"/>
              </a:rPr>
              <a:t>    广泛用于各种报警电路。</a:t>
            </a:r>
            <a:endParaRPr lang="zh-CN" altLang="en-US" sz="2400" b="1" dirty="0">
              <a:solidFill>
                <a:schemeClr val="tx2"/>
              </a:solidFill>
              <a:latin typeface="Times New Roman" panose="02020603050405020304" charset="0"/>
            </a:endParaRPr>
          </a:p>
          <a:p>
            <a:pPr>
              <a:lnSpc>
                <a:spcPct val="115000"/>
              </a:lnSpc>
            </a:pPr>
            <a:r>
              <a:rPr lang="zh-CN" altLang="en-US" sz="2400" b="1" dirty="0">
                <a:solidFill>
                  <a:schemeClr val="tx2"/>
                </a:solidFill>
                <a:latin typeface="Times New Roman" panose="02020603050405020304" charset="0"/>
              </a:rPr>
              <a:t>    输入电压是连续的模拟信号；输出电压表示比较的结果，只有高电平和低电平两种情况。</a:t>
            </a:r>
            <a:endParaRPr lang="zh-CN" altLang="en-US" sz="2400" b="1" dirty="0">
              <a:solidFill>
                <a:schemeClr val="tx2"/>
              </a:solidFill>
              <a:latin typeface="Times New Roman" panose="02020603050405020304" charset="0"/>
            </a:endParaRPr>
          </a:p>
          <a:p>
            <a:pPr>
              <a:lnSpc>
                <a:spcPct val="115000"/>
              </a:lnSpc>
            </a:pPr>
            <a:r>
              <a:rPr lang="zh-CN" altLang="en-US" sz="2400" b="1" dirty="0">
                <a:solidFill>
                  <a:schemeClr val="tx2"/>
                </a:solidFill>
                <a:latin typeface="Times New Roman" panose="02020603050405020304" charset="0"/>
              </a:rPr>
              <a:t>    使输出产生跃变的输入电压称为阈值电压。</a:t>
            </a:r>
            <a:endParaRPr lang="zh-CN" altLang="en-US" sz="2400" b="1" dirty="0">
              <a:solidFill>
                <a:schemeClr val="tx2"/>
              </a:solidFill>
              <a:latin typeface="Times New Roman" panose="02020603050405020304" charset="0"/>
            </a:endParaRPr>
          </a:p>
        </p:txBody>
      </p:sp>
      <p:sp>
        <p:nvSpPr>
          <p:cNvPr id="6148" name="文本框 6147"/>
          <p:cNvSpPr txBox="1"/>
          <p:nvPr/>
        </p:nvSpPr>
        <p:spPr>
          <a:xfrm>
            <a:off x="2133600" y="3733800"/>
            <a:ext cx="77724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Aft>
                <a:spcPct val="20000"/>
              </a:spcAft>
            </a:pPr>
            <a:r>
              <a:rPr lang="en-US" altLang="zh-CN" sz="2400" b="1">
                <a:solidFill>
                  <a:schemeClr val="tx2"/>
                </a:solidFill>
                <a:latin typeface="Times New Roman" panose="02020603050405020304" charset="0"/>
              </a:rPr>
              <a:t>2.  </a:t>
            </a:r>
            <a:r>
              <a:rPr lang="zh-CN" altLang="en-US" sz="2400" b="1" dirty="0">
                <a:solidFill>
                  <a:schemeClr val="tx2"/>
                </a:solidFill>
                <a:latin typeface="Times New Roman" panose="02020603050405020304" charset="0"/>
              </a:rPr>
              <a:t>电压比较器的描述方法 </a:t>
            </a:r>
            <a:r>
              <a:rPr lang="en-US" altLang="zh-CN" sz="2400" b="1">
                <a:solidFill>
                  <a:schemeClr val="tx2"/>
                </a:solidFill>
                <a:latin typeface="Times New Roman" panose="02020603050405020304" charset="0"/>
              </a:rPr>
              <a:t>:</a:t>
            </a:r>
            <a:r>
              <a:rPr lang="zh-CN" altLang="en-US" sz="2400" b="1" dirty="0">
                <a:solidFill>
                  <a:schemeClr val="tx2"/>
                </a:solidFill>
                <a:latin typeface="Times New Roman" panose="02020603050405020304" charset="0"/>
              </a:rPr>
              <a:t>电压传输特性 </a:t>
            </a:r>
            <a:r>
              <a:rPr lang="en-US" altLang="zh-CN" sz="2400" b="1" i="1" dirty="0" err="1">
                <a:solidFill>
                  <a:schemeClr val="tx2"/>
                </a:solidFill>
                <a:latin typeface="Times New Roman" panose="02020603050405020304" charset="0"/>
              </a:rPr>
              <a:t>u</a:t>
            </a:r>
            <a:r>
              <a:rPr lang="en-US" altLang="zh-CN" sz="2400" b="1" baseline="-25000" dirty="0" err="1">
                <a:solidFill>
                  <a:schemeClr val="tx2"/>
                </a:solidFill>
                <a:latin typeface="Times New Roman" panose="02020603050405020304" charset="0"/>
              </a:rPr>
              <a:t>O</a:t>
            </a:r>
            <a:r>
              <a:rPr lang="zh-CN" altLang="en-US" sz="2400" b="1">
                <a:solidFill>
                  <a:schemeClr val="tx2"/>
                </a:solidFill>
                <a:latin typeface="Times New Roman" panose="02020603050405020304" charset="0"/>
              </a:rPr>
              <a:t>＝</a:t>
            </a:r>
            <a:r>
              <a:rPr lang="en-US" altLang="zh-CN" sz="2400" b="1" i="1" dirty="0" err="1">
                <a:solidFill>
                  <a:schemeClr val="tx2"/>
                </a:solidFill>
                <a:latin typeface="Times New Roman" panose="02020603050405020304" charset="0"/>
              </a:rPr>
              <a:t>f</a:t>
            </a:r>
            <a:r>
              <a:rPr lang="en-US" altLang="zh-CN" sz="2400" b="1" dirty="0" err="1">
                <a:solidFill>
                  <a:schemeClr val="tx2"/>
                </a:solidFill>
                <a:latin typeface="Times New Roman" panose="02020603050405020304" charset="0"/>
              </a:rPr>
              <a:t>(</a:t>
            </a:r>
            <a:r>
              <a:rPr lang="en-US" altLang="zh-CN" sz="2400" b="1" i="1" dirty="0" err="1">
                <a:solidFill>
                  <a:schemeClr val="tx2"/>
                </a:solidFill>
                <a:latin typeface="Times New Roman" panose="02020603050405020304" charset="0"/>
              </a:rPr>
              <a:t>u</a:t>
            </a:r>
            <a:r>
              <a:rPr lang="en-US" altLang="zh-CN" sz="2400" b="1" baseline="-25000" dirty="0" err="1">
                <a:solidFill>
                  <a:schemeClr val="tx2"/>
                </a:solidFill>
                <a:latin typeface="Times New Roman" panose="02020603050405020304" charset="0"/>
              </a:rPr>
              <a:t>I</a:t>
            </a:r>
            <a:r>
              <a:rPr lang="en-US" altLang="zh-CN" sz="2400" b="1">
                <a:solidFill>
                  <a:schemeClr val="tx2"/>
                </a:solidFill>
                <a:latin typeface="Times New Roman" panose="02020603050405020304" charset="0"/>
              </a:rPr>
              <a:t>)</a:t>
            </a:r>
            <a:endParaRPr lang="en-US" altLang="zh-CN" sz="2400" b="1">
              <a:solidFill>
                <a:schemeClr val="tx2"/>
              </a:solidFill>
              <a:latin typeface="Times New Roman" panose="02020603050405020304" charset="0"/>
            </a:endParaRPr>
          </a:p>
        </p:txBody>
      </p:sp>
      <p:sp>
        <p:nvSpPr>
          <p:cNvPr id="6149" name="文本框 6148"/>
          <p:cNvSpPr txBox="1"/>
          <p:nvPr/>
        </p:nvSpPr>
        <p:spPr>
          <a:xfrm>
            <a:off x="2362200" y="4114800"/>
            <a:ext cx="7467600" cy="178879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15000"/>
              </a:lnSpc>
            </a:pPr>
            <a:r>
              <a:rPr lang="zh-CN" altLang="en-US" sz="2400" b="1" dirty="0">
                <a:solidFill>
                  <a:schemeClr val="tx2"/>
                </a:solidFill>
                <a:latin typeface="Times New Roman" panose="02020603050405020304" charset="0"/>
              </a:rPr>
              <a:t>电压传输特性的三个要素：</a:t>
            </a:r>
            <a:endParaRPr lang="zh-CN" altLang="en-US" sz="2400" b="1" dirty="0">
              <a:solidFill>
                <a:schemeClr val="tx2"/>
              </a:solidFill>
              <a:latin typeface="Times New Roman" panose="02020603050405020304" charset="0"/>
            </a:endParaRPr>
          </a:p>
          <a:p>
            <a:pPr>
              <a:lnSpc>
                <a:spcPct val="115000"/>
              </a:lnSpc>
            </a:pPr>
            <a:r>
              <a:rPr lang="zh-CN" altLang="en-US" sz="2400" b="1" dirty="0">
                <a:solidFill>
                  <a:schemeClr val="tx2"/>
                </a:solidFill>
                <a:latin typeface="Times New Roman" panose="02020603050405020304" charset="0"/>
              </a:rPr>
              <a:t>（</a:t>
            </a:r>
            <a:r>
              <a:rPr lang="en-US" altLang="zh-CN" sz="2400" b="1">
                <a:solidFill>
                  <a:schemeClr val="tx2"/>
                </a:solidFill>
                <a:latin typeface="Times New Roman" panose="02020603050405020304" charset="0"/>
              </a:rPr>
              <a:t>1</a:t>
            </a:r>
            <a:r>
              <a:rPr lang="zh-CN" altLang="en-US" sz="2400" b="1" dirty="0">
                <a:solidFill>
                  <a:schemeClr val="tx2"/>
                </a:solidFill>
                <a:latin typeface="Times New Roman" panose="02020603050405020304" charset="0"/>
              </a:rPr>
              <a:t>）输出高电平</a:t>
            </a:r>
            <a:r>
              <a:rPr lang="en-US" altLang="zh-CN" sz="2400" b="1" i="1">
                <a:solidFill>
                  <a:schemeClr val="tx2"/>
                </a:solidFill>
                <a:latin typeface="Times New Roman" panose="02020603050405020304" charset="0"/>
              </a:rPr>
              <a:t>U</a:t>
            </a:r>
            <a:r>
              <a:rPr lang="en-US" altLang="zh-CN" sz="2400" b="1" baseline="-25000">
                <a:solidFill>
                  <a:schemeClr val="tx2"/>
                </a:solidFill>
                <a:latin typeface="Times New Roman" panose="02020603050405020304" charset="0"/>
              </a:rPr>
              <a:t>OH</a:t>
            </a:r>
            <a:r>
              <a:rPr lang="zh-CN" altLang="en-US" sz="2400" b="1" dirty="0">
                <a:solidFill>
                  <a:schemeClr val="tx2"/>
                </a:solidFill>
                <a:latin typeface="Times New Roman" panose="02020603050405020304" charset="0"/>
              </a:rPr>
              <a:t>和输出低电平</a:t>
            </a:r>
            <a:r>
              <a:rPr lang="en-US" altLang="zh-CN" sz="2400" b="1" i="1">
                <a:solidFill>
                  <a:schemeClr val="tx2"/>
                </a:solidFill>
                <a:latin typeface="Times New Roman" panose="02020603050405020304" charset="0"/>
              </a:rPr>
              <a:t>U</a:t>
            </a:r>
            <a:r>
              <a:rPr lang="en-US" altLang="zh-CN" sz="2400" b="1" baseline="-25000">
                <a:solidFill>
                  <a:schemeClr val="tx2"/>
                </a:solidFill>
                <a:latin typeface="Times New Roman" panose="02020603050405020304" charset="0"/>
              </a:rPr>
              <a:t>OL</a:t>
            </a:r>
            <a:endParaRPr lang="en-US" altLang="zh-CN" sz="2400" b="1">
              <a:solidFill>
                <a:schemeClr val="tx2"/>
              </a:solidFill>
              <a:latin typeface="Times New Roman" panose="02020603050405020304" charset="0"/>
            </a:endParaRPr>
          </a:p>
          <a:p>
            <a:pPr>
              <a:lnSpc>
                <a:spcPct val="115000"/>
              </a:lnSpc>
            </a:pPr>
            <a:r>
              <a:rPr lang="zh-CN" altLang="en-US" sz="2400" b="1">
                <a:solidFill>
                  <a:schemeClr val="tx2"/>
                </a:solidFill>
                <a:latin typeface="Times New Roman" panose="02020603050405020304" charset="0"/>
              </a:rPr>
              <a:t>（</a:t>
            </a:r>
            <a:r>
              <a:rPr lang="en-US" altLang="zh-CN" sz="2400" b="1">
                <a:solidFill>
                  <a:schemeClr val="tx2"/>
                </a:solidFill>
                <a:latin typeface="Times New Roman" panose="02020603050405020304" charset="0"/>
              </a:rPr>
              <a:t>2</a:t>
            </a:r>
            <a:r>
              <a:rPr lang="zh-CN" altLang="en-US" sz="2400" b="1">
                <a:solidFill>
                  <a:schemeClr val="tx2"/>
                </a:solidFill>
                <a:latin typeface="Times New Roman" panose="02020603050405020304" charset="0"/>
              </a:rPr>
              <a:t>）</a:t>
            </a:r>
            <a:r>
              <a:rPr lang="zh-CN" altLang="en-US" sz="2400" b="1" dirty="0">
                <a:solidFill>
                  <a:schemeClr val="tx2"/>
                </a:solidFill>
                <a:latin typeface="Times New Roman" panose="02020603050405020304" charset="0"/>
              </a:rPr>
              <a:t>阈值电压</a:t>
            </a:r>
            <a:r>
              <a:rPr lang="en-US" altLang="zh-CN" sz="2400" b="1" i="1">
                <a:solidFill>
                  <a:schemeClr val="tx2"/>
                </a:solidFill>
                <a:latin typeface="Times New Roman" panose="02020603050405020304" charset="0"/>
              </a:rPr>
              <a:t>U</a:t>
            </a:r>
            <a:r>
              <a:rPr lang="en-US" altLang="zh-CN" sz="2400" b="1" baseline="-25000">
                <a:solidFill>
                  <a:schemeClr val="tx2"/>
                </a:solidFill>
                <a:latin typeface="Times New Roman" panose="02020603050405020304" charset="0"/>
              </a:rPr>
              <a:t>T</a:t>
            </a:r>
            <a:endParaRPr lang="en-US" altLang="zh-CN" sz="2400" b="1">
              <a:solidFill>
                <a:schemeClr val="tx2"/>
              </a:solidFill>
              <a:latin typeface="Times New Roman" panose="02020603050405020304" charset="0"/>
            </a:endParaRPr>
          </a:p>
          <a:p>
            <a:pPr>
              <a:lnSpc>
                <a:spcPct val="115000"/>
              </a:lnSpc>
            </a:pPr>
            <a:r>
              <a:rPr lang="zh-CN" altLang="en-US" sz="2400" b="1">
                <a:solidFill>
                  <a:schemeClr val="tx2"/>
                </a:solidFill>
                <a:latin typeface="Times New Roman" panose="02020603050405020304" charset="0"/>
              </a:rPr>
              <a:t>（</a:t>
            </a:r>
            <a:r>
              <a:rPr lang="en-US" altLang="zh-CN" sz="2400" b="1">
                <a:solidFill>
                  <a:schemeClr val="tx2"/>
                </a:solidFill>
                <a:latin typeface="Times New Roman" panose="02020603050405020304" charset="0"/>
              </a:rPr>
              <a:t>3</a:t>
            </a:r>
            <a:r>
              <a:rPr lang="zh-CN" altLang="en-US" sz="2400" b="1">
                <a:solidFill>
                  <a:schemeClr val="tx2"/>
                </a:solidFill>
                <a:latin typeface="Times New Roman" panose="02020603050405020304" charset="0"/>
              </a:rPr>
              <a:t>）</a:t>
            </a:r>
            <a:r>
              <a:rPr lang="zh-CN" altLang="en-US" sz="2400" b="1" dirty="0">
                <a:solidFill>
                  <a:schemeClr val="tx2"/>
                </a:solidFill>
                <a:latin typeface="Times New Roman" panose="02020603050405020304" charset="0"/>
              </a:rPr>
              <a:t>输入电压过阈值电压时输出电压跃变的方向</a:t>
            </a:r>
            <a:endParaRPr lang="zh-CN" altLang="en-US" sz="2400" b="1" dirty="0">
              <a:solidFill>
                <a:schemeClr val="tx2"/>
              </a:solidFill>
              <a:latin typeface="Times New Roman" panose="020206030504050203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charRg st="0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147">
                                            <p:txEl>
                                              <p:charRg st="0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charRg st="22" end="3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147">
                                            <p:txEl>
                                              <p:charRg st="22" end="3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charRg st="38" end="8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147">
                                            <p:txEl>
                                              <p:charRg st="38" end="8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charRg st="82" end="10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147">
                                            <p:txEl>
                                              <p:charRg st="82" end="10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charRg st="0" end="3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148">
                                            <p:txEl>
                                              <p:charRg st="0" end="3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>
                                            <p:txEl>
                                              <p:charRg st="0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149">
                                            <p:txEl>
                                              <p:charRg st="0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>
                                            <p:txEl>
                                              <p:charRg st="13" end="3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149">
                                            <p:txEl>
                                              <p:charRg st="13" end="3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>
                                            <p:txEl>
                                              <p:charRg st="34" end="4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149">
                                            <p:txEl>
                                              <p:charRg st="34" end="4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>
                                            <p:txEl>
                                              <p:charRg st="44" end="6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6149">
                                            <p:txEl>
                                              <p:charRg st="44" end="6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build="p"/>
      <p:bldP spid="6148" grpId="0" build="p"/>
      <p:bldP spid="6149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标题 7169"/>
          <p:cNvSpPr>
            <a:spLocks noGrp="1"/>
          </p:cNvSpPr>
          <p:nvPr>
            <p:ph type="title"/>
          </p:nvPr>
        </p:nvSpPr>
        <p:spPr>
          <a:xfrm>
            <a:off x="1981200" y="609600"/>
            <a:ext cx="4724400" cy="381000"/>
          </a:xfrm>
        </p:spPr>
        <p:txBody>
          <a:bodyPr anchor="ctr" anchorCtr="0"/>
          <a:p>
            <a:pPr algn="l"/>
            <a:r>
              <a:rPr lang="en-US" altLang="zh-CN" sz="2800" b="1"/>
              <a:t>3.</a:t>
            </a:r>
            <a:r>
              <a:rPr lang="en-US" altLang="zh-CN" sz="2800" b="1">
                <a:latin typeface="宋体" panose="02010600030101010101" pitchFamily="2" charset="-122"/>
              </a:rPr>
              <a:t> </a:t>
            </a:r>
            <a:r>
              <a:rPr lang="zh-CN" altLang="en-US" sz="2800" b="1" dirty="0">
                <a:latin typeface="宋体" panose="02010600030101010101" pitchFamily="2" charset="-122"/>
              </a:rPr>
              <a:t>几种常用的电压比较器</a:t>
            </a:r>
            <a:endParaRPr lang="zh-CN" altLang="en-US" sz="2800" b="1" dirty="0">
              <a:latin typeface="宋体" panose="02010600030101010101" pitchFamily="2" charset="-122"/>
            </a:endParaRPr>
          </a:p>
        </p:txBody>
      </p:sp>
      <p:pic>
        <p:nvPicPr>
          <p:cNvPr id="7171" name="图片 7170" descr="Dz080202"/>
          <p:cNvPicPr>
            <a:picLocks noChangeAspect="1"/>
          </p:cNvPicPr>
          <p:nvPr/>
        </p:nvPicPr>
        <p:blipFill>
          <a:blip r:embed="rId1"/>
          <a:srcRect r="68236" b="10086"/>
          <a:stretch>
            <a:fillRect/>
          </a:stretch>
        </p:blipFill>
        <p:spPr>
          <a:xfrm>
            <a:off x="2667000" y="2971800"/>
            <a:ext cx="2286000" cy="22018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172" name="图片 7171" descr="Dz080202"/>
          <p:cNvPicPr>
            <a:picLocks noChangeAspect="1"/>
          </p:cNvPicPr>
          <p:nvPr/>
        </p:nvPicPr>
        <p:blipFill>
          <a:blip r:embed="rId1"/>
          <a:srcRect l="65883" t="17291" b="13545"/>
          <a:stretch>
            <a:fillRect/>
          </a:stretch>
        </p:blipFill>
        <p:spPr>
          <a:xfrm>
            <a:off x="7467600" y="3276600"/>
            <a:ext cx="2590800" cy="178593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173" name="图片 7172" descr="Dz080202"/>
          <p:cNvPicPr>
            <a:picLocks noChangeAspect="1"/>
          </p:cNvPicPr>
          <p:nvPr/>
        </p:nvPicPr>
        <p:blipFill>
          <a:blip r:embed="rId1"/>
          <a:srcRect l="34117" r="34119" b="10086"/>
          <a:stretch>
            <a:fillRect/>
          </a:stretch>
        </p:blipFill>
        <p:spPr>
          <a:xfrm>
            <a:off x="4953000" y="2971800"/>
            <a:ext cx="2362200" cy="22748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174" name="文本框 7173"/>
          <p:cNvSpPr txBox="1"/>
          <p:nvPr/>
        </p:nvSpPr>
        <p:spPr>
          <a:xfrm>
            <a:off x="2063750" y="1196340"/>
            <a:ext cx="64008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chemeClr val="tx2"/>
                </a:solidFill>
                <a:latin typeface="Times New Roman" panose="02020603050405020304" charset="0"/>
              </a:rPr>
              <a:t>（</a:t>
            </a:r>
            <a:r>
              <a:rPr lang="en-US" altLang="zh-CN" sz="2400" b="1">
                <a:solidFill>
                  <a:schemeClr val="tx2"/>
                </a:solidFill>
                <a:latin typeface="Times New Roman" panose="02020603050405020304" charset="0"/>
              </a:rPr>
              <a:t>1</a:t>
            </a:r>
            <a:r>
              <a:rPr lang="zh-CN" altLang="en-US" sz="2400" b="1" dirty="0">
                <a:solidFill>
                  <a:schemeClr val="tx2"/>
                </a:solidFill>
                <a:latin typeface="Times New Roman" panose="02020603050405020304" charset="0"/>
              </a:rPr>
              <a:t>）单限比较器：只有一个阈值电压</a:t>
            </a:r>
            <a:endParaRPr lang="zh-CN" altLang="en-US" sz="2400" b="1" dirty="0">
              <a:solidFill>
                <a:schemeClr val="tx2"/>
              </a:solidFill>
              <a:latin typeface="Times New Roman" panose="02020603050405020304" charset="0"/>
            </a:endParaRPr>
          </a:p>
        </p:txBody>
      </p:sp>
      <p:sp>
        <p:nvSpPr>
          <p:cNvPr id="7175" name="文本框 7174"/>
          <p:cNvSpPr txBox="1"/>
          <p:nvPr/>
        </p:nvSpPr>
        <p:spPr>
          <a:xfrm>
            <a:off x="1981200" y="5334000"/>
            <a:ext cx="8686800" cy="82994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400" b="1" dirty="0">
                <a:solidFill>
                  <a:schemeClr val="tx2"/>
                </a:solidFill>
                <a:latin typeface="Times New Roman" panose="02020603050405020304" charset="0"/>
              </a:rPr>
              <a:t>（</a:t>
            </a:r>
            <a:r>
              <a:rPr lang="en-US" altLang="zh-CN" sz="2400" b="1">
                <a:solidFill>
                  <a:schemeClr val="tx2"/>
                </a:solidFill>
                <a:latin typeface="Times New Roman" panose="02020603050405020304" charset="0"/>
              </a:rPr>
              <a:t>3</a:t>
            </a:r>
            <a:r>
              <a:rPr lang="zh-CN" altLang="en-US" sz="2400" b="1" dirty="0">
                <a:solidFill>
                  <a:schemeClr val="tx2"/>
                </a:solidFill>
                <a:latin typeface="Times New Roman" panose="02020603050405020304" charset="0"/>
              </a:rPr>
              <a:t>）窗口比较器：</a:t>
            </a:r>
            <a:endParaRPr lang="zh-CN" altLang="en-US" sz="2400" b="1" dirty="0">
              <a:solidFill>
                <a:schemeClr val="tx2"/>
              </a:solidFill>
              <a:latin typeface="Times New Roman" panose="02020603050405020304" charset="0"/>
            </a:endParaRPr>
          </a:p>
          <a:p>
            <a:r>
              <a:rPr lang="zh-CN" altLang="en-US" sz="2400" b="1" dirty="0">
                <a:solidFill>
                  <a:schemeClr val="tx2"/>
                </a:solidFill>
                <a:latin typeface="Times New Roman" panose="02020603050405020304" charset="0"/>
              </a:rPr>
              <a:t>    有两个阈值电压，输入电压单调变化时输出电压跃变两次。</a:t>
            </a:r>
            <a:endParaRPr lang="zh-CN" altLang="en-US" sz="2400" b="1" dirty="0">
              <a:solidFill>
                <a:schemeClr val="tx2"/>
              </a:solidFill>
              <a:latin typeface="Times New Roman" panose="02020603050405020304" charset="0"/>
            </a:endParaRPr>
          </a:p>
        </p:txBody>
      </p:sp>
      <p:grpSp>
        <p:nvGrpSpPr>
          <p:cNvPr id="7176" name="组合 7175"/>
          <p:cNvGrpSpPr/>
          <p:nvPr/>
        </p:nvGrpSpPr>
        <p:grpSpPr>
          <a:xfrm>
            <a:off x="1981200" y="1676400"/>
            <a:ext cx="8305800" cy="1208088"/>
            <a:chOff x="288" y="1152"/>
            <a:chExt cx="5232" cy="761"/>
          </a:xfrm>
        </p:grpSpPr>
        <p:sp>
          <p:nvSpPr>
            <p:cNvPr id="7177" name="文本框 7176"/>
            <p:cNvSpPr txBox="1"/>
            <p:nvPr/>
          </p:nvSpPr>
          <p:spPr>
            <a:xfrm>
              <a:off x="288" y="1152"/>
              <a:ext cx="5232" cy="75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zh-CN" altLang="en-US" sz="2400" b="1" dirty="0">
                  <a:solidFill>
                    <a:schemeClr val="tx2"/>
                  </a:solidFill>
                  <a:latin typeface="Times New Roman" panose="02020603050405020304" charset="0"/>
                </a:rPr>
                <a:t>（</a:t>
              </a:r>
              <a:r>
                <a:rPr lang="en-US" altLang="zh-CN" sz="2400" b="1">
                  <a:solidFill>
                    <a:schemeClr val="tx2"/>
                  </a:solidFill>
                  <a:latin typeface="Times New Roman" panose="02020603050405020304" charset="0"/>
                </a:rPr>
                <a:t>2</a:t>
              </a:r>
              <a:r>
                <a:rPr lang="zh-CN" altLang="en-US" sz="2400" b="1" dirty="0">
                  <a:solidFill>
                    <a:schemeClr val="tx2"/>
                  </a:solidFill>
                  <a:latin typeface="Times New Roman" panose="02020603050405020304" charset="0"/>
                </a:rPr>
                <a:t>）滞回比较器：具有滞回特性</a:t>
              </a:r>
              <a:endParaRPr lang="zh-CN" altLang="en-US" sz="2400" b="1" dirty="0">
                <a:solidFill>
                  <a:schemeClr val="tx2"/>
                </a:solidFill>
                <a:latin typeface="Times New Roman" panose="02020603050405020304" charset="0"/>
              </a:endParaRPr>
            </a:p>
            <a:p>
              <a:r>
                <a:rPr lang="zh-CN" altLang="en-US" sz="2400" b="1" dirty="0">
                  <a:solidFill>
                    <a:schemeClr val="tx2"/>
                  </a:solidFill>
                  <a:latin typeface="Times New Roman" panose="02020603050405020304" charset="0"/>
                </a:rPr>
                <a:t>    输入电压的变化方向不同，阈值电压也不同，但输入电压单调变化使输出电压只跃变一次。回差电压</a:t>
              </a:r>
              <a:endParaRPr lang="zh-CN" altLang="en-US" sz="2400" b="1" dirty="0">
                <a:solidFill>
                  <a:schemeClr val="tx2"/>
                </a:solidFill>
                <a:latin typeface="Times New Roman" panose="02020603050405020304" charset="0"/>
              </a:endParaRPr>
            </a:p>
          </p:txBody>
        </p:sp>
        <p:graphicFrame>
          <p:nvGraphicFramePr>
            <p:cNvPr id="7178" name="对象 7177"/>
            <p:cNvGraphicFramePr/>
            <p:nvPr/>
          </p:nvGraphicFramePr>
          <p:xfrm>
            <a:off x="4080" y="1632"/>
            <a:ext cx="1152" cy="2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6" name="" r:id="rId2" imgW="1040765" imgH="254000" progId="Equation.3">
                    <p:embed/>
                  </p:oleObj>
                </mc:Choice>
                <mc:Fallback>
                  <p:oleObj name="" r:id="rId2" imgW="1040765" imgH="254000" progId="Equation.3">
                    <p:embed/>
                    <p:pic>
                      <p:nvPicPr>
                        <p:cNvPr id="0" name="图片 3075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4080" y="1632"/>
                          <a:ext cx="1152" cy="281"/>
                        </a:xfrm>
                        <a:prstGeom prst="rect">
                          <a:avLst/>
                        </a:prstGeom>
                        <a:solidFill>
                          <a:srgbClr val="66FFFF"/>
                        </a:solidFill>
                        <a:ln w="9525" cap="flat" cmpd="sng">
                          <a:solidFill>
                            <a:srgbClr val="FF3300"/>
                          </a:solidFill>
                          <a:prstDash val="solid"/>
                          <a:miter/>
                          <a:headEnd type="none" w="med" len="med"/>
                          <a:tailEnd type="none" w="med" len="med"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>
                                            <p:txEl>
                                              <p:charRg st="0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174">
                                            <p:txEl>
                                              <p:charRg st="0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5">
                                            <p:txEl>
                                              <p:charRg st="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175">
                                            <p:txEl>
                                              <p:charRg st="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5">
                                            <p:txEl>
                                              <p:charRg st="10" end="4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175">
                                            <p:txEl>
                                              <p:charRg st="10" end="4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4" grpId="0" build="p"/>
      <p:bldP spid="7175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4" name="标题 8193"/>
          <p:cNvSpPr>
            <a:spLocks noGrp="1"/>
          </p:cNvSpPr>
          <p:nvPr>
            <p:ph type="title"/>
          </p:nvPr>
        </p:nvSpPr>
        <p:spPr>
          <a:xfrm>
            <a:off x="2057400" y="762000"/>
            <a:ext cx="7073900" cy="609600"/>
          </a:xfrm>
        </p:spPr>
        <p:txBody>
          <a:bodyPr anchor="ctr" anchorCtr="0"/>
          <a:p>
            <a:pPr algn="l"/>
            <a:r>
              <a:rPr lang="en-US" altLang="zh-CN" sz="2800" b="1">
                <a:solidFill>
                  <a:schemeClr val="tx1"/>
                </a:solidFill>
                <a:latin typeface="宋体" panose="02010600030101010101" pitchFamily="2" charset="-122"/>
              </a:rPr>
              <a:t>4</a:t>
            </a:r>
            <a:r>
              <a:rPr lang="zh-CN" altLang="en-US" sz="2800" b="1" dirty="0">
                <a:solidFill>
                  <a:schemeClr val="tx1"/>
                </a:solidFill>
                <a:latin typeface="宋体" panose="02010600030101010101" pitchFamily="2" charset="-122"/>
              </a:rPr>
              <a:t>、集成运放的非线性工作区</a:t>
            </a:r>
            <a:endParaRPr lang="zh-CN" altLang="en-US" sz="2800" b="1" dirty="0"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  <p:sp>
        <p:nvSpPr>
          <p:cNvPr id="8195" name="文本框 8194"/>
          <p:cNvSpPr txBox="1"/>
          <p:nvPr/>
        </p:nvSpPr>
        <p:spPr>
          <a:xfrm>
            <a:off x="2438400" y="1447800"/>
            <a:ext cx="68580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charset="0"/>
              </a:rPr>
              <a:t>电路特征：集成运放处于开环或仅引入正反馈</a:t>
            </a:r>
            <a:endParaRPr lang="zh-CN" altLang="en-US" sz="2400" b="1" dirty="0">
              <a:latin typeface="Times New Roman" panose="02020603050405020304" charset="0"/>
            </a:endParaRPr>
          </a:p>
        </p:txBody>
      </p:sp>
      <p:sp>
        <p:nvSpPr>
          <p:cNvPr id="8196" name="文本框 8195"/>
          <p:cNvSpPr txBox="1"/>
          <p:nvPr/>
        </p:nvSpPr>
        <p:spPr>
          <a:xfrm>
            <a:off x="2133600" y="3886200"/>
            <a:ext cx="45720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charset="0"/>
              </a:rPr>
              <a:t>集成运放工作在非线性区的特点</a:t>
            </a:r>
            <a:endParaRPr lang="zh-CN" altLang="en-US" sz="2400" b="1" dirty="0">
              <a:latin typeface="Times New Roman" panose="02020603050405020304" charset="0"/>
            </a:endParaRPr>
          </a:p>
        </p:txBody>
      </p:sp>
      <p:sp>
        <p:nvSpPr>
          <p:cNvPr id="8197" name="文本框 8196"/>
          <p:cNvSpPr txBox="1"/>
          <p:nvPr/>
        </p:nvSpPr>
        <p:spPr>
          <a:xfrm>
            <a:off x="2362200" y="4419600"/>
            <a:ext cx="4191000" cy="142049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20000"/>
              </a:lnSpc>
            </a:pPr>
            <a:r>
              <a:rPr lang="en-US" altLang="zh-CN" sz="2400" b="1">
                <a:latin typeface="Times New Roman" panose="02020603050405020304" charset="0"/>
              </a:rPr>
              <a:t>1) </a:t>
            </a:r>
            <a:r>
              <a:rPr lang="zh-CN" altLang="en-US" sz="2400" b="1" dirty="0">
                <a:latin typeface="Times New Roman" panose="02020603050405020304" charset="0"/>
              </a:rPr>
              <a:t>净输入电流为</a:t>
            </a:r>
            <a:r>
              <a:rPr lang="en-US" altLang="zh-CN" sz="2400" b="1">
                <a:latin typeface="Times New Roman" panose="02020603050405020304" charset="0"/>
              </a:rPr>
              <a:t>0</a:t>
            </a:r>
            <a:endParaRPr lang="en-US" altLang="zh-CN" sz="2400" b="1">
              <a:latin typeface="Times New Roman" panose="02020603050405020304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2400" b="1">
                <a:latin typeface="Times New Roman" panose="02020603050405020304" charset="0"/>
              </a:rPr>
              <a:t>2) </a:t>
            </a:r>
            <a:r>
              <a:rPr lang="en-US" altLang="zh-CN" sz="2400" b="1" i="1" dirty="0" err="1">
                <a:latin typeface="Times New Roman" panose="02020603050405020304" charset="0"/>
              </a:rPr>
              <a:t>u</a:t>
            </a:r>
            <a:r>
              <a:rPr lang="en-US" altLang="zh-CN" sz="2400" b="1" baseline="-25000" dirty="0" err="1">
                <a:latin typeface="Times New Roman" panose="02020603050405020304" charset="0"/>
              </a:rPr>
              <a:t>P</a:t>
            </a:r>
            <a:r>
              <a:rPr lang="en-US" altLang="zh-CN" sz="2400" b="1">
                <a:latin typeface="Times New Roman" panose="02020603050405020304" charset="0"/>
              </a:rPr>
              <a:t>&gt; </a:t>
            </a:r>
            <a:r>
              <a:rPr lang="en-US" altLang="zh-CN" sz="2400" b="1" i="1" dirty="0" err="1">
                <a:latin typeface="Times New Roman" panose="02020603050405020304" charset="0"/>
              </a:rPr>
              <a:t>u</a:t>
            </a:r>
            <a:r>
              <a:rPr lang="en-US" altLang="zh-CN" sz="2400" b="1" baseline="-25000" dirty="0" err="1">
                <a:latin typeface="Times New Roman" panose="02020603050405020304" charset="0"/>
              </a:rPr>
              <a:t>N</a:t>
            </a:r>
            <a:r>
              <a:rPr lang="zh-CN" altLang="zh-CN" sz="2400" b="1" dirty="0">
                <a:latin typeface="Times New Roman" panose="02020603050405020304" charset="0"/>
              </a:rPr>
              <a:t>时，</a:t>
            </a:r>
            <a:r>
              <a:rPr lang="zh-CN" altLang="en-US" sz="2400" b="1">
                <a:latin typeface="Times New Roman" panose="02020603050405020304" charset="0"/>
              </a:rPr>
              <a:t> </a:t>
            </a:r>
            <a:r>
              <a:rPr lang="en-US" altLang="zh-CN" sz="2400" b="1" i="1" dirty="0" err="1">
                <a:latin typeface="Times New Roman" panose="02020603050405020304" charset="0"/>
              </a:rPr>
              <a:t>u</a:t>
            </a:r>
            <a:r>
              <a:rPr lang="en-US" altLang="zh-CN" sz="2400" b="1" baseline="-25000" dirty="0" err="1">
                <a:latin typeface="Times New Roman" panose="02020603050405020304" charset="0"/>
              </a:rPr>
              <a:t>O</a:t>
            </a:r>
            <a:r>
              <a:rPr lang="zh-CN" altLang="en-US" sz="2400" b="1">
                <a:latin typeface="Times New Roman" panose="02020603050405020304" charset="0"/>
              </a:rPr>
              <a:t>＝＋</a:t>
            </a:r>
            <a:r>
              <a:rPr lang="en-US" altLang="zh-CN" sz="2400" b="1" i="1">
                <a:latin typeface="Times New Roman" panose="02020603050405020304" charset="0"/>
              </a:rPr>
              <a:t>U</a:t>
            </a:r>
            <a:r>
              <a:rPr lang="en-US" altLang="zh-CN" sz="2400" b="1" baseline="-25000">
                <a:latin typeface="Times New Roman" panose="02020603050405020304" charset="0"/>
              </a:rPr>
              <a:t>OM</a:t>
            </a:r>
            <a:endParaRPr lang="en-US" altLang="zh-CN" sz="2400" b="1" baseline="-25000">
              <a:latin typeface="Times New Roman" panose="02020603050405020304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2400" b="1" baseline="-25000">
                <a:latin typeface="Times New Roman" panose="02020603050405020304" charset="0"/>
              </a:rPr>
              <a:t>       </a:t>
            </a:r>
            <a:r>
              <a:rPr lang="en-US" altLang="zh-CN" sz="2400" b="1" i="1" dirty="0" err="1">
                <a:latin typeface="Times New Roman" panose="02020603050405020304" charset="0"/>
              </a:rPr>
              <a:t>u</a:t>
            </a:r>
            <a:r>
              <a:rPr lang="en-US" altLang="zh-CN" sz="2400" b="1" baseline="-25000" dirty="0" err="1">
                <a:latin typeface="Times New Roman" panose="02020603050405020304" charset="0"/>
              </a:rPr>
              <a:t>P</a:t>
            </a:r>
            <a:r>
              <a:rPr lang="en-US" altLang="zh-CN" sz="2400" b="1">
                <a:latin typeface="Times New Roman" panose="02020603050405020304" charset="0"/>
              </a:rPr>
              <a:t>&lt; </a:t>
            </a:r>
            <a:r>
              <a:rPr lang="en-US" altLang="zh-CN" sz="2400" b="1" i="1" dirty="0" err="1">
                <a:latin typeface="Times New Roman" panose="02020603050405020304" charset="0"/>
              </a:rPr>
              <a:t>u</a:t>
            </a:r>
            <a:r>
              <a:rPr lang="en-US" altLang="zh-CN" sz="2400" b="1" baseline="-25000" dirty="0" err="1">
                <a:latin typeface="Times New Roman" panose="02020603050405020304" charset="0"/>
              </a:rPr>
              <a:t>N</a:t>
            </a:r>
            <a:r>
              <a:rPr lang="zh-CN" altLang="zh-CN" sz="2400" b="1" dirty="0">
                <a:latin typeface="Times New Roman" panose="02020603050405020304" charset="0"/>
              </a:rPr>
              <a:t>时，</a:t>
            </a:r>
            <a:r>
              <a:rPr lang="zh-CN" altLang="en-US" sz="2400" b="1">
                <a:latin typeface="Times New Roman" panose="02020603050405020304" charset="0"/>
              </a:rPr>
              <a:t> </a:t>
            </a:r>
            <a:r>
              <a:rPr lang="en-US" altLang="zh-CN" sz="2400" b="1" i="1" dirty="0" err="1">
                <a:latin typeface="Times New Roman" panose="02020603050405020304" charset="0"/>
              </a:rPr>
              <a:t>u</a:t>
            </a:r>
            <a:r>
              <a:rPr lang="en-US" altLang="zh-CN" sz="2400" b="1" baseline="-25000" dirty="0" err="1">
                <a:latin typeface="Times New Roman" panose="02020603050405020304" charset="0"/>
              </a:rPr>
              <a:t>O</a:t>
            </a:r>
            <a:r>
              <a:rPr lang="zh-CN" altLang="en-US" sz="2400" b="1">
                <a:latin typeface="Times New Roman" panose="02020603050405020304" charset="0"/>
              </a:rPr>
              <a:t>＝－</a:t>
            </a:r>
            <a:r>
              <a:rPr lang="en-US" altLang="zh-CN" sz="2400" b="1" i="1">
                <a:latin typeface="Times New Roman" panose="02020603050405020304" charset="0"/>
              </a:rPr>
              <a:t>U</a:t>
            </a:r>
            <a:r>
              <a:rPr lang="en-US" altLang="zh-CN" sz="2400" b="1" baseline="-25000">
                <a:latin typeface="Times New Roman" panose="02020603050405020304" charset="0"/>
              </a:rPr>
              <a:t>OM</a:t>
            </a:r>
            <a:endParaRPr lang="en-US" altLang="zh-CN" sz="2400" b="1" baseline="-25000">
              <a:latin typeface="Times New Roman" panose="02020603050405020304" charset="0"/>
            </a:endParaRPr>
          </a:p>
        </p:txBody>
      </p:sp>
      <p:graphicFrame>
        <p:nvGraphicFramePr>
          <p:cNvPr id="8198" name="对象 8197"/>
          <p:cNvGraphicFramePr/>
          <p:nvPr/>
        </p:nvGraphicFramePr>
        <p:xfrm>
          <a:off x="2819400" y="1981200"/>
          <a:ext cx="5486400" cy="172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19326225" imgH="6067425" progId="MSPhotoEd.3">
                  <p:embed/>
                </p:oleObj>
              </mc:Choice>
              <mc:Fallback>
                <p:oleObj name="" r:id="rId1" imgW="19326225" imgH="6067425" progId="MSPhotoEd.3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819400" y="1981200"/>
                        <a:ext cx="5486400" cy="17240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9" name="对象 8198"/>
          <p:cNvGraphicFramePr/>
          <p:nvPr/>
        </p:nvGraphicFramePr>
        <p:xfrm>
          <a:off x="6781800" y="3505200"/>
          <a:ext cx="3124200" cy="2505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" r:id="rId3" imgW="11934825" imgH="9572625" progId="MSPhotoEd.3">
                  <p:embed/>
                </p:oleObj>
              </mc:Choice>
              <mc:Fallback>
                <p:oleObj name="" r:id="rId3" imgW="11934825" imgH="9572625" progId="MSPhotoEd.3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781800" y="3505200"/>
                        <a:ext cx="3124200" cy="25050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charRg st="0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195">
                                            <p:txEl>
                                              <p:charRg st="0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charRg st="0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196">
                                            <p:txEl>
                                              <p:charRg st="0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>
                                            <p:txEl>
                                              <p:charRg st="0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197">
                                            <p:txEl>
                                              <p:charRg st="0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>
                                            <p:txEl>
                                              <p:charRg st="11" end="3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197">
                                            <p:txEl>
                                              <p:charRg st="11" end="3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>
                                            <p:txEl>
                                              <p:charRg st="31" end="5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197">
                                            <p:txEl>
                                              <p:charRg st="31" end="5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5" grpId="0" build="p"/>
      <p:bldP spid="8196" grpId="0" build="p"/>
      <p:bldP spid="8197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8" name="标题 9217"/>
          <p:cNvSpPr>
            <a:spLocks noGrp="1"/>
          </p:cNvSpPr>
          <p:nvPr>
            <p:ph type="title"/>
          </p:nvPr>
        </p:nvSpPr>
        <p:spPr>
          <a:xfrm>
            <a:off x="2063750" y="333375"/>
            <a:ext cx="5029200" cy="914400"/>
          </a:xfrm>
        </p:spPr>
        <p:txBody>
          <a:bodyPr anchor="ctr" anchorCtr="0"/>
          <a:p>
            <a:pPr algn="l"/>
            <a:r>
              <a:rPr lang="zh-CN" altLang="en-US" sz="3200" b="1" dirty="0">
                <a:solidFill>
                  <a:schemeClr val="tx1"/>
                </a:solidFill>
                <a:ea typeface="隶书" panose="02010509060101010101" pitchFamily="49" charset="-122"/>
              </a:rPr>
              <a:t>二、单限比较器</a:t>
            </a:r>
            <a:br>
              <a:rPr lang="zh-CN" altLang="en-US" sz="3200" b="1" dirty="0">
                <a:solidFill>
                  <a:schemeClr val="tx1"/>
                </a:solidFill>
                <a:ea typeface="隶书" panose="02010509060101010101" pitchFamily="49" charset="-122"/>
              </a:rPr>
            </a:br>
            <a:r>
              <a:rPr lang="zh-CN" altLang="en-US" sz="3200" b="1" dirty="0">
                <a:solidFill>
                  <a:schemeClr val="tx1"/>
                </a:solidFill>
                <a:ea typeface="隶书" panose="02010509060101010101" pitchFamily="49" charset="-122"/>
              </a:rPr>
              <a:t>  </a:t>
            </a:r>
            <a:r>
              <a:rPr lang="en-US" altLang="zh-CN" sz="2400" b="1">
                <a:solidFill>
                  <a:schemeClr val="tx1"/>
                </a:solidFill>
              </a:rPr>
              <a:t>1.  </a:t>
            </a:r>
            <a:r>
              <a:rPr lang="zh-CN" altLang="en-US" sz="2400" b="1" dirty="0">
                <a:solidFill>
                  <a:schemeClr val="tx1"/>
                </a:solidFill>
              </a:rPr>
              <a:t>过零比较器</a:t>
            </a:r>
            <a:endParaRPr lang="zh-CN" altLang="en-US" sz="2400" b="1" dirty="0">
              <a:solidFill>
                <a:schemeClr val="tx1"/>
              </a:solidFill>
            </a:endParaRPr>
          </a:p>
        </p:txBody>
      </p:sp>
      <p:pic>
        <p:nvPicPr>
          <p:cNvPr id="9219" name="图片 9218" descr="Dz080203"/>
          <p:cNvPicPr>
            <a:picLocks noChangeAspect="1"/>
          </p:cNvPicPr>
          <p:nvPr/>
        </p:nvPicPr>
        <p:blipFill>
          <a:blip r:embed="rId1"/>
          <a:srcRect t="23349" r="50301" b="29951"/>
          <a:stretch>
            <a:fillRect/>
          </a:stretch>
        </p:blipFill>
        <p:spPr>
          <a:xfrm>
            <a:off x="4419600" y="1447800"/>
            <a:ext cx="2362200" cy="10668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9220" name="图片 9219" descr="Dz080203"/>
          <p:cNvPicPr>
            <a:picLocks noChangeAspect="1"/>
          </p:cNvPicPr>
          <p:nvPr/>
        </p:nvPicPr>
        <p:blipFill>
          <a:blip r:embed="rId1"/>
          <a:srcRect l="52905" b="13274"/>
          <a:stretch>
            <a:fillRect/>
          </a:stretch>
        </p:blipFill>
        <p:spPr>
          <a:xfrm>
            <a:off x="7086600" y="1143000"/>
            <a:ext cx="2238375" cy="1981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221" name="文本框 9220"/>
          <p:cNvSpPr txBox="1"/>
          <p:nvPr/>
        </p:nvSpPr>
        <p:spPr>
          <a:xfrm>
            <a:off x="2514600" y="2438400"/>
            <a:ext cx="7467600" cy="142049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20000"/>
              </a:lnSpc>
            </a:pPr>
            <a:r>
              <a:rPr lang="zh-CN" altLang="en-US" sz="2400" b="1" dirty="0">
                <a:latin typeface="Times New Roman" panose="02020603050405020304" charset="0"/>
              </a:rPr>
              <a:t>（</a:t>
            </a:r>
            <a:r>
              <a:rPr lang="en-US" altLang="zh-CN" sz="2400" b="1">
                <a:latin typeface="Times New Roman" panose="02020603050405020304" charset="0"/>
              </a:rPr>
              <a:t>1</a:t>
            </a:r>
            <a:r>
              <a:rPr lang="zh-CN" altLang="en-US" sz="2400" b="1" dirty="0">
                <a:latin typeface="Times New Roman" panose="02020603050405020304" charset="0"/>
              </a:rPr>
              <a:t>）</a:t>
            </a:r>
            <a:r>
              <a:rPr lang="en-US" altLang="zh-CN" sz="2400" b="1" i="1">
                <a:latin typeface="Times New Roman" panose="02020603050405020304" charset="0"/>
              </a:rPr>
              <a:t>U</a:t>
            </a:r>
            <a:r>
              <a:rPr lang="en-US" altLang="zh-CN" sz="2400" b="1" baseline="-25000">
                <a:latin typeface="Times New Roman" panose="02020603050405020304" charset="0"/>
              </a:rPr>
              <a:t>T</a:t>
            </a:r>
            <a:r>
              <a:rPr lang="zh-CN" altLang="en-US" sz="2400" b="1">
                <a:latin typeface="Times New Roman" panose="02020603050405020304" charset="0"/>
              </a:rPr>
              <a:t>＝</a:t>
            </a:r>
            <a:r>
              <a:rPr lang="en-US" altLang="zh-CN" sz="2400" b="1">
                <a:latin typeface="Times New Roman" panose="02020603050405020304" charset="0"/>
              </a:rPr>
              <a:t>0</a:t>
            </a:r>
            <a:endParaRPr lang="en-US" altLang="zh-CN" sz="2400" b="1">
              <a:latin typeface="Times New Roman" panose="02020603050405020304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2400" b="1">
                <a:latin typeface="Times New Roman" panose="02020603050405020304" charset="0"/>
              </a:rPr>
              <a:t>（</a:t>
            </a:r>
            <a:r>
              <a:rPr lang="en-US" altLang="zh-CN" sz="2400" b="1">
                <a:latin typeface="Times New Roman" panose="02020603050405020304" charset="0"/>
              </a:rPr>
              <a:t>2</a:t>
            </a:r>
            <a:r>
              <a:rPr lang="zh-CN" altLang="en-US" sz="2400" b="1">
                <a:latin typeface="Times New Roman" panose="02020603050405020304" charset="0"/>
              </a:rPr>
              <a:t>）</a:t>
            </a:r>
            <a:r>
              <a:rPr lang="en-US" altLang="zh-CN" sz="2400" b="1" i="1">
                <a:latin typeface="Times New Roman" panose="02020603050405020304" charset="0"/>
              </a:rPr>
              <a:t>U</a:t>
            </a:r>
            <a:r>
              <a:rPr lang="en-US" altLang="zh-CN" sz="2400" b="1" baseline="-25000">
                <a:latin typeface="Times New Roman" panose="02020603050405020304" charset="0"/>
              </a:rPr>
              <a:t>OH</a:t>
            </a:r>
            <a:r>
              <a:rPr lang="zh-CN" altLang="en-US" sz="2400" b="1">
                <a:latin typeface="Times New Roman" panose="02020603050405020304" charset="0"/>
              </a:rPr>
              <a:t>＝＋ </a:t>
            </a:r>
            <a:r>
              <a:rPr lang="en-US" altLang="zh-CN" sz="2400" b="1" i="1">
                <a:latin typeface="Times New Roman" panose="02020603050405020304" charset="0"/>
              </a:rPr>
              <a:t>U</a:t>
            </a:r>
            <a:r>
              <a:rPr lang="en-US" altLang="zh-CN" sz="2400" b="1" baseline="-25000">
                <a:latin typeface="Times New Roman" panose="02020603050405020304" charset="0"/>
              </a:rPr>
              <a:t>OM</a:t>
            </a:r>
            <a:r>
              <a:rPr lang="zh-CN" altLang="en-US" sz="2400" b="1" baseline="-25000">
                <a:latin typeface="Times New Roman" panose="02020603050405020304" charset="0"/>
              </a:rPr>
              <a:t>， </a:t>
            </a:r>
            <a:r>
              <a:rPr lang="en-US" altLang="zh-CN" sz="2400" b="1" i="1">
                <a:latin typeface="Times New Roman" panose="02020603050405020304" charset="0"/>
              </a:rPr>
              <a:t>U</a:t>
            </a:r>
            <a:r>
              <a:rPr lang="en-US" altLang="zh-CN" sz="2400" b="1" baseline="-25000">
                <a:latin typeface="Times New Roman" panose="02020603050405020304" charset="0"/>
              </a:rPr>
              <a:t>OL</a:t>
            </a:r>
            <a:r>
              <a:rPr lang="zh-CN" altLang="en-US" sz="2400" b="1">
                <a:latin typeface="Times New Roman" panose="02020603050405020304" charset="0"/>
              </a:rPr>
              <a:t>＝－ </a:t>
            </a:r>
            <a:r>
              <a:rPr lang="en-US" altLang="zh-CN" sz="2400" b="1" i="1">
                <a:latin typeface="Times New Roman" panose="02020603050405020304" charset="0"/>
              </a:rPr>
              <a:t>U</a:t>
            </a:r>
            <a:r>
              <a:rPr lang="en-US" altLang="zh-CN" sz="2400" b="1" baseline="-25000">
                <a:latin typeface="Times New Roman" panose="02020603050405020304" charset="0"/>
              </a:rPr>
              <a:t>OM</a:t>
            </a:r>
            <a:endParaRPr lang="en-US" altLang="zh-CN" sz="2400" b="1" baseline="-25000">
              <a:latin typeface="Times New Roman" panose="02020603050405020304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2400" b="1">
                <a:latin typeface="Times New Roman" panose="02020603050405020304" charset="0"/>
              </a:rPr>
              <a:t>（</a:t>
            </a:r>
            <a:r>
              <a:rPr lang="en-US" altLang="zh-CN" sz="2400" b="1">
                <a:latin typeface="Times New Roman" panose="02020603050405020304" charset="0"/>
              </a:rPr>
              <a:t>3</a:t>
            </a:r>
            <a:r>
              <a:rPr lang="zh-CN" altLang="en-US" sz="2400" b="1">
                <a:latin typeface="Times New Roman" panose="02020603050405020304" charset="0"/>
              </a:rPr>
              <a:t>）</a:t>
            </a:r>
            <a:r>
              <a:rPr lang="en-US" altLang="zh-CN" sz="2400" b="1" i="1" dirty="0" err="1">
                <a:latin typeface="Times New Roman" panose="02020603050405020304" charset="0"/>
              </a:rPr>
              <a:t>u</a:t>
            </a:r>
            <a:r>
              <a:rPr lang="en-US" altLang="zh-CN" sz="2400" b="1" baseline="-25000" dirty="0" err="1">
                <a:latin typeface="Times New Roman" panose="02020603050405020304" charset="0"/>
              </a:rPr>
              <a:t>I</a:t>
            </a:r>
            <a:r>
              <a:rPr lang="en-US" altLang="zh-CN" sz="2400" b="1" baseline="-25000">
                <a:latin typeface="Times New Roman" panose="02020603050405020304" charset="0"/>
              </a:rPr>
              <a:t> </a:t>
            </a:r>
            <a:r>
              <a:rPr lang="en-US" altLang="zh-CN" sz="2400" b="1">
                <a:latin typeface="Times New Roman" panose="02020603050405020304" charset="0"/>
              </a:rPr>
              <a:t>&gt; 0 </a:t>
            </a:r>
            <a:r>
              <a:rPr lang="zh-CN" altLang="zh-CN" sz="2400" b="1" dirty="0">
                <a:latin typeface="Times New Roman" panose="02020603050405020304" charset="0"/>
              </a:rPr>
              <a:t>时 </a:t>
            </a:r>
            <a:r>
              <a:rPr lang="en-US" altLang="zh-CN" sz="2400" b="1" i="1" dirty="0" err="1">
                <a:latin typeface="Times New Roman" panose="02020603050405020304" charset="0"/>
              </a:rPr>
              <a:t>u</a:t>
            </a:r>
            <a:r>
              <a:rPr lang="en-US" altLang="zh-CN" sz="2400" b="1" baseline="-25000" dirty="0" err="1">
                <a:latin typeface="Times New Roman" panose="02020603050405020304" charset="0"/>
              </a:rPr>
              <a:t>O</a:t>
            </a:r>
            <a:r>
              <a:rPr lang="en-US" altLang="zh-CN" sz="2400" b="1" baseline="-25000">
                <a:latin typeface="Times New Roman" panose="02020603050405020304" charset="0"/>
              </a:rPr>
              <a:t> </a:t>
            </a:r>
            <a:r>
              <a:rPr lang="zh-CN" altLang="en-US" sz="2400" b="1">
                <a:latin typeface="Times New Roman" panose="02020603050405020304" charset="0"/>
              </a:rPr>
              <a:t>＝－</a:t>
            </a:r>
            <a:r>
              <a:rPr lang="en-US" altLang="zh-CN" sz="2400" b="1" i="1">
                <a:latin typeface="Times New Roman" panose="02020603050405020304" charset="0"/>
              </a:rPr>
              <a:t>U</a:t>
            </a:r>
            <a:r>
              <a:rPr lang="en-US" altLang="zh-CN" sz="2400" b="1" baseline="-25000">
                <a:latin typeface="Times New Roman" panose="02020603050405020304" charset="0"/>
              </a:rPr>
              <a:t>OM</a:t>
            </a:r>
            <a:r>
              <a:rPr lang="en-US" altLang="zh-CN" sz="2400" b="1">
                <a:latin typeface="Times New Roman" panose="02020603050405020304" charset="0"/>
              </a:rPr>
              <a:t>; </a:t>
            </a:r>
            <a:r>
              <a:rPr lang="en-US" altLang="zh-CN" sz="2400" b="1" i="1" dirty="0" err="1">
                <a:latin typeface="Times New Roman" panose="02020603050405020304" charset="0"/>
              </a:rPr>
              <a:t>u</a:t>
            </a:r>
            <a:r>
              <a:rPr lang="en-US" altLang="zh-CN" sz="2400" b="1" baseline="-25000" dirty="0" err="1">
                <a:latin typeface="Times New Roman" panose="02020603050405020304" charset="0"/>
              </a:rPr>
              <a:t>I</a:t>
            </a:r>
            <a:r>
              <a:rPr lang="en-US" altLang="zh-CN" sz="2400" b="1" baseline="-25000">
                <a:latin typeface="Times New Roman" panose="02020603050405020304" charset="0"/>
              </a:rPr>
              <a:t> </a:t>
            </a:r>
            <a:r>
              <a:rPr lang="en-US" altLang="zh-CN" sz="2400" b="1">
                <a:latin typeface="Times New Roman" panose="02020603050405020304" charset="0"/>
              </a:rPr>
              <a:t>&lt; 0 </a:t>
            </a:r>
            <a:r>
              <a:rPr lang="zh-CN" altLang="zh-CN" sz="2400" b="1" dirty="0">
                <a:latin typeface="Times New Roman" panose="02020603050405020304" charset="0"/>
              </a:rPr>
              <a:t>时 </a:t>
            </a:r>
            <a:r>
              <a:rPr lang="en-US" altLang="zh-CN" sz="2400" b="1" i="1" dirty="0" err="1">
                <a:latin typeface="Times New Roman" panose="02020603050405020304" charset="0"/>
              </a:rPr>
              <a:t>u</a:t>
            </a:r>
            <a:r>
              <a:rPr lang="en-US" altLang="zh-CN" sz="2400" b="1" baseline="-25000" dirty="0" err="1">
                <a:latin typeface="Times New Roman" panose="02020603050405020304" charset="0"/>
              </a:rPr>
              <a:t>O</a:t>
            </a:r>
            <a:r>
              <a:rPr lang="en-US" altLang="zh-CN" sz="2400" b="1" baseline="-25000">
                <a:latin typeface="Times New Roman" panose="02020603050405020304" charset="0"/>
              </a:rPr>
              <a:t> </a:t>
            </a:r>
            <a:r>
              <a:rPr lang="zh-CN" altLang="en-US" sz="2400" b="1">
                <a:latin typeface="Times New Roman" panose="02020603050405020304" charset="0"/>
              </a:rPr>
              <a:t>＝＋ </a:t>
            </a:r>
            <a:r>
              <a:rPr lang="en-US" altLang="zh-CN" sz="2400" b="1" i="1">
                <a:latin typeface="Times New Roman" panose="02020603050405020304" charset="0"/>
              </a:rPr>
              <a:t>U</a:t>
            </a:r>
            <a:r>
              <a:rPr lang="en-US" altLang="zh-CN" sz="2400" b="1" baseline="-25000">
                <a:latin typeface="Times New Roman" panose="02020603050405020304" charset="0"/>
              </a:rPr>
              <a:t>OM </a:t>
            </a:r>
            <a:endParaRPr lang="en-US" altLang="zh-CN" sz="2400" b="1" baseline="-25000">
              <a:latin typeface="Times New Roman" panose="02020603050405020304" charset="0"/>
            </a:endParaRPr>
          </a:p>
        </p:txBody>
      </p:sp>
      <p:pic>
        <p:nvPicPr>
          <p:cNvPr id="9222" name="图片 9221" descr="Dz08020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4038600"/>
            <a:ext cx="3657600" cy="10223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223" name="文本框 9222"/>
          <p:cNvSpPr txBox="1"/>
          <p:nvPr/>
        </p:nvSpPr>
        <p:spPr>
          <a:xfrm>
            <a:off x="2286000" y="5181600"/>
            <a:ext cx="7620000" cy="82994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2400" dirty="0">
                <a:latin typeface="Times New Roman" panose="02020603050405020304" charset="0"/>
              </a:rPr>
              <a:t>    </a:t>
            </a:r>
            <a:r>
              <a:rPr lang="zh-CN" altLang="en-US" sz="2400" b="1" dirty="0">
                <a:latin typeface="Times New Roman" panose="02020603050405020304" charset="0"/>
              </a:rPr>
              <a:t>集成运放的净输入电压等于输入电压，为保护集成运放的输入端，需加输入端限幅电路。</a:t>
            </a:r>
            <a:endParaRPr lang="zh-CN" altLang="en-US" sz="2400" b="1" dirty="0">
              <a:latin typeface="Times New Roman" panose="02020603050405020304" charset="0"/>
            </a:endParaRPr>
          </a:p>
        </p:txBody>
      </p:sp>
      <p:sp>
        <p:nvSpPr>
          <p:cNvPr id="9224" name="线形标注 2 9223"/>
          <p:cNvSpPr/>
          <p:nvPr/>
        </p:nvSpPr>
        <p:spPr>
          <a:xfrm>
            <a:off x="7391400" y="4038600"/>
            <a:ext cx="2438400" cy="685800"/>
          </a:xfrm>
          <a:prstGeom prst="borderCallout2">
            <a:avLst>
              <a:gd name="adj1" fmla="val 16667"/>
              <a:gd name="adj2" fmla="val -3125"/>
              <a:gd name="adj3" fmla="val 16667"/>
              <a:gd name="adj4" fmla="val -51431"/>
              <a:gd name="adj5" fmla="val 76620"/>
              <a:gd name="adj6" fmla="val -101565"/>
            </a:avLst>
          </a:prstGeom>
          <a:solidFill>
            <a:srgbClr val="66FFFF"/>
          </a:solidFill>
          <a:ln w="9525" cap="flat" cmpd="sng">
            <a:solidFill>
              <a:srgbClr val="FF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pPr algn="ctr" eaLnBrk="0" hangingPunct="0"/>
            <a:r>
              <a:rPr lang="zh-CN" altLang="en-US" sz="2000" b="1" dirty="0">
                <a:latin typeface="Times New Roman" panose="02020603050405020304" charset="0"/>
              </a:rPr>
              <a:t>集成运放的净输入电压最大值为</a:t>
            </a:r>
            <a:r>
              <a:rPr lang="en-US" altLang="zh-CN" sz="2000" b="1">
                <a:latin typeface="Times New Roman" panose="02020603050405020304" charset="0"/>
              </a:rPr>
              <a:t>±</a:t>
            </a:r>
            <a:r>
              <a:rPr lang="en-US" altLang="zh-CN" sz="2000" b="1" i="1">
                <a:latin typeface="Times New Roman" panose="02020603050405020304" charset="0"/>
              </a:rPr>
              <a:t>U</a:t>
            </a:r>
            <a:r>
              <a:rPr lang="en-US" altLang="zh-CN" sz="2000" b="1" baseline="-25000">
                <a:latin typeface="Times New Roman" panose="02020603050405020304" charset="0"/>
              </a:rPr>
              <a:t>D</a:t>
            </a:r>
            <a:endParaRPr lang="en-US" altLang="zh-CN" sz="2000" b="1">
              <a:latin typeface="Times New Roman" panose="020206030504050203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221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>
                                            <p:txEl>
                                              <p:charRg st="8" end="3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221">
                                            <p:txEl>
                                              <p:charRg st="8" end="3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>
                                            <p:txEl>
                                              <p:charRg st="32" end="7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221">
                                            <p:txEl>
                                              <p:charRg st="32" end="7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3">
                                            <p:txEl>
                                              <p:charRg st="0" end="4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223">
                                            <p:txEl>
                                              <p:charRg st="0" end="4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1" grpId="0" build="p"/>
      <p:bldP spid="9223" grpId="0" build="p"/>
      <p:bldP spid="9224" grpId="0" bldLvl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2" name="标题 10241"/>
          <p:cNvSpPr>
            <a:spLocks noGrp="1"/>
          </p:cNvSpPr>
          <p:nvPr>
            <p:ph type="title"/>
          </p:nvPr>
        </p:nvSpPr>
        <p:spPr>
          <a:xfrm>
            <a:off x="2133600" y="838200"/>
            <a:ext cx="7766050" cy="762000"/>
          </a:xfrm>
        </p:spPr>
        <p:txBody>
          <a:bodyPr anchor="ctr" anchorCtr="0"/>
          <a:p>
            <a:pPr algn="l">
              <a:lnSpc>
                <a:spcPct val="130000"/>
              </a:lnSpc>
            </a:pPr>
            <a:r>
              <a:rPr lang="zh-CN" altLang="en-US" sz="2800" b="1" dirty="0">
                <a:solidFill>
                  <a:schemeClr val="tx1"/>
                </a:solidFill>
              </a:rPr>
              <a:t>输出限幅电路</a:t>
            </a:r>
            <a:br>
              <a:rPr lang="zh-CN" altLang="en-US" sz="2400" b="1" dirty="0">
                <a:solidFill>
                  <a:schemeClr val="tx1"/>
                </a:solidFill>
              </a:rPr>
            </a:br>
            <a:r>
              <a:rPr lang="zh-CN" altLang="en-US" sz="2400" dirty="0">
                <a:solidFill>
                  <a:schemeClr val="tx1"/>
                </a:solidFill>
              </a:rPr>
              <a:t>    </a:t>
            </a:r>
            <a:r>
              <a:rPr lang="zh-CN" altLang="en-US" sz="2400" b="1" dirty="0">
                <a:solidFill>
                  <a:schemeClr val="tx1"/>
                </a:solidFill>
                <a:latin typeface="宋体" panose="02010600030101010101" pitchFamily="2" charset="-122"/>
              </a:rPr>
              <a:t>为适应负载对电压幅值的要求，输出端加限幅电路。</a:t>
            </a:r>
            <a:endParaRPr lang="zh-CN" altLang="en-US" sz="2400" b="1" dirty="0"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  <p:pic>
        <p:nvPicPr>
          <p:cNvPr id="10243" name="图片 10242" descr="Dz08020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7400" y="2057400"/>
            <a:ext cx="3657600" cy="1022350"/>
          </a:xfrm>
          <a:prstGeom prst="rect">
            <a:avLst/>
          </a:prstGeom>
          <a:noFill/>
          <a:ln w="9525">
            <a:noFill/>
          </a:ln>
        </p:spPr>
      </p:pic>
      <p:graphicFrame>
        <p:nvGraphicFramePr>
          <p:cNvPr id="10244" name="对象 10243"/>
          <p:cNvGraphicFramePr/>
          <p:nvPr/>
        </p:nvGraphicFramePr>
        <p:xfrm>
          <a:off x="5257800" y="2063750"/>
          <a:ext cx="1230313" cy="188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2" imgW="21955125" imgH="6905625" progId="MSPhotoEd.3">
                  <p:embed/>
                </p:oleObj>
              </mc:Choice>
              <mc:Fallback>
                <p:oleObj name="" r:id="rId2" imgW="21955125" imgH="6905625" progId="MSPhotoEd.3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3">
                        <a:clrChange>
                          <a:clrFrom>
                            <a:srgbClr val="FFFFFF"/>
                          </a:clrFrom>
                          <a:clrTo>
                            <a:srgbClr val="FFFFFF">
                              <a:alpha val="0"/>
                            </a:srgbClr>
                          </a:clrTo>
                        </a:clrChange>
                      </a:blip>
                      <a:srcRect l="32503" t="417" r="50002" b="14233"/>
                      <a:stretch>
                        <a:fillRect/>
                      </a:stretch>
                    </p:blipFill>
                    <p:spPr>
                      <a:xfrm>
                        <a:off x="5257800" y="2063750"/>
                        <a:ext cx="1230313" cy="188912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5" name="文本框 10244"/>
          <p:cNvSpPr txBox="1"/>
          <p:nvPr/>
        </p:nvSpPr>
        <p:spPr>
          <a:xfrm>
            <a:off x="6705600" y="2667000"/>
            <a:ext cx="3200400" cy="977265"/>
          </a:xfrm>
          <a:prstGeom prst="rect">
            <a:avLst/>
          </a:prstGeom>
          <a:solidFill>
            <a:srgbClr val="66FFFF"/>
          </a:solidFill>
          <a:ln w="9525" cap="flat" cmpd="sng">
            <a:solidFill>
              <a:srgbClr val="FF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p>
            <a:pPr>
              <a:lnSpc>
                <a:spcPct val="120000"/>
              </a:lnSpc>
            </a:pPr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charset="0"/>
              </a:rPr>
              <a:t>U</a:t>
            </a:r>
            <a:r>
              <a:rPr lang="en-US" altLang="zh-CN" sz="2400" b="1" baseline="-25000">
                <a:solidFill>
                  <a:srgbClr val="000000"/>
                </a:solidFill>
                <a:latin typeface="Times New Roman" panose="02020603050405020304" charset="0"/>
              </a:rPr>
              <a:t>OH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603050405020304" charset="0"/>
              </a:rPr>
              <a:t>＝＋ </a:t>
            </a:r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charset="0"/>
              </a:rPr>
              <a:t>U</a:t>
            </a:r>
            <a:r>
              <a:rPr lang="en-US" altLang="zh-CN" sz="2400" b="1" baseline="-25000">
                <a:solidFill>
                  <a:srgbClr val="000000"/>
                </a:solidFill>
                <a:latin typeface="Times New Roman" panose="02020603050405020304" charset="0"/>
              </a:rPr>
              <a:t>Z1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603050405020304" charset="0"/>
              </a:rPr>
              <a:t>＋ </a:t>
            </a:r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charset="0"/>
              </a:rPr>
              <a:t>U</a:t>
            </a:r>
            <a:r>
              <a:rPr lang="en-US" altLang="zh-CN" sz="2400" b="1" baseline="-25000">
                <a:solidFill>
                  <a:srgbClr val="000000"/>
                </a:solidFill>
                <a:latin typeface="Times New Roman" panose="02020603050405020304" charset="0"/>
              </a:rPr>
              <a:t>D2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endParaRPr lang="en-US" altLang="zh-CN" sz="2400" b="1">
              <a:solidFill>
                <a:srgbClr val="000000"/>
              </a:solidFill>
              <a:latin typeface="Times New Roman" panose="02020603050405020304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2400" b="1" baseline="-25000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charset="0"/>
              </a:rPr>
              <a:t>U</a:t>
            </a:r>
            <a:r>
              <a:rPr lang="en-US" altLang="zh-CN" sz="2400" b="1" baseline="-25000">
                <a:solidFill>
                  <a:srgbClr val="000000"/>
                </a:solidFill>
                <a:latin typeface="Times New Roman" panose="02020603050405020304" charset="0"/>
              </a:rPr>
              <a:t>OL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603050405020304" charset="0"/>
              </a:rPr>
              <a:t>＝－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charset="0"/>
              </a:rPr>
              <a:t>( </a:t>
            </a:r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charset="0"/>
              </a:rPr>
              <a:t>U</a:t>
            </a:r>
            <a:r>
              <a:rPr lang="en-US" altLang="zh-CN" sz="2400" b="1" baseline="-25000">
                <a:solidFill>
                  <a:srgbClr val="000000"/>
                </a:solidFill>
                <a:latin typeface="Times New Roman" panose="02020603050405020304" charset="0"/>
              </a:rPr>
              <a:t>Z2 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603050405020304" charset="0"/>
              </a:rPr>
              <a:t>＋ </a:t>
            </a:r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charset="0"/>
              </a:rPr>
              <a:t>U</a:t>
            </a:r>
            <a:r>
              <a:rPr lang="en-US" altLang="zh-CN" sz="2400" b="1" baseline="-25000">
                <a:solidFill>
                  <a:srgbClr val="000000"/>
                </a:solidFill>
                <a:latin typeface="Times New Roman" panose="02020603050405020304" charset="0"/>
              </a:rPr>
              <a:t>D1</a:t>
            </a:r>
            <a:r>
              <a:rPr lang="en-US" altLang="zh-CN" sz="2400" b="1">
                <a:latin typeface="Times New Roman" panose="02020603050405020304" charset="0"/>
              </a:rPr>
              <a:t>)</a:t>
            </a:r>
            <a:endParaRPr lang="en-US" altLang="zh-CN" sz="2400" b="1">
              <a:latin typeface="Times New Roman" panose="02020603050405020304" charset="0"/>
            </a:endParaRPr>
          </a:p>
        </p:txBody>
      </p:sp>
      <p:graphicFrame>
        <p:nvGraphicFramePr>
          <p:cNvPr id="10246" name="对象 10245"/>
          <p:cNvGraphicFramePr/>
          <p:nvPr/>
        </p:nvGraphicFramePr>
        <p:xfrm>
          <a:off x="2819400" y="3962400"/>
          <a:ext cx="3200400" cy="1804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" r:id="rId4" imgW="21955125" imgH="6905625" progId="MSPhotoEd.3">
                  <p:embed/>
                </p:oleObj>
              </mc:Choice>
              <mc:Fallback>
                <p:oleObj name="" r:id="rId4" imgW="21955125" imgH="6905625" progId="MSPhotoEd.3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5"/>
                      <a:srcRect l="51250" b="12582"/>
                      <a:stretch>
                        <a:fillRect/>
                      </a:stretch>
                    </p:blipFill>
                    <p:spPr>
                      <a:xfrm>
                        <a:off x="2819400" y="3962400"/>
                        <a:ext cx="3200400" cy="18049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7" name="对象 10246"/>
          <p:cNvGraphicFramePr/>
          <p:nvPr/>
        </p:nvGraphicFramePr>
        <p:xfrm>
          <a:off x="6553200" y="4343400"/>
          <a:ext cx="630238" cy="137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" r:id="rId6" imgW="10591800" imgH="6200775" progId="MSPhotoEd.3">
                  <p:embed/>
                </p:oleObj>
              </mc:Choice>
              <mc:Fallback>
                <p:oleObj name="" r:id="rId6" imgW="10591800" imgH="6200775" progId="MSPhotoEd.3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7"/>
                      <a:srcRect l="46249" t="11566" r="30000"/>
                      <a:stretch>
                        <a:fillRect/>
                      </a:stretch>
                    </p:blipFill>
                    <p:spPr>
                      <a:xfrm>
                        <a:off x="6553200" y="4343400"/>
                        <a:ext cx="630238" cy="1371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8" name="文本框 10247"/>
          <p:cNvSpPr txBox="1"/>
          <p:nvPr/>
        </p:nvSpPr>
        <p:spPr>
          <a:xfrm>
            <a:off x="2362200" y="5334000"/>
            <a:ext cx="2895600" cy="534035"/>
          </a:xfrm>
          <a:prstGeom prst="rect">
            <a:avLst/>
          </a:prstGeom>
          <a:solidFill>
            <a:srgbClr val="66FFFF"/>
          </a:solidFill>
          <a:ln w="9525" cap="flat" cmpd="sng">
            <a:solidFill>
              <a:srgbClr val="FF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p>
            <a:pPr>
              <a:lnSpc>
                <a:spcPct val="120000"/>
              </a:lnSpc>
            </a:pPr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charset="0"/>
              </a:rPr>
              <a:t>U</a:t>
            </a:r>
            <a:r>
              <a:rPr lang="en-US" altLang="zh-CN" sz="2400" b="1" baseline="-25000">
                <a:solidFill>
                  <a:srgbClr val="000000"/>
                </a:solidFill>
                <a:latin typeface="Times New Roman" panose="02020603050405020304" charset="0"/>
              </a:rPr>
              <a:t>OH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603050405020304" charset="0"/>
              </a:rPr>
              <a:t>＝</a:t>
            </a:r>
            <a:r>
              <a:rPr lang="zh-CN" altLang="en-US" sz="2400" b="1" baseline="-25000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603050405020304" charset="0"/>
              </a:rPr>
              <a:t>－</a:t>
            </a:r>
            <a:r>
              <a:rPr lang="zh-CN" altLang="en-US" sz="2400" b="1" baseline="-25000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charset="0"/>
              </a:rPr>
              <a:t>U</a:t>
            </a:r>
            <a:r>
              <a:rPr lang="en-US" altLang="zh-CN" sz="2400" b="1" baseline="-25000">
                <a:solidFill>
                  <a:srgbClr val="000000"/>
                </a:solidFill>
                <a:latin typeface="Times New Roman" panose="02020603050405020304" charset="0"/>
              </a:rPr>
              <a:t>OL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603050405020304" charset="0"/>
              </a:rPr>
              <a:t>＝ </a:t>
            </a:r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charset="0"/>
              </a:rPr>
              <a:t>U</a:t>
            </a:r>
            <a:r>
              <a:rPr lang="en-US" altLang="zh-CN" sz="2400" b="1" baseline="-25000">
                <a:solidFill>
                  <a:srgbClr val="000000"/>
                </a:solidFill>
                <a:latin typeface="Times New Roman" panose="02020603050405020304" charset="0"/>
              </a:rPr>
              <a:t>Z</a:t>
            </a:r>
            <a:endParaRPr lang="en-US" altLang="zh-CN" sz="2400" b="1" baseline="-25000">
              <a:solidFill>
                <a:srgbClr val="000000"/>
              </a:solidFill>
              <a:latin typeface="Times New Roman" panose="02020603050405020304" charset="0"/>
            </a:endParaRPr>
          </a:p>
        </p:txBody>
      </p:sp>
      <p:sp>
        <p:nvSpPr>
          <p:cNvPr id="10249" name="文本框 10248"/>
          <p:cNvSpPr txBox="1"/>
          <p:nvPr/>
        </p:nvSpPr>
        <p:spPr>
          <a:xfrm>
            <a:off x="7620000" y="4495800"/>
            <a:ext cx="1981200" cy="977265"/>
          </a:xfrm>
          <a:prstGeom prst="rect">
            <a:avLst/>
          </a:prstGeom>
          <a:solidFill>
            <a:srgbClr val="66FFFF"/>
          </a:solidFill>
          <a:ln w="9525" cap="flat" cmpd="sng">
            <a:solidFill>
              <a:srgbClr val="FF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p>
            <a:pPr>
              <a:lnSpc>
                <a:spcPct val="120000"/>
              </a:lnSpc>
            </a:pPr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charset="0"/>
              </a:rPr>
              <a:t>U</a:t>
            </a:r>
            <a:r>
              <a:rPr lang="en-US" altLang="zh-CN" sz="2400" b="1" baseline="-25000">
                <a:solidFill>
                  <a:srgbClr val="000000"/>
                </a:solidFill>
                <a:latin typeface="Times New Roman" panose="02020603050405020304" charset="0"/>
              </a:rPr>
              <a:t>OH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603050405020304" charset="0"/>
              </a:rPr>
              <a:t>＝ </a:t>
            </a:r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charset="0"/>
              </a:rPr>
              <a:t>U</a:t>
            </a:r>
            <a:r>
              <a:rPr lang="en-US" altLang="zh-CN" sz="2400" b="1" baseline="-25000">
                <a:solidFill>
                  <a:srgbClr val="000000"/>
                </a:solidFill>
                <a:latin typeface="Times New Roman" panose="02020603050405020304" charset="0"/>
              </a:rPr>
              <a:t>Z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endParaRPr lang="en-US" altLang="zh-CN" sz="2400" b="1">
              <a:solidFill>
                <a:srgbClr val="000000"/>
              </a:solidFill>
              <a:latin typeface="Times New Roman" panose="02020603050405020304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2400" b="1" baseline="-25000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charset="0"/>
              </a:rPr>
              <a:t>U</a:t>
            </a:r>
            <a:r>
              <a:rPr lang="en-US" altLang="zh-CN" sz="2400" b="1" baseline="-25000">
                <a:solidFill>
                  <a:srgbClr val="000000"/>
                </a:solidFill>
                <a:latin typeface="Times New Roman" panose="02020603050405020304" charset="0"/>
              </a:rPr>
              <a:t>OL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603050405020304" charset="0"/>
              </a:rPr>
              <a:t>＝－ </a:t>
            </a:r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charset="0"/>
              </a:rPr>
              <a:t>U</a:t>
            </a:r>
            <a:r>
              <a:rPr lang="en-US" altLang="zh-CN" sz="2400" b="1" baseline="-25000">
                <a:solidFill>
                  <a:srgbClr val="000000"/>
                </a:solidFill>
                <a:latin typeface="Times New Roman" panose="02020603050405020304" charset="0"/>
              </a:rPr>
              <a:t>D</a:t>
            </a:r>
            <a:r>
              <a:rPr lang="en-US" altLang="zh-CN" sz="2400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endParaRPr lang="en-US" altLang="zh-CN" sz="2400">
              <a:solidFill>
                <a:srgbClr val="000000"/>
              </a:solidFill>
              <a:latin typeface="Times New Roman" panose="02020603050405020304" charset="0"/>
            </a:endParaRPr>
          </a:p>
        </p:txBody>
      </p:sp>
      <p:sp>
        <p:nvSpPr>
          <p:cNvPr id="10250" name="线形标注 1 10249"/>
          <p:cNvSpPr/>
          <p:nvPr/>
        </p:nvSpPr>
        <p:spPr>
          <a:xfrm>
            <a:off x="3124200" y="3200400"/>
            <a:ext cx="1358900" cy="409575"/>
          </a:xfrm>
          <a:prstGeom prst="borderCallout1">
            <a:avLst>
              <a:gd name="adj1" fmla="val 27907"/>
              <a:gd name="adj2" fmla="val 105606"/>
              <a:gd name="adj3" fmla="val -158139"/>
              <a:gd name="adj4" fmla="val 159227"/>
            </a:avLst>
          </a:prstGeom>
          <a:solidFill>
            <a:schemeClr val="bg1"/>
          </a:solidFill>
          <a:ln w="19050" cap="flat" cmpd="sng">
            <a:solidFill>
              <a:srgbClr val="FF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pPr algn="ctr"/>
            <a:r>
              <a:rPr lang="zh-CN" altLang="en-US" b="1" dirty="0">
                <a:latin typeface="Arial" panose="020B0604020202020204" pitchFamily="34" charset="0"/>
              </a:rPr>
              <a:t>不可缺少！</a:t>
            </a:r>
            <a:endParaRPr lang="zh-CN" altLang="en-US" b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0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5" grpId="0" bldLvl="0" animBg="1"/>
      <p:bldP spid="10248" grpId="0" bldLvl="0" animBg="1"/>
      <p:bldP spid="10249" grpId="0" bldLvl="0" animBg="1"/>
      <p:bldP spid="10250" grpId="0" bldLvl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11265"/>
          <p:cNvSpPr>
            <a:spLocks noGrp="1"/>
          </p:cNvSpPr>
          <p:nvPr>
            <p:ph type="title"/>
          </p:nvPr>
        </p:nvSpPr>
        <p:spPr>
          <a:xfrm>
            <a:off x="1905000" y="609600"/>
            <a:ext cx="3276600" cy="609600"/>
          </a:xfrm>
        </p:spPr>
        <p:txBody>
          <a:bodyPr anchor="ctr" anchorCtr="0"/>
          <a:p>
            <a:pPr algn="l"/>
            <a:r>
              <a:rPr lang="zh-CN" altLang="en-US" sz="2800" b="1" dirty="0">
                <a:solidFill>
                  <a:schemeClr val="tx1"/>
                </a:solidFill>
              </a:rPr>
              <a:t>输出限幅电路</a:t>
            </a:r>
            <a:endParaRPr lang="zh-CN" altLang="en-US" sz="2800" b="1" dirty="0"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  <p:sp>
        <p:nvSpPr>
          <p:cNvPr id="11267" name="文本框 11266"/>
          <p:cNvSpPr txBox="1"/>
          <p:nvPr/>
        </p:nvSpPr>
        <p:spPr>
          <a:xfrm>
            <a:off x="5943600" y="1693863"/>
            <a:ext cx="1828800" cy="460375"/>
          </a:xfrm>
          <a:prstGeom prst="rect">
            <a:avLst/>
          </a:prstGeom>
          <a:solidFill>
            <a:srgbClr val="66FFFF"/>
          </a:solidFill>
          <a:ln w="9525" cap="flat" cmpd="sng">
            <a:solidFill>
              <a:srgbClr val="FF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2400" b="1" i="1" dirty="0" err="1">
                <a:latin typeface="Times New Roman" panose="02020603050405020304" charset="0"/>
              </a:rPr>
              <a:t>u</a:t>
            </a:r>
            <a:r>
              <a:rPr lang="en-US" altLang="zh-CN" sz="2400" b="1" baseline="-25000" dirty="0" err="1">
                <a:latin typeface="Times New Roman" panose="02020603050405020304" charset="0"/>
              </a:rPr>
              <a:t>O</a:t>
            </a:r>
            <a:r>
              <a:rPr lang="zh-CN" altLang="en-US" sz="2400" b="1">
                <a:latin typeface="Times New Roman" panose="02020603050405020304" charset="0"/>
              </a:rPr>
              <a:t>＝</a:t>
            </a:r>
            <a:r>
              <a:rPr lang="en-US" altLang="zh-CN" sz="2400" b="1">
                <a:latin typeface="Times New Roman" panose="02020603050405020304" charset="0"/>
              </a:rPr>
              <a:t>± </a:t>
            </a:r>
            <a:r>
              <a:rPr lang="en-US" altLang="zh-CN" sz="2400" b="1" i="1">
                <a:latin typeface="Times New Roman" panose="02020603050405020304" charset="0"/>
              </a:rPr>
              <a:t>U</a:t>
            </a:r>
            <a:r>
              <a:rPr lang="en-US" altLang="zh-CN" sz="2400" b="1" baseline="-25000">
                <a:latin typeface="Times New Roman" panose="02020603050405020304" charset="0"/>
              </a:rPr>
              <a:t>Z</a:t>
            </a:r>
            <a:endParaRPr lang="en-US" altLang="zh-CN" sz="2400" b="1" baseline="-25000">
              <a:latin typeface="Times New Roman" panose="02020603050405020304" charset="0"/>
            </a:endParaRPr>
          </a:p>
        </p:txBody>
      </p:sp>
      <p:sp>
        <p:nvSpPr>
          <p:cNvPr id="11268" name="文本框 11267"/>
          <p:cNvSpPr txBox="1"/>
          <p:nvPr/>
        </p:nvSpPr>
        <p:spPr>
          <a:xfrm>
            <a:off x="5562600" y="2286000"/>
            <a:ext cx="4876800" cy="82994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400" b="1" dirty="0">
                <a:latin typeface="Times New Roman" panose="02020603050405020304" charset="0"/>
              </a:rPr>
              <a:t>（</a:t>
            </a:r>
            <a:r>
              <a:rPr lang="en-US" altLang="zh-CN" sz="2400" b="1">
                <a:latin typeface="Times New Roman" panose="02020603050405020304" charset="0"/>
              </a:rPr>
              <a:t>1</a:t>
            </a:r>
            <a:r>
              <a:rPr lang="zh-CN" altLang="en-US" sz="2400" b="1" dirty="0">
                <a:latin typeface="Times New Roman" panose="02020603050405020304" charset="0"/>
              </a:rPr>
              <a:t>）保护输入端</a:t>
            </a:r>
            <a:endParaRPr lang="zh-CN" altLang="en-US" sz="2400" b="1" dirty="0">
              <a:latin typeface="Times New Roman" panose="02020603050405020304" charset="0"/>
            </a:endParaRPr>
          </a:p>
          <a:p>
            <a:r>
              <a:rPr lang="zh-CN" altLang="en-US" sz="2400" b="1" dirty="0">
                <a:latin typeface="Times New Roman" panose="02020603050405020304" charset="0"/>
              </a:rPr>
              <a:t>（</a:t>
            </a:r>
            <a:r>
              <a:rPr lang="en-US" altLang="zh-CN" sz="2400" b="1">
                <a:latin typeface="Times New Roman" panose="02020603050405020304" charset="0"/>
              </a:rPr>
              <a:t>2</a:t>
            </a:r>
            <a:r>
              <a:rPr lang="zh-CN" altLang="en-US" sz="2400" b="1" dirty="0">
                <a:latin typeface="Times New Roman" panose="02020603050405020304" charset="0"/>
              </a:rPr>
              <a:t>）加速集成运放状态的转换</a:t>
            </a:r>
            <a:endParaRPr lang="zh-CN" altLang="en-US" sz="2400">
              <a:latin typeface="Times New Roman" panose="02020603050405020304" charset="0"/>
            </a:endParaRPr>
          </a:p>
        </p:txBody>
      </p:sp>
      <p:sp>
        <p:nvSpPr>
          <p:cNvPr id="11269" name="文本框 11268"/>
          <p:cNvSpPr txBox="1"/>
          <p:nvPr/>
        </p:nvSpPr>
        <p:spPr>
          <a:xfrm>
            <a:off x="1905000" y="3581400"/>
            <a:ext cx="8763000" cy="228219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3200" b="1" dirty="0">
                <a:latin typeface="Times New Roman" panose="02020603050405020304" charset="0"/>
                <a:ea typeface="隶书" panose="02010509060101010101" pitchFamily="49" charset="-122"/>
              </a:rPr>
              <a:t>电压比较器的分析方法：</a:t>
            </a:r>
            <a:endParaRPr lang="zh-CN" altLang="en-US" sz="3200" b="1" dirty="0">
              <a:latin typeface="Times New Roman" panose="02020603050405020304" charset="0"/>
              <a:ea typeface="隶书" panose="02010509060101010101" pitchFamily="49" charset="-122"/>
            </a:endParaRPr>
          </a:p>
          <a:p>
            <a:pPr>
              <a:spcBef>
                <a:spcPct val="20000"/>
              </a:spcBef>
            </a:pPr>
            <a:r>
              <a:rPr lang="zh-CN" altLang="en-US" sz="2400" b="1" dirty="0">
                <a:latin typeface="宋体" panose="02010600030101010101" pitchFamily="2" charset="-122"/>
              </a:rPr>
              <a:t>（</a:t>
            </a:r>
            <a:r>
              <a:rPr lang="en-US" altLang="zh-CN" sz="2400" b="1">
                <a:latin typeface="宋体" panose="02010600030101010101" pitchFamily="2" charset="-122"/>
              </a:rPr>
              <a:t>1</a:t>
            </a:r>
            <a:r>
              <a:rPr lang="zh-CN" altLang="en-US" sz="2400" b="1" dirty="0">
                <a:latin typeface="宋体" panose="02010600030101010101" pitchFamily="2" charset="-122"/>
              </a:rPr>
              <a:t>）</a:t>
            </a:r>
            <a:r>
              <a:rPr lang="zh-CN" altLang="en-US" sz="2400" b="1" dirty="0">
                <a:latin typeface="Times New Roman" panose="02020603050405020304" charset="0"/>
              </a:rPr>
              <a:t>写出 </a:t>
            </a:r>
            <a:r>
              <a:rPr lang="en-US" altLang="zh-CN" sz="2400" b="1" i="1" dirty="0" err="1">
                <a:latin typeface="Times New Roman" panose="02020603050405020304" charset="0"/>
              </a:rPr>
              <a:t>u</a:t>
            </a:r>
            <a:r>
              <a:rPr lang="en-US" altLang="zh-CN" sz="2400" b="1" baseline="-25000" dirty="0" err="1">
                <a:latin typeface="Times New Roman" panose="02020603050405020304" charset="0"/>
              </a:rPr>
              <a:t>P</a:t>
            </a:r>
            <a:r>
              <a:rPr lang="zh-CN" altLang="en-US" sz="2400" b="1">
                <a:latin typeface="Times New Roman" panose="02020603050405020304" charset="0"/>
              </a:rPr>
              <a:t>、</a:t>
            </a:r>
            <a:r>
              <a:rPr lang="en-US" altLang="zh-CN" sz="2400" b="1" i="1" dirty="0" err="1">
                <a:latin typeface="Times New Roman" panose="02020603050405020304" charset="0"/>
              </a:rPr>
              <a:t>u</a:t>
            </a:r>
            <a:r>
              <a:rPr lang="en-US" altLang="zh-CN" sz="2400" b="1" baseline="-25000" dirty="0" err="1">
                <a:latin typeface="Times New Roman" panose="02020603050405020304" charset="0"/>
              </a:rPr>
              <a:t>N</a:t>
            </a:r>
            <a:r>
              <a:rPr lang="zh-CN" altLang="zh-CN" sz="2400" b="1" dirty="0">
                <a:latin typeface="Times New Roman" panose="02020603050405020304" charset="0"/>
              </a:rPr>
              <a:t>的表达式，</a:t>
            </a:r>
            <a:r>
              <a:rPr lang="zh-CN" altLang="en-US" sz="2400" b="1">
                <a:latin typeface="Times New Roman" panose="02020603050405020304" charset="0"/>
              </a:rPr>
              <a:t>令</a:t>
            </a:r>
            <a:r>
              <a:rPr lang="en-US" altLang="zh-CN" sz="2400" b="1" i="1" dirty="0" err="1">
                <a:latin typeface="Times New Roman" panose="02020603050405020304" charset="0"/>
              </a:rPr>
              <a:t>u</a:t>
            </a:r>
            <a:r>
              <a:rPr lang="en-US" altLang="zh-CN" sz="2400" b="1" baseline="-25000" dirty="0" err="1">
                <a:latin typeface="Times New Roman" panose="02020603050405020304" charset="0"/>
              </a:rPr>
              <a:t>P</a:t>
            </a:r>
            <a:r>
              <a:rPr lang="zh-CN" altLang="en-US" sz="2400" b="1">
                <a:latin typeface="Times New Roman" panose="02020603050405020304" charset="0"/>
              </a:rPr>
              <a:t>＝</a:t>
            </a:r>
            <a:r>
              <a:rPr lang="zh-CN" altLang="en-US" sz="2400" b="1" dirty="0" err="1">
                <a:latin typeface="Times New Roman" panose="02020603050405020304" charset="0"/>
              </a:rPr>
              <a:t> </a:t>
            </a:r>
            <a:r>
              <a:rPr lang="en-US" altLang="zh-CN" sz="2400" b="1" i="1" dirty="0" err="1">
                <a:latin typeface="Times New Roman" panose="02020603050405020304" charset="0"/>
              </a:rPr>
              <a:t>u</a:t>
            </a:r>
            <a:r>
              <a:rPr lang="en-US" altLang="zh-CN" sz="2400" b="1" baseline="-25000" dirty="0" err="1">
                <a:latin typeface="Times New Roman" panose="02020603050405020304" charset="0"/>
              </a:rPr>
              <a:t>N</a:t>
            </a:r>
            <a:r>
              <a:rPr lang="zh-CN" altLang="en-US" sz="2400" b="1">
                <a:latin typeface="Times New Roman" panose="02020603050405020304" charset="0"/>
              </a:rPr>
              <a:t>，</a:t>
            </a:r>
            <a:r>
              <a:rPr lang="zh-CN" altLang="zh-CN" sz="2400" b="1" dirty="0">
                <a:latin typeface="Times New Roman" panose="02020603050405020304" charset="0"/>
              </a:rPr>
              <a:t>求解出的 </a:t>
            </a:r>
            <a:r>
              <a:rPr lang="en-US" altLang="zh-CN" sz="2400" b="1" i="1" dirty="0" err="1">
                <a:latin typeface="Times New Roman" panose="02020603050405020304" charset="0"/>
              </a:rPr>
              <a:t>u</a:t>
            </a:r>
            <a:r>
              <a:rPr lang="en-US" altLang="zh-CN" sz="2400" b="1" baseline="-25000" dirty="0" err="1">
                <a:latin typeface="Times New Roman" panose="02020603050405020304" charset="0"/>
              </a:rPr>
              <a:t>I</a:t>
            </a:r>
            <a:r>
              <a:rPr lang="zh-CN" altLang="zh-CN" sz="2400" b="1" dirty="0">
                <a:latin typeface="Times New Roman" panose="02020603050405020304" charset="0"/>
              </a:rPr>
              <a:t>即为</a:t>
            </a:r>
            <a:r>
              <a:rPr lang="en-US" altLang="zh-CN" sz="2400" b="1" i="1">
                <a:latin typeface="Times New Roman" panose="02020603050405020304" charset="0"/>
              </a:rPr>
              <a:t>U</a:t>
            </a:r>
            <a:r>
              <a:rPr lang="en-US" altLang="zh-CN" sz="2400" b="1" baseline="-25000">
                <a:latin typeface="Times New Roman" panose="02020603050405020304" charset="0"/>
              </a:rPr>
              <a:t>T</a:t>
            </a:r>
            <a:r>
              <a:rPr lang="zh-CN" altLang="en-US" sz="2400" b="1">
                <a:latin typeface="Times New Roman" panose="02020603050405020304" charset="0"/>
              </a:rPr>
              <a:t>；</a:t>
            </a:r>
            <a:endParaRPr lang="zh-CN" altLang="en-US" sz="2400" b="1">
              <a:latin typeface="Times New Roman" panose="02020603050405020304" charset="0"/>
            </a:endParaRPr>
          </a:p>
          <a:p>
            <a:pPr>
              <a:spcBef>
                <a:spcPct val="20000"/>
              </a:spcBef>
            </a:pPr>
            <a:r>
              <a:rPr lang="zh-CN" altLang="en-US" sz="2400" b="1">
                <a:latin typeface="宋体" panose="02010600030101010101" pitchFamily="2" charset="-122"/>
              </a:rPr>
              <a:t>（</a:t>
            </a:r>
            <a:r>
              <a:rPr lang="en-US" altLang="zh-CN" sz="2400" b="1">
                <a:latin typeface="宋体" panose="02010600030101010101" pitchFamily="2" charset="-122"/>
              </a:rPr>
              <a:t>2</a:t>
            </a:r>
            <a:r>
              <a:rPr lang="zh-CN" altLang="en-US" sz="2400" b="1">
                <a:latin typeface="宋体" panose="02010600030101010101" pitchFamily="2" charset="-122"/>
              </a:rPr>
              <a:t>）</a:t>
            </a:r>
            <a:r>
              <a:rPr lang="zh-CN" altLang="zh-CN" sz="2400" b="1" dirty="0">
                <a:latin typeface="宋体" panose="02010600030101010101" pitchFamily="2" charset="-122"/>
              </a:rPr>
              <a:t>根据输出端限幅电路决定输出的高、低电平；</a:t>
            </a:r>
            <a:endParaRPr lang="zh-CN" altLang="zh-CN" sz="2400" b="1" dirty="0">
              <a:latin typeface="宋体" panose="02010600030101010101" pitchFamily="2" charset="-122"/>
            </a:endParaRPr>
          </a:p>
          <a:p>
            <a:pPr>
              <a:spcBef>
                <a:spcPct val="20000"/>
              </a:spcBef>
            </a:pPr>
            <a:r>
              <a:rPr lang="zh-CN" altLang="zh-CN" sz="2400" b="1" dirty="0">
                <a:latin typeface="宋体" panose="02010600030101010101" pitchFamily="2" charset="-122"/>
              </a:rPr>
              <a:t>（3）根据输入电压作用于同相输入端还是反相输入端决定</a:t>
            </a:r>
            <a:r>
              <a:rPr lang="zh-CN" altLang="en-US" sz="2400" b="1" dirty="0">
                <a:latin typeface="宋体" panose="02010600030101010101" pitchFamily="2" charset="-122"/>
              </a:rPr>
              <a:t>输出电压</a:t>
            </a:r>
            <a:r>
              <a:rPr lang="zh-CN" altLang="zh-CN" sz="2400" b="1" dirty="0">
                <a:latin typeface="宋体" panose="02010600030101010101" pitchFamily="2" charset="-122"/>
              </a:rPr>
              <a:t>的跃变方向。</a:t>
            </a:r>
            <a:endParaRPr lang="zh-CN" altLang="en-US" sz="3200" b="1">
              <a:latin typeface="Times New Roman" panose="02020603050405020304" charset="0"/>
              <a:ea typeface="隶书" panose="02010509060101010101" pitchFamily="49" charset="-122"/>
            </a:endParaRPr>
          </a:p>
        </p:txBody>
      </p:sp>
      <p:graphicFrame>
        <p:nvGraphicFramePr>
          <p:cNvPr id="11270" name="对象 11269"/>
          <p:cNvGraphicFramePr/>
          <p:nvPr/>
        </p:nvGraphicFramePr>
        <p:xfrm>
          <a:off x="2209800" y="1371600"/>
          <a:ext cx="3276600" cy="2001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" r:id="rId1" imgW="11058525" imgH="6753225" progId="MSPhotoEd.3">
                  <p:embed/>
                </p:oleObj>
              </mc:Choice>
              <mc:Fallback>
                <p:oleObj name="" r:id="rId1" imgW="11058525" imgH="6753225" progId="MSPhotoEd.3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209800" y="1371600"/>
                        <a:ext cx="3276600" cy="20018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charRg st="0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268">
                                            <p:txEl>
                                              <p:charRg st="0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charRg st="9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268">
                                            <p:txEl>
                                              <p:charRg st="9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>
                                            <p:txEl>
                                              <p:charRg st="0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269">
                                            <p:txEl>
                                              <p:charRg st="0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>
                                            <p:txEl>
                                              <p:charRg st="12" end="4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269">
                                            <p:txEl>
                                              <p:charRg st="12" end="4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>
                                            <p:txEl>
                                              <p:charRg st="49" end="7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269">
                                            <p:txEl>
                                              <p:charRg st="49" end="7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>
                                            <p:txEl>
                                              <p:charRg st="73" end="1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269">
                                            <p:txEl>
                                              <p:charRg st="73" end="1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7" grpId="0" bldLvl="0" animBg="1"/>
      <p:bldP spid="11268" grpId="0" build="p"/>
      <p:bldP spid="11269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4578" name="组合 24577"/>
          <p:cNvGrpSpPr/>
          <p:nvPr/>
        </p:nvGrpSpPr>
        <p:grpSpPr>
          <a:xfrm>
            <a:off x="6762750" y="1090613"/>
            <a:ext cx="1895475" cy="1495425"/>
            <a:chOff x="704" y="2468"/>
            <a:chExt cx="1117" cy="528"/>
          </a:xfrm>
        </p:grpSpPr>
        <p:sp>
          <p:nvSpPr>
            <p:cNvPr id="24579" name="任意多边形 24578"/>
            <p:cNvSpPr/>
            <p:nvPr/>
          </p:nvSpPr>
          <p:spPr>
            <a:xfrm>
              <a:off x="704" y="2468"/>
              <a:ext cx="279" cy="264"/>
            </a:xfrm>
            <a:custGeom>
              <a:avLst/>
              <a:gdLst/>
              <a:ahLst/>
              <a:cxnLst/>
              <a:pathLst>
                <a:path w="782" h="433">
                  <a:moveTo>
                    <a:pt x="0" y="432"/>
                  </a:moveTo>
                  <a:lnTo>
                    <a:pt x="66" y="314"/>
                  </a:lnTo>
                  <a:lnTo>
                    <a:pt x="132" y="212"/>
                  </a:lnTo>
                  <a:lnTo>
                    <a:pt x="198" y="124"/>
                  </a:lnTo>
                  <a:lnTo>
                    <a:pt x="264" y="51"/>
                  </a:lnTo>
                  <a:lnTo>
                    <a:pt x="319" y="14"/>
                  </a:lnTo>
                  <a:lnTo>
                    <a:pt x="385" y="0"/>
                  </a:lnTo>
                  <a:lnTo>
                    <a:pt x="451" y="14"/>
                  </a:lnTo>
                  <a:lnTo>
                    <a:pt x="517" y="51"/>
                  </a:lnTo>
                  <a:lnTo>
                    <a:pt x="583" y="124"/>
                  </a:lnTo>
                  <a:lnTo>
                    <a:pt x="649" y="212"/>
                  </a:lnTo>
                  <a:lnTo>
                    <a:pt x="715" y="322"/>
                  </a:lnTo>
                  <a:lnTo>
                    <a:pt x="781" y="432"/>
                  </a:lnTo>
                </a:path>
              </a:pathLst>
            </a:custGeom>
            <a:noFill/>
            <a:ln w="38100" cap="rnd" cmpd="sng">
              <a:solidFill>
                <a:srgbClr val="0000FF">
                  <a:alpha val="100000"/>
                </a:srgbClr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4580" name="任意多边形 24579"/>
            <p:cNvSpPr/>
            <p:nvPr/>
          </p:nvSpPr>
          <p:spPr>
            <a:xfrm>
              <a:off x="982" y="2732"/>
              <a:ext cx="280" cy="264"/>
            </a:xfrm>
            <a:custGeom>
              <a:avLst/>
              <a:gdLst/>
              <a:ahLst/>
              <a:cxnLst/>
              <a:pathLst>
                <a:path w="784" h="433">
                  <a:moveTo>
                    <a:pt x="783" y="0"/>
                  </a:moveTo>
                  <a:lnTo>
                    <a:pt x="716" y="117"/>
                  </a:lnTo>
                  <a:lnTo>
                    <a:pt x="650" y="219"/>
                  </a:lnTo>
                  <a:lnTo>
                    <a:pt x="584" y="307"/>
                  </a:lnTo>
                  <a:lnTo>
                    <a:pt x="518" y="380"/>
                  </a:lnTo>
                  <a:lnTo>
                    <a:pt x="463" y="417"/>
                  </a:lnTo>
                  <a:lnTo>
                    <a:pt x="397" y="432"/>
                  </a:lnTo>
                  <a:lnTo>
                    <a:pt x="330" y="417"/>
                  </a:lnTo>
                  <a:lnTo>
                    <a:pt x="264" y="380"/>
                  </a:lnTo>
                  <a:lnTo>
                    <a:pt x="198" y="307"/>
                  </a:lnTo>
                  <a:lnTo>
                    <a:pt x="132" y="219"/>
                  </a:lnTo>
                  <a:lnTo>
                    <a:pt x="66" y="109"/>
                  </a:lnTo>
                  <a:lnTo>
                    <a:pt x="0" y="0"/>
                  </a:lnTo>
                </a:path>
              </a:pathLst>
            </a:custGeom>
            <a:noFill/>
            <a:ln w="38100" cap="rnd" cmpd="sng">
              <a:solidFill>
                <a:srgbClr val="0000FF">
                  <a:alpha val="100000"/>
                </a:srgbClr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4581" name="任意多边形 24580"/>
            <p:cNvSpPr/>
            <p:nvPr/>
          </p:nvSpPr>
          <p:spPr>
            <a:xfrm>
              <a:off x="1263" y="2468"/>
              <a:ext cx="279" cy="264"/>
            </a:xfrm>
            <a:custGeom>
              <a:avLst/>
              <a:gdLst/>
              <a:ahLst/>
              <a:cxnLst/>
              <a:pathLst>
                <a:path w="782" h="433">
                  <a:moveTo>
                    <a:pt x="0" y="432"/>
                  </a:moveTo>
                  <a:lnTo>
                    <a:pt x="66" y="314"/>
                  </a:lnTo>
                  <a:lnTo>
                    <a:pt x="132" y="212"/>
                  </a:lnTo>
                  <a:lnTo>
                    <a:pt x="198" y="124"/>
                  </a:lnTo>
                  <a:lnTo>
                    <a:pt x="264" y="51"/>
                  </a:lnTo>
                  <a:lnTo>
                    <a:pt x="319" y="14"/>
                  </a:lnTo>
                  <a:lnTo>
                    <a:pt x="385" y="0"/>
                  </a:lnTo>
                  <a:lnTo>
                    <a:pt x="451" y="14"/>
                  </a:lnTo>
                  <a:lnTo>
                    <a:pt x="517" y="51"/>
                  </a:lnTo>
                  <a:lnTo>
                    <a:pt x="583" y="124"/>
                  </a:lnTo>
                  <a:lnTo>
                    <a:pt x="649" y="212"/>
                  </a:lnTo>
                  <a:lnTo>
                    <a:pt x="715" y="322"/>
                  </a:lnTo>
                  <a:lnTo>
                    <a:pt x="781" y="432"/>
                  </a:lnTo>
                </a:path>
              </a:pathLst>
            </a:custGeom>
            <a:noFill/>
            <a:ln w="38100" cap="rnd" cmpd="sng">
              <a:solidFill>
                <a:srgbClr val="0000FF">
                  <a:alpha val="100000"/>
                </a:srgbClr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4582" name="任意多边形 24581"/>
            <p:cNvSpPr/>
            <p:nvPr/>
          </p:nvSpPr>
          <p:spPr>
            <a:xfrm>
              <a:off x="1541" y="2732"/>
              <a:ext cx="280" cy="264"/>
            </a:xfrm>
            <a:custGeom>
              <a:avLst/>
              <a:gdLst/>
              <a:ahLst/>
              <a:cxnLst/>
              <a:pathLst>
                <a:path w="784" h="433">
                  <a:moveTo>
                    <a:pt x="783" y="0"/>
                  </a:moveTo>
                  <a:lnTo>
                    <a:pt x="716" y="117"/>
                  </a:lnTo>
                  <a:lnTo>
                    <a:pt x="650" y="219"/>
                  </a:lnTo>
                  <a:lnTo>
                    <a:pt x="584" y="307"/>
                  </a:lnTo>
                  <a:lnTo>
                    <a:pt x="518" y="380"/>
                  </a:lnTo>
                  <a:lnTo>
                    <a:pt x="463" y="417"/>
                  </a:lnTo>
                  <a:lnTo>
                    <a:pt x="397" y="432"/>
                  </a:lnTo>
                  <a:lnTo>
                    <a:pt x="330" y="417"/>
                  </a:lnTo>
                  <a:lnTo>
                    <a:pt x="264" y="380"/>
                  </a:lnTo>
                  <a:lnTo>
                    <a:pt x="198" y="307"/>
                  </a:lnTo>
                  <a:lnTo>
                    <a:pt x="132" y="219"/>
                  </a:lnTo>
                  <a:lnTo>
                    <a:pt x="66" y="109"/>
                  </a:lnTo>
                  <a:lnTo>
                    <a:pt x="0" y="0"/>
                  </a:lnTo>
                </a:path>
              </a:pathLst>
            </a:custGeom>
            <a:noFill/>
            <a:ln w="38100" cap="rnd" cmpd="sng">
              <a:solidFill>
                <a:srgbClr val="0000FF">
                  <a:alpha val="100000"/>
                </a:srgbClr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24583" name="组合 24582"/>
          <p:cNvGrpSpPr/>
          <p:nvPr/>
        </p:nvGrpSpPr>
        <p:grpSpPr>
          <a:xfrm>
            <a:off x="6153150" y="192088"/>
            <a:ext cx="3790950" cy="2667000"/>
            <a:chOff x="3264" y="84"/>
            <a:chExt cx="2388" cy="1680"/>
          </a:xfrm>
        </p:grpSpPr>
        <p:sp>
          <p:nvSpPr>
            <p:cNvPr id="24584" name="文本框 24583"/>
            <p:cNvSpPr txBox="1"/>
            <p:nvPr/>
          </p:nvSpPr>
          <p:spPr>
            <a:xfrm>
              <a:off x="5304" y="708"/>
              <a:ext cx="348" cy="368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sz="3200" b="1">
                  <a:latin typeface="Times New Roman" panose="02020603050405020304" charset="0"/>
                  <a:ea typeface="楷体_GB2312" pitchFamily="49" charset="-122"/>
                </a:rPr>
                <a:t>t</a:t>
              </a:r>
              <a:endParaRPr lang="en-US" altLang="zh-CN" sz="3200" b="1">
                <a:latin typeface="Times New Roman" panose="02020603050405020304" charset="0"/>
                <a:ea typeface="楷体_GB2312" pitchFamily="49" charset="-122"/>
              </a:endParaRPr>
            </a:p>
          </p:txBody>
        </p:sp>
        <p:grpSp>
          <p:nvGrpSpPr>
            <p:cNvPr id="24585" name="组合 24584"/>
            <p:cNvGrpSpPr/>
            <p:nvPr/>
          </p:nvGrpSpPr>
          <p:grpSpPr>
            <a:xfrm>
              <a:off x="3264" y="84"/>
              <a:ext cx="2388" cy="1680"/>
              <a:chOff x="3264" y="84"/>
              <a:chExt cx="2388" cy="1680"/>
            </a:xfrm>
          </p:grpSpPr>
          <p:sp>
            <p:nvSpPr>
              <p:cNvPr id="24586" name="直接连接符 24585"/>
              <p:cNvSpPr/>
              <p:nvPr/>
            </p:nvSpPr>
            <p:spPr>
              <a:xfrm>
                <a:off x="3528" y="1128"/>
                <a:ext cx="2124" cy="0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24587" name="直接连接符 24586"/>
              <p:cNvSpPr/>
              <p:nvPr/>
            </p:nvSpPr>
            <p:spPr>
              <a:xfrm>
                <a:off x="3648" y="360"/>
                <a:ext cx="0" cy="1404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headEnd type="triangle" w="med" len="med"/>
                <a:tailEnd type="none" w="med" len="med"/>
              </a:ln>
            </p:spPr>
          </p:sp>
          <p:sp>
            <p:nvSpPr>
              <p:cNvPr id="24588" name="文本框 24587"/>
              <p:cNvSpPr txBox="1"/>
              <p:nvPr/>
            </p:nvSpPr>
            <p:spPr>
              <a:xfrm>
                <a:off x="3264" y="84"/>
                <a:ext cx="444" cy="36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>
                <a:spAutoFit/>
              </a:bodyPr>
              <a:p>
                <a:pPr algn="ctr" eaLnBrk="0" hangingPunct="0">
                  <a:spcBef>
                    <a:spcPct val="50000"/>
                  </a:spcBef>
                </a:pPr>
                <a:r>
                  <a:rPr lang="en-US" altLang="zh-CN" sz="3200" b="1" i="1" dirty="0" err="1">
                    <a:latin typeface="Times New Roman" panose="02020603050405020304" charset="0"/>
                    <a:ea typeface="楷体_GB2312" pitchFamily="49" charset="-122"/>
                  </a:rPr>
                  <a:t>u</a:t>
                </a:r>
                <a:r>
                  <a:rPr lang="en-US" altLang="zh-CN" sz="3200" b="1" baseline="-25000" dirty="0" err="1">
                    <a:latin typeface="Times New Roman" panose="02020603050405020304" charset="0"/>
                    <a:ea typeface="楷体_GB2312" pitchFamily="49" charset="-122"/>
                  </a:rPr>
                  <a:t>i</a:t>
                </a:r>
                <a:endParaRPr lang="en-US" altLang="zh-CN" sz="3200" b="1">
                  <a:latin typeface="Times New Roman" panose="02020603050405020304" charset="0"/>
                  <a:ea typeface="楷体_GB2312" pitchFamily="49" charset="-122"/>
                </a:endParaRPr>
              </a:p>
            </p:txBody>
          </p:sp>
        </p:grpSp>
      </p:grpSp>
      <p:grpSp>
        <p:nvGrpSpPr>
          <p:cNvPr id="24589" name="组合 24588"/>
          <p:cNvGrpSpPr/>
          <p:nvPr/>
        </p:nvGrpSpPr>
        <p:grpSpPr>
          <a:xfrm>
            <a:off x="6753225" y="3708400"/>
            <a:ext cx="492125" cy="808038"/>
            <a:chOff x="3291" y="2173"/>
            <a:chExt cx="327" cy="509"/>
          </a:xfrm>
        </p:grpSpPr>
        <p:sp>
          <p:nvSpPr>
            <p:cNvPr id="24590" name="直接连接符 24589"/>
            <p:cNvSpPr/>
            <p:nvPr/>
          </p:nvSpPr>
          <p:spPr>
            <a:xfrm flipH="1">
              <a:off x="3300" y="2179"/>
              <a:ext cx="3" cy="503"/>
            </a:xfrm>
            <a:prstGeom prst="line">
              <a:avLst/>
            </a:prstGeom>
            <a:ln w="38100" cap="flat" cmpd="sng">
              <a:solidFill>
                <a:srgbClr val="339966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591" name="直接连接符 24590"/>
            <p:cNvSpPr/>
            <p:nvPr/>
          </p:nvSpPr>
          <p:spPr>
            <a:xfrm>
              <a:off x="3291" y="2179"/>
              <a:ext cx="327" cy="0"/>
            </a:xfrm>
            <a:prstGeom prst="line">
              <a:avLst/>
            </a:prstGeom>
            <a:ln w="38100" cap="flat" cmpd="sng">
              <a:solidFill>
                <a:srgbClr val="339966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592" name="直接连接符 24591"/>
            <p:cNvSpPr/>
            <p:nvPr/>
          </p:nvSpPr>
          <p:spPr>
            <a:xfrm flipH="1">
              <a:off x="3606" y="2173"/>
              <a:ext cx="3" cy="503"/>
            </a:xfrm>
            <a:prstGeom prst="line">
              <a:avLst/>
            </a:prstGeom>
            <a:ln w="38100" cap="flat" cmpd="sng">
              <a:solidFill>
                <a:srgbClr val="339966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24593" name="组合 24592"/>
          <p:cNvGrpSpPr/>
          <p:nvPr/>
        </p:nvGrpSpPr>
        <p:grpSpPr>
          <a:xfrm flipV="1">
            <a:off x="7213600" y="4460875"/>
            <a:ext cx="492125" cy="808038"/>
            <a:chOff x="3291" y="2173"/>
            <a:chExt cx="327" cy="509"/>
          </a:xfrm>
        </p:grpSpPr>
        <p:sp>
          <p:nvSpPr>
            <p:cNvPr id="24594" name="直接连接符 24593"/>
            <p:cNvSpPr/>
            <p:nvPr/>
          </p:nvSpPr>
          <p:spPr>
            <a:xfrm flipH="1">
              <a:off x="3300" y="2179"/>
              <a:ext cx="3" cy="503"/>
            </a:xfrm>
            <a:prstGeom prst="line">
              <a:avLst/>
            </a:prstGeom>
            <a:ln w="38100" cap="flat" cmpd="sng">
              <a:solidFill>
                <a:srgbClr val="339966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595" name="直接连接符 24594"/>
            <p:cNvSpPr/>
            <p:nvPr/>
          </p:nvSpPr>
          <p:spPr>
            <a:xfrm>
              <a:off x="3291" y="2179"/>
              <a:ext cx="327" cy="0"/>
            </a:xfrm>
            <a:prstGeom prst="line">
              <a:avLst/>
            </a:prstGeom>
            <a:ln w="38100" cap="flat" cmpd="sng">
              <a:solidFill>
                <a:srgbClr val="339966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596" name="直接连接符 24595"/>
            <p:cNvSpPr/>
            <p:nvPr/>
          </p:nvSpPr>
          <p:spPr>
            <a:xfrm flipH="1">
              <a:off x="3606" y="2173"/>
              <a:ext cx="3" cy="503"/>
            </a:xfrm>
            <a:prstGeom prst="line">
              <a:avLst/>
            </a:prstGeom>
            <a:ln w="38100" cap="flat" cmpd="sng">
              <a:solidFill>
                <a:srgbClr val="339966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24597" name="组合 24596"/>
          <p:cNvGrpSpPr/>
          <p:nvPr/>
        </p:nvGrpSpPr>
        <p:grpSpPr>
          <a:xfrm>
            <a:off x="7675563" y="3727450"/>
            <a:ext cx="952500" cy="1560513"/>
            <a:chOff x="3291" y="2173"/>
            <a:chExt cx="633" cy="983"/>
          </a:xfrm>
        </p:grpSpPr>
        <p:grpSp>
          <p:nvGrpSpPr>
            <p:cNvPr id="24598" name="组合 24597"/>
            <p:cNvGrpSpPr/>
            <p:nvPr/>
          </p:nvGrpSpPr>
          <p:grpSpPr>
            <a:xfrm>
              <a:off x="3291" y="2173"/>
              <a:ext cx="327" cy="509"/>
              <a:chOff x="3291" y="2173"/>
              <a:chExt cx="327" cy="509"/>
            </a:xfrm>
          </p:grpSpPr>
          <p:sp>
            <p:nvSpPr>
              <p:cNvPr id="24599" name="直接连接符 24598"/>
              <p:cNvSpPr/>
              <p:nvPr/>
            </p:nvSpPr>
            <p:spPr>
              <a:xfrm flipH="1">
                <a:off x="3300" y="2179"/>
                <a:ext cx="3" cy="503"/>
              </a:xfrm>
              <a:prstGeom prst="line">
                <a:avLst/>
              </a:prstGeom>
              <a:ln w="38100" cap="flat" cmpd="sng">
                <a:solidFill>
                  <a:srgbClr val="339966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4600" name="直接连接符 24599"/>
              <p:cNvSpPr/>
              <p:nvPr/>
            </p:nvSpPr>
            <p:spPr>
              <a:xfrm>
                <a:off x="3291" y="2179"/>
                <a:ext cx="327" cy="0"/>
              </a:xfrm>
              <a:prstGeom prst="line">
                <a:avLst/>
              </a:prstGeom>
              <a:ln w="38100" cap="flat" cmpd="sng">
                <a:solidFill>
                  <a:srgbClr val="339966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4601" name="直接连接符 24600"/>
              <p:cNvSpPr/>
              <p:nvPr/>
            </p:nvSpPr>
            <p:spPr>
              <a:xfrm flipH="1">
                <a:off x="3606" y="2173"/>
                <a:ext cx="3" cy="503"/>
              </a:xfrm>
              <a:prstGeom prst="line">
                <a:avLst/>
              </a:prstGeom>
              <a:ln w="38100" cap="flat" cmpd="sng">
                <a:solidFill>
                  <a:srgbClr val="339966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24602" name="组合 24601"/>
            <p:cNvGrpSpPr/>
            <p:nvPr/>
          </p:nvGrpSpPr>
          <p:grpSpPr>
            <a:xfrm flipV="1">
              <a:off x="3597" y="2647"/>
              <a:ext cx="327" cy="509"/>
              <a:chOff x="3291" y="2173"/>
              <a:chExt cx="327" cy="509"/>
            </a:xfrm>
          </p:grpSpPr>
          <p:sp>
            <p:nvSpPr>
              <p:cNvPr id="24603" name="直接连接符 24602"/>
              <p:cNvSpPr/>
              <p:nvPr/>
            </p:nvSpPr>
            <p:spPr>
              <a:xfrm flipH="1">
                <a:off x="3300" y="2179"/>
                <a:ext cx="3" cy="503"/>
              </a:xfrm>
              <a:prstGeom prst="line">
                <a:avLst/>
              </a:prstGeom>
              <a:ln w="38100" cap="flat" cmpd="sng">
                <a:solidFill>
                  <a:srgbClr val="339966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4604" name="直接连接符 24603"/>
              <p:cNvSpPr/>
              <p:nvPr/>
            </p:nvSpPr>
            <p:spPr>
              <a:xfrm>
                <a:off x="3291" y="2179"/>
                <a:ext cx="327" cy="0"/>
              </a:xfrm>
              <a:prstGeom prst="line">
                <a:avLst/>
              </a:prstGeom>
              <a:ln w="38100" cap="flat" cmpd="sng">
                <a:solidFill>
                  <a:srgbClr val="339966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4605" name="直接连接符 24604"/>
              <p:cNvSpPr/>
              <p:nvPr/>
            </p:nvSpPr>
            <p:spPr>
              <a:xfrm flipH="1">
                <a:off x="3606" y="2173"/>
                <a:ext cx="3" cy="503"/>
              </a:xfrm>
              <a:prstGeom prst="line">
                <a:avLst/>
              </a:prstGeom>
              <a:ln w="38100" cap="flat" cmpd="sng">
                <a:solidFill>
                  <a:srgbClr val="339966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24606" name="组合 24605"/>
          <p:cNvGrpSpPr/>
          <p:nvPr/>
        </p:nvGrpSpPr>
        <p:grpSpPr>
          <a:xfrm>
            <a:off x="5870575" y="2859088"/>
            <a:ext cx="4073525" cy="2667000"/>
            <a:chOff x="2735" y="1638"/>
            <a:chExt cx="2566" cy="1680"/>
          </a:xfrm>
        </p:grpSpPr>
        <p:grpSp>
          <p:nvGrpSpPr>
            <p:cNvPr id="24607" name="组合 24606"/>
            <p:cNvGrpSpPr/>
            <p:nvPr/>
          </p:nvGrpSpPr>
          <p:grpSpPr>
            <a:xfrm>
              <a:off x="2913" y="1638"/>
              <a:ext cx="2388" cy="1680"/>
              <a:chOff x="3264" y="84"/>
              <a:chExt cx="2388" cy="1680"/>
            </a:xfrm>
          </p:grpSpPr>
          <p:sp>
            <p:nvSpPr>
              <p:cNvPr id="24608" name="文本框 24607"/>
              <p:cNvSpPr txBox="1"/>
              <p:nvPr/>
            </p:nvSpPr>
            <p:spPr>
              <a:xfrm>
                <a:off x="5304" y="708"/>
                <a:ext cx="348" cy="36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>
                <a:spAutoFit/>
              </a:bodyPr>
              <a:p>
                <a:pPr algn="ctr" eaLnBrk="0" hangingPunct="0">
                  <a:spcBef>
                    <a:spcPct val="50000"/>
                  </a:spcBef>
                </a:pPr>
                <a:r>
                  <a:rPr lang="en-US" altLang="zh-CN" sz="3200" b="1">
                    <a:latin typeface="Times New Roman" panose="02020603050405020304" charset="0"/>
                    <a:ea typeface="楷体_GB2312" pitchFamily="49" charset="-122"/>
                  </a:rPr>
                  <a:t>t</a:t>
                </a:r>
                <a:endParaRPr lang="en-US" altLang="zh-CN" sz="3200" b="1">
                  <a:latin typeface="Times New Roman" panose="02020603050405020304" charset="0"/>
                  <a:ea typeface="楷体_GB2312" pitchFamily="49" charset="-122"/>
                </a:endParaRPr>
              </a:p>
            </p:txBody>
          </p:sp>
          <p:grpSp>
            <p:nvGrpSpPr>
              <p:cNvPr id="24609" name="组合 24608"/>
              <p:cNvGrpSpPr/>
              <p:nvPr/>
            </p:nvGrpSpPr>
            <p:grpSpPr>
              <a:xfrm>
                <a:off x="3264" y="84"/>
                <a:ext cx="2388" cy="1680"/>
                <a:chOff x="3264" y="84"/>
                <a:chExt cx="2388" cy="1680"/>
              </a:xfrm>
            </p:grpSpPr>
            <p:sp>
              <p:nvSpPr>
                <p:cNvPr id="24610" name="直接连接符 24609"/>
                <p:cNvSpPr/>
                <p:nvPr/>
              </p:nvSpPr>
              <p:spPr>
                <a:xfrm>
                  <a:off x="3528" y="1128"/>
                  <a:ext cx="2124" cy="0"/>
                </a:xfrm>
                <a:prstGeom prst="line">
                  <a:avLst/>
                </a:prstGeom>
                <a:ln w="38100" cap="flat" cmpd="sng">
                  <a:solidFill>
                    <a:srgbClr val="000000"/>
                  </a:solidFill>
                  <a:prstDash val="solid"/>
                  <a:headEnd type="none" w="med" len="med"/>
                  <a:tailEnd type="triangle" w="med" len="med"/>
                </a:ln>
              </p:spPr>
            </p:sp>
            <p:sp>
              <p:nvSpPr>
                <p:cNvPr id="24611" name="直接连接符 24610"/>
                <p:cNvSpPr/>
                <p:nvPr/>
              </p:nvSpPr>
              <p:spPr>
                <a:xfrm>
                  <a:off x="3648" y="360"/>
                  <a:ext cx="0" cy="1404"/>
                </a:xfrm>
                <a:prstGeom prst="line">
                  <a:avLst/>
                </a:prstGeom>
                <a:ln w="38100" cap="flat" cmpd="sng">
                  <a:solidFill>
                    <a:srgbClr val="000000"/>
                  </a:solidFill>
                  <a:prstDash val="solid"/>
                  <a:headEnd type="triangle" w="med" len="med"/>
                  <a:tailEnd type="none" w="med" len="med"/>
                </a:ln>
              </p:spPr>
            </p:sp>
            <p:sp>
              <p:nvSpPr>
                <p:cNvPr id="24612" name="文本框 24611"/>
                <p:cNvSpPr txBox="1"/>
                <p:nvPr/>
              </p:nvSpPr>
              <p:spPr>
                <a:xfrm>
                  <a:off x="3264" y="84"/>
                  <a:ext cx="444" cy="368"/>
                </a:xfrm>
                <a:prstGeom prst="rect">
                  <a:avLst/>
                </a:prstGeom>
                <a:noFill/>
                <a:ln w="38100">
                  <a:noFill/>
                </a:ln>
              </p:spPr>
              <p:txBody>
                <a:bodyPr>
                  <a:spAutoFit/>
                </a:bodyPr>
                <a:p>
                  <a:pPr algn="ctr" eaLnBrk="0" hangingPunct="0">
                    <a:spcBef>
                      <a:spcPct val="50000"/>
                    </a:spcBef>
                  </a:pPr>
                  <a:r>
                    <a:rPr lang="en-US" altLang="zh-CN" sz="3200" b="1" i="1" dirty="0" err="1">
                      <a:latin typeface="Times New Roman" panose="02020603050405020304" charset="0"/>
                      <a:ea typeface="楷体_GB2312" pitchFamily="49" charset="-122"/>
                    </a:rPr>
                    <a:t>u</a:t>
                  </a:r>
                  <a:r>
                    <a:rPr lang="en-US" altLang="zh-CN" sz="3200" b="1" baseline="-25000" dirty="0" err="1">
                      <a:latin typeface="Times New Roman" panose="02020603050405020304" charset="0"/>
                      <a:ea typeface="楷体_GB2312" pitchFamily="49" charset="-122"/>
                    </a:rPr>
                    <a:t>o</a:t>
                  </a:r>
                  <a:endParaRPr lang="en-US" altLang="zh-CN" sz="3200" b="1">
                    <a:latin typeface="Times New Roman" panose="02020603050405020304" charset="0"/>
                    <a:ea typeface="楷体_GB2312" pitchFamily="49" charset="-122"/>
                  </a:endParaRPr>
                </a:p>
              </p:txBody>
            </p:sp>
          </p:grpSp>
        </p:grpSp>
        <p:sp>
          <p:nvSpPr>
            <p:cNvPr id="24613" name="文本框 24612"/>
            <p:cNvSpPr txBox="1"/>
            <p:nvPr/>
          </p:nvSpPr>
          <p:spPr>
            <a:xfrm>
              <a:off x="2790" y="2027"/>
              <a:ext cx="537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0" hangingPunct="0">
                <a:spcBef>
                  <a:spcPct val="50000"/>
                </a:spcBef>
              </a:pPr>
              <a:r>
                <a:rPr lang="en-US" altLang="zh-CN" sz="2400" b="1">
                  <a:latin typeface="Times New Roman" panose="02020603050405020304" charset="0"/>
                  <a:ea typeface="楷体_GB2312" pitchFamily="49" charset="-122"/>
                </a:rPr>
                <a:t>+</a:t>
              </a:r>
              <a:r>
                <a:rPr lang="en-US" altLang="zh-CN" sz="2400" b="1" i="1" dirty="0" err="1">
                  <a:latin typeface="Times New Roman" panose="02020603050405020304" charset="0"/>
                  <a:ea typeface="楷体_GB2312" pitchFamily="49" charset="-122"/>
                </a:rPr>
                <a:t>U</a:t>
              </a:r>
              <a:r>
                <a:rPr lang="en-US" altLang="zh-CN" sz="2400" b="1" baseline="-25000" dirty="0" err="1">
                  <a:latin typeface="Times New Roman" panose="02020603050405020304" charset="0"/>
                  <a:ea typeface="楷体_GB2312" pitchFamily="49" charset="-122"/>
                </a:rPr>
                <a:t>om</a:t>
              </a:r>
              <a:endParaRPr lang="en-US" altLang="zh-CN" sz="2400" b="1">
                <a:latin typeface="Times New Roman" panose="02020603050405020304" charset="0"/>
                <a:ea typeface="楷体_GB2312" pitchFamily="49" charset="-122"/>
              </a:endParaRPr>
            </a:p>
          </p:txBody>
        </p:sp>
        <p:sp>
          <p:nvSpPr>
            <p:cNvPr id="24614" name="文本框 24613"/>
            <p:cNvSpPr txBox="1"/>
            <p:nvPr/>
          </p:nvSpPr>
          <p:spPr>
            <a:xfrm>
              <a:off x="2735" y="2954"/>
              <a:ext cx="537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0" hangingPunct="0">
                <a:spcBef>
                  <a:spcPct val="50000"/>
                </a:spcBef>
              </a:pPr>
              <a:r>
                <a:rPr lang="en-US" altLang="zh-CN" sz="2400" b="1">
                  <a:latin typeface="Times New Roman" panose="02020603050405020304" charset="0"/>
                  <a:ea typeface="楷体_GB2312" pitchFamily="49" charset="-122"/>
                </a:rPr>
                <a:t>-</a:t>
              </a:r>
              <a:r>
                <a:rPr lang="en-US" altLang="zh-CN" sz="2400" b="1" i="1" dirty="0" err="1">
                  <a:latin typeface="Times New Roman" panose="02020603050405020304" charset="0"/>
                  <a:ea typeface="楷体_GB2312" pitchFamily="49" charset="-122"/>
                </a:rPr>
                <a:t>U</a:t>
              </a:r>
              <a:r>
                <a:rPr lang="en-US" altLang="zh-CN" sz="2400" b="1" baseline="-25000" dirty="0" err="1">
                  <a:latin typeface="Times New Roman" panose="02020603050405020304" charset="0"/>
                  <a:ea typeface="楷体_GB2312" pitchFamily="49" charset="-122"/>
                </a:rPr>
                <a:t>om</a:t>
              </a:r>
              <a:endParaRPr lang="en-US" altLang="zh-CN" sz="2400" b="1">
                <a:latin typeface="Times New Roman" panose="02020603050405020304" charset="0"/>
                <a:ea typeface="楷体_GB2312" pitchFamily="49" charset="-122"/>
              </a:endParaRPr>
            </a:p>
          </p:txBody>
        </p:sp>
      </p:grpSp>
      <p:sp>
        <p:nvSpPr>
          <p:cNvPr id="24615" name="文本框 24614"/>
          <p:cNvSpPr txBox="1"/>
          <p:nvPr/>
        </p:nvSpPr>
        <p:spPr>
          <a:xfrm>
            <a:off x="2133600" y="576263"/>
            <a:ext cx="3714750" cy="15684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0" hangingPunct="0">
              <a:spcBef>
                <a:spcPct val="50000"/>
              </a:spcBef>
            </a:pPr>
            <a:r>
              <a:rPr lang="zh-CN" altLang="en-US" sz="3200" b="1" dirty="0">
                <a:latin typeface="Times New Roman" panose="02020603050405020304" charset="0"/>
                <a:ea typeface="楷体_GB2312" pitchFamily="49" charset="-122"/>
              </a:rPr>
              <a:t>例题：利用电压比较器将正弦波变为方波。</a:t>
            </a:r>
            <a:endParaRPr lang="zh-CN" altLang="en-US" sz="3200" b="1">
              <a:latin typeface="Times New Roman" panose="02020603050405020304" charset="0"/>
              <a:ea typeface="楷体_GB2312" pitchFamily="49" charset="-122"/>
            </a:endParaRPr>
          </a:p>
        </p:txBody>
      </p:sp>
      <p:grpSp>
        <p:nvGrpSpPr>
          <p:cNvPr id="24616" name="组合 24615"/>
          <p:cNvGrpSpPr/>
          <p:nvPr/>
        </p:nvGrpSpPr>
        <p:grpSpPr>
          <a:xfrm>
            <a:off x="7224713" y="1439863"/>
            <a:ext cx="1390650" cy="4171950"/>
            <a:chOff x="3648" y="1188"/>
            <a:chExt cx="876" cy="2628"/>
          </a:xfrm>
        </p:grpSpPr>
        <p:sp>
          <p:nvSpPr>
            <p:cNvPr id="24617" name="直接连接符 24616"/>
            <p:cNvSpPr/>
            <p:nvPr/>
          </p:nvSpPr>
          <p:spPr>
            <a:xfrm>
              <a:off x="3648" y="1200"/>
              <a:ext cx="0" cy="261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24618" name="直接连接符 24617"/>
            <p:cNvSpPr/>
            <p:nvPr/>
          </p:nvSpPr>
          <p:spPr>
            <a:xfrm>
              <a:off x="3940" y="1200"/>
              <a:ext cx="0" cy="261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24619" name="直接连接符 24618"/>
            <p:cNvSpPr/>
            <p:nvPr/>
          </p:nvSpPr>
          <p:spPr>
            <a:xfrm>
              <a:off x="4236" y="1188"/>
              <a:ext cx="0" cy="261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24620" name="直接连接符 24619"/>
            <p:cNvSpPr/>
            <p:nvPr/>
          </p:nvSpPr>
          <p:spPr>
            <a:xfrm>
              <a:off x="4524" y="1188"/>
              <a:ext cx="0" cy="261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</p:sp>
      </p:grpSp>
      <p:pic>
        <p:nvPicPr>
          <p:cNvPr id="24621" name="图片 246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73300" y="2230438"/>
            <a:ext cx="3352800" cy="19145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4622" name="文本框 24621"/>
          <p:cNvSpPr txBox="1"/>
          <p:nvPr/>
        </p:nvSpPr>
        <p:spPr>
          <a:xfrm>
            <a:off x="1847850" y="4581525"/>
            <a:ext cx="4021138" cy="1477010"/>
          </a:xfrm>
          <a:prstGeom prst="rect">
            <a:avLst/>
          </a:prstGeom>
          <a:noFill/>
          <a:ln w="25400">
            <a:noFill/>
          </a:ln>
        </p:spPr>
        <p:txBody>
          <a:bodyPr lIns="36000" tIns="0" rIns="0" bIns="0">
            <a:spAutoFit/>
          </a:bodyPr>
          <a:p>
            <a:pPr indent="711200">
              <a:spcBef>
                <a:spcPct val="50000"/>
              </a:spcBef>
            </a:pPr>
            <a:r>
              <a:rPr lang="zh-CN" altLang="en-US" sz="2400" b="1" dirty="0">
                <a:latin typeface="宋体" panose="02010600030101010101" pitchFamily="2" charset="-122"/>
              </a:rPr>
              <a:t>单门限比较器电路简单，但抗干扰能力差，在阈值电压附近任何微小的变化，都会引起输出电压的跳变。</a:t>
            </a:r>
            <a:endParaRPr lang="zh-CN" altLang="en-US" sz="2400" b="1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458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2457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2460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1000"/>
                                        <p:tgtEl>
                                          <p:spTgt spid="246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2458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2459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2459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622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5602" name="图片 25601" descr="062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33600" y="609600"/>
            <a:ext cx="7772400" cy="51355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5603" name="文本框 25602"/>
          <p:cNvSpPr txBox="1"/>
          <p:nvPr/>
        </p:nvSpPr>
        <p:spPr>
          <a:xfrm>
            <a:off x="2438400" y="5791200"/>
            <a:ext cx="7302500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sz="2400" b="1" dirty="0">
                <a:latin typeface="宋体" panose="02010600030101010101" pitchFamily="2" charset="-122"/>
              </a:rPr>
              <a:t>图</a:t>
            </a:r>
            <a:r>
              <a:rPr lang="en-US" altLang="zh-CN" sz="2400" b="1">
                <a:latin typeface="宋体" panose="02010600030101010101" pitchFamily="2" charset="-122"/>
              </a:rPr>
              <a:t>6.25  </a:t>
            </a:r>
            <a:r>
              <a:rPr lang="zh-CN" altLang="en-US" sz="2400" b="1" dirty="0">
                <a:latin typeface="宋体" panose="02010600030101010101" pitchFamily="2" charset="-122"/>
              </a:rPr>
              <a:t>存在干扰时，单限比较器的输出、输入波形</a:t>
            </a:r>
            <a:r>
              <a:rPr lang="zh-CN" altLang="en-US" sz="2400" dirty="0">
                <a:latin typeface="Times New Roman" panose="02020603050405020304" charset="0"/>
              </a:rPr>
              <a:t> </a:t>
            </a:r>
            <a:endParaRPr lang="zh-CN" altLang="en-US" sz="2400" dirty="0">
              <a:latin typeface="Times New Roman" panose="02020603050405020304" charset="0"/>
            </a:endParaRPr>
          </a:p>
        </p:txBody>
      </p:sp>
    </p:spTree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标题 13313"/>
          <p:cNvSpPr>
            <a:spLocks noGrp="1"/>
          </p:cNvSpPr>
          <p:nvPr>
            <p:ph type="title"/>
          </p:nvPr>
        </p:nvSpPr>
        <p:spPr>
          <a:xfrm>
            <a:off x="2057400" y="609600"/>
            <a:ext cx="5029200" cy="1371600"/>
          </a:xfrm>
        </p:spPr>
        <p:txBody>
          <a:bodyPr anchor="ctr" anchorCtr="0"/>
          <a:p>
            <a:pPr algn="l"/>
            <a:r>
              <a:rPr lang="zh-CN" altLang="en-US" sz="320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三、滞回比较器</a:t>
            </a:r>
            <a:br>
              <a:rPr lang="zh-CN" altLang="en-US" sz="320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</a:br>
            <a:r>
              <a:rPr lang="zh-CN" altLang="en-US" sz="320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  </a:t>
            </a:r>
            <a:r>
              <a:rPr lang="en-US" altLang="zh-CN" sz="2400" b="1">
                <a:solidFill>
                  <a:schemeClr val="tx1"/>
                </a:solidFill>
              </a:rPr>
              <a:t>1.</a:t>
            </a:r>
            <a:r>
              <a:rPr lang="en-US" altLang="zh-CN" sz="2400" b="1">
                <a:solidFill>
                  <a:schemeClr val="tx1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400" b="1" dirty="0">
                <a:solidFill>
                  <a:schemeClr val="tx1"/>
                </a:solidFill>
                <a:latin typeface="宋体" panose="02010600030101010101" pitchFamily="2" charset="-122"/>
              </a:rPr>
              <a:t>阈值电压</a:t>
            </a:r>
            <a:endParaRPr lang="zh-CN" altLang="en-US" sz="2400" b="1" dirty="0"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  <p:graphicFrame>
        <p:nvGraphicFramePr>
          <p:cNvPr id="13315" name="对象 13314"/>
          <p:cNvGraphicFramePr/>
          <p:nvPr/>
        </p:nvGraphicFramePr>
        <p:xfrm>
          <a:off x="2743200" y="4267200"/>
          <a:ext cx="4095750" cy="1366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6" name="" r:id="rId1" imgW="1980565" imgH="660400" progId="Equation.3">
                  <p:embed/>
                </p:oleObj>
              </mc:Choice>
              <mc:Fallback>
                <p:oleObj name="" r:id="rId1" imgW="1980565" imgH="660400" progId="Equation.3">
                  <p:embed/>
                  <p:pic>
                    <p:nvPicPr>
                      <p:cNvPr id="0" name="图片 308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743200" y="4267200"/>
                        <a:ext cx="4095750" cy="136683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6" name="对象 13315"/>
          <p:cNvGraphicFramePr/>
          <p:nvPr/>
        </p:nvGraphicFramePr>
        <p:xfrm>
          <a:off x="6858000" y="2590800"/>
          <a:ext cx="1397000" cy="854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" name="" r:id="rId3" imgW="749300" imgH="457200" progId="Equation.3">
                  <p:embed/>
                </p:oleObj>
              </mc:Choice>
              <mc:Fallback>
                <p:oleObj name="" r:id="rId3" imgW="749300" imgH="457200" progId="Equation.3">
                  <p:embed/>
                  <p:pic>
                    <p:nvPicPr>
                      <p:cNvPr id="0" name="图片 308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858000" y="2590800"/>
                        <a:ext cx="1397000" cy="854075"/>
                      </a:xfrm>
                      <a:prstGeom prst="rect">
                        <a:avLst/>
                      </a:prstGeom>
                      <a:solidFill>
                        <a:srgbClr val="66FFFF"/>
                      </a:solidFill>
                      <a:ln w="9525" cap="flat" cmpd="sng">
                        <a:solidFill>
                          <a:srgbClr val="FF3300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7" name="对象 13316"/>
          <p:cNvGraphicFramePr/>
          <p:nvPr/>
        </p:nvGraphicFramePr>
        <p:xfrm>
          <a:off x="6934200" y="4724400"/>
          <a:ext cx="2681288" cy="893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7" name="" r:id="rId5" imgW="1294765" imgH="431800" progId="Equation.3">
                  <p:embed/>
                </p:oleObj>
              </mc:Choice>
              <mc:Fallback>
                <p:oleObj name="" r:id="rId5" imgW="1294765" imgH="431800" progId="Equation.3">
                  <p:embed/>
                  <p:pic>
                    <p:nvPicPr>
                      <p:cNvPr id="0" name="图片 308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934200" y="4724400"/>
                        <a:ext cx="2681288" cy="893763"/>
                      </a:xfrm>
                      <a:prstGeom prst="rect">
                        <a:avLst/>
                      </a:prstGeom>
                      <a:solidFill>
                        <a:srgbClr val="66FFFF"/>
                      </a:solidFill>
                      <a:ln w="9525" cap="flat" cmpd="sng">
                        <a:solidFill>
                          <a:srgbClr val="FF3300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8" name="对象 13317"/>
          <p:cNvGraphicFramePr/>
          <p:nvPr/>
        </p:nvGraphicFramePr>
        <p:xfrm>
          <a:off x="3124200" y="1981200"/>
          <a:ext cx="3124200" cy="2047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5" name="" r:id="rId7" imgW="10715625" imgH="7019925" progId="MSPhotoEd.3">
                  <p:embed/>
                </p:oleObj>
              </mc:Choice>
              <mc:Fallback>
                <p:oleObj name="" r:id="rId7" imgW="10715625" imgH="7019925" progId="MSPhotoEd.3">
                  <p:embed/>
                  <p:pic>
                    <p:nvPicPr>
                      <p:cNvPr id="0" name="图片 3084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124200" y="1981200"/>
                        <a:ext cx="3124200" cy="20478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8" name="标题 14337"/>
          <p:cNvSpPr>
            <a:spLocks noGrp="1"/>
          </p:cNvSpPr>
          <p:nvPr>
            <p:ph type="title"/>
          </p:nvPr>
        </p:nvSpPr>
        <p:spPr>
          <a:xfrm>
            <a:off x="1905000" y="685800"/>
            <a:ext cx="6248400" cy="762000"/>
          </a:xfrm>
        </p:spPr>
        <p:txBody>
          <a:bodyPr anchor="ctr" anchorCtr="0"/>
          <a:p>
            <a:pPr algn="l"/>
            <a:r>
              <a:rPr lang="zh-CN" altLang="en-US" sz="320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三、滞回比较器</a:t>
            </a:r>
            <a:br>
              <a:rPr lang="zh-CN" altLang="en-US" sz="320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</a:br>
            <a:r>
              <a:rPr lang="zh-CN" altLang="en-US" sz="320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  </a:t>
            </a:r>
            <a:r>
              <a:rPr lang="en-US" altLang="zh-CN" sz="2400" b="1">
                <a:solidFill>
                  <a:schemeClr val="tx1"/>
                </a:solidFill>
              </a:rPr>
              <a:t>2.</a:t>
            </a:r>
            <a:r>
              <a:rPr lang="en-US" altLang="zh-CN" sz="2400" b="1">
                <a:solidFill>
                  <a:schemeClr val="tx1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400" b="1" dirty="0">
                <a:solidFill>
                  <a:schemeClr val="tx1"/>
                </a:solidFill>
                <a:latin typeface="宋体" panose="02010600030101010101" pitchFamily="2" charset="-122"/>
              </a:rPr>
              <a:t>工作原理及电压传输特性</a:t>
            </a:r>
            <a:endParaRPr lang="zh-CN" altLang="en-US" sz="2400" b="1" dirty="0"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  <p:sp>
        <p:nvSpPr>
          <p:cNvPr id="14339" name="文本框 14338"/>
          <p:cNvSpPr txBox="1"/>
          <p:nvPr/>
        </p:nvSpPr>
        <p:spPr>
          <a:xfrm>
            <a:off x="2209800" y="4191000"/>
            <a:ext cx="7848600" cy="9772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20000"/>
              </a:lnSpc>
            </a:pPr>
            <a:r>
              <a:rPr lang="en-US" altLang="zh-CN" sz="2400" dirty="0">
                <a:latin typeface="Times New Roman" panose="02020603050405020304" charset="0"/>
              </a:rPr>
              <a:t>    </a:t>
            </a:r>
            <a:r>
              <a:rPr lang="zh-CN" altLang="en-US" sz="2400" b="1" dirty="0">
                <a:latin typeface="Times New Roman" panose="02020603050405020304" charset="0"/>
              </a:rPr>
              <a:t>设</a:t>
            </a:r>
            <a:r>
              <a:rPr lang="zh-CN" altLang="zh-CN" sz="2400" b="1" i="1" dirty="0">
                <a:latin typeface="Times New Roman" panose="02020603050405020304" charset="0"/>
              </a:rPr>
              <a:t>u</a:t>
            </a:r>
            <a:r>
              <a:rPr lang="zh-CN" altLang="zh-CN" sz="2400" b="1" baseline="-25000" dirty="0">
                <a:latin typeface="Times New Roman" panose="02020603050405020304" charset="0"/>
              </a:rPr>
              <a:t>I</a:t>
            </a:r>
            <a:r>
              <a:rPr lang="zh-CN" altLang="zh-CN" sz="2400" b="1" dirty="0">
                <a:latin typeface="Times New Roman" panose="02020603050405020304" charset="0"/>
              </a:rPr>
              <a:t>＜－</a:t>
            </a:r>
            <a:r>
              <a:rPr lang="zh-CN" altLang="zh-CN" sz="2400" b="1" i="1" dirty="0">
                <a:latin typeface="Times New Roman" panose="02020603050405020304" charset="0"/>
              </a:rPr>
              <a:t>U</a:t>
            </a:r>
            <a:r>
              <a:rPr lang="zh-CN" altLang="zh-CN" sz="2400" b="1" baseline="-25000" dirty="0">
                <a:latin typeface="Times New Roman" panose="02020603050405020304" charset="0"/>
              </a:rPr>
              <a:t>T</a:t>
            </a:r>
            <a:r>
              <a:rPr lang="zh-CN" altLang="zh-CN" sz="2400" b="1" dirty="0">
                <a:latin typeface="Times New Roman" panose="02020603050405020304" charset="0"/>
              </a:rPr>
              <a:t>，则 </a:t>
            </a:r>
            <a:r>
              <a:rPr lang="zh-CN" altLang="zh-CN" sz="2400" b="1" i="1" dirty="0">
                <a:latin typeface="Times New Roman" panose="02020603050405020304" charset="0"/>
              </a:rPr>
              <a:t>u</a:t>
            </a:r>
            <a:r>
              <a:rPr lang="zh-CN" altLang="zh-CN" sz="2400" b="1" baseline="-25000" dirty="0">
                <a:latin typeface="Times New Roman" panose="02020603050405020304" charset="0"/>
              </a:rPr>
              <a:t>N</a:t>
            </a:r>
            <a:r>
              <a:rPr lang="zh-CN" altLang="zh-CN" sz="2400" b="1" dirty="0">
                <a:latin typeface="Times New Roman" panose="02020603050405020304" charset="0"/>
              </a:rPr>
              <a:t>＜ </a:t>
            </a:r>
            <a:r>
              <a:rPr lang="zh-CN" altLang="zh-CN" sz="2400" b="1" i="1" dirty="0">
                <a:latin typeface="Times New Roman" panose="02020603050405020304" charset="0"/>
              </a:rPr>
              <a:t>u</a:t>
            </a:r>
            <a:r>
              <a:rPr lang="zh-CN" altLang="zh-CN" sz="2400" b="1" baseline="-25000" dirty="0">
                <a:latin typeface="Times New Roman" panose="02020603050405020304" charset="0"/>
              </a:rPr>
              <a:t>P</a:t>
            </a:r>
            <a:r>
              <a:rPr lang="zh-CN" altLang="zh-CN" sz="2400" b="1" dirty="0">
                <a:latin typeface="Times New Roman" panose="02020603050405020304" charset="0"/>
              </a:rPr>
              <a:t>，</a:t>
            </a:r>
            <a:r>
              <a:rPr lang="zh-CN" altLang="en-US" sz="2400" b="1" dirty="0">
                <a:latin typeface="Times New Roman" panose="02020603050405020304" charset="0"/>
              </a:rPr>
              <a:t> </a:t>
            </a:r>
            <a:r>
              <a:rPr lang="zh-CN" altLang="zh-CN" sz="2400" b="1" i="1" dirty="0">
                <a:latin typeface="Times New Roman" panose="02020603050405020304" charset="0"/>
              </a:rPr>
              <a:t>u</a:t>
            </a:r>
            <a:r>
              <a:rPr lang="zh-CN" altLang="zh-CN" sz="2400" b="1" baseline="-25000" dirty="0">
                <a:latin typeface="Times New Roman" panose="02020603050405020304" charset="0"/>
              </a:rPr>
              <a:t>O</a:t>
            </a:r>
            <a:r>
              <a:rPr lang="zh-CN" altLang="zh-CN" sz="2400" b="1" dirty="0">
                <a:latin typeface="Times New Roman" panose="02020603050405020304" charset="0"/>
              </a:rPr>
              <a:t>＝+</a:t>
            </a:r>
            <a:r>
              <a:rPr lang="zh-CN" altLang="zh-CN" sz="2400" b="1" i="1" dirty="0">
                <a:latin typeface="Times New Roman" panose="02020603050405020304" charset="0"/>
              </a:rPr>
              <a:t>U</a:t>
            </a:r>
            <a:r>
              <a:rPr lang="zh-CN" altLang="zh-CN" sz="2400" b="1" baseline="-25000" dirty="0">
                <a:latin typeface="Times New Roman" panose="02020603050405020304" charset="0"/>
              </a:rPr>
              <a:t>Z</a:t>
            </a:r>
            <a:r>
              <a:rPr lang="zh-CN" altLang="zh-CN" sz="2400" b="1" dirty="0">
                <a:latin typeface="Times New Roman" panose="02020603050405020304" charset="0"/>
              </a:rPr>
              <a:t>。此时</a:t>
            </a:r>
            <a:r>
              <a:rPr lang="zh-CN" altLang="zh-CN" sz="2400" b="1" i="1" dirty="0">
                <a:latin typeface="Times New Roman" panose="02020603050405020304" charset="0"/>
              </a:rPr>
              <a:t>u</a:t>
            </a:r>
            <a:r>
              <a:rPr lang="zh-CN" altLang="zh-CN" sz="2400" b="1" baseline="-25000" dirty="0">
                <a:latin typeface="Times New Roman" panose="02020603050405020304" charset="0"/>
              </a:rPr>
              <a:t>P</a:t>
            </a:r>
            <a:r>
              <a:rPr lang="zh-CN" altLang="zh-CN" sz="2400" b="1" dirty="0">
                <a:latin typeface="Times New Roman" panose="02020603050405020304" charset="0"/>
              </a:rPr>
              <a:t>＝ +</a:t>
            </a:r>
            <a:r>
              <a:rPr lang="zh-CN" altLang="zh-CN" sz="2400" b="1" i="1" dirty="0">
                <a:latin typeface="Times New Roman" panose="02020603050405020304" charset="0"/>
              </a:rPr>
              <a:t>U</a:t>
            </a:r>
            <a:r>
              <a:rPr lang="zh-CN" altLang="zh-CN" sz="2400" b="1" baseline="-25000" dirty="0">
                <a:latin typeface="Times New Roman" panose="02020603050405020304" charset="0"/>
              </a:rPr>
              <a:t>T</a:t>
            </a:r>
            <a:r>
              <a:rPr lang="zh-CN" altLang="zh-CN" sz="2400" b="1" dirty="0">
                <a:latin typeface="Times New Roman" panose="02020603050405020304" charset="0"/>
              </a:rPr>
              <a:t>，增大</a:t>
            </a:r>
            <a:r>
              <a:rPr lang="zh-CN" altLang="en-US" sz="2400" b="1">
                <a:latin typeface="Times New Roman" panose="02020603050405020304" charset="0"/>
              </a:rPr>
              <a:t> </a:t>
            </a:r>
            <a:r>
              <a:rPr lang="zh-CN" altLang="zh-CN" sz="2400" b="1" i="1" dirty="0">
                <a:latin typeface="Times New Roman" panose="02020603050405020304" charset="0"/>
              </a:rPr>
              <a:t>u</a:t>
            </a:r>
            <a:r>
              <a:rPr lang="zh-CN" altLang="zh-CN" sz="2400" b="1" baseline="-25000" dirty="0">
                <a:latin typeface="Times New Roman" panose="02020603050405020304" charset="0"/>
              </a:rPr>
              <a:t>I</a:t>
            </a:r>
            <a:r>
              <a:rPr lang="zh-CN" altLang="zh-CN" sz="2400" b="1" dirty="0">
                <a:latin typeface="Times New Roman" panose="02020603050405020304" charset="0"/>
              </a:rPr>
              <a:t>，直至+</a:t>
            </a:r>
            <a:r>
              <a:rPr lang="zh-CN" altLang="zh-CN" sz="2400" b="1" i="1" dirty="0">
                <a:latin typeface="Times New Roman" panose="02020603050405020304" charset="0"/>
              </a:rPr>
              <a:t>U</a:t>
            </a:r>
            <a:r>
              <a:rPr lang="zh-CN" altLang="zh-CN" sz="2400" b="1" baseline="-25000" dirty="0">
                <a:latin typeface="Times New Roman" panose="02020603050405020304" charset="0"/>
              </a:rPr>
              <a:t>T</a:t>
            </a:r>
            <a:r>
              <a:rPr lang="zh-CN" altLang="zh-CN" sz="2400" b="1" dirty="0">
                <a:latin typeface="Times New Roman" panose="02020603050405020304" charset="0"/>
              </a:rPr>
              <a:t>，再增大，</a:t>
            </a:r>
            <a:r>
              <a:rPr lang="zh-CN" altLang="en-US" sz="2400" b="1">
                <a:latin typeface="Times New Roman" panose="02020603050405020304" charset="0"/>
              </a:rPr>
              <a:t> </a:t>
            </a:r>
            <a:r>
              <a:rPr lang="zh-CN" altLang="zh-CN" sz="2400" b="1" i="1" dirty="0">
                <a:latin typeface="Times New Roman" panose="02020603050405020304" charset="0"/>
              </a:rPr>
              <a:t>u</a:t>
            </a:r>
            <a:r>
              <a:rPr lang="zh-CN" altLang="zh-CN" sz="2400" b="1" baseline="-25000" dirty="0">
                <a:latin typeface="Times New Roman" panose="02020603050405020304" charset="0"/>
              </a:rPr>
              <a:t>O</a:t>
            </a:r>
            <a:r>
              <a:rPr lang="zh-CN" altLang="zh-CN" sz="2400" b="1" dirty="0">
                <a:latin typeface="Times New Roman" panose="02020603050405020304" charset="0"/>
              </a:rPr>
              <a:t>才从+</a:t>
            </a:r>
            <a:r>
              <a:rPr lang="zh-CN" altLang="zh-CN" sz="2400" b="1" i="1" dirty="0">
                <a:latin typeface="Times New Roman" panose="02020603050405020304" charset="0"/>
              </a:rPr>
              <a:t>U</a:t>
            </a:r>
            <a:r>
              <a:rPr lang="zh-CN" altLang="zh-CN" sz="2400" b="1" baseline="-25000" dirty="0">
                <a:latin typeface="Times New Roman" panose="02020603050405020304" charset="0"/>
              </a:rPr>
              <a:t>Z</a:t>
            </a:r>
            <a:r>
              <a:rPr lang="zh-CN" altLang="zh-CN" sz="2400" b="1" dirty="0">
                <a:latin typeface="Times New Roman" panose="02020603050405020304" charset="0"/>
              </a:rPr>
              <a:t>跃变为－ </a:t>
            </a:r>
            <a:r>
              <a:rPr lang="zh-CN" altLang="zh-CN" sz="2400" b="1" i="1" dirty="0">
                <a:latin typeface="Times New Roman" panose="02020603050405020304" charset="0"/>
              </a:rPr>
              <a:t>U</a:t>
            </a:r>
            <a:r>
              <a:rPr lang="zh-CN" altLang="zh-CN" sz="2400" b="1" baseline="-25000" dirty="0">
                <a:latin typeface="Times New Roman" panose="02020603050405020304" charset="0"/>
              </a:rPr>
              <a:t>Z。</a:t>
            </a:r>
            <a:endParaRPr lang="zh-CN" altLang="en-US" sz="2400" b="1" baseline="-25000" dirty="0">
              <a:latin typeface="Times New Roman" panose="02020603050405020304" charset="0"/>
            </a:endParaRPr>
          </a:p>
        </p:txBody>
      </p:sp>
      <p:graphicFrame>
        <p:nvGraphicFramePr>
          <p:cNvPr id="14340" name="对象 14339"/>
          <p:cNvGraphicFramePr/>
          <p:nvPr/>
        </p:nvGraphicFramePr>
        <p:xfrm>
          <a:off x="6172200" y="1828800"/>
          <a:ext cx="2438400" cy="2436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name="" r:id="rId1" imgW="21402675" imgH="9620250" progId="MSPhotoEd.3">
                  <p:embed/>
                </p:oleObj>
              </mc:Choice>
              <mc:Fallback>
                <p:oleObj name="" r:id="rId1" imgW="21402675" imgH="9620250" progId="MSPhotoEd.3">
                  <p:embed/>
                  <p:pic>
                    <p:nvPicPr>
                      <p:cNvPr id="0" name="图片 3082"/>
                      <p:cNvPicPr/>
                      <p:nvPr/>
                    </p:nvPicPr>
                    <p:blipFill>
                      <a:blip r:embed="rId2"/>
                      <a:srcRect l="60001" b="11066"/>
                      <a:stretch>
                        <a:fillRect/>
                      </a:stretch>
                    </p:blipFill>
                    <p:spPr>
                      <a:xfrm>
                        <a:off x="6172200" y="1828800"/>
                        <a:ext cx="2438400" cy="24368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1" name="文本框 14340"/>
          <p:cNvSpPr txBox="1"/>
          <p:nvPr/>
        </p:nvSpPr>
        <p:spPr>
          <a:xfrm>
            <a:off x="2209800" y="5029200"/>
            <a:ext cx="8077200" cy="9772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20000"/>
              </a:lnSpc>
            </a:pPr>
            <a:r>
              <a:rPr lang="en-US" altLang="zh-CN" sz="2400" dirty="0">
                <a:latin typeface="Times New Roman" panose="02020603050405020304" charset="0"/>
              </a:rPr>
              <a:t>    </a:t>
            </a:r>
            <a:r>
              <a:rPr lang="zh-CN" altLang="en-US" sz="2400" b="1" dirty="0">
                <a:latin typeface="Times New Roman" panose="02020603050405020304" charset="0"/>
              </a:rPr>
              <a:t>设 </a:t>
            </a:r>
            <a:r>
              <a:rPr lang="zh-CN" altLang="zh-CN" sz="2400" b="1" i="1" dirty="0">
                <a:latin typeface="Times New Roman" panose="02020603050405020304" charset="0"/>
              </a:rPr>
              <a:t>u</a:t>
            </a:r>
            <a:r>
              <a:rPr lang="zh-CN" altLang="zh-CN" sz="2400" b="1" baseline="-25000" dirty="0">
                <a:latin typeface="Times New Roman" panose="02020603050405020304" charset="0"/>
              </a:rPr>
              <a:t>I</a:t>
            </a:r>
            <a:r>
              <a:rPr lang="zh-CN" altLang="zh-CN" sz="2400" b="1" dirty="0">
                <a:latin typeface="Times New Roman" panose="02020603050405020304" charset="0"/>
              </a:rPr>
              <a:t>＞+</a:t>
            </a:r>
            <a:r>
              <a:rPr lang="zh-CN" altLang="zh-CN" sz="2400" b="1" i="1" dirty="0">
                <a:latin typeface="Times New Roman" panose="02020603050405020304" charset="0"/>
              </a:rPr>
              <a:t>U</a:t>
            </a:r>
            <a:r>
              <a:rPr lang="zh-CN" altLang="zh-CN" sz="2400" b="1" baseline="-25000" dirty="0">
                <a:latin typeface="Times New Roman" panose="02020603050405020304" charset="0"/>
              </a:rPr>
              <a:t>T</a:t>
            </a:r>
            <a:r>
              <a:rPr lang="zh-CN" altLang="zh-CN" sz="2400" b="1" dirty="0">
                <a:latin typeface="Times New Roman" panose="02020603050405020304" charset="0"/>
              </a:rPr>
              <a:t>，则 </a:t>
            </a:r>
            <a:r>
              <a:rPr lang="zh-CN" altLang="zh-CN" sz="2400" b="1" i="1" dirty="0">
                <a:latin typeface="Times New Roman" panose="02020603050405020304" charset="0"/>
              </a:rPr>
              <a:t>u</a:t>
            </a:r>
            <a:r>
              <a:rPr lang="zh-CN" altLang="zh-CN" sz="2400" b="1" baseline="-25000" dirty="0">
                <a:latin typeface="Times New Roman" panose="02020603050405020304" charset="0"/>
              </a:rPr>
              <a:t>N</a:t>
            </a:r>
            <a:r>
              <a:rPr lang="zh-CN" altLang="zh-CN" sz="2400" b="1" dirty="0">
                <a:latin typeface="Times New Roman" panose="02020603050405020304" charset="0"/>
              </a:rPr>
              <a:t>＞ </a:t>
            </a:r>
            <a:r>
              <a:rPr lang="zh-CN" altLang="zh-CN" sz="2400" b="1" i="1" dirty="0">
                <a:latin typeface="Times New Roman" panose="02020603050405020304" charset="0"/>
              </a:rPr>
              <a:t>u</a:t>
            </a:r>
            <a:r>
              <a:rPr lang="zh-CN" altLang="zh-CN" sz="2400" b="1" baseline="-25000" dirty="0">
                <a:latin typeface="Times New Roman" panose="02020603050405020304" charset="0"/>
              </a:rPr>
              <a:t>P</a:t>
            </a:r>
            <a:r>
              <a:rPr lang="zh-CN" altLang="zh-CN" sz="2400" b="1" dirty="0">
                <a:latin typeface="Times New Roman" panose="02020603050405020304" charset="0"/>
              </a:rPr>
              <a:t>，</a:t>
            </a:r>
            <a:r>
              <a:rPr lang="zh-CN" altLang="en-US" sz="2400" b="1" dirty="0">
                <a:latin typeface="Times New Roman" panose="02020603050405020304" charset="0"/>
              </a:rPr>
              <a:t> </a:t>
            </a:r>
            <a:r>
              <a:rPr lang="zh-CN" altLang="zh-CN" sz="2400" b="1" i="1" dirty="0">
                <a:latin typeface="Times New Roman" panose="02020603050405020304" charset="0"/>
              </a:rPr>
              <a:t>u</a:t>
            </a:r>
            <a:r>
              <a:rPr lang="zh-CN" altLang="zh-CN" sz="2400" b="1" baseline="-25000" dirty="0">
                <a:latin typeface="Times New Roman" panose="02020603050405020304" charset="0"/>
              </a:rPr>
              <a:t>O</a:t>
            </a:r>
            <a:r>
              <a:rPr lang="zh-CN" altLang="zh-CN" sz="2400" b="1" dirty="0">
                <a:latin typeface="Times New Roman" panose="02020603050405020304" charset="0"/>
              </a:rPr>
              <a:t>＝－</a:t>
            </a:r>
            <a:r>
              <a:rPr lang="zh-CN" altLang="zh-CN" sz="2400" b="1" i="1" dirty="0">
                <a:latin typeface="Times New Roman" panose="02020603050405020304" charset="0"/>
              </a:rPr>
              <a:t>U</a:t>
            </a:r>
            <a:r>
              <a:rPr lang="zh-CN" altLang="zh-CN" sz="2400" b="1" baseline="-25000" dirty="0">
                <a:latin typeface="Times New Roman" panose="02020603050405020304" charset="0"/>
              </a:rPr>
              <a:t>Z</a:t>
            </a:r>
            <a:r>
              <a:rPr lang="zh-CN" altLang="zh-CN" sz="2400" b="1" dirty="0">
                <a:latin typeface="Times New Roman" panose="02020603050405020304" charset="0"/>
              </a:rPr>
              <a:t>。此时</a:t>
            </a:r>
            <a:r>
              <a:rPr lang="zh-CN" altLang="zh-CN" sz="2400" b="1" i="1" dirty="0">
                <a:latin typeface="Times New Roman" panose="02020603050405020304" charset="0"/>
              </a:rPr>
              <a:t>u</a:t>
            </a:r>
            <a:r>
              <a:rPr lang="zh-CN" altLang="zh-CN" sz="2400" b="1" baseline="-25000" dirty="0">
                <a:latin typeface="Times New Roman" panose="02020603050405020304" charset="0"/>
              </a:rPr>
              <a:t>P</a:t>
            </a:r>
            <a:r>
              <a:rPr lang="zh-CN" altLang="zh-CN" sz="2400" b="1" dirty="0">
                <a:latin typeface="Times New Roman" panose="02020603050405020304" charset="0"/>
              </a:rPr>
              <a:t>＝ －</a:t>
            </a:r>
            <a:r>
              <a:rPr lang="zh-CN" altLang="zh-CN" sz="2400" b="1" i="1" dirty="0">
                <a:latin typeface="Times New Roman" panose="02020603050405020304" charset="0"/>
              </a:rPr>
              <a:t>U</a:t>
            </a:r>
            <a:r>
              <a:rPr lang="zh-CN" altLang="zh-CN" sz="2400" b="1" baseline="-25000" dirty="0">
                <a:latin typeface="Times New Roman" panose="02020603050405020304" charset="0"/>
              </a:rPr>
              <a:t>T</a:t>
            </a:r>
            <a:r>
              <a:rPr lang="zh-CN" altLang="zh-CN" sz="2400" b="1" dirty="0">
                <a:latin typeface="Times New Roman" panose="02020603050405020304" charset="0"/>
              </a:rPr>
              <a:t>，减小</a:t>
            </a:r>
            <a:r>
              <a:rPr lang="zh-CN" altLang="en-US" sz="2400" b="1">
                <a:latin typeface="Times New Roman" panose="02020603050405020304" charset="0"/>
              </a:rPr>
              <a:t> </a:t>
            </a:r>
            <a:r>
              <a:rPr lang="zh-CN" altLang="zh-CN" sz="2400" b="1" i="1" dirty="0">
                <a:latin typeface="Times New Roman" panose="02020603050405020304" charset="0"/>
              </a:rPr>
              <a:t>u</a:t>
            </a:r>
            <a:r>
              <a:rPr lang="zh-CN" altLang="zh-CN" sz="2400" b="1" baseline="-25000" dirty="0">
                <a:latin typeface="Times New Roman" panose="02020603050405020304" charset="0"/>
              </a:rPr>
              <a:t>I</a:t>
            </a:r>
            <a:r>
              <a:rPr lang="zh-CN" altLang="zh-CN" sz="2400" b="1" dirty="0">
                <a:latin typeface="Times New Roman" panose="02020603050405020304" charset="0"/>
              </a:rPr>
              <a:t>，直至－</a:t>
            </a:r>
            <a:r>
              <a:rPr lang="zh-CN" altLang="zh-CN" sz="2400" b="1" i="1" dirty="0">
                <a:latin typeface="Times New Roman" panose="02020603050405020304" charset="0"/>
              </a:rPr>
              <a:t>U</a:t>
            </a:r>
            <a:r>
              <a:rPr lang="zh-CN" altLang="zh-CN" sz="2400" b="1" baseline="-25000" dirty="0">
                <a:latin typeface="Times New Roman" panose="02020603050405020304" charset="0"/>
              </a:rPr>
              <a:t>T</a:t>
            </a:r>
            <a:r>
              <a:rPr lang="zh-CN" altLang="zh-CN" sz="2400" b="1" dirty="0">
                <a:latin typeface="Times New Roman" panose="02020603050405020304" charset="0"/>
              </a:rPr>
              <a:t>，再减小，</a:t>
            </a:r>
            <a:r>
              <a:rPr lang="zh-CN" altLang="en-US" sz="2400" b="1">
                <a:latin typeface="Times New Roman" panose="02020603050405020304" charset="0"/>
              </a:rPr>
              <a:t> </a:t>
            </a:r>
            <a:r>
              <a:rPr lang="zh-CN" altLang="zh-CN" sz="2400" b="1" i="1" dirty="0">
                <a:latin typeface="Times New Roman" panose="02020603050405020304" charset="0"/>
              </a:rPr>
              <a:t>u</a:t>
            </a:r>
            <a:r>
              <a:rPr lang="zh-CN" altLang="zh-CN" sz="2400" b="1" baseline="-25000" dirty="0">
                <a:latin typeface="Times New Roman" panose="02020603050405020304" charset="0"/>
              </a:rPr>
              <a:t>O</a:t>
            </a:r>
            <a:r>
              <a:rPr lang="zh-CN" altLang="zh-CN" sz="2400" b="1" dirty="0">
                <a:latin typeface="Times New Roman" panose="02020603050405020304" charset="0"/>
              </a:rPr>
              <a:t>才从－</a:t>
            </a:r>
            <a:r>
              <a:rPr lang="zh-CN" altLang="zh-CN" sz="2400" b="1" i="1" dirty="0">
                <a:latin typeface="Times New Roman" panose="02020603050405020304" charset="0"/>
              </a:rPr>
              <a:t>U</a:t>
            </a:r>
            <a:r>
              <a:rPr lang="zh-CN" altLang="zh-CN" sz="2400" b="1" baseline="-25000" dirty="0">
                <a:latin typeface="Times New Roman" panose="02020603050405020304" charset="0"/>
              </a:rPr>
              <a:t>Z</a:t>
            </a:r>
            <a:r>
              <a:rPr lang="zh-CN" altLang="zh-CN" sz="2400" b="1" dirty="0">
                <a:latin typeface="Times New Roman" panose="02020603050405020304" charset="0"/>
              </a:rPr>
              <a:t>跃变为+</a:t>
            </a:r>
            <a:r>
              <a:rPr lang="zh-CN" altLang="zh-CN" sz="2400" b="1" i="1" dirty="0">
                <a:latin typeface="Times New Roman" panose="02020603050405020304" charset="0"/>
              </a:rPr>
              <a:t>U</a:t>
            </a:r>
            <a:r>
              <a:rPr lang="zh-CN" altLang="zh-CN" sz="2400" b="1" baseline="-25000" dirty="0">
                <a:latin typeface="Times New Roman" panose="02020603050405020304" charset="0"/>
              </a:rPr>
              <a:t>Z。</a:t>
            </a:r>
            <a:endParaRPr lang="zh-CN" altLang="en-US" sz="2400" b="1" baseline="-25000" dirty="0">
              <a:latin typeface="Times New Roman" panose="02020603050405020304" charset="0"/>
            </a:endParaRPr>
          </a:p>
        </p:txBody>
      </p:sp>
      <p:grpSp>
        <p:nvGrpSpPr>
          <p:cNvPr id="14342" name="组合 14341"/>
          <p:cNvGrpSpPr/>
          <p:nvPr/>
        </p:nvGrpSpPr>
        <p:grpSpPr>
          <a:xfrm>
            <a:off x="6324600" y="2244725"/>
            <a:ext cx="2125663" cy="1798638"/>
            <a:chOff x="3744" y="646"/>
            <a:chExt cx="1339" cy="1133"/>
          </a:xfrm>
        </p:grpSpPr>
        <p:sp>
          <p:nvSpPr>
            <p:cNvPr id="14343" name="直接连接符 14342"/>
            <p:cNvSpPr/>
            <p:nvPr/>
          </p:nvSpPr>
          <p:spPr>
            <a:xfrm flipH="1">
              <a:off x="4075" y="1718"/>
              <a:ext cx="1008" cy="0"/>
            </a:xfrm>
            <a:prstGeom prst="line">
              <a:avLst/>
            </a:prstGeom>
            <a:ln w="28575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344" name="直接连接符 14343"/>
            <p:cNvSpPr/>
            <p:nvPr/>
          </p:nvSpPr>
          <p:spPr>
            <a:xfrm flipV="1">
              <a:off x="4078" y="657"/>
              <a:ext cx="0" cy="1079"/>
            </a:xfrm>
            <a:prstGeom prst="line">
              <a:avLst/>
            </a:prstGeom>
            <a:ln w="28575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345" name="直接连接符 14344"/>
            <p:cNvSpPr/>
            <p:nvPr/>
          </p:nvSpPr>
          <p:spPr>
            <a:xfrm flipH="1">
              <a:off x="3744" y="646"/>
              <a:ext cx="336" cy="0"/>
            </a:xfrm>
            <a:prstGeom prst="line">
              <a:avLst/>
            </a:prstGeom>
            <a:ln w="28575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346" name="直接连接符 14345"/>
            <p:cNvSpPr/>
            <p:nvPr/>
          </p:nvSpPr>
          <p:spPr>
            <a:xfrm flipH="1">
              <a:off x="4800" y="1779"/>
              <a:ext cx="240" cy="0"/>
            </a:xfrm>
            <a:prstGeom prst="line">
              <a:avLst/>
            </a:prstGeom>
            <a:ln w="9525" cap="flat" cmpd="sng">
              <a:solidFill>
                <a:schemeClr val="tx2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4347" name="直接连接符 14346"/>
            <p:cNvSpPr/>
            <p:nvPr/>
          </p:nvSpPr>
          <p:spPr>
            <a:xfrm flipV="1">
              <a:off x="4005" y="1392"/>
              <a:ext cx="0" cy="192"/>
            </a:xfrm>
            <a:prstGeom prst="line">
              <a:avLst/>
            </a:prstGeom>
            <a:ln w="9525" cap="flat" cmpd="sng">
              <a:solidFill>
                <a:schemeClr val="tx2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4348" name="直接连接符 14347"/>
            <p:cNvSpPr/>
            <p:nvPr/>
          </p:nvSpPr>
          <p:spPr>
            <a:xfrm flipH="1">
              <a:off x="3744" y="720"/>
              <a:ext cx="192" cy="0"/>
            </a:xfrm>
            <a:prstGeom prst="line">
              <a:avLst/>
            </a:prstGeom>
            <a:ln w="9525" cap="flat" cmpd="sng">
              <a:solidFill>
                <a:schemeClr val="tx2"/>
              </a:solidFill>
              <a:prstDash val="solid"/>
              <a:headEnd type="none" w="med" len="med"/>
              <a:tailEnd type="triangle" w="med" len="med"/>
            </a:ln>
          </p:spPr>
        </p:sp>
      </p:grpSp>
      <p:graphicFrame>
        <p:nvGraphicFramePr>
          <p:cNvPr id="14349" name="对象 14348"/>
          <p:cNvGraphicFramePr/>
          <p:nvPr/>
        </p:nvGraphicFramePr>
        <p:xfrm>
          <a:off x="2667000" y="1981200"/>
          <a:ext cx="3124200" cy="2047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9" name="" r:id="rId3" imgW="10715625" imgH="7019925" progId="MSPhotoEd.3">
                  <p:embed/>
                </p:oleObj>
              </mc:Choice>
              <mc:Fallback>
                <p:oleObj name="" r:id="rId3" imgW="10715625" imgH="7019925" progId="MSPhotoEd.3">
                  <p:embed/>
                  <p:pic>
                    <p:nvPicPr>
                      <p:cNvPr id="0" name="图片 308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667000" y="1981200"/>
                        <a:ext cx="3124200" cy="20478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50" name="对象 14349"/>
          <p:cNvGraphicFramePr/>
          <p:nvPr/>
        </p:nvGraphicFramePr>
        <p:xfrm>
          <a:off x="8915400" y="1219200"/>
          <a:ext cx="1301750" cy="427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2" name="" r:id="rId5" imgW="698500" imgH="228600" progId="Equation.3">
                  <p:embed/>
                </p:oleObj>
              </mc:Choice>
              <mc:Fallback>
                <p:oleObj name="" r:id="rId5" imgW="698500" imgH="228600" progId="Equation.3">
                  <p:embed/>
                  <p:pic>
                    <p:nvPicPr>
                      <p:cNvPr id="0" name="图片 309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915400" y="1219200"/>
                        <a:ext cx="1301750" cy="427038"/>
                      </a:xfrm>
                      <a:prstGeom prst="rect">
                        <a:avLst/>
                      </a:prstGeom>
                      <a:solidFill>
                        <a:srgbClr val="66FFFF"/>
                      </a:solidFill>
                      <a:ln w="9525" cap="flat" cmpd="sng">
                        <a:solidFill>
                          <a:srgbClr val="FF3300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51" name="对象 14350"/>
          <p:cNvGraphicFramePr/>
          <p:nvPr/>
        </p:nvGraphicFramePr>
        <p:xfrm>
          <a:off x="6477000" y="914400"/>
          <a:ext cx="23622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8" name="" r:id="rId7" imgW="1294765" imgH="431800" progId="Equation.3">
                  <p:embed/>
                </p:oleObj>
              </mc:Choice>
              <mc:Fallback>
                <p:oleObj name="" r:id="rId7" imgW="1294765" imgH="431800" progId="Equation.3">
                  <p:embed/>
                  <p:pic>
                    <p:nvPicPr>
                      <p:cNvPr id="0" name="图片 3087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477000" y="914400"/>
                        <a:ext cx="2362200" cy="787400"/>
                      </a:xfrm>
                      <a:prstGeom prst="rect">
                        <a:avLst/>
                      </a:prstGeom>
                      <a:solidFill>
                        <a:srgbClr val="66FFFF"/>
                      </a:solidFill>
                      <a:ln w="9525" cap="flat" cmpd="sng">
                        <a:solidFill>
                          <a:srgbClr val="FF3300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charRg st="0" end="7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"/>
                                        <p:tgtEl>
                                          <p:spTgt spid="14339">
                                            <p:txEl>
                                              <p:charRg st="0" end="7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>
                                            <p:txEl>
                                              <p:charRg st="0" end="7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75"/>
                                        <p:tgtEl>
                                          <p:spTgt spid="14341">
                                            <p:txEl>
                                              <p:charRg st="0" end="7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43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43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43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43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9" grpId="0" build="p"/>
      <p:bldP spid="14341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2" name="文本框 15361"/>
          <p:cNvSpPr txBox="1"/>
          <p:nvPr/>
        </p:nvSpPr>
        <p:spPr>
          <a:xfrm>
            <a:off x="1905000" y="3581400"/>
            <a:ext cx="8077200" cy="51562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0" hangingPunct="0">
              <a:lnSpc>
                <a:spcPct val="115000"/>
              </a:lnSpc>
            </a:pPr>
            <a:r>
              <a:rPr lang="en-US" altLang="zh-CN" sz="2400" b="1">
                <a:latin typeface="Times New Roman" panose="02020603050405020304" charset="0"/>
              </a:rPr>
              <a:t>1.  </a:t>
            </a:r>
            <a:r>
              <a:rPr lang="zh-CN" altLang="en-US" sz="2400" b="1" dirty="0">
                <a:latin typeface="Times New Roman" panose="02020603050405020304" charset="0"/>
              </a:rPr>
              <a:t>若要电压传输特性曲线左右移动，则应如何修改电路？</a:t>
            </a:r>
            <a:endParaRPr lang="zh-CN" altLang="en-US" sz="2400" b="1" dirty="0">
              <a:latin typeface="Times New Roman" panose="02020603050405020304" charset="0"/>
            </a:endParaRPr>
          </a:p>
        </p:txBody>
      </p:sp>
      <p:sp>
        <p:nvSpPr>
          <p:cNvPr id="15363" name="标题 15362"/>
          <p:cNvSpPr>
            <a:spLocks noGrp="1"/>
          </p:cNvSpPr>
          <p:nvPr>
            <p:ph type="title"/>
          </p:nvPr>
        </p:nvSpPr>
        <p:spPr>
          <a:xfrm>
            <a:off x="1905000" y="609600"/>
            <a:ext cx="8382000" cy="533400"/>
          </a:xfrm>
        </p:spPr>
        <p:txBody>
          <a:bodyPr anchor="ctr" anchorCtr="0"/>
          <a:p>
            <a:pPr algn="l"/>
            <a:r>
              <a:rPr lang="zh-CN" altLang="en-US" sz="3200" dirty="0">
                <a:ea typeface="隶书" panose="02010509060101010101" pitchFamily="49" charset="-122"/>
              </a:rPr>
              <a:t>讨论一：如何改变滞回比较器的电压传输特性</a:t>
            </a:r>
            <a:endParaRPr lang="zh-CN" altLang="en-US" sz="3200">
              <a:ea typeface="隶书" panose="02010509060101010101" pitchFamily="49" charset="-122"/>
            </a:endParaRPr>
          </a:p>
        </p:txBody>
      </p:sp>
      <p:graphicFrame>
        <p:nvGraphicFramePr>
          <p:cNvPr id="15364" name="对象 15363"/>
          <p:cNvGraphicFramePr/>
          <p:nvPr/>
        </p:nvGraphicFramePr>
        <p:xfrm>
          <a:off x="2209800" y="1295400"/>
          <a:ext cx="4953000" cy="2378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1" name="" r:id="rId1" imgW="20012025" imgH="9610725" progId="MSPhotoEd.3">
                  <p:embed/>
                </p:oleObj>
              </mc:Choice>
              <mc:Fallback>
                <p:oleObj name="" r:id="rId1" imgW="20012025" imgH="9610725" progId="MSPhotoEd.3">
                  <p:embed/>
                  <p:pic>
                    <p:nvPicPr>
                      <p:cNvPr id="0" name="图片 309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209800" y="1295400"/>
                        <a:ext cx="4953000" cy="23780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5" name="对象 15364"/>
          <p:cNvGraphicFramePr/>
          <p:nvPr/>
        </p:nvGraphicFramePr>
        <p:xfrm>
          <a:off x="7315200" y="1676400"/>
          <a:ext cx="3048000" cy="173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0" name="" r:id="rId3" imgW="12277725" imgH="6981825" progId="MSPhotoEd.3">
                  <p:embed/>
                </p:oleObj>
              </mc:Choice>
              <mc:Fallback>
                <p:oleObj name="" r:id="rId3" imgW="12277725" imgH="6981825" progId="MSPhotoEd.3">
                  <p:embed/>
                  <p:pic>
                    <p:nvPicPr>
                      <p:cNvPr id="0" name="图片 308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315200" y="1676400"/>
                        <a:ext cx="3048000" cy="17335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6" name="文本框 15365"/>
          <p:cNvSpPr txBox="1"/>
          <p:nvPr/>
        </p:nvSpPr>
        <p:spPr>
          <a:xfrm>
            <a:off x="1905000" y="4002088"/>
            <a:ext cx="8229600" cy="51562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0" hangingPunct="0">
              <a:lnSpc>
                <a:spcPct val="115000"/>
              </a:lnSpc>
            </a:pPr>
            <a:r>
              <a:rPr lang="en-US" altLang="zh-CN" sz="2400" b="1">
                <a:latin typeface="Times New Roman" panose="02020603050405020304" charset="0"/>
              </a:rPr>
              <a:t>2.  </a:t>
            </a:r>
            <a:r>
              <a:rPr lang="zh-CN" altLang="en-US" sz="2400" b="1" dirty="0">
                <a:latin typeface="Times New Roman" panose="02020603050405020304" charset="0"/>
              </a:rPr>
              <a:t>若要电压传输特性曲线上下移动，则应如何修改电路？</a:t>
            </a:r>
            <a:endParaRPr lang="zh-CN" altLang="en-US" sz="2400" b="1" dirty="0">
              <a:latin typeface="Times New Roman" panose="02020603050405020304" charset="0"/>
            </a:endParaRPr>
          </a:p>
        </p:txBody>
      </p:sp>
      <p:sp>
        <p:nvSpPr>
          <p:cNvPr id="15367" name="矩形 15366"/>
          <p:cNvSpPr/>
          <p:nvPr/>
        </p:nvSpPr>
        <p:spPr>
          <a:xfrm>
            <a:off x="1905000" y="4419600"/>
            <a:ext cx="3352800" cy="15684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400" b="1">
                <a:latin typeface="Times New Roman" panose="02020603050405020304" charset="0"/>
              </a:rPr>
              <a:t>3.  </a:t>
            </a:r>
            <a:r>
              <a:rPr lang="zh-CN" altLang="en-US" sz="2400" b="1" dirty="0">
                <a:latin typeface="Times New Roman" panose="02020603050405020304" charset="0"/>
              </a:rPr>
              <a:t>若要改变输入电压过  阈值电压时输出电压的  跃变方向，则应如何修  改电路？</a:t>
            </a:r>
            <a:endParaRPr lang="zh-CN" altLang="en-US" sz="2400" b="1" dirty="0">
              <a:latin typeface="Times New Roman" panose="02020603050405020304" charset="0"/>
            </a:endParaRPr>
          </a:p>
        </p:txBody>
      </p:sp>
      <p:sp>
        <p:nvSpPr>
          <p:cNvPr id="15368" name="线形标注 1 15367"/>
          <p:cNvSpPr/>
          <p:nvPr/>
        </p:nvSpPr>
        <p:spPr>
          <a:xfrm>
            <a:off x="9144000" y="4535488"/>
            <a:ext cx="1219200" cy="720725"/>
          </a:xfrm>
          <a:prstGeom prst="borderCallout1">
            <a:avLst>
              <a:gd name="adj1" fmla="val 15861"/>
              <a:gd name="adj2" fmla="val -6250"/>
              <a:gd name="adj3" fmla="val -32819"/>
              <a:gd name="adj4" fmla="val -60676"/>
            </a:avLst>
          </a:prstGeom>
          <a:solidFill>
            <a:srgbClr val="66FFFF"/>
          </a:solidFill>
          <a:ln w="9525" cap="flat" cmpd="sng">
            <a:solidFill>
              <a:srgbClr val="FF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pPr algn="ctr"/>
            <a:r>
              <a:rPr lang="zh-CN" altLang="en-US" sz="2000" b="1" dirty="0">
                <a:latin typeface="Times New Roman" panose="02020603050405020304" charset="0"/>
              </a:rPr>
              <a:t>改变输出限幅电路</a:t>
            </a:r>
            <a:endParaRPr lang="zh-CN" altLang="en-US" sz="2000" b="1">
              <a:latin typeface="Times New Roman" panose="02020603050405020304" charset="0"/>
            </a:endParaRPr>
          </a:p>
        </p:txBody>
      </p:sp>
      <p:graphicFrame>
        <p:nvGraphicFramePr>
          <p:cNvPr id="15369" name="对象 15368"/>
          <p:cNvGraphicFramePr/>
          <p:nvPr/>
        </p:nvGraphicFramePr>
        <p:xfrm>
          <a:off x="5334000" y="4535488"/>
          <a:ext cx="3124200" cy="1789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3" name="" r:id="rId5" imgW="12163425" imgH="6962775" progId="MSPhotoEd.3">
                  <p:embed/>
                </p:oleObj>
              </mc:Choice>
              <mc:Fallback>
                <p:oleObj name="" r:id="rId5" imgW="12163425" imgH="6962775" progId="MSPhotoEd.3">
                  <p:embed/>
                  <p:pic>
                    <p:nvPicPr>
                      <p:cNvPr id="0" name="图片 3092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334000" y="4535488"/>
                        <a:ext cx="3124200" cy="17891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charRg st="0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362">
                                            <p:txEl>
                                              <p:charRg st="0" end="2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>
                                            <p:txEl>
                                              <p:charRg st="0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366">
                                            <p:txEl>
                                              <p:charRg st="0" end="2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7">
                                            <p:txEl>
                                              <p:charRg st="0" end="4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5367">
                                            <p:txEl>
                                              <p:charRg st="0" end="4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5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2" grpId="0" build="p"/>
      <p:bldP spid="15366" grpId="0" build="p"/>
      <p:bldP spid="15367" grpId="0" build="p"/>
      <p:bldP spid="15368" grpId="0" bldLvl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6" name="文本框 26625"/>
          <p:cNvSpPr txBox="1"/>
          <p:nvPr/>
        </p:nvSpPr>
        <p:spPr>
          <a:xfrm>
            <a:off x="1774825" y="260350"/>
            <a:ext cx="8693150" cy="9772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 sz="2400" dirty="0">
                <a:latin typeface="Times New Roman" panose="02020603050405020304" charset="0"/>
              </a:rPr>
              <a:t>例题：</a:t>
            </a:r>
            <a:r>
              <a:rPr lang="en-US" altLang="zh-CN" sz="2400" i="1" dirty="0" err="1">
                <a:latin typeface="Times New Roman" panose="02020603050405020304" charset="0"/>
              </a:rPr>
              <a:t>R</a:t>
            </a:r>
            <a:r>
              <a:rPr lang="en-US" altLang="zh-CN" sz="2400" baseline="-25000" dirty="0" err="1">
                <a:latin typeface="Times New Roman" panose="02020603050405020304" charset="0"/>
              </a:rPr>
              <a:t>f</a:t>
            </a:r>
            <a:r>
              <a:rPr lang="en-US" altLang="zh-CN" sz="2400">
                <a:latin typeface="Times New Roman" panose="02020603050405020304" charset="0"/>
              </a:rPr>
              <a:t>=10k</a:t>
            </a:r>
            <a:r>
              <a:rPr lang="en-US" altLang="zh-CN" sz="2400">
                <a:latin typeface="Times New Roman" panose="02020603050405020304" charset="0"/>
                <a:sym typeface="Symbol" panose="05050102010706020507" pitchFamily="18" charset="2"/>
              </a:rPr>
              <a:t></a:t>
            </a:r>
            <a:r>
              <a:rPr lang="zh-CN" altLang="en-US" sz="2400">
                <a:latin typeface="Times New Roman" panose="02020603050405020304" charset="0"/>
              </a:rPr>
              <a:t>，</a:t>
            </a:r>
            <a:r>
              <a:rPr lang="en-US" altLang="zh-CN" sz="2400" i="1">
                <a:latin typeface="Times New Roman" panose="02020603050405020304" charset="0"/>
              </a:rPr>
              <a:t>R</a:t>
            </a:r>
            <a:r>
              <a:rPr lang="en-US" altLang="zh-CN" sz="2400" baseline="-25000">
                <a:latin typeface="Times New Roman" panose="02020603050405020304" charset="0"/>
              </a:rPr>
              <a:t>2</a:t>
            </a:r>
            <a:r>
              <a:rPr lang="en-US" altLang="zh-CN" sz="2400">
                <a:latin typeface="Times New Roman" panose="02020603050405020304" charset="0"/>
              </a:rPr>
              <a:t>=10k </a:t>
            </a:r>
            <a:r>
              <a:rPr lang="en-US" altLang="zh-CN" sz="2400">
                <a:latin typeface="Times New Roman" panose="02020603050405020304" charset="0"/>
                <a:sym typeface="Symbol" panose="05050102010706020507" pitchFamily="18" charset="2"/>
              </a:rPr>
              <a:t></a:t>
            </a:r>
            <a:r>
              <a:rPr lang="en-US" altLang="zh-CN" sz="2400">
                <a:latin typeface="Times New Roman" panose="02020603050405020304" charset="0"/>
              </a:rPr>
              <a:t> </a:t>
            </a:r>
            <a:r>
              <a:rPr lang="zh-CN" altLang="en-US" sz="2400">
                <a:latin typeface="Times New Roman" panose="02020603050405020304" charset="0"/>
              </a:rPr>
              <a:t>，</a:t>
            </a:r>
            <a:r>
              <a:rPr lang="en-US" altLang="zh-CN" sz="2400" i="1">
                <a:latin typeface="Times New Roman" panose="02020603050405020304" charset="0"/>
              </a:rPr>
              <a:t>U</a:t>
            </a:r>
            <a:r>
              <a:rPr lang="en-US" altLang="zh-CN" sz="2400" baseline="-25000">
                <a:latin typeface="Times New Roman" panose="02020603050405020304" charset="0"/>
              </a:rPr>
              <a:t>Z</a:t>
            </a:r>
            <a:r>
              <a:rPr lang="en-US" altLang="zh-CN" sz="2400">
                <a:latin typeface="Times New Roman" panose="02020603050405020304" charset="0"/>
              </a:rPr>
              <a:t>=6V</a:t>
            </a:r>
            <a:r>
              <a:rPr lang="zh-CN" altLang="en-US" sz="2400">
                <a:latin typeface="Times New Roman" panose="02020603050405020304" charset="0"/>
              </a:rPr>
              <a:t>， </a:t>
            </a:r>
            <a:r>
              <a:rPr lang="en-US" altLang="zh-CN" sz="2400" i="1">
                <a:latin typeface="Times New Roman" panose="02020603050405020304" charset="0"/>
              </a:rPr>
              <a:t>U</a:t>
            </a:r>
            <a:r>
              <a:rPr lang="en-US" altLang="zh-CN" sz="2400" baseline="-25000">
                <a:latin typeface="Times New Roman" panose="02020603050405020304" charset="0"/>
              </a:rPr>
              <a:t>REF</a:t>
            </a:r>
            <a:r>
              <a:rPr lang="en-US" altLang="zh-CN" sz="2400">
                <a:latin typeface="Times New Roman" panose="02020603050405020304" charset="0"/>
              </a:rPr>
              <a:t>=10V</a:t>
            </a:r>
            <a:r>
              <a:rPr lang="zh-CN" altLang="en-US" sz="2400">
                <a:latin typeface="Times New Roman" panose="02020603050405020304" charset="0"/>
              </a:rPr>
              <a:t>。</a:t>
            </a:r>
            <a:r>
              <a:rPr lang="zh-CN" altLang="en-US" sz="2400" dirty="0">
                <a:latin typeface="Times New Roman" panose="02020603050405020304" charset="0"/>
              </a:rPr>
              <a:t>当输入</a:t>
            </a:r>
            <a:r>
              <a:rPr lang="en-US" altLang="zh-CN" sz="2400" i="1" dirty="0" err="1">
                <a:latin typeface="Times New Roman" panose="02020603050405020304" charset="0"/>
              </a:rPr>
              <a:t>u</a:t>
            </a:r>
            <a:r>
              <a:rPr lang="en-US" altLang="zh-CN" sz="2400" baseline="-25000" dirty="0" err="1">
                <a:latin typeface="Times New Roman" panose="02020603050405020304" charset="0"/>
              </a:rPr>
              <a:t>i</a:t>
            </a:r>
            <a:r>
              <a:rPr lang="zh-CN" altLang="en-US" sz="2400" dirty="0">
                <a:latin typeface="Times New Roman" panose="02020603050405020304" charset="0"/>
              </a:rPr>
              <a:t>为如图所示的波形时，画出输出</a:t>
            </a:r>
            <a:r>
              <a:rPr lang="en-US" altLang="zh-CN" sz="2400" i="1" dirty="0" err="1">
                <a:latin typeface="Times New Roman" panose="02020603050405020304" charset="0"/>
              </a:rPr>
              <a:t>u</a:t>
            </a:r>
            <a:r>
              <a:rPr lang="en-US" altLang="zh-CN" sz="2400" baseline="-25000" dirty="0" err="1">
                <a:latin typeface="Times New Roman" panose="02020603050405020304" charset="0"/>
              </a:rPr>
              <a:t>o</a:t>
            </a:r>
            <a:r>
              <a:rPr lang="zh-CN" altLang="en-US" sz="2400" dirty="0">
                <a:latin typeface="Times New Roman" panose="02020603050405020304" charset="0"/>
              </a:rPr>
              <a:t>的波形。</a:t>
            </a:r>
            <a:endParaRPr lang="zh-CN" altLang="en-US" sz="2400">
              <a:latin typeface="Times New Roman" panose="02020603050405020304" charset="0"/>
            </a:endParaRPr>
          </a:p>
        </p:txBody>
      </p:sp>
      <p:sp>
        <p:nvSpPr>
          <p:cNvPr id="26627" name="文本框 26626"/>
          <p:cNvSpPr txBox="1"/>
          <p:nvPr/>
        </p:nvSpPr>
        <p:spPr>
          <a:xfrm>
            <a:off x="5970588" y="1631950"/>
            <a:ext cx="288925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FF3300"/>
                </a:solidFill>
                <a:latin typeface="Times New Roman" panose="02020603050405020304" charset="0"/>
                <a:ea typeface="楷体_GB2312" pitchFamily="49" charset="-122"/>
              </a:rPr>
              <a:t>上下门限电压：</a:t>
            </a:r>
            <a:endParaRPr lang="zh-CN" altLang="en-US" sz="2800" b="1">
              <a:solidFill>
                <a:srgbClr val="FF3300"/>
              </a:solidFill>
              <a:latin typeface="Times New Roman" panose="02020603050405020304" charset="0"/>
              <a:ea typeface="楷体_GB2312" pitchFamily="49" charset="-122"/>
            </a:endParaRPr>
          </a:p>
        </p:txBody>
      </p:sp>
      <p:graphicFrame>
        <p:nvGraphicFramePr>
          <p:cNvPr id="26628" name="对象 26627"/>
          <p:cNvGraphicFramePr/>
          <p:nvPr/>
        </p:nvGraphicFramePr>
        <p:xfrm>
          <a:off x="5970588" y="2381250"/>
          <a:ext cx="4238625" cy="139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4" name="" r:id="rId1" imgW="1917065" imgH="635000" progId="Equation.3">
                  <p:embed/>
                </p:oleObj>
              </mc:Choice>
              <mc:Fallback>
                <p:oleObj name="" r:id="rId1" imgW="1917065" imgH="635000" progId="Equation.3">
                  <p:embed/>
                  <p:pic>
                    <p:nvPicPr>
                      <p:cNvPr id="0" name="图片 309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970588" y="2381250"/>
                        <a:ext cx="4238625" cy="1397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29" name="对象 26628"/>
          <p:cNvGraphicFramePr/>
          <p:nvPr/>
        </p:nvGraphicFramePr>
        <p:xfrm>
          <a:off x="5970588" y="4011613"/>
          <a:ext cx="4494212" cy="1406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5" name="" r:id="rId3" imgW="2018665" imgH="635000" progId="Equation.3">
                  <p:embed/>
                </p:oleObj>
              </mc:Choice>
              <mc:Fallback>
                <p:oleObj name="" r:id="rId3" imgW="2018665" imgH="635000" progId="Equation.3">
                  <p:embed/>
                  <p:pic>
                    <p:nvPicPr>
                      <p:cNvPr id="0" name="图片 309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970588" y="4011613"/>
                        <a:ext cx="4494212" cy="14065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6630" name="组合 26629"/>
          <p:cNvGrpSpPr/>
          <p:nvPr/>
        </p:nvGrpSpPr>
        <p:grpSpPr>
          <a:xfrm>
            <a:off x="1901825" y="3478213"/>
            <a:ext cx="4343400" cy="2397125"/>
            <a:chOff x="266" y="588"/>
            <a:chExt cx="2736" cy="1510"/>
          </a:xfrm>
        </p:grpSpPr>
        <p:grpSp>
          <p:nvGrpSpPr>
            <p:cNvPr id="26631" name="组合 26630"/>
            <p:cNvGrpSpPr/>
            <p:nvPr/>
          </p:nvGrpSpPr>
          <p:grpSpPr>
            <a:xfrm>
              <a:off x="554" y="780"/>
              <a:ext cx="2124" cy="1200"/>
              <a:chOff x="2352" y="648"/>
              <a:chExt cx="2124" cy="1200"/>
            </a:xfrm>
          </p:grpSpPr>
          <p:sp>
            <p:nvSpPr>
              <p:cNvPr id="26632" name="任意多边形 26631"/>
              <p:cNvSpPr/>
              <p:nvPr/>
            </p:nvSpPr>
            <p:spPr>
              <a:xfrm>
                <a:off x="2352" y="648"/>
                <a:ext cx="1068" cy="1152"/>
              </a:xfrm>
              <a:custGeom>
                <a:avLst/>
                <a:gdLst/>
                <a:ahLst/>
                <a:cxnLst/>
                <a:pathLst>
                  <a:path w="1752" h="1152">
                    <a:moveTo>
                      <a:pt x="0" y="960"/>
                    </a:moveTo>
                    <a:cubicBezTo>
                      <a:pt x="12" y="956"/>
                      <a:pt x="29" y="958"/>
                      <a:pt x="36" y="948"/>
                    </a:cubicBezTo>
                    <a:lnTo>
                      <a:pt x="72" y="840"/>
                    </a:lnTo>
                    <a:cubicBezTo>
                      <a:pt x="72" y="840"/>
                      <a:pt x="72" y="840"/>
                      <a:pt x="72" y="840"/>
                    </a:cubicBezTo>
                    <a:cubicBezTo>
                      <a:pt x="115" y="775"/>
                      <a:pt x="92" y="751"/>
                      <a:pt x="156" y="708"/>
                    </a:cubicBezTo>
                    <a:cubicBezTo>
                      <a:pt x="210" y="627"/>
                      <a:pt x="218" y="526"/>
                      <a:pt x="288" y="456"/>
                    </a:cubicBezTo>
                    <a:cubicBezTo>
                      <a:pt x="315" y="374"/>
                      <a:pt x="324" y="348"/>
                      <a:pt x="372" y="276"/>
                    </a:cubicBezTo>
                    <a:cubicBezTo>
                      <a:pt x="386" y="255"/>
                      <a:pt x="388" y="228"/>
                      <a:pt x="396" y="204"/>
                    </a:cubicBezTo>
                    <a:cubicBezTo>
                      <a:pt x="410" y="162"/>
                      <a:pt x="425" y="135"/>
                      <a:pt x="444" y="96"/>
                    </a:cubicBezTo>
                    <a:cubicBezTo>
                      <a:pt x="450" y="85"/>
                      <a:pt x="448" y="70"/>
                      <a:pt x="456" y="60"/>
                    </a:cubicBezTo>
                    <a:cubicBezTo>
                      <a:pt x="479" y="32"/>
                      <a:pt x="534" y="20"/>
                      <a:pt x="564" y="0"/>
                    </a:cubicBezTo>
                    <a:cubicBezTo>
                      <a:pt x="632" y="23"/>
                      <a:pt x="599" y="38"/>
                      <a:pt x="624" y="96"/>
                    </a:cubicBezTo>
                    <a:cubicBezTo>
                      <a:pt x="630" y="109"/>
                      <a:pt x="642" y="119"/>
                      <a:pt x="648" y="132"/>
                    </a:cubicBezTo>
                    <a:cubicBezTo>
                      <a:pt x="684" y="214"/>
                      <a:pt x="662" y="218"/>
                      <a:pt x="720" y="276"/>
                    </a:cubicBezTo>
                    <a:cubicBezTo>
                      <a:pt x="729" y="304"/>
                      <a:pt x="767" y="448"/>
                      <a:pt x="792" y="468"/>
                    </a:cubicBezTo>
                    <a:cubicBezTo>
                      <a:pt x="802" y="476"/>
                      <a:pt x="816" y="476"/>
                      <a:pt x="828" y="480"/>
                    </a:cubicBezTo>
                    <a:cubicBezTo>
                      <a:pt x="867" y="454"/>
                      <a:pt x="885" y="422"/>
                      <a:pt x="924" y="396"/>
                    </a:cubicBezTo>
                    <a:cubicBezTo>
                      <a:pt x="929" y="381"/>
                      <a:pt x="942" y="331"/>
                      <a:pt x="960" y="324"/>
                    </a:cubicBezTo>
                    <a:cubicBezTo>
                      <a:pt x="972" y="319"/>
                      <a:pt x="984" y="332"/>
                      <a:pt x="996" y="336"/>
                    </a:cubicBezTo>
                    <a:cubicBezTo>
                      <a:pt x="1029" y="435"/>
                      <a:pt x="1016" y="383"/>
                      <a:pt x="1032" y="492"/>
                    </a:cubicBezTo>
                    <a:cubicBezTo>
                      <a:pt x="1116" y="464"/>
                      <a:pt x="1096" y="492"/>
                      <a:pt x="1116" y="432"/>
                    </a:cubicBezTo>
                    <a:cubicBezTo>
                      <a:pt x="1185" y="455"/>
                      <a:pt x="1167" y="490"/>
                      <a:pt x="1188" y="552"/>
                    </a:cubicBezTo>
                    <a:cubicBezTo>
                      <a:pt x="1192" y="564"/>
                      <a:pt x="1196" y="576"/>
                      <a:pt x="1200" y="588"/>
                    </a:cubicBezTo>
                    <a:cubicBezTo>
                      <a:pt x="1204" y="600"/>
                      <a:pt x="1212" y="624"/>
                      <a:pt x="1212" y="624"/>
                    </a:cubicBezTo>
                    <a:cubicBezTo>
                      <a:pt x="1216" y="656"/>
                      <a:pt x="1208" y="692"/>
                      <a:pt x="1224" y="720"/>
                    </a:cubicBezTo>
                    <a:cubicBezTo>
                      <a:pt x="1230" y="731"/>
                      <a:pt x="1250" y="716"/>
                      <a:pt x="1260" y="708"/>
                    </a:cubicBezTo>
                    <a:cubicBezTo>
                      <a:pt x="1291" y="683"/>
                      <a:pt x="1308" y="600"/>
                      <a:pt x="1308" y="600"/>
                    </a:cubicBezTo>
                    <a:cubicBezTo>
                      <a:pt x="1403" y="624"/>
                      <a:pt x="1316" y="588"/>
                      <a:pt x="1380" y="684"/>
                    </a:cubicBezTo>
                    <a:cubicBezTo>
                      <a:pt x="1396" y="708"/>
                      <a:pt x="1419" y="729"/>
                      <a:pt x="1428" y="756"/>
                    </a:cubicBezTo>
                    <a:cubicBezTo>
                      <a:pt x="1441" y="794"/>
                      <a:pt x="1465" y="901"/>
                      <a:pt x="1488" y="936"/>
                    </a:cubicBezTo>
                    <a:cubicBezTo>
                      <a:pt x="1496" y="948"/>
                      <a:pt x="1506" y="959"/>
                      <a:pt x="1512" y="972"/>
                    </a:cubicBezTo>
                    <a:cubicBezTo>
                      <a:pt x="1551" y="1050"/>
                      <a:pt x="1525" y="1096"/>
                      <a:pt x="1608" y="1152"/>
                    </a:cubicBezTo>
                    <a:cubicBezTo>
                      <a:pt x="1620" y="1144"/>
                      <a:pt x="1635" y="1139"/>
                      <a:pt x="1644" y="1128"/>
                    </a:cubicBezTo>
                    <a:cubicBezTo>
                      <a:pt x="1652" y="1118"/>
                      <a:pt x="1647" y="1101"/>
                      <a:pt x="1656" y="1092"/>
                    </a:cubicBezTo>
                    <a:cubicBezTo>
                      <a:pt x="1676" y="1072"/>
                      <a:pt x="1728" y="1044"/>
                      <a:pt x="1728" y="1044"/>
                    </a:cubicBezTo>
                    <a:cubicBezTo>
                      <a:pt x="1742" y="1003"/>
                      <a:pt x="1731" y="1017"/>
                      <a:pt x="1752" y="996"/>
                    </a:cubicBezTo>
                  </a:path>
                </a:pathLst>
              </a:custGeom>
              <a:noFill/>
              <a:ln w="38100" cap="flat" cmpd="sng">
                <a:solidFill>
                  <a:srgbClr val="FF0000">
                    <a:alpha val="100000"/>
                  </a:srgbClr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6633" name="任意多边形 26632"/>
              <p:cNvSpPr/>
              <p:nvPr/>
            </p:nvSpPr>
            <p:spPr>
              <a:xfrm>
                <a:off x="3408" y="696"/>
                <a:ext cx="1068" cy="1152"/>
              </a:xfrm>
              <a:custGeom>
                <a:avLst/>
                <a:gdLst/>
                <a:ahLst/>
                <a:cxnLst/>
                <a:pathLst>
                  <a:path w="1752" h="1152">
                    <a:moveTo>
                      <a:pt x="0" y="960"/>
                    </a:moveTo>
                    <a:cubicBezTo>
                      <a:pt x="12" y="956"/>
                      <a:pt x="29" y="958"/>
                      <a:pt x="36" y="948"/>
                    </a:cubicBezTo>
                    <a:lnTo>
                      <a:pt x="72" y="840"/>
                    </a:lnTo>
                    <a:cubicBezTo>
                      <a:pt x="72" y="840"/>
                      <a:pt x="72" y="840"/>
                      <a:pt x="72" y="840"/>
                    </a:cubicBezTo>
                    <a:cubicBezTo>
                      <a:pt x="115" y="775"/>
                      <a:pt x="92" y="751"/>
                      <a:pt x="156" y="708"/>
                    </a:cubicBezTo>
                    <a:cubicBezTo>
                      <a:pt x="210" y="627"/>
                      <a:pt x="218" y="526"/>
                      <a:pt x="288" y="456"/>
                    </a:cubicBezTo>
                    <a:cubicBezTo>
                      <a:pt x="315" y="374"/>
                      <a:pt x="324" y="348"/>
                      <a:pt x="372" y="276"/>
                    </a:cubicBezTo>
                    <a:cubicBezTo>
                      <a:pt x="386" y="255"/>
                      <a:pt x="388" y="228"/>
                      <a:pt x="396" y="204"/>
                    </a:cubicBezTo>
                    <a:cubicBezTo>
                      <a:pt x="410" y="162"/>
                      <a:pt x="425" y="135"/>
                      <a:pt x="444" y="96"/>
                    </a:cubicBezTo>
                    <a:cubicBezTo>
                      <a:pt x="450" y="85"/>
                      <a:pt x="448" y="70"/>
                      <a:pt x="456" y="60"/>
                    </a:cubicBezTo>
                    <a:cubicBezTo>
                      <a:pt x="479" y="32"/>
                      <a:pt x="534" y="20"/>
                      <a:pt x="564" y="0"/>
                    </a:cubicBezTo>
                    <a:cubicBezTo>
                      <a:pt x="632" y="23"/>
                      <a:pt x="599" y="38"/>
                      <a:pt x="624" y="96"/>
                    </a:cubicBezTo>
                    <a:cubicBezTo>
                      <a:pt x="630" y="109"/>
                      <a:pt x="642" y="119"/>
                      <a:pt x="648" y="132"/>
                    </a:cubicBezTo>
                    <a:cubicBezTo>
                      <a:pt x="684" y="214"/>
                      <a:pt x="662" y="218"/>
                      <a:pt x="720" y="276"/>
                    </a:cubicBezTo>
                    <a:cubicBezTo>
                      <a:pt x="729" y="304"/>
                      <a:pt x="767" y="448"/>
                      <a:pt x="792" y="468"/>
                    </a:cubicBezTo>
                    <a:cubicBezTo>
                      <a:pt x="802" y="476"/>
                      <a:pt x="816" y="476"/>
                      <a:pt x="828" y="480"/>
                    </a:cubicBezTo>
                    <a:cubicBezTo>
                      <a:pt x="867" y="454"/>
                      <a:pt x="885" y="422"/>
                      <a:pt x="924" y="396"/>
                    </a:cubicBezTo>
                    <a:cubicBezTo>
                      <a:pt x="929" y="381"/>
                      <a:pt x="942" y="331"/>
                      <a:pt x="960" y="324"/>
                    </a:cubicBezTo>
                    <a:cubicBezTo>
                      <a:pt x="972" y="319"/>
                      <a:pt x="984" y="332"/>
                      <a:pt x="996" y="336"/>
                    </a:cubicBezTo>
                    <a:cubicBezTo>
                      <a:pt x="1029" y="435"/>
                      <a:pt x="1016" y="383"/>
                      <a:pt x="1032" y="492"/>
                    </a:cubicBezTo>
                    <a:cubicBezTo>
                      <a:pt x="1116" y="464"/>
                      <a:pt x="1096" y="492"/>
                      <a:pt x="1116" y="432"/>
                    </a:cubicBezTo>
                    <a:cubicBezTo>
                      <a:pt x="1185" y="455"/>
                      <a:pt x="1167" y="490"/>
                      <a:pt x="1188" y="552"/>
                    </a:cubicBezTo>
                    <a:cubicBezTo>
                      <a:pt x="1192" y="564"/>
                      <a:pt x="1196" y="576"/>
                      <a:pt x="1200" y="588"/>
                    </a:cubicBezTo>
                    <a:cubicBezTo>
                      <a:pt x="1204" y="600"/>
                      <a:pt x="1212" y="624"/>
                      <a:pt x="1212" y="624"/>
                    </a:cubicBezTo>
                    <a:cubicBezTo>
                      <a:pt x="1216" y="656"/>
                      <a:pt x="1208" y="692"/>
                      <a:pt x="1224" y="720"/>
                    </a:cubicBezTo>
                    <a:cubicBezTo>
                      <a:pt x="1230" y="731"/>
                      <a:pt x="1250" y="716"/>
                      <a:pt x="1260" y="708"/>
                    </a:cubicBezTo>
                    <a:cubicBezTo>
                      <a:pt x="1291" y="683"/>
                      <a:pt x="1308" y="600"/>
                      <a:pt x="1308" y="600"/>
                    </a:cubicBezTo>
                    <a:cubicBezTo>
                      <a:pt x="1403" y="624"/>
                      <a:pt x="1316" y="588"/>
                      <a:pt x="1380" y="684"/>
                    </a:cubicBezTo>
                    <a:cubicBezTo>
                      <a:pt x="1396" y="708"/>
                      <a:pt x="1419" y="729"/>
                      <a:pt x="1428" y="756"/>
                    </a:cubicBezTo>
                    <a:cubicBezTo>
                      <a:pt x="1441" y="794"/>
                      <a:pt x="1465" y="901"/>
                      <a:pt x="1488" y="936"/>
                    </a:cubicBezTo>
                    <a:cubicBezTo>
                      <a:pt x="1496" y="948"/>
                      <a:pt x="1506" y="959"/>
                      <a:pt x="1512" y="972"/>
                    </a:cubicBezTo>
                    <a:cubicBezTo>
                      <a:pt x="1551" y="1050"/>
                      <a:pt x="1525" y="1096"/>
                      <a:pt x="1608" y="1152"/>
                    </a:cubicBezTo>
                    <a:cubicBezTo>
                      <a:pt x="1620" y="1144"/>
                      <a:pt x="1635" y="1139"/>
                      <a:pt x="1644" y="1128"/>
                    </a:cubicBezTo>
                    <a:cubicBezTo>
                      <a:pt x="1652" y="1118"/>
                      <a:pt x="1647" y="1101"/>
                      <a:pt x="1656" y="1092"/>
                    </a:cubicBezTo>
                    <a:cubicBezTo>
                      <a:pt x="1676" y="1072"/>
                      <a:pt x="1728" y="1044"/>
                      <a:pt x="1728" y="1044"/>
                    </a:cubicBezTo>
                    <a:cubicBezTo>
                      <a:pt x="1742" y="1003"/>
                      <a:pt x="1731" y="1017"/>
                      <a:pt x="1752" y="996"/>
                    </a:cubicBezTo>
                  </a:path>
                </a:pathLst>
              </a:custGeom>
              <a:noFill/>
              <a:ln w="38100" cap="flat" cmpd="sng">
                <a:solidFill>
                  <a:srgbClr val="FF0000">
                    <a:alpha val="100000"/>
                  </a:srgbClr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26634" name="直接连接符 26633"/>
            <p:cNvSpPr/>
            <p:nvPr/>
          </p:nvSpPr>
          <p:spPr>
            <a:xfrm flipH="1" flipV="1">
              <a:off x="542" y="828"/>
              <a:ext cx="9" cy="127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6635" name="直接连接符 26634"/>
            <p:cNvSpPr/>
            <p:nvPr/>
          </p:nvSpPr>
          <p:spPr>
            <a:xfrm>
              <a:off x="542" y="1752"/>
              <a:ext cx="246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6636" name="文本框 26635"/>
            <p:cNvSpPr txBox="1"/>
            <p:nvPr/>
          </p:nvSpPr>
          <p:spPr>
            <a:xfrm>
              <a:off x="266" y="588"/>
              <a:ext cx="324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1" i="1" dirty="0" err="1">
                  <a:latin typeface="Times New Roman" panose="02020603050405020304" charset="0"/>
                </a:rPr>
                <a:t>u</a:t>
              </a:r>
              <a:r>
                <a:rPr lang="en-US" altLang="zh-CN" sz="2800" b="1" baseline="-25000" dirty="0" err="1">
                  <a:latin typeface="Times New Roman" panose="02020603050405020304" charset="0"/>
                </a:rPr>
                <a:t>i</a:t>
              </a:r>
              <a:endParaRPr lang="en-US" altLang="zh-CN" sz="2800" b="1">
                <a:latin typeface="Times New Roman" panose="02020603050405020304" charset="0"/>
              </a:endParaRPr>
            </a:p>
          </p:txBody>
        </p:sp>
      </p:grpSp>
      <p:pic>
        <p:nvPicPr>
          <p:cNvPr id="26637" name="图片 26636" descr="6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789113" y="1350963"/>
            <a:ext cx="4116387" cy="232568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7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7650" name="组合 27649"/>
          <p:cNvGrpSpPr/>
          <p:nvPr/>
        </p:nvGrpSpPr>
        <p:grpSpPr>
          <a:xfrm>
            <a:off x="5600700" y="933450"/>
            <a:ext cx="4191000" cy="1446213"/>
            <a:chOff x="-1212" y="1848"/>
            <a:chExt cx="2640" cy="911"/>
          </a:xfrm>
        </p:grpSpPr>
        <p:sp>
          <p:nvSpPr>
            <p:cNvPr id="27651" name="直接连接符 27650"/>
            <p:cNvSpPr/>
            <p:nvPr/>
          </p:nvSpPr>
          <p:spPr>
            <a:xfrm>
              <a:off x="-828" y="2628"/>
              <a:ext cx="223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27652" name="直接连接符 27651"/>
            <p:cNvSpPr/>
            <p:nvPr/>
          </p:nvSpPr>
          <p:spPr>
            <a:xfrm>
              <a:off x="-804" y="1968"/>
              <a:ext cx="223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27653" name="文本框 27652"/>
            <p:cNvSpPr txBox="1"/>
            <p:nvPr/>
          </p:nvSpPr>
          <p:spPr>
            <a:xfrm>
              <a:off x="-1152" y="2508"/>
              <a:ext cx="348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000" b="1">
                  <a:latin typeface="Times New Roman" panose="02020603050405020304" charset="0"/>
                </a:rPr>
                <a:t>2V</a:t>
              </a:r>
              <a:endParaRPr lang="en-US" altLang="zh-CN" sz="2000" b="1">
                <a:latin typeface="Times New Roman" panose="02020603050405020304" charset="0"/>
              </a:endParaRPr>
            </a:p>
          </p:txBody>
        </p:sp>
        <p:sp>
          <p:nvSpPr>
            <p:cNvPr id="27654" name="文本框 27653"/>
            <p:cNvSpPr txBox="1"/>
            <p:nvPr/>
          </p:nvSpPr>
          <p:spPr>
            <a:xfrm>
              <a:off x="-1212" y="1848"/>
              <a:ext cx="420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000" b="1">
                  <a:latin typeface="Times New Roman" panose="02020603050405020304" charset="0"/>
                </a:rPr>
                <a:t>8V</a:t>
              </a:r>
              <a:endParaRPr lang="en-US" altLang="zh-CN" sz="2000" b="1">
                <a:latin typeface="Times New Roman" panose="02020603050405020304" charset="0"/>
              </a:endParaRPr>
            </a:p>
          </p:txBody>
        </p:sp>
      </p:grpSp>
      <p:grpSp>
        <p:nvGrpSpPr>
          <p:cNvPr id="27655" name="组合 27654"/>
          <p:cNvGrpSpPr/>
          <p:nvPr/>
        </p:nvGrpSpPr>
        <p:grpSpPr>
          <a:xfrm>
            <a:off x="6229350" y="781050"/>
            <a:ext cx="3371850" cy="1905000"/>
            <a:chOff x="2352" y="648"/>
            <a:chExt cx="2124" cy="1200"/>
          </a:xfrm>
        </p:grpSpPr>
        <p:sp>
          <p:nvSpPr>
            <p:cNvPr id="27656" name="任意多边形 27655"/>
            <p:cNvSpPr/>
            <p:nvPr/>
          </p:nvSpPr>
          <p:spPr>
            <a:xfrm>
              <a:off x="2352" y="648"/>
              <a:ext cx="1068" cy="1152"/>
            </a:xfrm>
            <a:custGeom>
              <a:avLst/>
              <a:gdLst/>
              <a:ahLst/>
              <a:cxnLst/>
              <a:pathLst>
                <a:path w="1752" h="1152">
                  <a:moveTo>
                    <a:pt x="0" y="960"/>
                  </a:moveTo>
                  <a:cubicBezTo>
                    <a:pt x="12" y="956"/>
                    <a:pt x="29" y="958"/>
                    <a:pt x="36" y="948"/>
                  </a:cubicBezTo>
                  <a:lnTo>
                    <a:pt x="72" y="840"/>
                  </a:lnTo>
                  <a:cubicBezTo>
                    <a:pt x="72" y="840"/>
                    <a:pt x="72" y="840"/>
                    <a:pt x="72" y="840"/>
                  </a:cubicBezTo>
                  <a:cubicBezTo>
                    <a:pt x="115" y="775"/>
                    <a:pt x="92" y="751"/>
                    <a:pt x="156" y="708"/>
                  </a:cubicBezTo>
                  <a:cubicBezTo>
                    <a:pt x="210" y="627"/>
                    <a:pt x="218" y="526"/>
                    <a:pt x="288" y="456"/>
                  </a:cubicBezTo>
                  <a:cubicBezTo>
                    <a:pt x="315" y="374"/>
                    <a:pt x="324" y="348"/>
                    <a:pt x="372" y="276"/>
                  </a:cubicBezTo>
                  <a:cubicBezTo>
                    <a:pt x="386" y="255"/>
                    <a:pt x="388" y="228"/>
                    <a:pt x="396" y="204"/>
                  </a:cubicBezTo>
                  <a:cubicBezTo>
                    <a:pt x="410" y="162"/>
                    <a:pt x="425" y="135"/>
                    <a:pt x="444" y="96"/>
                  </a:cubicBezTo>
                  <a:cubicBezTo>
                    <a:pt x="450" y="85"/>
                    <a:pt x="448" y="70"/>
                    <a:pt x="456" y="60"/>
                  </a:cubicBezTo>
                  <a:cubicBezTo>
                    <a:pt x="479" y="32"/>
                    <a:pt x="534" y="20"/>
                    <a:pt x="564" y="0"/>
                  </a:cubicBezTo>
                  <a:cubicBezTo>
                    <a:pt x="632" y="23"/>
                    <a:pt x="599" y="38"/>
                    <a:pt x="624" y="96"/>
                  </a:cubicBezTo>
                  <a:cubicBezTo>
                    <a:pt x="630" y="109"/>
                    <a:pt x="642" y="119"/>
                    <a:pt x="648" y="132"/>
                  </a:cubicBezTo>
                  <a:cubicBezTo>
                    <a:pt x="684" y="214"/>
                    <a:pt x="662" y="218"/>
                    <a:pt x="720" y="276"/>
                  </a:cubicBezTo>
                  <a:cubicBezTo>
                    <a:pt x="729" y="304"/>
                    <a:pt x="767" y="448"/>
                    <a:pt x="792" y="468"/>
                  </a:cubicBezTo>
                  <a:cubicBezTo>
                    <a:pt x="802" y="476"/>
                    <a:pt x="816" y="476"/>
                    <a:pt x="828" y="480"/>
                  </a:cubicBezTo>
                  <a:cubicBezTo>
                    <a:pt x="867" y="454"/>
                    <a:pt x="885" y="422"/>
                    <a:pt x="924" y="396"/>
                  </a:cubicBezTo>
                  <a:cubicBezTo>
                    <a:pt x="929" y="381"/>
                    <a:pt x="942" y="331"/>
                    <a:pt x="960" y="324"/>
                  </a:cubicBezTo>
                  <a:cubicBezTo>
                    <a:pt x="972" y="319"/>
                    <a:pt x="984" y="332"/>
                    <a:pt x="996" y="336"/>
                  </a:cubicBezTo>
                  <a:cubicBezTo>
                    <a:pt x="1029" y="435"/>
                    <a:pt x="1016" y="383"/>
                    <a:pt x="1032" y="492"/>
                  </a:cubicBezTo>
                  <a:cubicBezTo>
                    <a:pt x="1116" y="464"/>
                    <a:pt x="1096" y="492"/>
                    <a:pt x="1116" y="432"/>
                  </a:cubicBezTo>
                  <a:cubicBezTo>
                    <a:pt x="1185" y="455"/>
                    <a:pt x="1167" y="490"/>
                    <a:pt x="1188" y="552"/>
                  </a:cubicBezTo>
                  <a:cubicBezTo>
                    <a:pt x="1192" y="564"/>
                    <a:pt x="1196" y="576"/>
                    <a:pt x="1200" y="588"/>
                  </a:cubicBezTo>
                  <a:cubicBezTo>
                    <a:pt x="1204" y="600"/>
                    <a:pt x="1212" y="624"/>
                    <a:pt x="1212" y="624"/>
                  </a:cubicBezTo>
                  <a:cubicBezTo>
                    <a:pt x="1216" y="656"/>
                    <a:pt x="1208" y="692"/>
                    <a:pt x="1224" y="720"/>
                  </a:cubicBezTo>
                  <a:cubicBezTo>
                    <a:pt x="1230" y="731"/>
                    <a:pt x="1250" y="716"/>
                    <a:pt x="1260" y="708"/>
                  </a:cubicBezTo>
                  <a:cubicBezTo>
                    <a:pt x="1291" y="683"/>
                    <a:pt x="1308" y="600"/>
                    <a:pt x="1308" y="600"/>
                  </a:cubicBezTo>
                  <a:cubicBezTo>
                    <a:pt x="1403" y="624"/>
                    <a:pt x="1316" y="588"/>
                    <a:pt x="1380" y="684"/>
                  </a:cubicBezTo>
                  <a:cubicBezTo>
                    <a:pt x="1396" y="708"/>
                    <a:pt x="1419" y="729"/>
                    <a:pt x="1428" y="756"/>
                  </a:cubicBezTo>
                  <a:cubicBezTo>
                    <a:pt x="1441" y="794"/>
                    <a:pt x="1465" y="901"/>
                    <a:pt x="1488" y="936"/>
                  </a:cubicBezTo>
                  <a:cubicBezTo>
                    <a:pt x="1496" y="948"/>
                    <a:pt x="1506" y="959"/>
                    <a:pt x="1512" y="972"/>
                  </a:cubicBezTo>
                  <a:cubicBezTo>
                    <a:pt x="1551" y="1050"/>
                    <a:pt x="1525" y="1096"/>
                    <a:pt x="1608" y="1152"/>
                  </a:cubicBezTo>
                  <a:cubicBezTo>
                    <a:pt x="1620" y="1144"/>
                    <a:pt x="1635" y="1139"/>
                    <a:pt x="1644" y="1128"/>
                  </a:cubicBezTo>
                  <a:cubicBezTo>
                    <a:pt x="1652" y="1118"/>
                    <a:pt x="1647" y="1101"/>
                    <a:pt x="1656" y="1092"/>
                  </a:cubicBezTo>
                  <a:cubicBezTo>
                    <a:pt x="1676" y="1072"/>
                    <a:pt x="1728" y="1044"/>
                    <a:pt x="1728" y="1044"/>
                  </a:cubicBezTo>
                  <a:cubicBezTo>
                    <a:pt x="1742" y="1003"/>
                    <a:pt x="1731" y="1017"/>
                    <a:pt x="1752" y="996"/>
                  </a:cubicBezTo>
                </a:path>
              </a:pathLst>
            </a:custGeom>
            <a:noFill/>
            <a:ln w="38100" cap="flat" cmpd="sng">
              <a:solidFill>
                <a:srgbClr val="FF0000">
                  <a:alpha val="100000"/>
                </a:srgbClr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7657" name="任意多边形 27656"/>
            <p:cNvSpPr/>
            <p:nvPr/>
          </p:nvSpPr>
          <p:spPr>
            <a:xfrm>
              <a:off x="3408" y="696"/>
              <a:ext cx="1068" cy="1152"/>
            </a:xfrm>
            <a:custGeom>
              <a:avLst/>
              <a:gdLst/>
              <a:ahLst/>
              <a:cxnLst/>
              <a:pathLst>
                <a:path w="1752" h="1152">
                  <a:moveTo>
                    <a:pt x="0" y="960"/>
                  </a:moveTo>
                  <a:cubicBezTo>
                    <a:pt x="12" y="956"/>
                    <a:pt x="29" y="958"/>
                    <a:pt x="36" y="948"/>
                  </a:cubicBezTo>
                  <a:lnTo>
                    <a:pt x="72" y="840"/>
                  </a:lnTo>
                  <a:cubicBezTo>
                    <a:pt x="72" y="840"/>
                    <a:pt x="72" y="840"/>
                    <a:pt x="72" y="840"/>
                  </a:cubicBezTo>
                  <a:cubicBezTo>
                    <a:pt x="115" y="775"/>
                    <a:pt x="92" y="751"/>
                    <a:pt x="156" y="708"/>
                  </a:cubicBezTo>
                  <a:cubicBezTo>
                    <a:pt x="210" y="627"/>
                    <a:pt x="218" y="526"/>
                    <a:pt x="288" y="456"/>
                  </a:cubicBezTo>
                  <a:cubicBezTo>
                    <a:pt x="315" y="374"/>
                    <a:pt x="324" y="348"/>
                    <a:pt x="372" y="276"/>
                  </a:cubicBezTo>
                  <a:cubicBezTo>
                    <a:pt x="386" y="255"/>
                    <a:pt x="388" y="228"/>
                    <a:pt x="396" y="204"/>
                  </a:cubicBezTo>
                  <a:cubicBezTo>
                    <a:pt x="410" y="162"/>
                    <a:pt x="425" y="135"/>
                    <a:pt x="444" y="96"/>
                  </a:cubicBezTo>
                  <a:cubicBezTo>
                    <a:pt x="450" y="85"/>
                    <a:pt x="448" y="70"/>
                    <a:pt x="456" y="60"/>
                  </a:cubicBezTo>
                  <a:cubicBezTo>
                    <a:pt x="479" y="32"/>
                    <a:pt x="534" y="20"/>
                    <a:pt x="564" y="0"/>
                  </a:cubicBezTo>
                  <a:cubicBezTo>
                    <a:pt x="632" y="23"/>
                    <a:pt x="599" y="38"/>
                    <a:pt x="624" y="96"/>
                  </a:cubicBezTo>
                  <a:cubicBezTo>
                    <a:pt x="630" y="109"/>
                    <a:pt x="642" y="119"/>
                    <a:pt x="648" y="132"/>
                  </a:cubicBezTo>
                  <a:cubicBezTo>
                    <a:pt x="684" y="214"/>
                    <a:pt x="662" y="218"/>
                    <a:pt x="720" y="276"/>
                  </a:cubicBezTo>
                  <a:cubicBezTo>
                    <a:pt x="729" y="304"/>
                    <a:pt x="767" y="448"/>
                    <a:pt x="792" y="468"/>
                  </a:cubicBezTo>
                  <a:cubicBezTo>
                    <a:pt x="802" y="476"/>
                    <a:pt x="816" y="476"/>
                    <a:pt x="828" y="480"/>
                  </a:cubicBezTo>
                  <a:cubicBezTo>
                    <a:pt x="867" y="454"/>
                    <a:pt x="885" y="422"/>
                    <a:pt x="924" y="396"/>
                  </a:cubicBezTo>
                  <a:cubicBezTo>
                    <a:pt x="929" y="381"/>
                    <a:pt x="942" y="331"/>
                    <a:pt x="960" y="324"/>
                  </a:cubicBezTo>
                  <a:cubicBezTo>
                    <a:pt x="972" y="319"/>
                    <a:pt x="984" y="332"/>
                    <a:pt x="996" y="336"/>
                  </a:cubicBezTo>
                  <a:cubicBezTo>
                    <a:pt x="1029" y="435"/>
                    <a:pt x="1016" y="383"/>
                    <a:pt x="1032" y="492"/>
                  </a:cubicBezTo>
                  <a:cubicBezTo>
                    <a:pt x="1116" y="464"/>
                    <a:pt x="1096" y="492"/>
                    <a:pt x="1116" y="432"/>
                  </a:cubicBezTo>
                  <a:cubicBezTo>
                    <a:pt x="1185" y="455"/>
                    <a:pt x="1167" y="490"/>
                    <a:pt x="1188" y="552"/>
                  </a:cubicBezTo>
                  <a:cubicBezTo>
                    <a:pt x="1192" y="564"/>
                    <a:pt x="1196" y="576"/>
                    <a:pt x="1200" y="588"/>
                  </a:cubicBezTo>
                  <a:cubicBezTo>
                    <a:pt x="1204" y="600"/>
                    <a:pt x="1212" y="624"/>
                    <a:pt x="1212" y="624"/>
                  </a:cubicBezTo>
                  <a:cubicBezTo>
                    <a:pt x="1216" y="656"/>
                    <a:pt x="1208" y="692"/>
                    <a:pt x="1224" y="720"/>
                  </a:cubicBezTo>
                  <a:cubicBezTo>
                    <a:pt x="1230" y="731"/>
                    <a:pt x="1250" y="716"/>
                    <a:pt x="1260" y="708"/>
                  </a:cubicBezTo>
                  <a:cubicBezTo>
                    <a:pt x="1291" y="683"/>
                    <a:pt x="1308" y="600"/>
                    <a:pt x="1308" y="600"/>
                  </a:cubicBezTo>
                  <a:cubicBezTo>
                    <a:pt x="1403" y="624"/>
                    <a:pt x="1316" y="588"/>
                    <a:pt x="1380" y="684"/>
                  </a:cubicBezTo>
                  <a:cubicBezTo>
                    <a:pt x="1396" y="708"/>
                    <a:pt x="1419" y="729"/>
                    <a:pt x="1428" y="756"/>
                  </a:cubicBezTo>
                  <a:cubicBezTo>
                    <a:pt x="1441" y="794"/>
                    <a:pt x="1465" y="901"/>
                    <a:pt x="1488" y="936"/>
                  </a:cubicBezTo>
                  <a:cubicBezTo>
                    <a:pt x="1496" y="948"/>
                    <a:pt x="1506" y="959"/>
                    <a:pt x="1512" y="972"/>
                  </a:cubicBezTo>
                  <a:cubicBezTo>
                    <a:pt x="1551" y="1050"/>
                    <a:pt x="1525" y="1096"/>
                    <a:pt x="1608" y="1152"/>
                  </a:cubicBezTo>
                  <a:cubicBezTo>
                    <a:pt x="1620" y="1144"/>
                    <a:pt x="1635" y="1139"/>
                    <a:pt x="1644" y="1128"/>
                  </a:cubicBezTo>
                  <a:cubicBezTo>
                    <a:pt x="1652" y="1118"/>
                    <a:pt x="1647" y="1101"/>
                    <a:pt x="1656" y="1092"/>
                  </a:cubicBezTo>
                  <a:cubicBezTo>
                    <a:pt x="1676" y="1072"/>
                    <a:pt x="1728" y="1044"/>
                    <a:pt x="1728" y="1044"/>
                  </a:cubicBezTo>
                  <a:cubicBezTo>
                    <a:pt x="1742" y="1003"/>
                    <a:pt x="1731" y="1017"/>
                    <a:pt x="1752" y="996"/>
                  </a:cubicBezTo>
                </a:path>
              </a:pathLst>
            </a:custGeom>
            <a:noFill/>
            <a:ln w="38100" cap="flat" cmpd="sng">
              <a:solidFill>
                <a:srgbClr val="FF0000">
                  <a:alpha val="100000"/>
                </a:srgbClr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27658" name="组合 27657"/>
          <p:cNvGrpSpPr/>
          <p:nvPr/>
        </p:nvGrpSpPr>
        <p:grpSpPr>
          <a:xfrm>
            <a:off x="5657850" y="476250"/>
            <a:ext cx="4457700" cy="5581650"/>
            <a:chOff x="1980" y="300"/>
            <a:chExt cx="2808" cy="3516"/>
          </a:xfrm>
        </p:grpSpPr>
        <p:sp>
          <p:nvSpPr>
            <p:cNvPr id="27659" name="直接连接符 27658"/>
            <p:cNvSpPr/>
            <p:nvPr/>
          </p:nvSpPr>
          <p:spPr>
            <a:xfrm flipV="1">
              <a:off x="2328" y="540"/>
              <a:ext cx="0" cy="327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7660" name="直接连接符 27659"/>
            <p:cNvSpPr/>
            <p:nvPr/>
          </p:nvSpPr>
          <p:spPr>
            <a:xfrm>
              <a:off x="2232" y="3096"/>
              <a:ext cx="246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7661" name="直接连接符 27660"/>
            <p:cNvSpPr/>
            <p:nvPr/>
          </p:nvSpPr>
          <p:spPr>
            <a:xfrm>
              <a:off x="2328" y="1464"/>
              <a:ext cx="246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7662" name="文本框 27661"/>
            <p:cNvSpPr txBox="1"/>
            <p:nvPr/>
          </p:nvSpPr>
          <p:spPr>
            <a:xfrm>
              <a:off x="2052" y="300"/>
              <a:ext cx="324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1" i="1" dirty="0" err="1">
                  <a:latin typeface="Times New Roman" panose="02020603050405020304" charset="0"/>
                </a:rPr>
                <a:t>u</a:t>
              </a:r>
              <a:r>
                <a:rPr lang="en-US" altLang="zh-CN" sz="2800" b="1" baseline="-25000" dirty="0" err="1">
                  <a:latin typeface="Times New Roman" panose="02020603050405020304" charset="0"/>
                </a:rPr>
                <a:t>i</a:t>
              </a:r>
              <a:endParaRPr lang="en-US" altLang="zh-CN" sz="2800" b="1">
                <a:latin typeface="Times New Roman" panose="02020603050405020304" charset="0"/>
              </a:endParaRPr>
            </a:p>
          </p:txBody>
        </p:sp>
        <p:sp>
          <p:nvSpPr>
            <p:cNvPr id="27663" name="文本框 27662"/>
            <p:cNvSpPr txBox="1"/>
            <p:nvPr/>
          </p:nvSpPr>
          <p:spPr>
            <a:xfrm>
              <a:off x="1980" y="1992"/>
              <a:ext cx="324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1" i="1" dirty="0" err="1">
                  <a:latin typeface="Times New Roman" panose="02020603050405020304" charset="0"/>
                </a:rPr>
                <a:t>u</a:t>
              </a:r>
              <a:r>
                <a:rPr lang="en-US" altLang="zh-CN" sz="2800" b="1" baseline="-25000" dirty="0" err="1">
                  <a:latin typeface="Times New Roman" panose="02020603050405020304" charset="0"/>
                </a:rPr>
                <a:t>o</a:t>
              </a:r>
              <a:endParaRPr lang="en-US" altLang="zh-CN" sz="2800" b="1">
                <a:latin typeface="Times New Roman" panose="02020603050405020304" charset="0"/>
              </a:endParaRPr>
            </a:p>
          </p:txBody>
        </p:sp>
      </p:grpSp>
      <p:grpSp>
        <p:nvGrpSpPr>
          <p:cNvPr id="27664" name="组合 27663"/>
          <p:cNvGrpSpPr/>
          <p:nvPr/>
        </p:nvGrpSpPr>
        <p:grpSpPr>
          <a:xfrm>
            <a:off x="6591300" y="609600"/>
            <a:ext cx="2724150" cy="5467350"/>
            <a:chOff x="2568" y="384"/>
            <a:chExt cx="1716" cy="3444"/>
          </a:xfrm>
        </p:grpSpPr>
        <p:sp>
          <p:nvSpPr>
            <p:cNvPr id="27665" name="直接连接符 27664"/>
            <p:cNvSpPr/>
            <p:nvPr/>
          </p:nvSpPr>
          <p:spPr>
            <a:xfrm>
              <a:off x="2568" y="420"/>
              <a:ext cx="0" cy="340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27666" name="直接连接符 27665"/>
            <p:cNvSpPr/>
            <p:nvPr/>
          </p:nvSpPr>
          <p:spPr>
            <a:xfrm>
              <a:off x="3648" y="396"/>
              <a:ext cx="0" cy="340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27667" name="直接连接符 27666"/>
            <p:cNvSpPr/>
            <p:nvPr/>
          </p:nvSpPr>
          <p:spPr>
            <a:xfrm>
              <a:off x="4284" y="384"/>
              <a:ext cx="0" cy="340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27668" name="直接连接符 27667"/>
            <p:cNvSpPr/>
            <p:nvPr/>
          </p:nvSpPr>
          <p:spPr>
            <a:xfrm>
              <a:off x="3228" y="408"/>
              <a:ext cx="0" cy="340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</p:sp>
      </p:grpSp>
      <p:grpSp>
        <p:nvGrpSpPr>
          <p:cNvPr id="27669" name="组合 27668"/>
          <p:cNvGrpSpPr/>
          <p:nvPr/>
        </p:nvGrpSpPr>
        <p:grpSpPr>
          <a:xfrm>
            <a:off x="5372100" y="3790950"/>
            <a:ext cx="4267200" cy="2170113"/>
            <a:chOff x="1800" y="2388"/>
            <a:chExt cx="2688" cy="1367"/>
          </a:xfrm>
        </p:grpSpPr>
        <p:sp>
          <p:nvSpPr>
            <p:cNvPr id="27670" name="文本框 27669"/>
            <p:cNvSpPr txBox="1"/>
            <p:nvPr/>
          </p:nvSpPr>
          <p:spPr>
            <a:xfrm>
              <a:off x="1800" y="2388"/>
              <a:ext cx="540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000" b="1">
                  <a:latin typeface="Times New Roman" panose="02020603050405020304" charset="0"/>
                </a:rPr>
                <a:t>+6V</a:t>
              </a:r>
              <a:endParaRPr lang="en-US" altLang="zh-CN" sz="2000" b="1" baseline="-25000">
                <a:latin typeface="Times New Roman" panose="02020603050405020304" charset="0"/>
              </a:endParaRPr>
            </a:p>
          </p:txBody>
        </p:sp>
        <p:sp>
          <p:nvSpPr>
            <p:cNvPr id="27671" name="直接连接符 27670"/>
            <p:cNvSpPr/>
            <p:nvPr/>
          </p:nvSpPr>
          <p:spPr>
            <a:xfrm>
              <a:off x="2328" y="2532"/>
              <a:ext cx="214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</p:sp>
        <p:grpSp>
          <p:nvGrpSpPr>
            <p:cNvPr id="27672" name="组合 27671"/>
            <p:cNvGrpSpPr/>
            <p:nvPr/>
          </p:nvGrpSpPr>
          <p:grpSpPr>
            <a:xfrm>
              <a:off x="1836" y="3504"/>
              <a:ext cx="2652" cy="251"/>
              <a:chOff x="1836" y="3504"/>
              <a:chExt cx="2652" cy="251"/>
            </a:xfrm>
          </p:grpSpPr>
          <p:sp>
            <p:nvSpPr>
              <p:cNvPr id="27673" name="文本框 27672"/>
              <p:cNvSpPr txBox="1"/>
              <p:nvPr/>
            </p:nvSpPr>
            <p:spPr>
              <a:xfrm>
                <a:off x="1836" y="3504"/>
                <a:ext cx="540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000" b="1">
                    <a:latin typeface="Times New Roman" panose="02020603050405020304" charset="0"/>
                  </a:rPr>
                  <a:t>-6V</a:t>
                </a:r>
                <a:endParaRPr lang="en-US" altLang="zh-CN" sz="2000" b="1" baseline="-25000">
                  <a:latin typeface="Times New Roman" panose="02020603050405020304" charset="0"/>
                </a:endParaRPr>
              </a:p>
            </p:txBody>
          </p:sp>
          <p:sp>
            <p:nvSpPr>
              <p:cNvPr id="27674" name="直接连接符 27673"/>
              <p:cNvSpPr/>
              <p:nvPr/>
            </p:nvSpPr>
            <p:spPr>
              <a:xfrm>
                <a:off x="2340" y="3648"/>
                <a:ext cx="2148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dash"/>
                <a:headEnd type="none" w="med" len="med"/>
                <a:tailEnd type="none" w="med" len="med"/>
              </a:ln>
            </p:spPr>
          </p:sp>
        </p:grpSp>
      </p:grpSp>
      <p:sp>
        <p:nvSpPr>
          <p:cNvPr id="27675" name="直接连接符 27674"/>
          <p:cNvSpPr/>
          <p:nvPr/>
        </p:nvSpPr>
        <p:spPr>
          <a:xfrm>
            <a:off x="6210300" y="4019550"/>
            <a:ext cx="400050" cy="0"/>
          </a:xfrm>
          <a:prstGeom prst="line">
            <a:avLst/>
          </a:prstGeom>
          <a:ln w="38100" cap="flat" cmpd="sng">
            <a:solidFill>
              <a:srgbClr val="0000FF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27676" name="组合 27675"/>
          <p:cNvGrpSpPr/>
          <p:nvPr/>
        </p:nvGrpSpPr>
        <p:grpSpPr>
          <a:xfrm>
            <a:off x="6591300" y="4019550"/>
            <a:ext cx="1047750" cy="1771650"/>
            <a:chOff x="3192" y="2532"/>
            <a:chExt cx="660" cy="1116"/>
          </a:xfrm>
        </p:grpSpPr>
        <p:sp>
          <p:nvSpPr>
            <p:cNvPr id="27677" name="直接连接符 27676"/>
            <p:cNvSpPr/>
            <p:nvPr/>
          </p:nvSpPr>
          <p:spPr>
            <a:xfrm>
              <a:off x="3204" y="3648"/>
              <a:ext cx="648" cy="0"/>
            </a:xfrm>
            <a:prstGeom prst="line">
              <a:avLst/>
            </a:prstGeom>
            <a:ln w="38100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78" name="直接连接符 27677"/>
            <p:cNvSpPr/>
            <p:nvPr/>
          </p:nvSpPr>
          <p:spPr>
            <a:xfrm>
              <a:off x="3192" y="2532"/>
              <a:ext cx="0" cy="1116"/>
            </a:xfrm>
            <a:prstGeom prst="line">
              <a:avLst/>
            </a:prstGeom>
            <a:ln w="38100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27679" name="组合 27678"/>
          <p:cNvGrpSpPr/>
          <p:nvPr/>
        </p:nvGrpSpPr>
        <p:grpSpPr>
          <a:xfrm>
            <a:off x="7658100" y="4019550"/>
            <a:ext cx="666750" cy="1790700"/>
            <a:chOff x="3864" y="2532"/>
            <a:chExt cx="420" cy="1128"/>
          </a:xfrm>
        </p:grpSpPr>
        <p:sp>
          <p:nvSpPr>
            <p:cNvPr id="27680" name="直接连接符 27679"/>
            <p:cNvSpPr/>
            <p:nvPr/>
          </p:nvSpPr>
          <p:spPr>
            <a:xfrm>
              <a:off x="3864" y="2532"/>
              <a:ext cx="420" cy="0"/>
            </a:xfrm>
            <a:prstGeom prst="line">
              <a:avLst/>
            </a:prstGeom>
            <a:ln w="38100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81" name="直接连接符 27680"/>
            <p:cNvSpPr/>
            <p:nvPr/>
          </p:nvSpPr>
          <p:spPr>
            <a:xfrm>
              <a:off x="3864" y="2544"/>
              <a:ext cx="0" cy="1116"/>
            </a:xfrm>
            <a:prstGeom prst="line">
              <a:avLst/>
            </a:prstGeom>
            <a:ln w="38100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27682" name="组合 27681"/>
          <p:cNvGrpSpPr/>
          <p:nvPr/>
        </p:nvGrpSpPr>
        <p:grpSpPr>
          <a:xfrm>
            <a:off x="8305800" y="4038600"/>
            <a:ext cx="1028700" cy="1771650"/>
            <a:chOff x="4272" y="2544"/>
            <a:chExt cx="648" cy="1116"/>
          </a:xfrm>
        </p:grpSpPr>
        <p:sp>
          <p:nvSpPr>
            <p:cNvPr id="27683" name="直接连接符 27682"/>
            <p:cNvSpPr/>
            <p:nvPr/>
          </p:nvSpPr>
          <p:spPr>
            <a:xfrm>
              <a:off x="4272" y="3648"/>
              <a:ext cx="648" cy="0"/>
            </a:xfrm>
            <a:prstGeom prst="line">
              <a:avLst/>
            </a:prstGeom>
            <a:ln w="38100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84" name="直接连接符 27683"/>
            <p:cNvSpPr/>
            <p:nvPr/>
          </p:nvSpPr>
          <p:spPr>
            <a:xfrm>
              <a:off x="4284" y="2544"/>
              <a:ext cx="0" cy="1116"/>
            </a:xfrm>
            <a:prstGeom prst="line">
              <a:avLst/>
            </a:prstGeom>
            <a:ln w="38100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27685" name="组合 27684"/>
          <p:cNvGrpSpPr/>
          <p:nvPr/>
        </p:nvGrpSpPr>
        <p:grpSpPr>
          <a:xfrm>
            <a:off x="9315450" y="4019550"/>
            <a:ext cx="400050" cy="1771650"/>
            <a:chOff x="4908" y="2532"/>
            <a:chExt cx="252" cy="1116"/>
          </a:xfrm>
        </p:grpSpPr>
        <p:sp>
          <p:nvSpPr>
            <p:cNvPr id="27686" name="直接连接符 27685"/>
            <p:cNvSpPr/>
            <p:nvPr/>
          </p:nvSpPr>
          <p:spPr>
            <a:xfrm>
              <a:off x="4908" y="2532"/>
              <a:ext cx="0" cy="1116"/>
            </a:xfrm>
            <a:prstGeom prst="line">
              <a:avLst/>
            </a:prstGeom>
            <a:ln w="38100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87" name="直接连接符 27686"/>
            <p:cNvSpPr/>
            <p:nvPr/>
          </p:nvSpPr>
          <p:spPr>
            <a:xfrm>
              <a:off x="4908" y="2544"/>
              <a:ext cx="252" cy="0"/>
            </a:xfrm>
            <a:prstGeom prst="line">
              <a:avLst/>
            </a:prstGeom>
            <a:ln w="38100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27688" name="组合 27687"/>
          <p:cNvGrpSpPr/>
          <p:nvPr/>
        </p:nvGrpSpPr>
        <p:grpSpPr>
          <a:xfrm>
            <a:off x="1524000" y="2819400"/>
            <a:ext cx="4432300" cy="2876550"/>
            <a:chOff x="2820" y="432"/>
            <a:chExt cx="2948" cy="2004"/>
          </a:xfrm>
        </p:grpSpPr>
        <p:grpSp>
          <p:nvGrpSpPr>
            <p:cNvPr id="27689" name="组合 27688"/>
            <p:cNvGrpSpPr/>
            <p:nvPr/>
          </p:nvGrpSpPr>
          <p:grpSpPr>
            <a:xfrm flipH="1" flipV="1">
              <a:off x="3526" y="1054"/>
              <a:ext cx="1678" cy="1094"/>
              <a:chOff x="2280" y="1882"/>
              <a:chExt cx="1678" cy="1094"/>
            </a:xfrm>
          </p:grpSpPr>
          <p:sp>
            <p:nvSpPr>
              <p:cNvPr id="27690" name="直接连接符 27689"/>
              <p:cNvSpPr/>
              <p:nvPr/>
            </p:nvSpPr>
            <p:spPr>
              <a:xfrm rot="-10800000" flipH="1" flipV="1">
                <a:off x="3646" y="2087"/>
                <a:ext cx="0" cy="558"/>
              </a:xfrm>
              <a:prstGeom prst="line">
                <a:avLst/>
              </a:prstGeom>
              <a:ln w="38100" cap="flat" cmpd="sng">
                <a:solidFill>
                  <a:schemeClr val="accent2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27691" name="直接连接符 27690"/>
              <p:cNvSpPr/>
              <p:nvPr/>
            </p:nvSpPr>
            <p:spPr>
              <a:xfrm rot="-10800000" flipH="1" flipV="1">
                <a:off x="3008" y="1882"/>
                <a:ext cx="323" cy="0"/>
              </a:xfrm>
              <a:prstGeom prst="line">
                <a:avLst/>
              </a:prstGeom>
              <a:ln w="38100" cap="flat" cmpd="sng">
                <a:solidFill>
                  <a:schemeClr val="accent2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27692" name="直接连接符 27691"/>
              <p:cNvSpPr/>
              <p:nvPr/>
            </p:nvSpPr>
            <p:spPr>
              <a:xfrm rot="-10800000" flipH="1" flipV="1">
                <a:off x="3645" y="2975"/>
                <a:ext cx="313" cy="0"/>
              </a:xfrm>
              <a:prstGeom prst="line">
                <a:avLst/>
              </a:prstGeom>
              <a:ln w="38100" cap="flat" cmpd="sng">
                <a:solidFill>
                  <a:schemeClr val="accent2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27693" name="直接连接符 27692"/>
              <p:cNvSpPr/>
              <p:nvPr/>
            </p:nvSpPr>
            <p:spPr>
              <a:xfrm>
                <a:off x="2280" y="1884"/>
                <a:ext cx="1368" cy="0"/>
              </a:xfrm>
              <a:prstGeom prst="line">
                <a:avLst/>
              </a:prstGeom>
              <a:ln w="38100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694" name="直接连接符 27693"/>
              <p:cNvSpPr/>
              <p:nvPr/>
            </p:nvSpPr>
            <p:spPr>
              <a:xfrm>
                <a:off x="3648" y="1884"/>
                <a:ext cx="0" cy="1092"/>
              </a:xfrm>
              <a:prstGeom prst="line">
                <a:avLst/>
              </a:prstGeom>
              <a:ln w="38100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27695" name="组合 27694"/>
            <p:cNvGrpSpPr/>
            <p:nvPr/>
          </p:nvGrpSpPr>
          <p:grpSpPr>
            <a:xfrm>
              <a:off x="2820" y="432"/>
              <a:ext cx="2948" cy="2004"/>
              <a:chOff x="2820" y="432"/>
              <a:chExt cx="2948" cy="2004"/>
            </a:xfrm>
          </p:grpSpPr>
          <p:grpSp>
            <p:nvGrpSpPr>
              <p:cNvPr id="27696" name="组合 27695"/>
              <p:cNvGrpSpPr/>
              <p:nvPr/>
            </p:nvGrpSpPr>
            <p:grpSpPr>
              <a:xfrm>
                <a:off x="3322" y="1042"/>
                <a:ext cx="1678" cy="1094"/>
                <a:chOff x="2280" y="1882"/>
                <a:chExt cx="1678" cy="1094"/>
              </a:xfrm>
            </p:grpSpPr>
            <p:sp>
              <p:nvSpPr>
                <p:cNvPr id="27697" name="直接连接符 27696"/>
                <p:cNvSpPr/>
                <p:nvPr/>
              </p:nvSpPr>
              <p:spPr>
                <a:xfrm rot="-10800000" flipH="1" flipV="1">
                  <a:off x="3646" y="2087"/>
                  <a:ext cx="0" cy="558"/>
                </a:xfrm>
                <a:prstGeom prst="line">
                  <a:avLst/>
                </a:prstGeom>
                <a:ln w="38100" cap="flat" cmpd="sng">
                  <a:solidFill>
                    <a:srgbClr val="FF0000"/>
                  </a:solidFill>
                  <a:prstDash val="solid"/>
                  <a:headEnd type="none" w="med" len="med"/>
                  <a:tailEnd type="triangle" w="med" len="med"/>
                </a:ln>
              </p:spPr>
            </p:sp>
            <p:sp>
              <p:nvSpPr>
                <p:cNvPr id="27698" name="直接连接符 27697"/>
                <p:cNvSpPr/>
                <p:nvPr/>
              </p:nvSpPr>
              <p:spPr>
                <a:xfrm rot="-10800000" flipH="1" flipV="1">
                  <a:off x="3008" y="1882"/>
                  <a:ext cx="323" cy="0"/>
                </a:xfrm>
                <a:prstGeom prst="line">
                  <a:avLst/>
                </a:prstGeom>
                <a:ln w="38100" cap="flat" cmpd="sng">
                  <a:solidFill>
                    <a:srgbClr val="FF0000"/>
                  </a:solidFill>
                  <a:prstDash val="solid"/>
                  <a:headEnd type="none" w="med" len="med"/>
                  <a:tailEnd type="triangle" w="med" len="med"/>
                </a:ln>
              </p:spPr>
            </p:sp>
            <p:sp>
              <p:nvSpPr>
                <p:cNvPr id="27699" name="直接连接符 27698"/>
                <p:cNvSpPr/>
                <p:nvPr/>
              </p:nvSpPr>
              <p:spPr>
                <a:xfrm rot="-10800000" flipH="1" flipV="1">
                  <a:off x="3645" y="2975"/>
                  <a:ext cx="313" cy="0"/>
                </a:xfrm>
                <a:prstGeom prst="line">
                  <a:avLst/>
                </a:prstGeom>
                <a:ln w="38100" cap="flat" cmpd="sng">
                  <a:solidFill>
                    <a:srgbClr val="FF0000"/>
                  </a:solidFill>
                  <a:prstDash val="solid"/>
                  <a:headEnd type="none" w="med" len="med"/>
                  <a:tailEnd type="triangle" w="med" len="med"/>
                </a:ln>
              </p:spPr>
            </p:sp>
            <p:sp>
              <p:nvSpPr>
                <p:cNvPr id="27700" name="直接连接符 27699"/>
                <p:cNvSpPr/>
                <p:nvPr/>
              </p:nvSpPr>
              <p:spPr>
                <a:xfrm>
                  <a:off x="2280" y="1884"/>
                  <a:ext cx="1368" cy="0"/>
                </a:xfrm>
                <a:prstGeom prst="line">
                  <a:avLst/>
                </a:prstGeom>
                <a:ln w="38100" cap="flat" cmpd="sng">
                  <a:solidFill>
                    <a:srgbClr val="FF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7701" name="直接连接符 27700"/>
                <p:cNvSpPr/>
                <p:nvPr/>
              </p:nvSpPr>
              <p:spPr>
                <a:xfrm>
                  <a:off x="3648" y="1884"/>
                  <a:ext cx="0" cy="1092"/>
                </a:xfrm>
                <a:prstGeom prst="line">
                  <a:avLst/>
                </a:prstGeom>
                <a:ln w="38100" cap="flat" cmpd="sng">
                  <a:solidFill>
                    <a:srgbClr val="FF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27702" name="组合 27701"/>
              <p:cNvGrpSpPr/>
              <p:nvPr/>
            </p:nvGrpSpPr>
            <p:grpSpPr>
              <a:xfrm>
                <a:off x="2820" y="432"/>
                <a:ext cx="2948" cy="2004"/>
                <a:chOff x="2832" y="437"/>
                <a:chExt cx="2948" cy="2004"/>
              </a:xfrm>
            </p:grpSpPr>
            <p:grpSp>
              <p:nvGrpSpPr>
                <p:cNvPr id="27703" name="组合 27702"/>
                <p:cNvGrpSpPr/>
                <p:nvPr/>
              </p:nvGrpSpPr>
              <p:grpSpPr>
                <a:xfrm>
                  <a:off x="2914" y="437"/>
                  <a:ext cx="2866" cy="2004"/>
                  <a:chOff x="1908" y="1217"/>
                  <a:chExt cx="2866" cy="2004"/>
                </a:xfrm>
              </p:grpSpPr>
              <p:sp>
                <p:nvSpPr>
                  <p:cNvPr id="27704" name="直接连接符 27703"/>
                  <p:cNvSpPr/>
                  <p:nvPr/>
                </p:nvSpPr>
                <p:spPr>
                  <a:xfrm>
                    <a:off x="2228" y="2465"/>
                    <a:ext cx="2184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triangle" w="med" len="med"/>
                  </a:ln>
                </p:spPr>
              </p:sp>
              <p:sp>
                <p:nvSpPr>
                  <p:cNvPr id="27705" name="直接连接符 27704"/>
                  <p:cNvSpPr/>
                  <p:nvPr/>
                </p:nvSpPr>
                <p:spPr>
                  <a:xfrm flipV="1">
                    <a:off x="2372" y="1589"/>
                    <a:ext cx="0" cy="1632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triangle" w="med" len="med"/>
                  </a:ln>
                </p:spPr>
              </p:sp>
              <p:sp>
                <p:nvSpPr>
                  <p:cNvPr id="27706" name="文本框 27705"/>
                  <p:cNvSpPr txBox="1"/>
                  <p:nvPr/>
                </p:nvSpPr>
                <p:spPr>
                  <a:xfrm>
                    <a:off x="2264" y="1217"/>
                    <a:ext cx="540" cy="407"/>
                  </a:xfrm>
                  <a:prstGeom prst="rect">
                    <a:avLst/>
                  </a:prstGeom>
                  <a:noFill/>
                  <a:ln w="38100">
                    <a:noFill/>
                  </a:ln>
                </p:spPr>
                <p:txBody>
                  <a:bodyPr>
                    <a:spAutoFit/>
                  </a:bodyPr>
                  <a:p>
                    <a:pPr>
                      <a:spcBef>
                        <a:spcPct val="50000"/>
                      </a:spcBef>
                    </a:pPr>
                    <a:r>
                      <a:rPr lang="en-US" altLang="zh-CN" sz="3200" b="1" i="1" dirty="0" err="1">
                        <a:latin typeface="Times New Roman" panose="02020603050405020304" charset="0"/>
                        <a:ea typeface="楷体_GB2312" pitchFamily="49" charset="-122"/>
                      </a:rPr>
                      <a:t>u</a:t>
                    </a:r>
                    <a:r>
                      <a:rPr lang="en-US" altLang="zh-CN" sz="3200" b="1" baseline="-25000" dirty="0" err="1">
                        <a:latin typeface="Times New Roman" panose="02020603050405020304" charset="0"/>
                        <a:ea typeface="楷体_GB2312" pitchFamily="49" charset="-122"/>
                      </a:rPr>
                      <a:t>o</a:t>
                    </a:r>
                    <a:endParaRPr lang="en-US" altLang="zh-CN" sz="3200" b="1">
                      <a:latin typeface="Times New Roman" panose="02020603050405020304" charset="0"/>
                      <a:ea typeface="楷体_GB2312" pitchFamily="49" charset="-122"/>
                    </a:endParaRPr>
                  </a:p>
                </p:txBody>
              </p:sp>
              <p:sp>
                <p:nvSpPr>
                  <p:cNvPr id="27707" name="矩形 27706"/>
                  <p:cNvSpPr/>
                  <p:nvPr/>
                </p:nvSpPr>
                <p:spPr>
                  <a:xfrm>
                    <a:off x="4453" y="2347"/>
                    <a:ext cx="321" cy="407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 anchor="t" anchorCtr="0">
                    <a:spAutoFit/>
                  </a:bodyPr>
                  <a:p>
                    <a:pPr algn="ctr" eaLnBrk="0" hangingPunct="0">
                      <a:spcBef>
                        <a:spcPct val="50000"/>
                      </a:spcBef>
                    </a:pPr>
                    <a:r>
                      <a:rPr lang="en-US" altLang="zh-CN" sz="3200" b="1" i="1" dirty="0" err="1">
                        <a:latin typeface="Times New Roman" panose="02020603050405020304" charset="0"/>
                        <a:ea typeface="楷体_GB2312" pitchFamily="49" charset="-122"/>
                        <a:sym typeface="Symbol" panose="05050102010706020507" pitchFamily="18" charset="2"/>
                      </a:rPr>
                      <a:t>u</a:t>
                    </a:r>
                    <a:r>
                      <a:rPr lang="en-US" altLang="zh-CN" sz="3200" b="1" baseline="-25000" dirty="0" err="1">
                        <a:latin typeface="Times New Roman" panose="02020603050405020304" charset="0"/>
                        <a:ea typeface="楷体_GB2312" pitchFamily="49" charset="-122"/>
                        <a:sym typeface="Symbol" panose="05050102010706020507" pitchFamily="18" charset="2"/>
                      </a:rPr>
                      <a:t>i</a:t>
                    </a:r>
                    <a:endParaRPr lang="en-US" altLang="zh-CN" sz="3200" b="1">
                      <a:latin typeface="Times New Roman" panose="02020603050405020304" charset="0"/>
                      <a:ea typeface="楷体_GB2312" pitchFamily="49" charset="-122"/>
                      <a:sym typeface="Symbol" panose="05050102010706020507" pitchFamily="18" charset="2"/>
                    </a:endParaRPr>
                  </a:p>
                </p:txBody>
              </p:sp>
              <p:sp>
                <p:nvSpPr>
                  <p:cNvPr id="27708" name="文本框 27707"/>
                  <p:cNvSpPr txBox="1"/>
                  <p:nvPr/>
                </p:nvSpPr>
                <p:spPr>
                  <a:xfrm>
                    <a:off x="1908" y="2455"/>
                    <a:ext cx="444" cy="321"/>
                  </a:xfrm>
                  <a:prstGeom prst="rect">
                    <a:avLst/>
                  </a:prstGeom>
                  <a:noFill/>
                  <a:ln w="38100">
                    <a:noFill/>
                  </a:ln>
                </p:spPr>
                <p:txBody>
                  <a:bodyPr>
                    <a:spAutoFit/>
                  </a:bodyPr>
                  <a:p>
                    <a:pPr algn="ctr" eaLnBrk="0" hangingPunct="0">
                      <a:spcBef>
                        <a:spcPct val="50000"/>
                      </a:spcBef>
                    </a:pPr>
                    <a:r>
                      <a:rPr lang="en-US" altLang="zh-CN" sz="2400" b="1">
                        <a:latin typeface="Times New Roman" panose="02020603050405020304" charset="0"/>
                        <a:ea typeface="楷体_GB2312" pitchFamily="49" charset="-122"/>
                      </a:rPr>
                      <a:t>0</a:t>
                    </a:r>
                    <a:endParaRPr lang="en-US" altLang="zh-CN" sz="2400" b="1">
                      <a:latin typeface="Times New Roman" panose="02020603050405020304" charset="0"/>
                      <a:ea typeface="楷体_GB2312" pitchFamily="49" charset="-122"/>
                    </a:endParaRPr>
                  </a:p>
                </p:txBody>
              </p:sp>
              <p:sp>
                <p:nvSpPr>
                  <p:cNvPr id="27709" name="文本框 27708"/>
                  <p:cNvSpPr txBox="1"/>
                  <p:nvPr/>
                </p:nvSpPr>
                <p:spPr>
                  <a:xfrm>
                    <a:off x="3636" y="2052"/>
                    <a:ext cx="864" cy="364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>
                    <a:spAutoFit/>
                  </a:bodyPr>
                  <a:p>
                    <a:pPr eaLnBrk="0" hangingPunct="0">
                      <a:spcBef>
                        <a:spcPct val="50000"/>
                      </a:spcBef>
                    </a:pPr>
                    <a:r>
                      <a:rPr lang="en-US" altLang="zh-CN" sz="2800" b="1">
                        <a:solidFill>
                          <a:srgbClr val="800000"/>
                        </a:solidFill>
                        <a:latin typeface="Times New Roman" panose="02020603050405020304" charset="0"/>
                        <a:ea typeface="楷体_GB2312" pitchFamily="49" charset="-122"/>
                      </a:rPr>
                      <a:t>8V</a:t>
                    </a:r>
                    <a:endParaRPr lang="en-US" altLang="zh-CN" sz="2800" b="1">
                      <a:solidFill>
                        <a:srgbClr val="800000"/>
                      </a:solidFill>
                      <a:latin typeface="Times New Roman" panose="02020603050405020304" charset="0"/>
                      <a:ea typeface="楷体_GB2312" pitchFamily="49" charset="-122"/>
                    </a:endParaRPr>
                  </a:p>
                </p:txBody>
              </p:sp>
              <p:sp>
                <p:nvSpPr>
                  <p:cNvPr id="27710" name="文本框 27709"/>
                  <p:cNvSpPr txBox="1"/>
                  <p:nvPr/>
                </p:nvSpPr>
                <p:spPr>
                  <a:xfrm>
                    <a:off x="2868" y="2076"/>
                    <a:ext cx="864" cy="364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>
                    <a:spAutoFit/>
                  </a:bodyPr>
                  <a:p>
                    <a:pPr eaLnBrk="0" hangingPunct="0">
                      <a:spcBef>
                        <a:spcPct val="50000"/>
                      </a:spcBef>
                    </a:pPr>
                    <a:r>
                      <a:rPr lang="en-US" altLang="zh-CN" sz="2800" b="1">
                        <a:solidFill>
                          <a:srgbClr val="800000"/>
                        </a:solidFill>
                        <a:latin typeface="Times New Roman" panose="02020603050405020304" charset="0"/>
                        <a:ea typeface="楷体_GB2312" pitchFamily="49" charset="-122"/>
                      </a:rPr>
                      <a:t>2V</a:t>
                    </a:r>
                    <a:endParaRPr lang="en-US" altLang="zh-CN" sz="2800" b="1">
                      <a:solidFill>
                        <a:srgbClr val="800000"/>
                      </a:solidFill>
                      <a:latin typeface="Times New Roman" panose="02020603050405020304" charset="0"/>
                      <a:ea typeface="楷体_GB2312" pitchFamily="49" charset="-122"/>
                    </a:endParaRPr>
                  </a:p>
                </p:txBody>
              </p:sp>
            </p:grpSp>
            <p:sp>
              <p:nvSpPr>
                <p:cNvPr id="27711" name="文本框 27710"/>
                <p:cNvSpPr txBox="1"/>
                <p:nvPr/>
              </p:nvSpPr>
              <p:spPr>
                <a:xfrm>
                  <a:off x="3803" y="576"/>
                  <a:ext cx="1177" cy="32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p>
                  <a:pPr>
                    <a:spcBef>
                      <a:spcPct val="50000"/>
                    </a:spcBef>
                  </a:pPr>
                  <a:r>
                    <a:rPr lang="zh-CN" altLang="en-US" sz="2400" b="1" dirty="0">
                      <a:solidFill>
                        <a:srgbClr val="FF0000"/>
                      </a:solidFill>
                      <a:latin typeface="Times New Roman" panose="02020603050405020304" charset="0"/>
                      <a:ea typeface="楷体_GB2312" pitchFamily="49" charset="-122"/>
                    </a:rPr>
                    <a:t>传输特性</a:t>
                  </a:r>
                  <a:endParaRPr lang="zh-CN" altLang="en-US" sz="2400" b="1">
                    <a:solidFill>
                      <a:srgbClr val="FF0000"/>
                    </a:solidFill>
                    <a:latin typeface="Times New Roman" panose="02020603050405020304" charset="0"/>
                    <a:ea typeface="楷体_GB2312" pitchFamily="49" charset="-122"/>
                  </a:endParaRPr>
                </a:p>
              </p:txBody>
            </p:sp>
            <p:sp>
              <p:nvSpPr>
                <p:cNvPr id="27712" name="文本框 27711"/>
                <p:cNvSpPr txBox="1"/>
                <p:nvPr/>
              </p:nvSpPr>
              <p:spPr>
                <a:xfrm>
                  <a:off x="2832" y="949"/>
                  <a:ext cx="552" cy="27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p>
                  <a:pPr>
                    <a:spcBef>
                      <a:spcPct val="50000"/>
                    </a:spcBef>
                  </a:pPr>
                  <a:r>
                    <a:rPr lang="en-US" altLang="zh-CN" sz="2000" b="1">
                      <a:latin typeface="Times New Roman" panose="02020603050405020304" charset="0"/>
                    </a:rPr>
                    <a:t>+6V</a:t>
                  </a:r>
                  <a:endParaRPr lang="en-US" altLang="zh-CN" sz="2000" b="1">
                    <a:latin typeface="Times New Roman" panose="02020603050405020304" charset="0"/>
                  </a:endParaRPr>
                </a:p>
              </p:txBody>
            </p:sp>
            <p:sp>
              <p:nvSpPr>
                <p:cNvPr id="27713" name="文本框 27712"/>
                <p:cNvSpPr txBox="1"/>
                <p:nvPr/>
              </p:nvSpPr>
              <p:spPr>
                <a:xfrm>
                  <a:off x="2892" y="2016"/>
                  <a:ext cx="504" cy="27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p>
                  <a:pPr>
                    <a:spcBef>
                      <a:spcPct val="50000"/>
                    </a:spcBef>
                  </a:pPr>
                  <a:r>
                    <a:rPr lang="en-US" altLang="zh-CN" sz="2000" b="1">
                      <a:latin typeface="Times New Roman" panose="02020603050405020304" charset="0"/>
                    </a:rPr>
                    <a:t>-6V</a:t>
                  </a:r>
                  <a:endParaRPr lang="en-US" altLang="zh-CN" sz="2000" b="1">
                    <a:latin typeface="Times New Roman" panose="02020603050405020304" charset="0"/>
                  </a:endParaRPr>
                </a:p>
              </p:txBody>
            </p:sp>
          </p:grpSp>
        </p:grpSp>
      </p:grpSp>
      <p:sp>
        <p:nvSpPr>
          <p:cNvPr id="27714" name="矩形 27713"/>
          <p:cNvSpPr/>
          <p:nvPr/>
        </p:nvSpPr>
        <p:spPr>
          <a:xfrm>
            <a:off x="2346325" y="3627438"/>
            <a:ext cx="1981200" cy="136525"/>
          </a:xfrm>
          <a:prstGeom prst="rect">
            <a:avLst/>
          </a:prstGeom>
          <a:solidFill>
            <a:schemeClr val="accent1">
              <a:alpha val="50000"/>
            </a:schemeClr>
          </a:solidFill>
          <a:ln w="25400" cap="rnd" cmpd="sng">
            <a:solidFill>
              <a:srgbClr val="0000FF"/>
            </a:solidFill>
            <a:prstDash val="sysDot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27715" name="矩形 27714"/>
          <p:cNvSpPr/>
          <p:nvPr/>
        </p:nvSpPr>
        <p:spPr>
          <a:xfrm>
            <a:off x="4329113" y="5210175"/>
            <a:ext cx="793750" cy="122238"/>
          </a:xfrm>
          <a:prstGeom prst="rect">
            <a:avLst/>
          </a:prstGeom>
          <a:solidFill>
            <a:schemeClr val="accent1">
              <a:alpha val="50000"/>
            </a:schemeClr>
          </a:solidFill>
          <a:ln w="25400" cap="rnd" cmpd="sng">
            <a:solidFill>
              <a:srgbClr val="0000FF"/>
            </a:solidFill>
            <a:prstDash val="sysDot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27716" name="矩形 27715"/>
          <p:cNvSpPr/>
          <p:nvPr/>
        </p:nvSpPr>
        <p:spPr>
          <a:xfrm>
            <a:off x="3046413" y="5216525"/>
            <a:ext cx="2076450" cy="115888"/>
          </a:xfrm>
          <a:prstGeom prst="rect">
            <a:avLst/>
          </a:prstGeom>
          <a:solidFill>
            <a:srgbClr val="CCFFCC">
              <a:alpha val="50000"/>
            </a:srgbClr>
          </a:solidFill>
          <a:ln w="25400" cap="rnd" cmpd="sng">
            <a:solidFill>
              <a:srgbClr val="FF0000"/>
            </a:solidFill>
            <a:prstDash val="sysDot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27717" name="矩形 27716"/>
          <p:cNvSpPr/>
          <p:nvPr/>
        </p:nvSpPr>
        <p:spPr>
          <a:xfrm>
            <a:off x="2176463" y="3641725"/>
            <a:ext cx="882650" cy="109538"/>
          </a:xfrm>
          <a:prstGeom prst="rect">
            <a:avLst/>
          </a:prstGeom>
          <a:solidFill>
            <a:srgbClr val="CCFFCC">
              <a:alpha val="50000"/>
            </a:srgbClr>
          </a:solidFill>
          <a:ln w="25400" cap="rnd" cmpd="sng">
            <a:solidFill>
              <a:srgbClr val="FF0000"/>
            </a:solidFill>
            <a:prstDash val="sysDot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pic>
        <p:nvPicPr>
          <p:cNvPr id="27718" name="图片 27717" descr="6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727200" y="527050"/>
            <a:ext cx="3871913" cy="232568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765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2765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2765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1000"/>
                                        <p:tgtEl>
                                          <p:spTgt spid="2766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2766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0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31" dur="1000" fill="hold"/>
                                        <p:tgtEl>
                                          <p:spTgt spid="27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767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1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42" dur="1000" fill="hold"/>
                                        <p:tgtEl>
                                          <p:spTgt spid="27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7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48" dur="1000" fill="hold"/>
                                        <p:tgtEl>
                                          <p:spTgt spid="27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767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8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59" dur="1000" fill="hold"/>
                                        <p:tgtEl>
                                          <p:spTgt spid="27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767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768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768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标题 16385"/>
          <p:cNvSpPr>
            <a:spLocks noGrp="1"/>
          </p:cNvSpPr>
          <p:nvPr>
            <p:ph type="title"/>
          </p:nvPr>
        </p:nvSpPr>
        <p:spPr>
          <a:xfrm>
            <a:off x="1981200" y="685800"/>
            <a:ext cx="4419600" cy="685800"/>
          </a:xfrm>
        </p:spPr>
        <p:txBody>
          <a:bodyPr anchor="ctr" anchorCtr="0"/>
          <a:p>
            <a:pPr algn="l"/>
            <a:r>
              <a:rPr lang="zh-CN" altLang="en-US" sz="3200" b="1" dirty="0">
                <a:solidFill>
                  <a:schemeClr val="tx1"/>
                </a:solidFill>
                <a:ea typeface="隶书" panose="02010509060101010101" pitchFamily="49" charset="-122"/>
              </a:rPr>
              <a:t>四、窗口比较器</a:t>
            </a:r>
            <a:endParaRPr lang="zh-CN" altLang="en-US" sz="2400" b="1">
              <a:solidFill>
                <a:schemeClr val="tx1"/>
              </a:solidFill>
            </a:endParaRPr>
          </a:p>
        </p:txBody>
      </p:sp>
      <p:graphicFrame>
        <p:nvGraphicFramePr>
          <p:cNvPr id="16387" name="对象 16386"/>
          <p:cNvGraphicFramePr/>
          <p:nvPr/>
        </p:nvGraphicFramePr>
        <p:xfrm>
          <a:off x="2514600" y="1676400"/>
          <a:ext cx="4114800" cy="2254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6" name="" r:id="rId1" imgW="14525625" imgH="7953375" progId="MSPhotoEd.3">
                  <p:embed/>
                </p:oleObj>
              </mc:Choice>
              <mc:Fallback>
                <p:oleObj name="" r:id="rId1" imgW="14525625" imgH="7953375" progId="MSPhotoEd.3">
                  <p:embed/>
                  <p:pic>
                    <p:nvPicPr>
                      <p:cNvPr id="0" name="图片 309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514600" y="1676400"/>
                        <a:ext cx="4114800" cy="22542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8" name="对象 16387"/>
          <p:cNvGraphicFramePr/>
          <p:nvPr/>
        </p:nvGraphicFramePr>
        <p:xfrm>
          <a:off x="2057400" y="2330450"/>
          <a:ext cx="838200" cy="32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1" name="" r:id="rId3" imgW="558165" imgH="215900" progId="Equation.3">
                  <p:embed/>
                </p:oleObj>
              </mc:Choice>
              <mc:Fallback>
                <p:oleObj name="" r:id="rId3" imgW="558165" imgH="215900" progId="Equation.3">
                  <p:embed/>
                  <p:pic>
                    <p:nvPicPr>
                      <p:cNvPr id="0" name="图片 310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057400" y="2330450"/>
                        <a:ext cx="838200" cy="323850"/>
                      </a:xfrm>
                      <a:prstGeom prst="rect">
                        <a:avLst/>
                      </a:prstGeom>
                      <a:solidFill>
                        <a:srgbClr val="66FFFF"/>
                      </a:solidFill>
                      <a:ln w="9525" cap="flat" cmpd="sng">
                        <a:solidFill>
                          <a:srgbClr val="FF3300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9" name="对象 16388"/>
          <p:cNvGraphicFramePr/>
          <p:nvPr/>
        </p:nvGraphicFramePr>
        <p:xfrm>
          <a:off x="4181475" y="2286000"/>
          <a:ext cx="390525" cy="293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2" name="" r:id="rId5" imgW="304800" imgH="228600" progId="Equation.3">
                  <p:embed/>
                </p:oleObj>
              </mc:Choice>
              <mc:Fallback>
                <p:oleObj name="" r:id="rId5" imgW="304800" imgH="228600" progId="Equation.3">
                  <p:embed/>
                  <p:pic>
                    <p:nvPicPr>
                      <p:cNvPr id="0" name="图片 310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181475" y="2286000"/>
                        <a:ext cx="390525" cy="293688"/>
                      </a:xfrm>
                      <a:prstGeom prst="rect">
                        <a:avLst/>
                      </a:prstGeom>
                      <a:solidFill>
                        <a:srgbClr val="66FFFF"/>
                      </a:solidFill>
                      <a:ln w="9525" cap="flat" cmpd="sng">
                        <a:solidFill>
                          <a:srgbClr val="FF3300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0" name="对象 16389"/>
          <p:cNvGraphicFramePr/>
          <p:nvPr/>
        </p:nvGraphicFramePr>
        <p:xfrm>
          <a:off x="4095750" y="3657600"/>
          <a:ext cx="552450" cy="301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7" name="" r:id="rId7" imgW="419100" imgH="228600" progId="Equation.3">
                  <p:embed/>
                </p:oleObj>
              </mc:Choice>
              <mc:Fallback>
                <p:oleObj name="" r:id="rId7" imgW="419100" imgH="228600" progId="Equation.3">
                  <p:embed/>
                  <p:pic>
                    <p:nvPicPr>
                      <p:cNvPr id="0" name="图片 3096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095750" y="3657600"/>
                        <a:ext cx="552450" cy="301625"/>
                      </a:xfrm>
                      <a:prstGeom prst="rect">
                        <a:avLst/>
                      </a:prstGeom>
                      <a:solidFill>
                        <a:srgbClr val="66FFFF"/>
                      </a:solidFill>
                      <a:ln w="9525" cap="flat" cmpd="sng">
                        <a:solidFill>
                          <a:srgbClr val="FF3300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1" name="任意多边形 16390"/>
          <p:cNvSpPr/>
          <p:nvPr/>
        </p:nvSpPr>
        <p:spPr>
          <a:xfrm>
            <a:off x="4495800" y="1905000"/>
            <a:ext cx="1905000" cy="1524000"/>
          </a:xfrm>
          <a:custGeom>
            <a:avLst/>
            <a:gdLst/>
            <a:ahLst/>
            <a:cxnLst/>
            <a:pathLst>
              <a:path w="1328" h="1088">
                <a:moveTo>
                  <a:pt x="0" y="32"/>
                </a:moveTo>
                <a:cubicBezTo>
                  <a:pt x="172" y="16"/>
                  <a:pt x="344" y="0"/>
                  <a:pt x="432" y="80"/>
                </a:cubicBezTo>
                <a:cubicBezTo>
                  <a:pt x="520" y="160"/>
                  <a:pt x="400" y="432"/>
                  <a:pt x="528" y="512"/>
                </a:cubicBezTo>
                <a:cubicBezTo>
                  <a:pt x="656" y="592"/>
                  <a:pt x="1072" y="464"/>
                  <a:pt x="1200" y="560"/>
                </a:cubicBezTo>
                <a:cubicBezTo>
                  <a:pt x="1328" y="656"/>
                  <a:pt x="1280" y="1000"/>
                  <a:pt x="1296" y="1088"/>
                </a:cubicBezTo>
              </a:path>
            </a:pathLst>
          </a:custGeom>
          <a:noFill/>
          <a:ln w="28575" cap="flat" cmpd="sng">
            <a:solidFill>
              <a:srgbClr val="FF3300"/>
            </a:solidFill>
            <a:prstDash val="solid"/>
            <a:headEnd type="none" w="med" len="med"/>
            <a:tailEnd type="triangle" w="med" len="med"/>
          </a:ln>
        </p:spPr>
        <p:txBody>
          <a:bodyPr/>
          <a:p>
            <a:endParaRPr lang="zh-CN" altLang="en-US"/>
          </a:p>
        </p:txBody>
      </p:sp>
      <p:graphicFrame>
        <p:nvGraphicFramePr>
          <p:cNvPr id="16392" name="对象 16391"/>
          <p:cNvGraphicFramePr/>
          <p:nvPr/>
        </p:nvGraphicFramePr>
        <p:xfrm>
          <a:off x="2066925" y="3048000"/>
          <a:ext cx="819150" cy="32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8" name="" r:id="rId9" imgW="545465" imgH="215900" progId="Equation.3">
                  <p:embed/>
                </p:oleObj>
              </mc:Choice>
              <mc:Fallback>
                <p:oleObj name="" r:id="rId9" imgW="545465" imgH="215900" progId="Equation.3">
                  <p:embed/>
                  <p:pic>
                    <p:nvPicPr>
                      <p:cNvPr id="0" name="图片 3097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066925" y="3048000"/>
                        <a:ext cx="819150" cy="3238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9525" cap="flat" cmpd="sng">
                        <a:solidFill>
                          <a:schemeClr val="accent2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3" name="对象 16392"/>
          <p:cNvGraphicFramePr/>
          <p:nvPr/>
        </p:nvGraphicFramePr>
        <p:xfrm>
          <a:off x="4191000" y="2895600"/>
          <a:ext cx="390525" cy="293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9" name="" r:id="rId11" imgW="304800" imgH="228600" progId="Equation.3">
                  <p:embed/>
                </p:oleObj>
              </mc:Choice>
              <mc:Fallback>
                <p:oleObj name="" r:id="rId11" imgW="304800" imgH="228600" progId="Equation.3">
                  <p:embed/>
                  <p:pic>
                    <p:nvPicPr>
                      <p:cNvPr id="0" name="图片 3098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191000" y="2895600"/>
                        <a:ext cx="390525" cy="29368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9525" cap="flat" cmpd="sng">
                        <a:solidFill>
                          <a:schemeClr val="accent2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4" name="对象 16393"/>
          <p:cNvGraphicFramePr/>
          <p:nvPr/>
        </p:nvGraphicFramePr>
        <p:xfrm>
          <a:off x="4114800" y="1576388"/>
          <a:ext cx="533400" cy="290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0" name="" r:id="rId12" imgW="419100" imgH="228600" progId="Equation.3">
                  <p:embed/>
                </p:oleObj>
              </mc:Choice>
              <mc:Fallback>
                <p:oleObj name="" r:id="rId12" imgW="419100" imgH="228600" progId="Equation.3">
                  <p:embed/>
                  <p:pic>
                    <p:nvPicPr>
                      <p:cNvPr id="0" name="图片 3099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4114800" y="1576388"/>
                        <a:ext cx="533400" cy="29051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9525" cap="flat" cmpd="sng">
                        <a:solidFill>
                          <a:schemeClr val="accent2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5" name="任意多边形 16394"/>
          <p:cNvSpPr/>
          <p:nvPr/>
        </p:nvSpPr>
        <p:spPr>
          <a:xfrm>
            <a:off x="4572000" y="2895600"/>
            <a:ext cx="1447800" cy="800100"/>
          </a:xfrm>
          <a:custGeom>
            <a:avLst/>
            <a:gdLst/>
            <a:ahLst/>
            <a:cxnLst/>
            <a:pathLst>
              <a:path w="1048" h="560">
                <a:moveTo>
                  <a:pt x="0" y="536"/>
                </a:moveTo>
                <a:cubicBezTo>
                  <a:pt x="176" y="548"/>
                  <a:pt x="352" y="560"/>
                  <a:pt x="432" y="488"/>
                </a:cubicBezTo>
                <a:cubicBezTo>
                  <a:pt x="512" y="416"/>
                  <a:pt x="392" y="176"/>
                  <a:pt x="480" y="104"/>
                </a:cubicBezTo>
                <a:cubicBezTo>
                  <a:pt x="568" y="32"/>
                  <a:pt x="872" y="0"/>
                  <a:pt x="960" y="56"/>
                </a:cubicBezTo>
                <a:cubicBezTo>
                  <a:pt x="1048" y="112"/>
                  <a:pt x="1000" y="376"/>
                  <a:pt x="1008" y="440"/>
                </a:cubicBezTo>
              </a:path>
            </a:pathLst>
          </a:custGeom>
          <a:noFill/>
          <a:ln w="28575" cap="flat" cmpd="sng">
            <a:solidFill>
              <a:schemeClr val="accent2"/>
            </a:solidFill>
            <a:prstDash val="solid"/>
            <a:headEnd type="none" w="med" len="med"/>
            <a:tailEnd type="triangl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6396" name="文本框 16395"/>
          <p:cNvSpPr txBox="1"/>
          <p:nvPr/>
        </p:nvSpPr>
        <p:spPr>
          <a:xfrm>
            <a:off x="6781800" y="1676400"/>
            <a:ext cx="3886200" cy="11988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400" dirty="0">
                <a:latin typeface="Times New Roman" panose="02020603050405020304" charset="0"/>
              </a:rPr>
              <a:t>    </a:t>
            </a:r>
            <a:r>
              <a:rPr lang="zh-CN" altLang="en-US" sz="2400" b="1" dirty="0">
                <a:latin typeface="Times New Roman" panose="02020603050405020304" charset="0"/>
              </a:rPr>
              <a:t>当</a:t>
            </a:r>
            <a:r>
              <a:rPr lang="en-US" altLang="zh-CN" sz="2400" b="1" i="1" dirty="0" err="1">
                <a:latin typeface="Times New Roman" panose="02020603050405020304" charset="0"/>
              </a:rPr>
              <a:t>u</a:t>
            </a:r>
            <a:r>
              <a:rPr lang="en-US" altLang="zh-CN" sz="2400" b="1" baseline="-25000" dirty="0" err="1">
                <a:latin typeface="Times New Roman" panose="02020603050405020304" charset="0"/>
              </a:rPr>
              <a:t>I</a:t>
            </a:r>
            <a:r>
              <a:rPr lang="en-US" altLang="zh-CN" sz="2400" b="1">
                <a:latin typeface="Times New Roman" panose="02020603050405020304" charset="0"/>
              </a:rPr>
              <a:t>&gt;</a:t>
            </a:r>
            <a:r>
              <a:rPr lang="en-US" altLang="zh-CN" sz="2400" b="1" i="1">
                <a:latin typeface="Times New Roman" panose="02020603050405020304" charset="0"/>
              </a:rPr>
              <a:t>U</a:t>
            </a:r>
            <a:r>
              <a:rPr lang="en-US" altLang="zh-CN" sz="2400" b="1" baseline="-25000">
                <a:latin typeface="Times New Roman" panose="02020603050405020304" charset="0"/>
              </a:rPr>
              <a:t>RH</a:t>
            </a:r>
            <a:r>
              <a:rPr lang="zh-CN" altLang="en-US" sz="2400" b="1" dirty="0">
                <a:latin typeface="Times New Roman" panose="02020603050405020304" charset="0"/>
              </a:rPr>
              <a:t>时，</a:t>
            </a:r>
            <a:r>
              <a:rPr lang="en-US" altLang="zh-CN" sz="2400" b="1" i="1">
                <a:latin typeface="Times New Roman" panose="02020603050405020304" charset="0"/>
              </a:rPr>
              <a:t>u</a:t>
            </a:r>
            <a:r>
              <a:rPr lang="en-US" altLang="zh-CN" sz="2400" b="1" baseline="-25000">
                <a:latin typeface="Times New Roman" panose="02020603050405020304" charset="0"/>
              </a:rPr>
              <a:t>O1</a:t>
            </a:r>
            <a:r>
              <a:rPr lang="en-US" altLang="zh-CN" sz="2400" b="1">
                <a:latin typeface="Times New Roman" panose="02020603050405020304" charset="0"/>
              </a:rPr>
              <a:t>=</a:t>
            </a:r>
            <a:endParaRPr lang="en-US" altLang="zh-CN" sz="2400" b="1">
              <a:latin typeface="Times New Roman" panose="02020603050405020304" charset="0"/>
            </a:endParaRPr>
          </a:p>
          <a:p>
            <a:r>
              <a:rPr lang="zh-CN" altLang="en-US" sz="2400" b="1">
                <a:latin typeface="Times New Roman" panose="02020603050405020304" charset="0"/>
              </a:rPr>
              <a:t>－ </a:t>
            </a:r>
            <a:r>
              <a:rPr lang="en-US" altLang="zh-CN" sz="2400" b="1" i="1">
                <a:latin typeface="Times New Roman" panose="02020603050405020304" charset="0"/>
              </a:rPr>
              <a:t>u</a:t>
            </a:r>
            <a:r>
              <a:rPr lang="en-US" altLang="zh-CN" sz="2400" b="1" baseline="-25000">
                <a:latin typeface="Times New Roman" panose="02020603050405020304" charset="0"/>
              </a:rPr>
              <a:t>O2</a:t>
            </a:r>
            <a:r>
              <a:rPr lang="en-US" altLang="zh-CN" sz="2400" b="1">
                <a:latin typeface="Times New Roman" panose="02020603050405020304" charset="0"/>
              </a:rPr>
              <a:t>= </a:t>
            </a:r>
            <a:r>
              <a:rPr lang="en-US" altLang="zh-CN" sz="2400" b="1" i="1">
                <a:latin typeface="Times New Roman" panose="02020603050405020304" charset="0"/>
              </a:rPr>
              <a:t>U</a:t>
            </a:r>
            <a:r>
              <a:rPr lang="en-US" altLang="zh-CN" sz="2400" b="1" baseline="-25000">
                <a:latin typeface="Times New Roman" panose="02020603050405020304" charset="0"/>
              </a:rPr>
              <a:t>OM</a:t>
            </a:r>
            <a:r>
              <a:rPr lang="zh-CN" altLang="en-US" sz="2400" b="1">
                <a:latin typeface="Times New Roman" panose="02020603050405020304" charset="0"/>
              </a:rPr>
              <a:t>，</a:t>
            </a:r>
            <a:r>
              <a:rPr lang="en-US" altLang="zh-CN" sz="2400" b="1">
                <a:latin typeface="Times New Roman" panose="02020603050405020304" charset="0"/>
              </a:rPr>
              <a:t>D</a:t>
            </a:r>
            <a:r>
              <a:rPr lang="en-US" altLang="zh-CN" sz="2400" b="1" baseline="-25000">
                <a:latin typeface="Times New Roman" panose="02020603050405020304" charset="0"/>
              </a:rPr>
              <a:t>1</a:t>
            </a:r>
            <a:r>
              <a:rPr lang="zh-CN" altLang="en-US" sz="2400" b="1" dirty="0">
                <a:latin typeface="Times New Roman" panose="02020603050405020304" charset="0"/>
              </a:rPr>
              <a:t>导通，</a:t>
            </a:r>
            <a:endParaRPr lang="zh-CN" altLang="en-US" sz="2400" b="1" dirty="0">
              <a:latin typeface="Times New Roman" panose="02020603050405020304" charset="0"/>
            </a:endParaRPr>
          </a:p>
          <a:p>
            <a:r>
              <a:rPr lang="en-US" altLang="zh-CN" sz="2400" b="1">
                <a:latin typeface="Times New Roman" panose="02020603050405020304" charset="0"/>
              </a:rPr>
              <a:t>D</a:t>
            </a:r>
            <a:r>
              <a:rPr lang="en-US" altLang="zh-CN" sz="2400" b="1" baseline="-25000">
                <a:latin typeface="Times New Roman" panose="02020603050405020304" charset="0"/>
              </a:rPr>
              <a:t>2</a:t>
            </a:r>
            <a:r>
              <a:rPr lang="zh-CN" altLang="en-US" sz="2400" b="1" dirty="0">
                <a:latin typeface="Times New Roman" panose="02020603050405020304" charset="0"/>
              </a:rPr>
              <a:t>截止； </a:t>
            </a:r>
            <a:r>
              <a:rPr lang="en-US" altLang="zh-CN" sz="2400" b="1" i="1" dirty="0" err="1">
                <a:latin typeface="Times New Roman" panose="02020603050405020304" charset="0"/>
              </a:rPr>
              <a:t>u</a:t>
            </a:r>
            <a:r>
              <a:rPr lang="en-US" altLang="zh-CN" sz="2400" b="1" baseline="-25000" dirty="0" err="1">
                <a:latin typeface="Times New Roman" panose="02020603050405020304" charset="0"/>
              </a:rPr>
              <a:t>O</a:t>
            </a:r>
            <a:r>
              <a:rPr lang="en-US" altLang="zh-CN" sz="2400" b="1">
                <a:latin typeface="Times New Roman" panose="02020603050405020304" charset="0"/>
              </a:rPr>
              <a:t>= </a:t>
            </a:r>
            <a:r>
              <a:rPr lang="en-US" altLang="zh-CN" sz="2400" b="1" i="1">
                <a:latin typeface="Times New Roman" panose="02020603050405020304" charset="0"/>
              </a:rPr>
              <a:t>U</a:t>
            </a:r>
            <a:r>
              <a:rPr lang="en-US" altLang="zh-CN" sz="2400" b="1" baseline="-25000">
                <a:latin typeface="Times New Roman" panose="02020603050405020304" charset="0"/>
              </a:rPr>
              <a:t>Z</a:t>
            </a:r>
            <a:r>
              <a:rPr lang="zh-CN" altLang="en-US" sz="2400" b="1">
                <a:latin typeface="Times New Roman" panose="02020603050405020304" charset="0"/>
              </a:rPr>
              <a:t>。</a:t>
            </a:r>
            <a:endParaRPr lang="zh-CN" altLang="en-US" sz="2400" b="1">
              <a:latin typeface="Times New Roman" panose="02020603050405020304" charset="0"/>
            </a:endParaRPr>
          </a:p>
        </p:txBody>
      </p:sp>
      <p:sp>
        <p:nvSpPr>
          <p:cNvPr id="16397" name="文本框 16396"/>
          <p:cNvSpPr txBox="1"/>
          <p:nvPr/>
        </p:nvSpPr>
        <p:spPr>
          <a:xfrm>
            <a:off x="6781800" y="3048000"/>
            <a:ext cx="3886200" cy="11988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400" dirty="0">
                <a:latin typeface="Times New Roman" panose="02020603050405020304" charset="0"/>
              </a:rPr>
              <a:t>    </a:t>
            </a:r>
            <a:r>
              <a:rPr lang="zh-CN" altLang="en-US" sz="2400" b="1" dirty="0">
                <a:latin typeface="Times New Roman" panose="02020603050405020304" charset="0"/>
              </a:rPr>
              <a:t>当</a:t>
            </a:r>
            <a:r>
              <a:rPr lang="en-US" altLang="zh-CN" sz="2400" b="1" i="1" dirty="0" err="1">
                <a:latin typeface="Times New Roman" panose="02020603050405020304" charset="0"/>
              </a:rPr>
              <a:t>u</a:t>
            </a:r>
            <a:r>
              <a:rPr lang="en-US" altLang="zh-CN" sz="2400" b="1" baseline="-25000" dirty="0" err="1">
                <a:latin typeface="Times New Roman" panose="02020603050405020304" charset="0"/>
              </a:rPr>
              <a:t>I</a:t>
            </a:r>
            <a:r>
              <a:rPr lang="en-US" altLang="zh-CN" sz="2400" b="1">
                <a:latin typeface="Times New Roman" panose="02020603050405020304" charset="0"/>
              </a:rPr>
              <a:t>&lt;</a:t>
            </a:r>
            <a:r>
              <a:rPr lang="en-US" altLang="zh-CN" sz="2400" b="1" i="1">
                <a:latin typeface="Times New Roman" panose="02020603050405020304" charset="0"/>
              </a:rPr>
              <a:t>U</a:t>
            </a:r>
            <a:r>
              <a:rPr lang="en-US" altLang="zh-CN" sz="2400" b="1" baseline="-25000">
                <a:latin typeface="Times New Roman" panose="02020603050405020304" charset="0"/>
              </a:rPr>
              <a:t>RL</a:t>
            </a:r>
            <a:r>
              <a:rPr lang="zh-CN" altLang="en-US" sz="2400" b="1" dirty="0">
                <a:latin typeface="Times New Roman" panose="02020603050405020304" charset="0"/>
              </a:rPr>
              <a:t>时，</a:t>
            </a:r>
            <a:r>
              <a:rPr lang="en-US" altLang="zh-CN" sz="2400" b="1" i="1">
                <a:latin typeface="Times New Roman" panose="02020603050405020304" charset="0"/>
              </a:rPr>
              <a:t>u</a:t>
            </a:r>
            <a:r>
              <a:rPr lang="en-US" altLang="zh-CN" sz="2400" b="1" baseline="-25000">
                <a:latin typeface="Times New Roman" panose="02020603050405020304" charset="0"/>
              </a:rPr>
              <a:t>O2</a:t>
            </a:r>
            <a:r>
              <a:rPr lang="en-US" altLang="zh-CN" sz="2400" b="1">
                <a:latin typeface="Times New Roman" panose="02020603050405020304" charset="0"/>
              </a:rPr>
              <a:t>=</a:t>
            </a:r>
            <a:endParaRPr lang="en-US" altLang="zh-CN" sz="2400" b="1">
              <a:latin typeface="Times New Roman" panose="02020603050405020304" charset="0"/>
            </a:endParaRPr>
          </a:p>
          <a:p>
            <a:r>
              <a:rPr lang="zh-CN" altLang="en-US" sz="2400" b="1">
                <a:latin typeface="Times New Roman" panose="02020603050405020304" charset="0"/>
              </a:rPr>
              <a:t>－ </a:t>
            </a:r>
            <a:r>
              <a:rPr lang="en-US" altLang="zh-CN" sz="2400" b="1" i="1">
                <a:latin typeface="Times New Roman" panose="02020603050405020304" charset="0"/>
              </a:rPr>
              <a:t>u</a:t>
            </a:r>
            <a:r>
              <a:rPr lang="en-US" altLang="zh-CN" sz="2400" b="1" baseline="-25000">
                <a:latin typeface="Times New Roman" panose="02020603050405020304" charset="0"/>
              </a:rPr>
              <a:t>O1</a:t>
            </a:r>
            <a:r>
              <a:rPr lang="en-US" altLang="zh-CN" sz="2400" b="1">
                <a:latin typeface="Times New Roman" panose="02020603050405020304" charset="0"/>
              </a:rPr>
              <a:t>= </a:t>
            </a:r>
            <a:r>
              <a:rPr lang="en-US" altLang="zh-CN" sz="2400" b="1" i="1">
                <a:latin typeface="Times New Roman" panose="02020603050405020304" charset="0"/>
              </a:rPr>
              <a:t>U</a:t>
            </a:r>
            <a:r>
              <a:rPr lang="en-US" altLang="zh-CN" sz="2400" b="1" baseline="-25000">
                <a:latin typeface="Times New Roman" panose="02020603050405020304" charset="0"/>
              </a:rPr>
              <a:t>OM</a:t>
            </a:r>
            <a:r>
              <a:rPr lang="zh-CN" altLang="en-US" sz="2400" b="1">
                <a:latin typeface="Times New Roman" panose="02020603050405020304" charset="0"/>
              </a:rPr>
              <a:t>，</a:t>
            </a:r>
            <a:r>
              <a:rPr lang="en-US" altLang="zh-CN" sz="2400" b="1">
                <a:latin typeface="Times New Roman" panose="02020603050405020304" charset="0"/>
              </a:rPr>
              <a:t>D</a:t>
            </a:r>
            <a:r>
              <a:rPr lang="en-US" altLang="zh-CN" sz="2400" b="1" baseline="-25000">
                <a:latin typeface="Times New Roman" panose="02020603050405020304" charset="0"/>
              </a:rPr>
              <a:t>2</a:t>
            </a:r>
            <a:r>
              <a:rPr lang="zh-CN" altLang="en-US" sz="2400" b="1" dirty="0">
                <a:latin typeface="Times New Roman" panose="02020603050405020304" charset="0"/>
              </a:rPr>
              <a:t>导通，</a:t>
            </a:r>
            <a:endParaRPr lang="zh-CN" altLang="en-US" sz="2400" b="1" dirty="0">
              <a:latin typeface="Times New Roman" panose="02020603050405020304" charset="0"/>
            </a:endParaRPr>
          </a:p>
          <a:p>
            <a:r>
              <a:rPr lang="en-US" altLang="zh-CN" sz="2400" b="1">
                <a:latin typeface="Times New Roman" panose="02020603050405020304" charset="0"/>
              </a:rPr>
              <a:t>D</a:t>
            </a:r>
            <a:r>
              <a:rPr lang="en-US" altLang="zh-CN" sz="2400" b="1" baseline="-25000">
                <a:latin typeface="Times New Roman" panose="02020603050405020304" charset="0"/>
              </a:rPr>
              <a:t>1</a:t>
            </a:r>
            <a:r>
              <a:rPr lang="zh-CN" altLang="en-US" sz="2400" b="1" dirty="0">
                <a:latin typeface="Times New Roman" panose="02020603050405020304" charset="0"/>
              </a:rPr>
              <a:t>截止； </a:t>
            </a:r>
            <a:r>
              <a:rPr lang="en-US" altLang="zh-CN" sz="2400" b="1" i="1" dirty="0" err="1">
                <a:latin typeface="Times New Roman" panose="02020603050405020304" charset="0"/>
              </a:rPr>
              <a:t>u</a:t>
            </a:r>
            <a:r>
              <a:rPr lang="en-US" altLang="zh-CN" sz="2400" b="1" baseline="-25000" dirty="0" err="1">
                <a:latin typeface="Times New Roman" panose="02020603050405020304" charset="0"/>
              </a:rPr>
              <a:t>O</a:t>
            </a:r>
            <a:r>
              <a:rPr lang="en-US" altLang="zh-CN" sz="2400" b="1">
                <a:latin typeface="Times New Roman" panose="02020603050405020304" charset="0"/>
              </a:rPr>
              <a:t>= </a:t>
            </a:r>
            <a:r>
              <a:rPr lang="en-US" altLang="zh-CN" sz="2400" b="1" i="1">
                <a:latin typeface="Times New Roman" panose="02020603050405020304" charset="0"/>
              </a:rPr>
              <a:t>U</a:t>
            </a:r>
            <a:r>
              <a:rPr lang="en-US" altLang="zh-CN" sz="2400" b="1" baseline="-25000">
                <a:latin typeface="Times New Roman" panose="02020603050405020304" charset="0"/>
              </a:rPr>
              <a:t>Z</a:t>
            </a:r>
            <a:r>
              <a:rPr lang="en-US" altLang="zh-CN" sz="2400" b="1">
                <a:latin typeface="Times New Roman" panose="02020603050405020304" charset="0"/>
              </a:rPr>
              <a:t> </a:t>
            </a:r>
            <a:r>
              <a:rPr lang="zh-CN" altLang="en-US" sz="2400" b="1">
                <a:latin typeface="Times New Roman" panose="02020603050405020304" charset="0"/>
              </a:rPr>
              <a:t>。</a:t>
            </a:r>
            <a:endParaRPr lang="zh-CN" altLang="en-US" sz="2400" b="1">
              <a:latin typeface="Times New Roman" panose="02020603050405020304" charset="0"/>
            </a:endParaRPr>
          </a:p>
        </p:txBody>
      </p:sp>
      <p:sp>
        <p:nvSpPr>
          <p:cNvPr id="16398" name="文本框 16397"/>
          <p:cNvSpPr txBox="1"/>
          <p:nvPr/>
        </p:nvSpPr>
        <p:spPr>
          <a:xfrm>
            <a:off x="6781800" y="4343400"/>
            <a:ext cx="3886200" cy="11988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400" dirty="0">
                <a:latin typeface="Times New Roman" panose="02020603050405020304" charset="0"/>
              </a:rPr>
              <a:t>     </a:t>
            </a:r>
            <a:r>
              <a:rPr lang="zh-CN" altLang="en-US" sz="2400" b="1" dirty="0">
                <a:latin typeface="Times New Roman" panose="02020603050405020304" charset="0"/>
              </a:rPr>
              <a:t>当</a:t>
            </a:r>
            <a:r>
              <a:rPr lang="en-US" altLang="zh-CN" sz="2400" b="1" i="1">
                <a:latin typeface="Times New Roman" panose="02020603050405020304" charset="0"/>
              </a:rPr>
              <a:t>U</a:t>
            </a:r>
            <a:r>
              <a:rPr lang="en-US" altLang="zh-CN" sz="2400" b="1" baseline="-25000">
                <a:latin typeface="Times New Roman" panose="02020603050405020304" charset="0"/>
              </a:rPr>
              <a:t>RL</a:t>
            </a:r>
            <a:r>
              <a:rPr lang="en-US" altLang="zh-CN" sz="2400" b="1">
                <a:latin typeface="Times New Roman" panose="02020603050405020304" charset="0"/>
              </a:rPr>
              <a:t>&lt;</a:t>
            </a:r>
            <a:r>
              <a:rPr lang="en-US" altLang="zh-CN" sz="2400" b="1" i="1" dirty="0" err="1">
                <a:latin typeface="Times New Roman" panose="02020603050405020304" charset="0"/>
              </a:rPr>
              <a:t>u</a:t>
            </a:r>
            <a:r>
              <a:rPr lang="en-US" altLang="zh-CN" sz="2400" b="1" baseline="-25000" dirty="0" err="1">
                <a:latin typeface="Times New Roman" panose="02020603050405020304" charset="0"/>
              </a:rPr>
              <a:t>I</a:t>
            </a:r>
            <a:r>
              <a:rPr lang="en-US" altLang="zh-CN" sz="2400" b="1">
                <a:latin typeface="Times New Roman" panose="02020603050405020304" charset="0"/>
              </a:rPr>
              <a:t>&lt; </a:t>
            </a:r>
            <a:r>
              <a:rPr lang="en-US" altLang="zh-CN" sz="2400" b="1" i="1">
                <a:latin typeface="Times New Roman" panose="02020603050405020304" charset="0"/>
              </a:rPr>
              <a:t>U</a:t>
            </a:r>
            <a:r>
              <a:rPr lang="en-US" altLang="zh-CN" sz="2400" b="1" baseline="-25000">
                <a:latin typeface="Times New Roman" panose="02020603050405020304" charset="0"/>
              </a:rPr>
              <a:t>RH</a:t>
            </a:r>
            <a:r>
              <a:rPr lang="zh-CN" altLang="en-US" sz="2400" b="1" dirty="0">
                <a:latin typeface="Times New Roman" panose="02020603050405020304" charset="0"/>
              </a:rPr>
              <a:t>时，</a:t>
            </a:r>
            <a:endParaRPr lang="zh-CN" altLang="en-US" sz="2400" b="1" dirty="0">
              <a:latin typeface="Times New Roman" panose="02020603050405020304" charset="0"/>
            </a:endParaRPr>
          </a:p>
          <a:p>
            <a:r>
              <a:rPr lang="zh-CN" altLang="en-US" sz="2400" b="1" dirty="0">
                <a:latin typeface="Times New Roman" panose="02020603050405020304" charset="0"/>
              </a:rPr>
              <a:t> </a:t>
            </a:r>
            <a:r>
              <a:rPr lang="en-US" altLang="zh-CN" sz="2400" b="1" i="1">
                <a:latin typeface="Times New Roman" panose="02020603050405020304" charset="0"/>
              </a:rPr>
              <a:t>u</a:t>
            </a:r>
            <a:r>
              <a:rPr lang="en-US" altLang="zh-CN" sz="2400" b="1" baseline="-25000">
                <a:latin typeface="Times New Roman" panose="02020603050405020304" charset="0"/>
              </a:rPr>
              <a:t>O1</a:t>
            </a:r>
            <a:r>
              <a:rPr lang="en-US" altLang="zh-CN" sz="2400" b="1">
                <a:latin typeface="Times New Roman" panose="02020603050405020304" charset="0"/>
              </a:rPr>
              <a:t>= </a:t>
            </a:r>
            <a:r>
              <a:rPr lang="en-US" altLang="zh-CN" sz="2400" b="1" i="1">
                <a:latin typeface="Times New Roman" panose="02020603050405020304" charset="0"/>
              </a:rPr>
              <a:t>u</a:t>
            </a:r>
            <a:r>
              <a:rPr lang="en-US" altLang="zh-CN" sz="2400" b="1" baseline="-25000">
                <a:latin typeface="Times New Roman" panose="02020603050405020304" charset="0"/>
              </a:rPr>
              <a:t>O2</a:t>
            </a:r>
            <a:r>
              <a:rPr lang="en-US" altLang="zh-CN" sz="2400" b="1">
                <a:latin typeface="Times New Roman" panose="02020603050405020304" charset="0"/>
              </a:rPr>
              <a:t>= </a:t>
            </a:r>
            <a:r>
              <a:rPr lang="zh-CN" altLang="en-US" sz="2400" b="1">
                <a:latin typeface="Times New Roman" panose="02020603050405020304" charset="0"/>
              </a:rPr>
              <a:t>－</a:t>
            </a:r>
            <a:r>
              <a:rPr lang="en-US" altLang="zh-CN" sz="2400" b="1" i="1">
                <a:latin typeface="Times New Roman" panose="02020603050405020304" charset="0"/>
              </a:rPr>
              <a:t>U</a:t>
            </a:r>
            <a:r>
              <a:rPr lang="en-US" altLang="zh-CN" sz="2400" b="1" baseline="-25000">
                <a:latin typeface="Times New Roman" panose="02020603050405020304" charset="0"/>
              </a:rPr>
              <a:t>OM</a:t>
            </a:r>
            <a:r>
              <a:rPr lang="zh-CN" altLang="en-US" sz="2400" b="1">
                <a:latin typeface="Times New Roman" panose="02020603050405020304" charset="0"/>
              </a:rPr>
              <a:t>，</a:t>
            </a:r>
            <a:r>
              <a:rPr lang="en-US" altLang="zh-CN" sz="2400" b="1">
                <a:latin typeface="Times New Roman" panose="02020603050405020304" charset="0"/>
              </a:rPr>
              <a:t>D</a:t>
            </a:r>
            <a:r>
              <a:rPr lang="en-US" altLang="zh-CN" sz="2400" b="1" baseline="-25000">
                <a:latin typeface="Times New Roman" panose="02020603050405020304" charset="0"/>
              </a:rPr>
              <a:t>1</a:t>
            </a:r>
            <a:r>
              <a:rPr lang="zh-CN" altLang="en-US" sz="2400" b="1">
                <a:latin typeface="Times New Roman" panose="02020603050405020304" charset="0"/>
              </a:rPr>
              <a:t>、</a:t>
            </a:r>
            <a:endParaRPr lang="zh-CN" altLang="en-US" sz="2400" b="1">
              <a:latin typeface="Times New Roman" panose="02020603050405020304" charset="0"/>
            </a:endParaRPr>
          </a:p>
          <a:p>
            <a:r>
              <a:rPr lang="en-US" altLang="zh-CN" sz="2400" b="1">
                <a:latin typeface="Times New Roman" panose="02020603050405020304" charset="0"/>
              </a:rPr>
              <a:t>D</a:t>
            </a:r>
            <a:r>
              <a:rPr lang="en-US" altLang="zh-CN" sz="2400" b="1" baseline="-25000">
                <a:latin typeface="Times New Roman" panose="02020603050405020304" charset="0"/>
              </a:rPr>
              <a:t>2</a:t>
            </a:r>
            <a:r>
              <a:rPr lang="zh-CN" altLang="en-US" sz="2400" b="1" dirty="0">
                <a:latin typeface="Times New Roman" panose="02020603050405020304" charset="0"/>
              </a:rPr>
              <a:t>均截止； </a:t>
            </a:r>
            <a:r>
              <a:rPr lang="en-US" altLang="zh-CN" sz="2400" b="1" i="1" dirty="0" err="1">
                <a:latin typeface="Times New Roman" panose="02020603050405020304" charset="0"/>
              </a:rPr>
              <a:t>u</a:t>
            </a:r>
            <a:r>
              <a:rPr lang="en-US" altLang="zh-CN" sz="2400" b="1" baseline="-25000" dirty="0" err="1">
                <a:latin typeface="Times New Roman" panose="02020603050405020304" charset="0"/>
              </a:rPr>
              <a:t>O</a:t>
            </a:r>
            <a:r>
              <a:rPr lang="en-US" altLang="zh-CN" sz="2400" b="1">
                <a:latin typeface="Times New Roman" panose="02020603050405020304" charset="0"/>
              </a:rPr>
              <a:t>= 0</a:t>
            </a:r>
            <a:r>
              <a:rPr lang="zh-CN" altLang="en-US" sz="2400" b="1">
                <a:latin typeface="Times New Roman" panose="02020603050405020304" charset="0"/>
              </a:rPr>
              <a:t>。</a:t>
            </a:r>
            <a:endParaRPr lang="zh-CN" altLang="en-US" sz="2400" b="1">
              <a:latin typeface="Times New Roman" panose="02020603050405020304" charset="0"/>
            </a:endParaRPr>
          </a:p>
        </p:txBody>
      </p:sp>
      <p:graphicFrame>
        <p:nvGraphicFramePr>
          <p:cNvPr id="16399" name="对象 16398"/>
          <p:cNvGraphicFramePr/>
          <p:nvPr/>
        </p:nvGraphicFramePr>
        <p:xfrm>
          <a:off x="2590800" y="4114800"/>
          <a:ext cx="3352800" cy="1744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4" name="" r:id="rId14" imgW="11325225" imgH="5895975" progId="MSPhotoEd.3">
                  <p:embed/>
                </p:oleObj>
              </mc:Choice>
              <mc:Fallback>
                <p:oleObj name="" r:id="rId14" imgW="11325225" imgH="5895975" progId="MSPhotoEd.3">
                  <p:embed/>
                  <p:pic>
                    <p:nvPicPr>
                      <p:cNvPr id="0" name="图片 3123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2590800" y="4114800"/>
                        <a:ext cx="3352800" cy="17446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6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6">
                                            <p:txEl>
                                              <p:charRg st="0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6396">
                                            <p:txEl>
                                              <p:charRg st="0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6">
                                            <p:txEl>
                                              <p:charRg st="18" end="3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6396">
                                            <p:txEl>
                                              <p:charRg st="18" end="3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6">
                                            <p:txEl>
                                              <p:charRg st="35" end="4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6396">
                                            <p:txEl>
                                              <p:charRg st="35" end="4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6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7">
                                            <p:txEl>
                                              <p:charRg st="0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6397">
                                            <p:txEl>
                                              <p:charRg st="0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7">
                                            <p:txEl>
                                              <p:charRg st="18" end="3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6397">
                                            <p:txEl>
                                              <p:charRg st="18" end="3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7">
                                            <p:txEl>
                                              <p:charRg st="35" end="5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6397">
                                            <p:txEl>
                                              <p:charRg st="35" end="5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8">
                                            <p:txEl>
                                              <p:charRg st="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6398">
                                            <p:txEl>
                                              <p:charRg st="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8">
                                            <p:txEl>
                                              <p:charRg st="20" end="4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16398">
                                            <p:txEl>
                                              <p:charRg st="20" end="4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8">
                                            <p:txEl>
                                              <p:charRg st="40" end="5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6398">
                                            <p:txEl>
                                              <p:charRg st="40" end="5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16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96" grpId="0" build="p"/>
      <p:bldP spid="16397" grpId="0" build="p"/>
      <p:bldP spid="16398" grpId="0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7410" name="组合 17409"/>
          <p:cNvGrpSpPr/>
          <p:nvPr/>
        </p:nvGrpSpPr>
        <p:grpSpPr>
          <a:xfrm>
            <a:off x="8001000" y="1752600"/>
            <a:ext cx="2327275" cy="2033588"/>
            <a:chOff x="4176" y="576"/>
            <a:chExt cx="1466" cy="1281"/>
          </a:xfrm>
        </p:grpSpPr>
        <p:graphicFrame>
          <p:nvGraphicFramePr>
            <p:cNvPr id="17411" name="对象 17410"/>
            <p:cNvGraphicFramePr/>
            <p:nvPr/>
          </p:nvGraphicFramePr>
          <p:xfrm>
            <a:off x="4176" y="576"/>
            <a:ext cx="1466" cy="12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3" name="" r:id="rId1" imgW="7991475" imgH="6981825" progId="MSPhotoEd.3">
                    <p:embed/>
                  </p:oleObj>
                </mc:Choice>
                <mc:Fallback>
                  <p:oleObj name="" r:id="rId1" imgW="7991475" imgH="6981825" progId="MSPhotoEd.3">
                    <p:embed/>
                    <p:pic>
                      <p:nvPicPr>
                        <p:cNvPr id="0" name="图片 3102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4176" y="576"/>
                          <a:ext cx="1466" cy="128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12" name="对象 17411"/>
            <p:cNvGraphicFramePr/>
            <p:nvPr/>
          </p:nvGraphicFramePr>
          <p:xfrm>
            <a:off x="4368" y="864"/>
            <a:ext cx="192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6" name="" r:id="rId3" imgW="203200" imgH="203200" progId="Equation.3">
                    <p:embed/>
                  </p:oleObj>
                </mc:Choice>
                <mc:Fallback>
                  <p:oleObj name="" r:id="rId3" imgW="203200" imgH="203200" progId="Equation.3">
                    <p:embed/>
                    <p:pic>
                      <p:nvPicPr>
                        <p:cNvPr id="0" name="图片 3105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4368" y="864"/>
                          <a:ext cx="192" cy="19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13" name="对象 17412"/>
            <p:cNvGraphicFramePr/>
            <p:nvPr/>
          </p:nvGraphicFramePr>
          <p:xfrm>
            <a:off x="4368" y="1344"/>
            <a:ext cx="192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1" name="" r:id="rId5" imgW="203200" imgH="203200" progId="Equation.3">
                    <p:embed/>
                  </p:oleObj>
                </mc:Choice>
                <mc:Fallback>
                  <p:oleObj name="" r:id="rId5" imgW="203200" imgH="203200" progId="Equation.3">
                    <p:embed/>
                    <p:pic>
                      <p:nvPicPr>
                        <p:cNvPr id="0" name="图片 3110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4368" y="1344"/>
                          <a:ext cx="192" cy="19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14" name="对象 17413"/>
            <p:cNvGraphicFramePr/>
            <p:nvPr/>
          </p:nvGraphicFramePr>
          <p:xfrm>
            <a:off x="5088" y="1248"/>
            <a:ext cx="192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4" name="" r:id="rId7" imgW="203200" imgH="203200" progId="Equation.3">
                    <p:embed/>
                  </p:oleObj>
                </mc:Choice>
                <mc:Fallback>
                  <p:oleObj name="" r:id="rId7" imgW="203200" imgH="203200" progId="Equation.3">
                    <p:embed/>
                    <p:pic>
                      <p:nvPicPr>
                        <p:cNvPr id="0" name="图片 3103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5088" y="1248"/>
                          <a:ext cx="192" cy="19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15" name="对象 17414"/>
            <p:cNvGraphicFramePr/>
            <p:nvPr/>
          </p:nvGraphicFramePr>
          <p:xfrm>
            <a:off x="5376" y="1008"/>
            <a:ext cx="192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2" name="" r:id="rId9" imgW="203200" imgH="203200" progId="Equation.3">
                    <p:embed/>
                  </p:oleObj>
                </mc:Choice>
                <mc:Fallback>
                  <p:oleObj name="" r:id="rId9" imgW="203200" imgH="203200" progId="Equation.3">
                    <p:embed/>
                    <p:pic>
                      <p:nvPicPr>
                        <p:cNvPr id="0" name="图片 3111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5376" y="1008"/>
                          <a:ext cx="192" cy="19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7416" name="对象 17415"/>
          <p:cNvGraphicFramePr/>
          <p:nvPr/>
        </p:nvGraphicFramePr>
        <p:xfrm>
          <a:off x="8763000" y="2432050"/>
          <a:ext cx="2286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7" name="" r:id="rId11" imgW="139700" imgH="139700" progId="Equation.3">
                  <p:embed/>
                </p:oleObj>
              </mc:Choice>
              <mc:Fallback>
                <p:oleObj name="" r:id="rId11" imgW="139700" imgH="139700" progId="Equation.3">
                  <p:embed/>
                  <p:pic>
                    <p:nvPicPr>
                      <p:cNvPr id="0" name="图片 3116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8763000" y="2432050"/>
                        <a:ext cx="228600" cy="228600"/>
                      </a:xfrm>
                      <a:prstGeom prst="rect">
                        <a:avLst/>
                      </a:prstGeom>
                      <a:solidFill>
                        <a:srgbClr val="66FFFF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7" name="对象 17416"/>
          <p:cNvGraphicFramePr/>
          <p:nvPr/>
        </p:nvGraphicFramePr>
        <p:xfrm>
          <a:off x="8763000" y="2935288"/>
          <a:ext cx="207963" cy="123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8" name="" r:id="rId13" imgW="126365" imgH="76200" progId="Equation.3">
                  <p:embed/>
                </p:oleObj>
              </mc:Choice>
              <mc:Fallback>
                <p:oleObj name="" r:id="rId13" imgW="126365" imgH="76200" progId="Equation.3">
                  <p:embed/>
                  <p:pic>
                    <p:nvPicPr>
                      <p:cNvPr id="0" name="图片 3117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8763000" y="2935288"/>
                        <a:ext cx="207963" cy="123825"/>
                      </a:xfrm>
                      <a:prstGeom prst="rect">
                        <a:avLst/>
                      </a:prstGeom>
                      <a:solidFill>
                        <a:srgbClr val="66FFFF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8" name="对象 17417"/>
          <p:cNvGraphicFramePr/>
          <p:nvPr/>
        </p:nvGraphicFramePr>
        <p:xfrm>
          <a:off x="1752600" y="1524000"/>
          <a:ext cx="3581400" cy="2417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1" name="" r:id="rId15" imgW="12372975" imgH="8353425" progId="MSPhotoEd.3">
                  <p:embed/>
                </p:oleObj>
              </mc:Choice>
              <mc:Fallback>
                <p:oleObj name="" r:id="rId15" imgW="12372975" imgH="8353425" progId="MSPhotoEd.3">
                  <p:embed/>
                  <p:pic>
                    <p:nvPicPr>
                      <p:cNvPr id="0" name="图片 3120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752600" y="1524000"/>
                        <a:ext cx="3581400" cy="24177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9" name="对象 17418"/>
          <p:cNvGraphicFramePr/>
          <p:nvPr/>
        </p:nvGraphicFramePr>
        <p:xfrm>
          <a:off x="4114800" y="3657600"/>
          <a:ext cx="3048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7" name="" r:id="rId17" imgW="203200" imgH="203200" progId="Equation.3">
                  <p:embed/>
                </p:oleObj>
              </mc:Choice>
              <mc:Fallback>
                <p:oleObj name="" r:id="rId17" imgW="203200" imgH="203200" progId="Equation.3">
                  <p:embed/>
                  <p:pic>
                    <p:nvPicPr>
                      <p:cNvPr id="0" name="图片 3106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114800" y="3657600"/>
                        <a:ext cx="304800" cy="304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20" name="对象 17419"/>
          <p:cNvGraphicFramePr/>
          <p:nvPr/>
        </p:nvGraphicFramePr>
        <p:xfrm>
          <a:off x="1752600" y="3124200"/>
          <a:ext cx="3048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5" name="" r:id="rId18" imgW="203200" imgH="203200" progId="Equation.3">
                  <p:embed/>
                </p:oleObj>
              </mc:Choice>
              <mc:Fallback>
                <p:oleObj name="" r:id="rId18" imgW="203200" imgH="203200" progId="Equation.3">
                  <p:embed/>
                  <p:pic>
                    <p:nvPicPr>
                      <p:cNvPr id="0" name="图片 310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752600" y="3124200"/>
                        <a:ext cx="304800" cy="304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21" name="对象 17420"/>
          <p:cNvGraphicFramePr/>
          <p:nvPr/>
        </p:nvGraphicFramePr>
        <p:xfrm>
          <a:off x="1828800" y="2133600"/>
          <a:ext cx="3048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8" name="" r:id="rId19" imgW="203200" imgH="203200" progId="Equation.3">
                  <p:embed/>
                </p:oleObj>
              </mc:Choice>
              <mc:Fallback>
                <p:oleObj name="" r:id="rId19" imgW="203200" imgH="203200" progId="Equation.3">
                  <p:embed/>
                  <p:pic>
                    <p:nvPicPr>
                      <p:cNvPr id="0" name="图片 310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828800" y="2133600"/>
                        <a:ext cx="304800" cy="304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22" name="对象 17421"/>
          <p:cNvGraphicFramePr/>
          <p:nvPr/>
        </p:nvGraphicFramePr>
        <p:xfrm>
          <a:off x="2667000" y="3657600"/>
          <a:ext cx="3048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9" name="" r:id="rId20" imgW="203200" imgH="203200" progId="Equation.3">
                  <p:embed/>
                </p:oleObj>
              </mc:Choice>
              <mc:Fallback>
                <p:oleObj name="" r:id="rId20" imgW="203200" imgH="203200" progId="Equation.3">
                  <p:embed/>
                  <p:pic>
                    <p:nvPicPr>
                      <p:cNvPr id="0" name="图片 3108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2667000" y="3657600"/>
                        <a:ext cx="304800" cy="304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23" name="对象 17422"/>
          <p:cNvGraphicFramePr/>
          <p:nvPr/>
        </p:nvGraphicFramePr>
        <p:xfrm>
          <a:off x="2667000" y="1524000"/>
          <a:ext cx="3048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5" name="" r:id="rId22" imgW="203200" imgH="203200" progId="Equation.3">
                  <p:embed/>
                </p:oleObj>
              </mc:Choice>
              <mc:Fallback>
                <p:oleObj name="" r:id="rId22" imgW="203200" imgH="203200" progId="Equation.3">
                  <p:embed/>
                  <p:pic>
                    <p:nvPicPr>
                      <p:cNvPr id="0" name="图片 3114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2667000" y="1524000"/>
                        <a:ext cx="304800" cy="304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24" name="对象 17423"/>
          <p:cNvGraphicFramePr/>
          <p:nvPr/>
        </p:nvGraphicFramePr>
        <p:xfrm>
          <a:off x="4953000" y="2286000"/>
          <a:ext cx="3048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0" name="" r:id="rId24" imgW="203200" imgH="203200" progId="Equation.3">
                  <p:embed/>
                </p:oleObj>
              </mc:Choice>
              <mc:Fallback>
                <p:oleObj name="" r:id="rId24" imgW="203200" imgH="203200" progId="Equation.3">
                  <p:embed/>
                  <p:pic>
                    <p:nvPicPr>
                      <p:cNvPr id="0" name="图片 3109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953000" y="2286000"/>
                        <a:ext cx="304800" cy="304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25" name="对象 17424"/>
          <p:cNvGraphicFramePr/>
          <p:nvPr/>
        </p:nvGraphicFramePr>
        <p:xfrm>
          <a:off x="3124200" y="1981200"/>
          <a:ext cx="5334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6" name="" r:id="rId25" imgW="355600" imgH="228600" progId="Equation.3">
                  <p:embed/>
                </p:oleObj>
              </mc:Choice>
              <mc:Fallback>
                <p:oleObj name="" r:id="rId25" imgW="355600" imgH="228600" progId="Equation.3">
                  <p:embed/>
                  <p:pic>
                    <p:nvPicPr>
                      <p:cNvPr id="0" name="图片 3115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3124200" y="1981200"/>
                        <a:ext cx="533400" cy="342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26" name="对象 17425"/>
          <p:cNvGraphicFramePr/>
          <p:nvPr/>
        </p:nvGraphicFramePr>
        <p:xfrm>
          <a:off x="3124200" y="3276600"/>
          <a:ext cx="514350" cy="32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9" name="" r:id="rId27" imgW="342265" imgH="215900" progId="Equation.3">
                  <p:embed/>
                </p:oleObj>
              </mc:Choice>
              <mc:Fallback>
                <p:oleObj name="" r:id="rId27" imgW="342265" imgH="215900" progId="Equation.3">
                  <p:embed/>
                  <p:pic>
                    <p:nvPicPr>
                      <p:cNvPr id="0" name="图片 3118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3124200" y="3276600"/>
                        <a:ext cx="514350" cy="3238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427" name="组合 17426"/>
          <p:cNvGrpSpPr/>
          <p:nvPr/>
        </p:nvGrpSpPr>
        <p:grpSpPr>
          <a:xfrm>
            <a:off x="5334000" y="1828800"/>
            <a:ext cx="2590800" cy="1987550"/>
            <a:chOff x="2496" y="576"/>
            <a:chExt cx="1632" cy="1252"/>
          </a:xfrm>
        </p:grpSpPr>
        <p:graphicFrame>
          <p:nvGraphicFramePr>
            <p:cNvPr id="17428" name="对象 17427"/>
            <p:cNvGraphicFramePr/>
            <p:nvPr/>
          </p:nvGraphicFramePr>
          <p:xfrm>
            <a:off x="2496" y="576"/>
            <a:ext cx="1632" cy="12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3" name="" r:id="rId29" imgW="8334375" imgH="6391275" progId="MSPhotoEd.3">
                    <p:embed/>
                  </p:oleObj>
                </mc:Choice>
                <mc:Fallback>
                  <p:oleObj name="" r:id="rId29" imgW="8334375" imgH="6391275" progId="MSPhotoEd.3">
                    <p:embed/>
                    <p:pic>
                      <p:nvPicPr>
                        <p:cNvPr id="0" name="图片 3112"/>
                        <p:cNvPicPr/>
                        <p:nvPr/>
                      </p:nvPicPr>
                      <p:blipFill>
                        <a:blip r:embed="rId30"/>
                        <a:stretch>
                          <a:fillRect/>
                        </a:stretch>
                      </p:blipFill>
                      <p:spPr>
                        <a:xfrm>
                          <a:off x="2496" y="576"/>
                          <a:ext cx="1632" cy="125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29" name="对象 17428"/>
            <p:cNvGraphicFramePr/>
            <p:nvPr/>
          </p:nvGraphicFramePr>
          <p:xfrm>
            <a:off x="2736" y="1392"/>
            <a:ext cx="192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4" name="" r:id="rId31" imgW="203200" imgH="203200" progId="Equation.3">
                    <p:embed/>
                  </p:oleObj>
                </mc:Choice>
                <mc:Fallback>
                  <p:oleObj name="" r:id="rId31" imgW="203200" imgH="203200" progId="Equation.3">
                    <p:embed/>
                    <p:pic>
                      <p:nvPicPr>
                        <p:cNvPr id="0" name="图片 3113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736" y="1392"/>
                          <a:ext cx="192" cy="19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30" name="对象 17429"/>
            <p:cNvGraphicFramePr/>
            <p:nvPr/>
          </p:nvGraphicFramePr>
          <p:xfrm>
            <a:off x="2736" y="864"/>
            <a:ext cx="192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0" name="" r:id="rId32" imgW="203200" imgH="203200" progId="Equation.3">
                    <p:embed/>
                  </p:oleObj>
                </mc:Choice>
                <mc:Fallback>
                  <p:oleObj name="" r:id="rId32" imgW="203200" imgH="203200" progId="Equation.3">
                    <p:embed/>
                    <p:pic>
                      <p:nvPicPr>
                        <p:cNvPr id="0" name="图片 3119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736" y="864"/>
                          <a:ext cx="192" cy="19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31" name="对象 17430"/>
            <p:cNvGraphicFramePr/>
            <p:nvPr/>
          </p:nvGraphicFramePr>
          <p:xfrm>
            <a:off x="3408" y="1344"/>
            <a:ext cx="192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2" name="" r:id="rId33" imgW="203200" imgH="203200" progId="Equation.3">
                    <p:embed/>
                  </p:oleObj>
                </mc:Choice>
                <mc:Fallback>
                  <p:oleObj name="" r:id="rId33" imgW="203200" imgH="203200" progId="Equation.3">
                    <p:embed/>
                    <p:pic>
                      <p:nvPicPr>
                        <p:cNvPr id="0" name="图片 3121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3408" y="1344"/>
                          <a:ext cx="192" cy="19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32" name="对象 17431"/>
            <p:cNvGraphicFramePr/>
            <p:nvPr/>
          </p:nvGraphicFramePr>
          <p:xfrm>
            <a:off x="3648" y="1248"/>
            <a:ext cx="192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3" name="" r:id="rId34" imgW="203200" imgH="203200" progId="Equation.3">
                    <p:embed/>
                  </p:oleObj>
                </mc:Choice>
                <mc:Fallback>
                  <p:oleObj name="" r:id="rId34" imgW="203200" imgH="203200" progId="Equation.3">
                    <p:embed/>
                    <p:pic>
                      <p:nvPicPr>
                        <p:cNvPr id="0" name="图片 3122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3648" y="1248"/>
                          <a:ext cx="192" cy="19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7433" name="文本框 17432"/>
          <p:cNvSpPr txBox="1"/>
          <p:nvPr/>
        </p:nvSpPr>
        <p:spPr>
          <a:xfrm>
            <a:off x="2133600" y="3886200"/>
            <a:ext cx="8153400" cy="25266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0" hangingPunct="0">
              <a:lnSpc>
                <a:spcPct val="110000"/>
              </a:lnSpc>
            </a:pPr>
            <a:r>
              <a:rPr lang="zh-CN" altLang="en-US" sz="2400" b="1" dirty="0">
                <a:latin typeface="Times New Roman" panose="02020603050405020304" charset="0"/>
              </a:rPr>
              <a:t>特点：</a:t>
            </a:r>
            <a:endParaRPr lang="zh-CN" altLang="en-US" sz="2400" b="1" dirty="0">
              <a:latin typeface="Times New Roman" panose="02020603050405020304" charset="0"/>
            </a:endParaRPr>
          </a:p>
          <a:p>
            <a:pPr eaLnBrk="0" hangingPunct="0">
              <a:lnSpc>
                <a:spcPct val="110000"/>
              </a:lnSpc>
            </a:pPr>
            <a:r>
              <a:rPr lang="en-US" altLang="zh-CN" sz="2400" b="1">
                <a:latin typeface="Times New Roman" panose="02020603050405020304" charset="0"/>
              </a:rPr>
              <a:t>1.  </a:t>
            </a:r>
            <a:r>
              <a:rPr lang="zh-CN" altLang="en-US" sz="2400" b="1" dirty="0">
                <a:latin typeface="Times New Roman" panose="02020603050405020304" charset="0"/>
              </a:rPr>
              <a:t>无需限幅电路，根据电源电压确定所需高、低电平；</a:t>
            </a:r>
            <a:endParaRPr lang="zh-CN" altLang="en-US" sz="2400" b="1" dirty="0">
              <a:latin typeface="Times New Roman" panose="02020603050405020304" charset="0"/>
            </a:endParaRPr>
          </a:p>
          <a:p>
            <a:pPr eaLnBrk="0" hangingPunct="0">
              <a:lnSpc>
                <a:spcPct val="110000"/>
              </a:lnSpc>
            </a:pPr>
            <a:r>
              <a:rPr lang="en-US" altLang="zh-CN" sz="2400" b="1">
                <a:latin typeface="Times New Roman" panose="02020603050405020304" charset="0"/>
              </a:rPr>
              <a:t>2.  </a:t>
            </a:r>
            <a:r>
              <a:rPr lang="zh-CN" altLang="en-US" sz="2400" b="1" dirty="0">
                <a:latin typeface="Times New Roman" panose="02020603050405020304" charset="0"/>
              </a:rPr>
              <a:t>可直接驱动集成数字电路；</a:t>
            </a:r>
            <a:endParaRPr lang="zh-CN" altLang="en-US" sz="2400" b="1" dirty="0">
              <a:latin typeface="Times New Roman" panose="02020603050405020304" charset="0"/>
            </a:endParaRPr>
          </a:p>
          <a:p>
            <a:pPr eaLnBrk="0" hangingPunct="0">
              <a:lnSpc>
                <a:spcPct val="110000"/>
              </a:lnSpc>
            </a:pPr>
            <a:r>
              <a:rPr lang="en-US" altLang="zh-CN" sz="2400" b="1">
                <a:latin typeface="Times New Roman" panose="02020603050405020304" charset="0"/>
              </a:rPr>
              <a:t>3.  </a:t>
            </a:r>
            <a:r>
              <a:rPr lang="zh-CN" altLang="en-US" sz="2400" b="1" dirty="0">
                <a:latin typeface="Times New Roman" panose="02020603050405020304" charset="0"/>
              </a:rPr>
              <a:t>响应速度快；</a:t>
            </a:r>
            <a:endParaRPr lang="zh-CN" altLang="en-US" sz="2400" b="1" dirty="0">
              <a:latin typeface="Times New Roman" panose="02020603050405020304" charset="0"/>
            </a:endParaRPr>
          </a:p>
          <a:p>
            <a:pPr eaLnBrk="0" hangingPunct="0">
              <a:lnSpc>
                <a:spcPct val="110000"/>
              </a:lnSpc>
            </a:pPr>
            <a:r>
              <a:rPr lang="en-US" altLang="zh-CN" sz="2400" b="1">
                <a:latin typeface="Times New Roman" panose="02020603050405020304" charset="0"/>
              </a:rPr>
              <a:t>4.  </a:t>
            </a:r>
            <a:r>
              <a:rPr lang="zh-CN" altLang="en-US" sz="2400" b="1" dirty="0">
                <a:latin typeface="Times New Roman" panose="02020603050405020304" charset="0"/>
              </a:rPr>
              <a:t>可具有选通端；</a:t>
            </a:r>
            <a:endParaRPr lang="zh-CN" altLang="en-US" sz="2400" b="1" dirty="0">
              <a:latin typeface="Times New Roman" panose="02020603050405020304" charset="0"/>
            </a:endParaRPr>
          </a:p>
          <a:p>
            <a:pPr eaLnBrk="0" hangingPunct="0">
              <a:lnSpc>
                <a:spcPct val="110000"/>
              </a:lnSpc>
            </a:pPr>
            <a:r>
              <a:rPr lang="en-US" altLang="zh-CN" sz="2400" b="1">
                <a:latin typeface="Times New Roman" panose="02020603050405020304" charset="0"/>
              </a:rPr>
              <a:t>5.  </a:t>
            </a:r>
            <a:r>
              <a:rPr lang="zh-CN" altLang="en-US" sz="2400" b="1" dirty="0">
                <a:latin typeface="Times New Roman" panose="02020603050405020304" charset="0"/>
              </a:rPr>
              <a:t>电源电压升高，工作电流增大，工作速度加快。</a:t>
            </a:r>
            <a:endParaRPr lang="zh-CN" altLang="en-US" sz="2400" b="1" dirty="0">
              <a:latin typeface="Times New Roman" panose="02020603050405020304" charset="0"/>
            </a:endParaRPr>
          </a:p>
        </p:txBody>
      </p:sp>
      <p:graphicFrame>
        <p:nvGraphicFramePr>
          <p:cNvPr id="17434" name="对象 17433"/>
          <p:cNvGraphicFramePr/>
          <p:nvPr/>
        </p:nvGraphicFramePr>
        <p:xfrm>
          <a:off x="6132513" y="3011488"/>
          <a:ext cx="2286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5" name="" r:id="rId35" imgW="139700" imgH="139700" progId="Equation.3">
                  <p:embed/>
                </p:oleObj>
              </mc:Choice>
              <mc:Fallback>
                <p:oleObj name="" r:id="rId35" imgW="139700" imgH="139700" progId="Equation.3">
                  <p:embed/>
                  <p:pic>
                    <p:nvPicPr>
                      <p:cNvPr id="0" name="图片 3124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132513" y="3011488"/>
                        <a:ext cx="228600" cy="228600"/>
                      </a:xfrm>
                      <a:prstGeom prst="rect">
                        <a:avLst/>
                      </a:prstGeom>
                      <a:solidFill>
                        <a:srgbClr val="66FFFF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35" name="对象 17434"/>
          <p:cNvGraphicFramePr/>
          <p:nvPr/>
        </p:nvGraphicFramePr>
        <p:xfrm>
          <a:off x="6138863" y="2566988"/>
          <a:ext cx="207962" cy="123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6" name="" r:id="rId36" imgW="126365" imgH="76200" progId="Equation.3">
                  <p:embed/>
                </p:oleObj>
              </mc:Choice>
              <mc:Fallback>
                <p:oleObj name="" r:id="rId36" imgW="126365" imgH="76200" progId="Equation.3">
                  <p:embed/>
                  <p:pic>
                    <p:nvPicPr>
                      <p:cNvPr id="0" name="图片 3125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138863" y="2566988"/>
                        <a:ext cx="207962" cy="123825"/>
                      </a:xfrm>
                      <a:prstGeom prst="rect">
                        <a:avLst/>
                      </a:prstGeom>
                      <a:solidFill>
                        <a:srgbClr val="66FFFF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36" name="标题 17435"/>
          <p:cNvSpPr>
            <a:spLocks noGrp="1"/>
          </p:cNvSpPr>
          <p:nvPr>
            <p:ph type="title"/>
          </p:nvPr>
        </p:nvSpPr>
        <p:spPr>
          <a:xfrm>
            <a:off x="1752600" y="533400"/>
            <a:ext cx="4953000" cy="381000"/>
          </a:xfrm>
        </p:spPr>
        <p:txBody>
          <a:bodyPr anchor="ctr" anchorCtr="0"/>
          <a:p>
            <a:pPr algn="l"/>
            <a:r>
              <a:rPr lang="zh-CN" altLang="en-US" sz="3200" b="1" dirty="0">
                <a:solidFill>
                  <a:schemeClr val="tx1"/>
                </a:solidFill>
                <a:ea typeface="隶书" panose="02010509060101010101" pitchFamily="49" charset="-122"/>
              </a:rPr>
              <a:t>五、集成比较器</a:t>
            </a:r>
            <a:endParaRPr lang="zh-CN" altLang="en-US" sz="3200" b="1" dirty="0">
              <a:solidFill>
                <a:schemeClr val="tx1"/>
              </a:solidFill>
              <a:ea typeface="隶书" panose="02010509060101010101" pitchFamily="49" charset="-122"/>
            </a:endParaRPr>
          </a:p>
        </p:txBody>
      </p:sp>
      <p:sp>
        <p:nvSpPr>
          <p:cNvPr id="17437" name="文本框 17436"/>
          <p:cNvSpPr txBox="1"/>
          <p:nvPr/>
        </p:nvSpPr>
        <p:spPr>
          <a:xfrm>
            <a:off x="1752600" y="1066800"/>
            <a:ext cx="41910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charset="0"/>
              </a:rPr>
              <a:t>某型号集成比较器的等效电路</a:t>
            </a:r>
            <a:endParaRPr lang="zh-CN" altLang="en-US" sz="2400" b="1">
              <a:latin typeface="Times New Roman" panose="020206030504050203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7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17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3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7433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3">
                                            <p:txEl>
                                              <p:charRg st="4" end="3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7433">
                                            <p:txEl>
                                              <p:charRg st="4" end="3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3">
                                            <p:txEl>
                                              <p:charRg st="32" end="4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7433">
                                            <p:txEl>
                                              <p:charRg st="32" end="4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3">
                                            <p:txEl>
                                              <p:charRg st="49" end="6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7433">
                                            <p:txEl>
                                              <p:charRg st="49" end="6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3">
                                            <p:txEl>
                                              <p:charRg st="60" end="7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7433">
                                            <p:txEl>
                                              <p:charRg st="60" end="7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3">
                                            <p:txEl>
                                              <p:charRg st="72" end="9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7433">
                                            <p:txEl>
                                              <p:charRg st="72" end="9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33" grpId="0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标题 20481"/>
          <p:cNvSpPr>
            <a:spLocks noGrp="1"/>
          </p:cNvSpPr>
          <p:nvPr>
            <p:ph type="title"/>
          </p:nvPr>
        </p:nvSpPr>
        <p:spPr>
          <a:xfrm>
            <a:off x="2057400" y="457200"/>
            <a:ext cx="7772400" cy="609600"/>
          </a:xfrm>
        </p:spPr>
        <p:txBody>
          <a:bodyPr anchor="ctr" anchorCtr="0"/>
          <a:p>
            <a:pPr algn="l"/>
            <a:r>
              <a:rPr lang="zh-CN" altLang="en-US" sz="3600" b="1" dirty="0">
                <a:solidFill>
                  <a:schemeClr val="tx1"/>
                </a:solidFill>
                <a:ea typeface="隶书" panose="02010509060101010101" pitchFamily="49" charset="-122"/>
              </a:rPr>
              <a:t>讨论一</a:t>
            </a:r>
            <a:endParaRPr lang="zh-CN" altLang="en-US" dirty="0"/>
          </a:p>
        </p:txBody>
      </p:sp>
      <p:sp>
        <p:nvSpPr>
          <p:cNvPr id="20483" name="文本框 20482"/>
          <p:cNvSpPr txBox="1"/>
          <p:nvPr/>
        </p:nvSpPr>
        <p:spPr>
          <a:xfrm>
            <a:off x="2209800" y="990600"/>
            <a:ext cx="7772400" cy="11988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charset="0"/>
              </a:rPr>
              <a:t>    </a:t>
            </a:r>
            <a:r>
              <a:rPr lang="zh-CN" altLang="en-US" sz="2400" b="1" dirty="0">
                <a:latin typeface="Times New Roman" panose="02020603050405020304" charset="0"/>
              </a:rPr>
              <a:t>已知各电压比较器的电压传输特性如图所示，说出它们各为哪种电压比较器；输入电压为</a:t>
            </a:r>
            <a:r>
              <a:rPr lang="en-US" altLang="zh-CN" sz="2400" b="1">
                <a:latin typeface="Times New Roman" panose="02020603050405020304" charset="0"/>
              </a:rPr>
              <a:t>5sin</a:t>
            </a:r>
            <a:r>
              <a:rPr lang="en-US" altLang="zh-CN" sz="2400" b="1" i="1">
                <a:latin typeface="Times New Roman" panose="02020603050405020304" charset="0"/>
                <a:cs typeface="Times New Roman" panose="02020603050405020304" charset="0"/>
              </a:rPr>
              <a:t>ωt </a:t>
            </a:r>
            <a:r>
              <a:rPr lang="en-US" altLang="zh-CN" sz="2400" b="1">
                <a:latin typeface="Times New Roman" panose="02020603050405020304" charset="0"/>
                <a:cs typeface="Times New Roman" panose="02020603050405020304" charset="0"/>
              </a:rPr>
              <a:t>(V)</a:t>
            </a:r>
            <a:r>
              <a:rPr lang="zh-CN" altLang="en-US" sz="2400" b="1">
                <a:latin typeface="Times New Roman" panose="02020603050405020304" charset="0"/>
              </a:rPr>
              <a:t>，</a:t>
            </a:r>
            <a:r>
              <a:rPr lang="zh-CN" altLang="en-US" sz="2400" b="1" dirty="0">
                <a:latin typeface="Times New Roman" panose="02020603050405020304" charset="0"/>
              </a:rPr>
              <a:t>画出各电路输出电压的波形。</a:t>
            </a:r>
            <a:endParaRPr lang="zh-CN" altLang="en-US" sz="2400" b="1" dirty="0">
              <a:latin typeface="Times New Roman" panose="02020603050405020304" charset="0"/>
            </a:endParaRPr>
          </a:p>
        </p:txBody>
      </p:sp>
      <p:graphicFrame>
        <p:nvGraphicFramePr>
          <p:cNvPr id="20484" name="对象 20483"/>
          <p:cNvGraphicFramePr/>
          <p:nvPr/>
        </p:nvGraphicFramePr>
        <p:xfrm>
          <a:off x="2438400" y="2286000"/>
          <a:ext cx="5808663" cy="406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7" name="" r:id="rId1" imgW="20164425" imgH="14106525" progId="MSPhotoEd.3">
                  <p:embed/>
                </p:oleObj>
              </mc:Choice>
              <mc:Fallback>
                <p:oleObj name="" r:id="rId1" imgW="20164425" imgH="14106525" progId="MSPhotoEd.3">
                  <p:embed/>
                  <p:pic>
                    <p:nvPicPr>
                      <p:cNvPr id="0" name="图片 312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438400" y="2286000"/>
                        <a:ext cx="5808663" cy="4064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5" name="文本框 20484"/>
          <p:cNvSpPr txBox="1"/>
          <p:nvPr/>
        </p:nvSpPr>
        <p:spPr>
          <a:xfrm>
            <a:off x="6781800" y="4800600"/>
            <a:ext cx="3276600" cy="11988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charset="0"/>
              </a:rPr>
              <a:t>    </a:t>
            </a:r>
            <a:r>
              <a:rPr lang="zh-CN" altLang="en-US" sz="2400" b="1" dirty="0">
                <a:latin typeface="Times New Roman" panose="02020603050405020304" charset="0"/>
              </a:rPr>
              <a:t>你</a:t>
            </a:r>
            <a:r>
              <a:rPr lang="zh-CN" altLang="en-US" sz="2400" b="1">
                <a:latin typeface="Times New Roman" panose="02020603050405020304" charset="0"/>
              </a:rPr>
              <a:t>能</a:t>
            </a:r>
            <a:r>
              <a:rPr lang="zh-CN" altLang="en-US" sz="2400" b="1" dirty="0">
                <a:latin typeface="Times New Roman" panose="02020603050405020304" charset="0"/>
              </a:rPr>
              <a:t>分别组成具有图示电压传输特性的电压比较器电路吗？</a:t>
            </a:r>
            <a:endParaRPr lang="zh-CN" altLang="en-US" sz="2400" b="1">
              <a:latin typeface="Times New Roman" panose="02020603050405020304" charset="0"/>
            </a:endParaRPr>
          </a:p>
        </p:txBody>
      </p:sp>
      <p:sp>
        <p:nvSpPr>
          <p:cNvPr id="20486" name="线形标注 1 20485"/>
          <p:cNvSpPr/>
          <p:nvPr/>
        </p:nvSpPr>
        <p:spPr>
          <a:xfrm>
            <a:off x="4267200" y="3822700"/>
            <a:ext cx="1600200" cy="673100"/>
          </a:xfrm>
          <a:prstGeom prst="borderCallout1">
            <a:avLst>
              <a:gd name="adj1" fmla="val 16981"/>
              <a:gd name="adj2" fmla="val -4764"/>
              <a:gd name="adj3" fmla="val 1889"/>
              <a:gd name="adj4" fmla="val -11806"/>
            </a:avLst>
          </a:prstGeom>
          <a:solidFill>
            <a:srgbClr val="CCFFFF"/>
          </a:solidFill>
          <a:ln w="19050" cap="flat" cmpd="sng">
            <a:solidFill>
              <a:srgbClr val="FF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pPr algn="ctr"/>
            <a:r>
              <a:rPr lang="zh-CN" altLang="en-US" sz="2000" b="1" dirty="0">
                <a:latin typeface="Times New Roman" panose="02020603050405020304" charset="0"/>
              </a:rPr>
              <a:t>同相输入</a:t>
            </a:r>
            <a:endParaRPr lang="zh-CN" altLang="en-US" sz="2000" b="1" dirty="0">
              <a:latin typeface="Times New Roman" panose="02020603050405020304" charset="0"/>
            </a:endParaRPr>
          </a:p>
          <a:p>
            <a:pPr algn="ctr"/>
            <a:r>
              <a:rPr lang="zh-CN" altLang="en-US" sz="2000" b="1" dirty="0">
                <a:latin typeface="Times New Roman" panose="02020603050405020304" charset="0"/>
              </a:rPr>
              <a:t>单限比较器</a:t>
            </a:r>
            <a:endParaRPr lang="zh-CN" altLang="en-US" sz="2000" b="1">
              <a:latin typeface="Times New Roman" panose="02020603050405020304" charset="0"/>
            </a:endParaRPr>
          </a:p>
        </p:txBody>
      </p:sp>
      <p:sp>
        <p:nvSpPr>
          <p:cNvPr id="20487" name="线形标注 1 20486"/>
          <p:cNvSpPr/>
          <p:nvPr/>
        </p:nvSpPr>
        <p:spPr>
          <a:xfrm>
            <a:off x="7464425" y="2662238"/>
            <a:ext cx="1603375" cy="690562"/>
          </a:xfrm>
          <a:prstGeom prst="borderCallout1">
            <a:avLst>
              <a:gd name="adj1" fmla="val 16551"/>
              <a:gd name="adj2" fmla="val -4755"/>
              <a:gd name="adj3" fmla="val 73102"/>
              <a:gd name="adj4" fmla="val -17426"/>
            </a:avLst>
          </a:prstGeom>
          <a:solidFill>
            <a:srgbClr val="CCFFFF"/>
          </a:solidFill>
          <a:ln w="19050" cap="flat" cmpd="sng">
            <a:solidFill>
              <a:srgbClr val="FF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pPr algn="ctr"/>
            <a:r>
              <a:rPr lang="zh-CN" altLang="en-US" sz="2000" b="1" dirty="0">
                <a:latin typeface="Times New Roman" panose="02020603050405020304" charset="0"/>
              </a:rPr>
              <a:t>反相输入</a:t>
            </a:r>
            <a:endParaRPr lang="zh-CN" altLang="en-US" sz="2000" b="1" dirty="0">
              <a:latin typeface="Times New Roman" panose="02020603050405020304" charset="0"/>
            </a:endParaRPr>
          </a:p>
          <a:p>
            <a:pPr algn="ctr"/>
            <a:r>
              <a:rPr lang="zh-CN" altLang="en-US" sz="2000" b="1" dirty="0">
                <a:latin typeface="Times New Roman" panose="02020603050405020304" charset="0"/>
              </a:rPr>
              <a:t>滞回比较器</a:t>
            </a:r>
            <a:endParaRPr lang="zh-CN" altLang="en-US" sz="2000" b="1">
              <a:latin typeface="Times New Roman" panose="02020603050405020304" charset="0"/>
            </a:endParaRPr>
          </a:p>
        </p:txBody>
      </p:sp>
      <p:sp>
        <p:nvSpPr>
          <p:cNvPr id="20488" name="线形标注 1 20487"/>
          <p:cNvSpPr/>
          <p:nvPr/>
        </p:nvSpPr>
        <p:spPr>
          <a:xfrm>
            <a:off x="2667000" y="5041900"/>
            <a:ext cx="1176338" cy="673100"/>
          </a:xfrm>
          <a:prstGeom prst="borderCallout1">
            <a:avLst>
              <a:gd name="adj1" fmla="val 16981"/>
              <a:gd name="adj2" fmla="val 106477"/>
              <a:gd name="adj3" fmla="val 66509"/>
              <a:gd name="adj4" fmla="val 189069"/>
            </a:avLst>
          </a:prstGeom>
          <a:solidFill>
            <a:srgbClr val="CCFFFF"/>
          </a:solidFill>
          <a:ln w="19050" cap="flat" cmpd="sng">
            <a:solidFill>
              <a:srgbClr val="FF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pPr algn="ctr"/>
            <a:r>
              <a:rPr lang="zh-CN" altLang="en-US" sz="2000" b="1" dirty="0">
                <a:latin typeface="Times New Roman" panose="02020603050405020304" charset="0"/>
              </a:rPr>
              <a:t>窗口</a:t>
            </a:r>
            <a:endParaRPr lang="zh-CN" altLang="en-US" sz="2000" b="1" dirty="0">
              <a:latin typeface="Times New Roman" panose="02020603050405020304" charset="0"/>
            </a:endParaRPr>
          </a:p>
          <a:p>
            <a:pPr algn="ctr"/>
            <a:r>
              <a:rPr lang="zh-CN" altLang="en-US" sz="2000" b="1" dirty="0">
                <a:latin typeface="Times New Roman" panose="02020603050405020304" charset="0"/>
              </a:rPr>
              <a:t>比较器</a:t>
            </a:r>
            <a:endParaRPr lang="zh-CN" altLang="en-US" sz="2000" b="1">
              <a:latin typeface="Times New Roman" panose="020206030504050203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20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>
                                            <p:txEl>
                                              <p:charRg st="0" end="3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0485">
                                            <p:txEl>
                                              <p:charRg st="0" end="3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5" grpId="0" build="p"/>
      <p:bldP spid="20486" grpId="0" bldLvl="0" animBg="1"/>
      <p:bldP spid="20487" grpId="0" bldLvl="0" animBg="1"/>
      <p:bldP spid="20488" grpId="0" bldLvl="0" animBg="1"/>
    </p:bldLst>
  </p:timing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COMMONDATA" val="eyJoZGlkIjoiMWQ2ZTIxOWE1Y2RhZTg0ZmE3YTgxZmQzOWUzNmRjMGIifQ=="/>
  <p:tag name="KSO_WPP_MARK_KEY" val="5fbe144f-5b09-46d1-84be-0e18d86d189d"/>
</p:tagLst>
</file>

<file path=ppt/theme/theme1.xml><?xml version="1.0" encoding="utf-8"?>
<a:theme xmlns:a="http://schemas.openxmlformats.org/drawingml/2006/main" name="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9EDEE"/>
        </a:accent5>
        <a:accent6>
          <a:srgbClr val="2D2D8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5772</Words>
  <Application>WPS 演示</Application>
  <PresentationFormat>在屏幕上显示</PresentationFormat>
  <Paragraphs>501</Paragraphs>
  <Slides>45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99</vt:i4>
      </vt:variant>
      <vt:variant>
        <vt:lpstr>幻灯片标题</vt:lpstr>
      </vt:variant>
      <vt:variant>
        <vt:i4>45</vt:i4>
      </vt:variant>
    </vt:vector>
  </HeadingPairs>
  <TitlesOfParts>
    <vt:vector size="159" baseType="lpstr">
      <vt:lpstr>Arial</vt:lpstr>
      <vt:lpstr>宋体</vt:lpstr>
      <vt:lpstr>Wingdings</vt:lpstr>
      <vt:lpstr>隶书</vt:lpstr>
      <vt:lpstr>Times New Roman</vt:lpstr>
      <vt:lpstr>华文行楷</vt:lpstr>
      <vt:lpstr>Symbol</vt:lpstr>
      <vt:lpstr>华文新魏</vt:lpstr>
      <vt:lpstr>幼圆</vt:lpstr>
      <vt:lpstr>微软雅黑</vt:lpstr>
      <vt:lpstr>Arial Unicode MS</vt:lpstr>
      <vt:lpstr>黑体</vt:lpstr>
      <vt:lpstr>楷体_GB2312</vt:lpstr>
      <vt:lpstr>新宋体</vt:lpstr>
      <vt:lpstr>默认设计模板</vt:lpstr>
      <vt:lpstr>Paint.Picture</vt:lpstr>
      <vt:lpstr>MSPhotoEd.3</vt:lpstr>
      <vt:lpstr>MSPhotoEd.3</vt:lpstr>
      <vt:lpstr>MSPhotoEd.3</vt:lpstr>
      <vt:lpstr>MSPhotoEd.3</vt:lpstr>
      <vt:lpstr>Equation.3</vt:lpstr>
      <vt:lpstr>Equation.3</vt:lpstr>
      <vt:lpstr>MSPhotoEd.3</vt:lpstr>
      <vt:lpstr>MSPhotoEd.3</vt:lpstr>
      <vt:lpstr>MSPhotoEd.3</vt:lpstr>
      <vt:lpstr>MSPhotoEd.3</vt:lpstr>
      <vt:lpstr>Paint.Picture</vt:lpstr>
      <vt:lpstr>MSPhotoEd.3</vt:lpstr>
      <vt:lpstr>MSPhotoEd.3</vt:lpstr>
      <vt:lpstr>Equation.3</vt:lpstr>
      <vt:lpstr>Equation.3</vt:lpstr>
      <vt:lpstr>MSPhotoEd.3</vt:lpstr>
      <vt:lpstr>Equation.3</vt:lpstr>
      <vt:lpstr>Equation.3</vt:lpstr>
      <vt:lpstr>MSPhotoEd.3</vt:lpstr>
      <vt:lpstr>Equation.3</vt:lpstr>
      <vt:lpstr>Equation.3</vt:lpstr>
      <vt:lpstr>MSPhotoEd.3</vt:lpstr>
      <vt:lpstr>MSPhotoEd.3</vt:lpstr>
      <vt:lpstr>Equation.3</vt:lpstr>
      <vt:lpstr>Equation.3</vt:lpstr>
      <vt:lpstr>Equation.3</vt:lpstr>
      <vt:lpstr>MSPhotoEd.3</vt:lpstr>
      <vt:lpstr>MSPhotoEd.3</vt:lpstr>
      <vt:lpstr>Equation.3</vt:lpstr>
      <vt:lpstr>Equation.3</vt:lpstr>
      <vt:lpstr>Equation.3</vt:lpstr>
      <vt:lpstr>MSPhotoEd.3</vt:lpstr>
      <vt:lpstr>MSPhotoEd.3</vt:lpstr>
      <vt:lpstr>Equation.3</vt:lpstr>
      <vt:lpstr>Equation.3</vt:lpstr>
      <vt:lpstr>Equation.3</vt:lpstr>
      <vt:lpstr>Equation.3</vt:lpstr>
      <vt:lpstr>MSPhotoEd.3</vt:lpstr>
      <vt:lpstr>Equation.3</vt:lpstr>
      <vt:lpstr>Equation.3</vt:lpstr>
      <vt:lpstr>MSPhotoEd.3</vt:lpstr>
      <vt:lpstr>Equation.3</vt:lpstr>
      <vt:lpstr>MSPhotoEd.3</vt:lpstr>
      <vt:lpstr>Paint.Picture</vt:lpstr>
      <vt:lpstr>MSPhotoEd.3</vt:lpstr>
      <vt:lpstr>MSPhotoEd.3</vt:lpstr>
      <vt:lpstr>MSPhotoEd.3</vt:lpstr>
      <vt:lpstr>MSPhotoEd.3</vt:lpstr>
      <vt:lpstr>MSPhotoEd.3</vt:lpstr>
      <vt:lpstr>Equation.3</vt:lpstr>
      <vt:lpstr>Equation.3</vt:lpstr>
      <vt:lpstr>Equation.3</vt:lpstr>
      <vt:lpstr>MSPhotoEd.3</vt:lpstr>
      <vt:lpstr>MSPhotoEd.3</vt:lpstr>
      <vt:lpstr>Paint.Picture</vt:lpstr>
      <vt:lpstr>MSPhotoEd.3</vt:lpstr>
      <vt:lpstr>Equation.3</vt:lpstr>
      <vt:lpstr>Equation.3</vt:lpstr>
      <vt:lpstr>MSPhotoEd.3</vt:lpstr>
      <vt:lpstr>MSPhotoEd.3</vt:lpstr>
      <vt:lpstr>MSPhotoEd.3</vt:lpstr>
      <vt:lpstr>Equation.3</vt:lpstr>
      <vt:lpstr>Equation.3</vt:lpstr>
      <vt:lpstr>MSPhotoEd.3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MSPhotoEd.3</vt:lpstr>
      <vt:lpstr>MSPhotoEd.3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MSPhotoEd.3</vt:lpstr>
      <vt:lpstr>Equation.3</vt:lpstr>
      <vt:lpstr>Equation.3</vt:lpstr>
      <vt:lpstr>Equation.3</vt:lpstr>
      <vt:lpstr>Equation.3</vt:lpstr>
      <vt:lpstr>Equation.3</vt:lpstr>
      <vt:lpstr>Equation.3</vt:lpstr>
      <vt:lpstr>MSPhotoEd.3</vt:lpstr>
      <vt:lpstr>Equation.3</vt:lpstr>
      <vt:lpstr>Equation.3</vt:lpstr>
      <vt:lpstr>MSPhotoEd.3</vt:lpstr>
      <vt:lpstr>Equation.3</vt:lpstr>
      <vt:lpstr>Equation.3</vt:lpstr>
      <vt:lpstr>Equation.3</vt:lpstr>
      <vt:lpstr>Equation.3</vt:lpstr>
      <vt:lpstr>Equation.3</vt:lpstr>
      <vt:lpstr>Equation.3</vt:lpstr>
      <vt:lpstr>MSPhotoEd.3</vt:lpstr>
      <vt:lpstr>第5章 集成运算放大器的应用</vt:lpstr>
      <vt:lpstr> 5.1，集成电路的概述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 集成运放的种类</vt:lpstr>
      <vt:lpstr>5.2 运算电路</vt:lpstr>
      <vt:lpstr>一、概述  1. 电子系统简介</vt:lpstr>
      <vt:lpstr>2. 理想运放的参数特点</vt:lpstr>
      <vt:lpstr>4.  研究的问题</vt:lpstr>
      <vt:lpstr>二、比例运算电路      1.  反相输入</vt:lpstr>
      <vt:lpstr>PowerPoint 演示文稿</vt:lpstr>
      <vt:lpstr>2. 同相输入</vt:lpstr>
      <vt:lpstr>PowerPoint 演示文稿</vt:lpstr>
      <vt:lpstr>同相输入比例运算电路的特例：电压跟随器</vt:lpstr>
      <vt:lpstr>三、加减运算电路  1. 反相求和</vt:lpstr>
      <vt:lpstr>1. 反相求和</vt:lpstr>
      <vt:lpstr>2. 同相求和    设  R1∥ R2∥ R3∥ R4＝ R∥ Rf</vt:lpstr>
      <vt:lpstr>2. 同相求和    设  R1∥ R2∥ R3∥ R4＝ R∥ Rf</vt:lpstr>
      <vt:lpstr>3. 加减运算   利用求和运算电路的分析结果</vt:lpstr>
      <vt:lpstr>5.3  电压比较器</vt:lpstr>
      <vt:lpstr>一、概述</vt:lpstr>
      <vt:lpstr>3. 几种常用的电压比较器</vt:lpstr>
      <vt:lpstr>4、集成运放的非线性工作区</vt:lpstr>
      <vt:lpstr>二、单限比较器   1.  过零比较器</vt:lpstr>
      <vt:lpstr>输出限幅电路     为适应负载对电压幅值的要求，输出端加限幅电路。</vt:lpstr>
      <vt:lpstr>输出限幅电路</vt:lpstr>
      <vt:lpstr>PowerPoint 演示文稿</vt:lpstr>
      <vt:lpstr>PowerPoint 演示文稿</vt:lpstr>
      <vt:lpstr>三、滞回比较器   1. 阈值电压</vt:lpstr>
      <vt:lpstr>三、滞回比较器   2. 工作原理及电压传输特性</vt:lpstr>
      <vt:lpstr>讨论一：如何改变滞回比较器的电压传输特性</vt:lpstr>
      <vt:lpstr>PowerPoint 演示文稿</vt:lpstr>
      <vt:lpstr>PowerPoint 演示文稿</vt:lpstr>
      <vt:lpstr>四、窗口比较器</vt:lpstr>
      <vt:lpstr>五、集成比较器</vt:lpstr>
      <vt:lpstr>讨论一</vt:lpstr>
    </vt:vector>
  </TitlesOfParts>
  <Company>CHINA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第6章 集成运算放大器的应用</dc:title>
  <dc:creator>老师</dc:creator>
  <cp:lastModifiedBy>谢一峰</cp:lastModifiedBy>
  <cp:revision>37</cp:revision>
  <dcterms:created xsi:type="dcterms:W3CDTF">2010-05-06T14:26:00Z</dcterms:created>
  <dcterms:modified xsi:type="dcterms:W3CDTF">2025-12-23T04:00:14Z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46D5E59911894B95B22A5B225E63C616_12</vt:lpwstr>
  </property>
  <property fmtid="{D5CDD505-2E9C-101B-9397-08002B2CF9AE}" pid="3" name="KSOProductBuildVer">
    <vt:lpwstr>2052-12.1.0.24034</vt:lpwstr>
  </property>
</Properties>
</file>