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e0e02f5b5d4366" /><Relationship Type="http://schemas.openxmlformats.org/officeDocument/2006/relationships/extended-properties" Target="/docProps/app.xml" Id="Rf494ae1073234594" /><Relationship Type="http://schemas.openxmlformats.org/officeDocument/2006/relationships/officeDocument" Target="/ppt/presentation.xml" Id="R37ab08878ecc46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6b09b43d0945f5"/>
  </p:sldMasterIdLst>
  <p:notesMasterIdLst>
    <p:notesMasterId xmlns:r="http://schemas.openxmlformats.org/officeDocument/2006/relationships" r:id="R9f83630ada78419a"/>
  </p:notesMasterIdLst>
  <p:sldIdLst>
    <p:sldId xmlns:r="http://schemas.openxmlformats.org/officeDocument/2006/relationships" id="256" r:id="R9a4a4762cdba4929"/>
    <p:sldId xmlns:r="http://schemas.openxmlformats.org/officeDocument/2006/relationships" id="257" r:id="R1d2e3adc215f4068"/>
    <p:sldId xmlns:r="http://schemas.openxmlformats.org/officeDocument/2006/relationships" id="258" r:id="R6a81b706332b46c8"/>
    <p:sldId xmlns:r="http://schemas.openxmlformats.org/officeDocument/2006/relationships" id="259" r:id="Rdd21b698ab134b9f"/>
    <p:sldId xmlns:r="http://schemas.openxmlformats.org/officeDocument/2006/relationships" id="260" r:id="R0fccfcffbe484c7f"/>
    <p:sldId xmlns:r="http://schemas.openxmlformats.org/officeDocument/2006/relationships" id="261" r:id="R443d642406b14d66"/>
    <p:sldId xmlns:r="http://schemas.openxmlformats.org/officeDocument/2006/relationships" id="262" r:id="Ra5633d13175a46de"/>
    <p:sldId xmlns:r="http://schemas.openxmlformats.org/officeDocument/2006/relationships" id="263" r:id="Re9d5b6ffc16c4013"/>
    <p:sldId xmlns:r="http://schemas.openxmlformats.org/officeDocument/2006/relationships" id="264" r:id="R035800912f6c43bd"/>
    <p:sldId xmlns:r="http://schemas.openxmlformats.org/officeDocument/2006/relationships" id="265" r:id="R7cc33e8f088b4405"/>
    <p:sldId xmlns:r="http://schemas.openxmlformats.org/officeDocument/2006/relationships" id="266" r:id="R55d45d348b724272"/>
    <p:sldId xmlns:r="http://schemas.openxmlformats.org/officeDocument/2006/relationships" id="267" r:id="R9172f6bc4069435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6b09b43d0945f5" /><Relationship Type="http://schemas.openxmlformats.org/officeDocument/2006/relationships/theme" Target="/ppt/theme/theme1.xml" Id="R01cb9acc2fa04140" /><Relationship Type="http://schemas.openxmlformats.org/officeDocument/2006/relationships/notesMaster" Target="/ppt/notesMasters/notesMaster1.xml" Id="R9f83630ada78419a" /><Relationship Type="http://schemas.openxmlformats.org/officeDocument/2006/relationships/presProps" Target="/ppt/presProps.xml" Id="R926a78214f054149" /><Relationship Type="http://schemas.openxmlformats.org/officeDocument/2006/relationships/viewProps" Target="/ppt/viewProps.xml" Id="R21d560043fd64965" /><Relationship Type="http://schemas.openxmlformats.org/officeDocument/2006/relationships/tableStyles" Target="/ppt/tableStyles.xml" Id="R1f5a6326b57b4621" /><Relationship Type="http://schemas.openxmlformats.org/officeDocument/2006/relationships/slide" Target="/ppt/slides/slide1.xml" Id="R9a4a4762cdba4929" /><Relationship Type="http://schemas.openxmlformats.org/officeDocument/2006/relationships/slide" Target="/ppt/slides/slide2.xml" Id="R1d2e3adc215f4068" /><Relationship Type="http://schemas.openxmlformats.org/officeDocument/2006/relationships/slide" Target="/ppt/slides/slide3.xml" Id="R6a81b706332b46c8" /><Relationship Type="http://schemas.openxmlformats.org/officeDocument/2006/relationships/slide" Target="/ppt/slides/slide4.xml" Id="Rdd21b698ab134b9f" /><Relationship Type="http://schemas.openxmlformats.org/officeDocument/2006/relationships/slide" Target="/ppt/slides/slide5.xml" Id="R0fccfcffbe484c7f" /><Relationship Type="http://schemas.openxmlformats.org/officeDocument/2006/relationships/slide" Target="/ppt/slides/slide6.xml" Id="R443d642406b14d66" /><Relationship Type="http://schemas.openxmlformats.org/officeDocument/2006/relationships/slide" Target="/ppt/slides/slide7.xml" Id="Ra5633d13175a46de" /><Relationship Type="http://schemas.openxmlformats.org/officeDocument/2006/relationships/slide" Target="/ppt/slides/slide8.xml" Id="Re9d5b6ffc16c4013" /><Relationship Type="http://schemas.openxmlformats.org/officeDocument/2006/relationships/slide" Target="/ppt/slides/slide9.xml" Id="R035800912f6c43bd" /><Relationship Type="http://schemas.openxmlformats.org/officeDocument/2006/relationships/slide" Target="/ppt/slides/slide10.xml" Id="R7cc33e8f088b4405" /><Relationship Type="http://schemas.openxmlformats.org/officeDocument/2006/relationships/slide" Target="/ppt/slides/slide11.xml" Id="R55d45d348b724272" /><Relationship Type="http://schemas.openxmlformats.org/officeDocument/2006/relationships/slide" Target="/ppt/slides/slide12.xml" Id="R9172f6bc406943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01db7fe827a47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7d84cd8ae54dad" /><Relationship Type="http://schemas.openxmlformats.org/officeDocument/2006/relationships/notesMaster" Target="/ppt/notesMasters/notesMaster1.xml" Id="R8d570f6fdab540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27e2f3f2004805" /><Relationship Type="http://schemas.openxmlformats.org/officeDocument/2006/relationships/notesMaster" Target="/ppt/notesMasters/notesMaster1.xml" Id="R5ab51b715f0941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b7a77d561640e0" /><Relationship Type="http://schemas.openxmlformats.org/officeDocument/2006/relationships/notesMaster" Target="/ppt/notesMasters/notesMaster1.xml" Id="R5ee5a2a71a6b46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0a65f073464d50" /><Relationship Type="http://schemas.openxmlformats.org/officeDocument/2006/relationships/notesMaster" Target="/ppt/notesMasters/notesMaster1.xml" Id="R8e51085c9de34a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1bb72ca9064374" /><Relationship Type="http://schemas.openxmlformats.org/officeDocument/2006/relationships/notesMaster" Target="/ppt/notesMasters/notesMaster1.xml" Id="R52da2a6fb8884c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59774e5ae64ac0" /><Relationship Type="http://schemas.openxmlformats.org/officeDocument/2006/relationships/notesMaster" Target="/ppt/notesMasters/notesMaster1.xml" Id="R2a5f3796b1ea47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04bacf1c334502" /><Relationship Type="http://schemas.openxmlformats.org/officeDocument/2006/relationships/notesMaster" Target="/ppt/notesMasters/notesMaster1.xml" Id="R947bd74a40f848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14a8283c5d428e" /><Relationship Type="http://schemas.openxmlformats.org/officeDocument/2006/relationships/notesMaster" Target="/ppt/notesMasters/notesMaster1.xml" Id="Rc2630a11c8a944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e6290e85474a08" /><Relationship Type="http://schemas.openxmlformats.org/officeDocument/2006/relationships/notesMaster" Target="/ppt/notesMasters/notesMaster1.xml" Id="R4e3586b2af674a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cc8b2d08fc2401c" /><Relationship Type="http://schemas.openxmlformats.org/officeDocument/2006/relationships/notesMaster" Target="/ppt/notesMasters/notesMaster1.xml" Id="Rb0284f543096475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67bd11933d54fe2" /><Relationship Type="http://schemas.openxmlformats.org/officeDocument/2006/relationships/notesMaster" Target="/ppt/notesMasters/notesMaster1.xml" Id="Rc909e058ebc8495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79b55834e5a44fd" /><Relationship Type="http://schemas.openxmlformats.org/officeDocument/2006/relationships/notesMaster" Target="/ppt/notesMasters/notesMaster1.xml" Id="R2724c3bfa02744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封面页说明项目名称、模块范围和答辩信息占位字段。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mycode/app_ui.c: login/menu creation, page jumps, rank screen refresh, lv_obj_delete_async cleanup.</a:t>
            </a:r>
          </a:p>
          <a:p xmlns:a="http://schemas.openxmlformats.org/drawingml/2006/main">
            <a:r>
              <a:t>- code/medical.c and code/medical.h: queue data, add-patient form, IME, urgent insert, notice, idle timer, command parsing.</a:t>
            </a:r>
          </a:p>
          <a:p xmlns:a="http://schemas.openxmlformats.org/drawingml/2006/main">
            <a:r>
              <a:t>- mycode/2048.c: 4x4 matrix state, slide logic, score updates, best-score persistence.</a:t>
            </a:r>
          </a:p>
          <a:p xmlns:a="http://schemas.openxmlformats.org/drawingml/2006/main">
            <a:r>
              <a:t>- mycode/album.c: local BMP album, page wrap, auto-play timer, delete-time timer cleanup.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说明课程项目目标和为何把多个模块收敛到同一套 LVGL 工程里。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mycode/app_ui.c: login/menu creation, page jumps, rank screen refresh, lv_obj_delete_async cleanup.</a:t>
            </a:r>
          </a:p>
          <a:p xmlns:a="http://schemas.openxmlformats.org/drawingml/2006/main">
            <a:r>
              <a:t>- mycode/user_data.c and mycode/user_data.h: registration/login, default admin, TXT persistence, best-score ranking.</a:t>
            </a:r>
          </a:p>
          <a:p xmlns:a="http://schemas.openxmlformats.org/drawingml/2006/main">
            <a:r>
              <a:t>- code/medical.c and code/medical.h: queue data, add-patient form, IME, urgent insert, notice, idle timer, command parsing.</a:t>
            </a:r>
          </a:p>
          <a:p xmlns:a="http://schemas.openxmlformats.org/drawingml/2006/main">
            <a:r>
              <a:t>- mycode/2048.c: 4x4 matrix state, slide logic, score updates, best-score persistence.</a:t>
            </a:r>
          </a:p>
          <a:p xmlns:a="http://schemas.openxmlformats.org/drawingml/2006/main">
            <a:r>
              <a:t>- mycode/album.c: local BMP album, page wrap, auto-play timer, delete-time timer cleanup.</a:t>
            </a:r>
          </a:p>
          <a:p xmlns:a="http://schemas.openxmlformats.org/drawingml/2006/main">
            <a:r>
              <a:t>- main.c, lv_conf.h, CMakeLists.txt, mycode/ui_font.c: SDL runtime, fbdev hook, FreeType, IME, 2 MB LVGL memory pool, font loading.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说明页面关系、主菜单分发逻辑，以及 app_ui.c 中的页面创建与回退方式。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mycode/app_ui.c: login/menu creation, page jumps, rank screen refresh, lv_obj_delete_async cleanup.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说明用户层的注册登录、TXT 持久化和排行榜来源。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mycode/user_data.c and mycode/user_data.h: registration/login, default admin, TXT persistence, best-score ranking.</a:t>
            </a:r>
          </a:p>
          <a:p xmlns:a="http://schemas.openxmlformats.org/drawingml/2006/main">
            <a:r>
              <a:t>- mycode/app_ui.c: login/menu creation, page jumps, rank screen refresh, lv_obj_delete_async cleanup.</a:t>
            </a:r>
          </a:p>
          <a:p xmlns:a="http://schemas.openxmlformats.org/drawingml/2006/main">
            <a:r>
              <a:t>- mycode/2048.c: 4x4 matrix state, slide logic, score updates, best-score persistence.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展示医疗主界面的结构组成，并强调 current_patient、wait_queue、doctors、next_number 四个关键状态。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code/medical.c and code/medical.h: queue data, add-patient form, IME, urgent insert, notice, idle timer, command parsing.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说明弹窗交互、防误触、软键盘与拼音输入法的接入。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code/medical.c and code/medical.h: queue data, add-patient form, IME, urgent insert, notice, idle timer, command parsing.</a:t>
            </a:r>
          </a:p>
          <a:p xmlns:a="http://schemas.openxmlformats.org/drawingml/2006/main">
            <a:r>
              <a:t>- main.c, lv_conf.h, CMakeLists.txt, mycode/ui_font.c: SDL runtime, fbdev hook, FreeType, IME, 2 MB LVGL memory pool, font loading.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突出医疗模块的数组移位插队、命令解析、闪烁和 TTS 联动。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code/medical.c and code/medical.h: queue data, add-patient form, IME, urgent insert, notice, idle timer, command parsing.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先展示 2048 的可见界面和基本玩法，再在下一页展开算法实现。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mycode/2048.c: 4x4 matrix state, slide logic, score updates, best-score persistence.</a:t>
            </a:r>
          </a:p>
          <a:p xmlns:a="http://schemas.openxmlformats.org/drawingml/2006/main">
            <a:r>
              <a:t>- mycode/user_data.c and mycode/user_data.h: registration/login, default admin, TXT persistence, best-score ranking.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 2048 的矩阵算法和与 user_data.c 的最高分联动。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mycode/2048.c: 4x4 matrix state, slide logic, score updates, best-score persistence.</a:t>
            </a:r>
          </a:p>
          <a:p xmlns:a="http://schemas.openxmlformats.org/drawingml/2006/main">
            <a:r>
              <a:t>- mycode/user_data.c and mycode/user_data.h: registration/login, default admin, TXT persistence, best-score ranking.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介绍相册的本地图片路径、手动翻页和自动播放定时器清理。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mycode/album.c: local BMP album, page wrap, auto-play timer, delete-time timer cleanup.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这一页如实说明 SDL、fbdev 入口、FreeType/IME、路径硬编码，以及用 async delete 和定时器清理规避问题。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main.c, lv_conf.h, CMakeLists.txt, mycode/ui_font.c: SDL runtime, fbdev hook, FreeType, IME, 2 MB LVGL memory pool, font loading.</a:t>
            </a:r>
          </a:p>
          <a:p xmlns:a="http://schemas.openxmlformats.org/drawingml/2006/main">
            <a:r>
              <a:t>- mycode/app_ui.c: login/menu creation, page jumps, rank screen refresh, lv_obj_delete_async cleanup.</a:t>
            </a:r>
          </a:p>
          <a:p xmlns:a="http://schemas.openxmlformats.org/drawingml/2006/main">
            <a:r>
              <a:t>- mycode/album.c: local BMP album, page wrap, auto-play timer, delete-time timer cleanup.</a:t>
            </a:r>
          </a:p>
          <a:p xmlns:a="http://schemas.openxmlformats.org/drawingml/2006/main">
            <a:r>
              <a:t>- code/medical.c and code/medical.h: queue data, add-patient form, IME, urgent insert, notice, idle timer, command parsing.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收束整个答辩：总结本项目体现的页面组织、文件 I/O、算法和工程思考，再给出后续扩展方向。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mycode/app_ui.c: login/menu creation, page jumps, rank screen refresh, lv_obj_delete_async cleanup.</a:t>
            </a:r>
          </a:p>
          <a:p xmlns:a="http://schemas.openxmlformats.org/drawingml/2006/main">
            <a:r>
              <a:t>- mycode/user_data.c and mycode/user_data.h: registration/login, default admin, TXT persistence, best-score ranking.</a:t>
            </a:r>
          </a:p>
          <a:p xmlns:a="http://schemas.openxmlformats.org/drawingml/2006/main">
            <a:r>
              <a:t>- code/medical.c and code/medical.h: queue data, add-patient form, IME, urgent insert, notice, idle timer, command parsing.</a:t>
            </a:r>
          </a:p>
          <a:p xmlns:a="http://schemas.openxmlformats.org/drawingml/2006/main">
            <a:r>
              <a:t>- mycode/2048.c: 4x4 matrix state, slide logic, score updates, best-score persistence.</a:t>
            </a:r>
          </a:p>
          <a:p xmlns:a="http://schemas.openxmlformats.org/drawingml/2006/main">
            <a:r>
              <a:t>- mycode/album.c: local BMP album, page wrap, auto-play timer, delete-time timer cleanup.</a:t>
            </a:r>
          </a:p>
          <a:p xmlns:a="http://schemas.openxmlformats.org/drawingml/2006/main">
            <a:r>
              <a:t>- main.c, lv_conf.h, CMakeLists.txt, mycode/ui_font.c: SDL runtime, fbdev hook, FreeType, IME, 2 MB LVGL memory pool, font loading.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99e0a5aef8449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4CF70120-BE5D-43CD-A46D-99986FD18BF8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F8078423-D629-4550-969B-EC34C83CA083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393A92C-17E9-4702-AFA0-9FDB4B1F74B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EA66BA-658C-4F23-9EDE-75B4BA9E2DD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A3B6D80-B779-40B3-BDD6-6A69D6DD299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4ffc21d9fdc473d" /><Relationship Type="http://schemas.openxmlformats.org/officeDocument/2006/relationships/slideLayout" Target="/ppt/slideLayouts/slideLayout2.xml" Id="R356a7da03e8040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F6EFB5D-F8DA-4F6B-8FE1-BA67EBECF6F8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6a7da03e8040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7581cd49a04c98" /><Relationship Type="http://schemas.openxmlformats.org/officeDocument/2006/relationships/image" Target="/ppt/media/image.png" Id="R3842d337a3764140" /><Relationship Type="http://schemas.openxmlformats.org/officeDocument/2006/relationships/notesSlide" Target="/ppt/notesSlides/notesSlide1.xml" Id="R3b0da96fa6f34e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2b4e4a235c4e57" /><Relationship Type="http://schemas.openxmlformats.org/officeDocument/2006/relationships/image" Target="/ppt/media/image2.png" Id="R8b793dfeca564cfa" /><Relationship Type="http://schemas.openxmlformats.org/officeDocument/2006/relationships/notesSlide" Target="/ppt/notesSlides/notesSlide2.xml" Id="Ra5ae88c0bedb46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25dd7b89a541e5" /><Relationship Type="http://schemas.openxmlformats.org/officeDocument/2006/relationships/image" Target="/ppt/media/image3.png" Id="Rf51c1af9f4b74cb6" /><Relationship Type="http://schemas.openxmlformats.org/officeDocument/2006/relationships/notesSlide" Target="/ppt/notesSlides/notesSlide3.xml" Id="R56d04fb5cf094d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d113937ab747c3" /><Relationship Type="http://schemas.openxmlformats.org/officeDocument/2006/relationships/image" Target="/ppt/media/image4.png" Id="R58dda2d8d4284c26" /><Relationship Type="http://schemas.openxmlformats.org/officeDocument/2006/relationships/notesSlide" Target="/ppt/notesSlides/notesSlide4.xml" Id="R764a4f408cec40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75cd5c6fee47c8" /><Relationship Type="http://schemas.openxmlformats.org/officeDocument/2006/relationships/image" Target="/ppt/media/image5.png" Id="R78175857b34a4932" /><Relationship Type="http://schemas.openxmlformats.org/officeDocument/2006/relationships/notesSlide" Target="/ppt/notesSlides/notesSlide5.xml" Id="R35bd5cec60fe45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e328a9303f4ea3" /><Relationship Type="http://schemas.openxmlformats.org/officeDocument/2006/relationships/image" Target="/ppt/media/image6.png" Id="Ra29ca14033b640c2" /><Relationship Type="http://schemas.openxmlformats.org/officeDocument/2006/relationships/notesSlide" Target="/ppt/notesSlides/notesSlide6.xml" Id="R998c82f5cba141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72ee1130964412" /><Relationship Type="http://schemas.openxmlformats.org/officeDocument/2006/relationships/image" Target="/ppt/media/image7.png" Id="R5d2b7fcaef78488b" /><Relationship Type="http://schemas.openxmlformats.org/officeDocument/2006/relationships/notesSlide" Target="/ppt/notesSlides/notesSlide7.xml" Id="Re97c7b75a47640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072012c82f4c22" /><Relationship Type="http://schemas.openxmlformats.org/officeDocument/2006/relationships/image" Target="/ppt/media/image8.png" Id="Rab89cfe698754192" /><Relationship Type="http://schemas.openxmlformats.org/officeDocument/2006/relationships/notesSlide" Target="/ppt/notesSlides/notesSlide8.xml" Id="Rb8b861ad60a343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d0b93d65b34695" /><Relationship Type="http://schemas.openxmlformats.org/officeDocument/2006/relationships/image" Target="/ppt/media/image9.png" Id="Rf0edb2821d644ffb" /><Relationship Type="http://schemas.openxmlformats.org/officeDocument/2006/relationships/notesSlide" Target="/ppt/notesSlides/notesSlide9.xml" Id="R504bbe068e384e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527e11609c4233" /><Relationship Type="http://schemas.openxmlformats.org/officeDocument/2006/relationships/image" Target="/ppt/media/image10.png" Id="R8b19abb1fee74ef2" /><Relationship Type="http://schemas.openxmlformats.org/officeDocument/2006/relationships/notesSlide" Target="/ppt/notesSlides/notesSlide10.xml" Id="R719589875e644a2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2362be5a704063" /><Relationship Type="http://schemas.openxmlformats.org/officeDocument/2006/relationships/image" Target="/ppt/media/image11.png" Id="R04e2c49ae10f4672" /><Relationship Type="http://schemas.openxmlformats.org/officeDocument/2006/relationships/notesSlide" Target="/ppt/notesSlides/notesSlide11.xml" Id="R111f71d7d9864b8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1704525d654e94" /><Relationship Type="http://schemas.openxmlformats.org/officeDocument/2006/relationships/image" Target="/ppt/media/image12.png" Id="Rfe39ef54237b42f9" /><Relationship Type="http://schemas.openxmlformats.org/officeDocument/2006/relationships/notesSlide" Target="/ppt/notesSlides/notesSlide12.xml" Id="Rdb6aeadfe9ac49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A3B6D80-B779-40B3-BDD6-6A69D6DD29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2d337a3764140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4D7908-0322-42E9-AC6B-7EE845DA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12D5D4-8EDB-4574-9C18-F0DB1CBD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1087100" cy="5829300"/>
          </a:xfrm>
          <a:prstGeom xmlns:a="http://schemas.openxmlformats.org/drawingml/2006/main" prst="roundRect">
            <a:avLst>
              <a:gd name="adj" fmla="val 1307"/>
            </a:avLst>
          </a:prstGeom>
          <a:solidFill xmlns:a="http://schemas.openxmlformats.org/drawingml/2006/main">
            <a:srgbClr val="FFFEFC"/>
          </a:solidFill>
          <a:ln xmlns:a="http://schemas.openxmlformats.org/drawingml/2006/main" w="11430">
            <a:solidFill>
              <a:srgbClr val="E5DE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DDB1EF-2BC6-4034-83EB-4F277624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7145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19DE13-F5DD-4CB8-9BE3-3038C392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144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7C59"/>
                </a:solidFill>
              </a:defRPr>
            </a:pPr>
            <a:r>
              <a:rPr sz="1125" b="1">
                <a:solidFill>
                  <a:srgbClr val="4A7C59"/>
                </a:solidFill>
              </a:rPr>
              <a:t>嵌入式图形界面课程答辩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4C83C4-7432-4698-8A7C-F51AFE4F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33500"/>
            <a:ext cx="6096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33333"/>
                </a:solidFill>
              </a:defRPr>
            </a:pPr>
            <a:r>
              <a:rPr sz="3150" b="1">
                <a:solidFill>
                  <a:srgbClr val="333333"/>
                </a:solidFill>
              </a:rPr>
              <a:t>基于 LVGL 的多功能嵌入式交互系统设计与实现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C56DB1-BE82-4845-B0A3-907B2650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098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666"/>
                </a:solidFill>
              </a:defRPr>
            </a:pPr>
            <a:r>
              <a:rPr sz="1650" b="0">
                <a:solidFill>
                  <a:srgbClr val="666666"/>
                </a:solidFill>
              </a:rPr>
              <a:t>用户管理、医疗叫号、2048 与电子相册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0A2EC6-6F41-45A8-8C84-4AC069B2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62300"/>
            <a:ext cx="590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围绕 ubuntu_demo 工程，按真实代码现状梳理项目目标、模块实现、核心算法、工程配置与后续扩展。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F46964-30D1-4986-9D77-0688229A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81450"/>
            <a:ext cx="1047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293803-A90D-4E38-AA3E-242D061A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2907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3333"/>
                </a:solidFill>
              </a:defRPr>
            </a:pPr>
            <a:r>
              <a:rPr sz="900" b="1">
                <a:solidFill>
                  <a:srgbClr val="333333"/>
                </a:solidFill>
              </a:rPr>
              <a:t>用户系统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816F36-B3A7-48CC-B803-7219893A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981450"/>
            <a:ext cx="1047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E1A017-8042-4462-84CB-3CFCFB11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2907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3333"/>
                </a:solidFill>
              </a:defRPr>
            </a:pPr>
            <a:r>
              <a:rPr sz="900" b="1">
                <a:solidFill>
                  <a:srgbClr val="333333"/>
                </a:solidFill>
              </a:rPr>
              <a:t>医疗叫号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591402-5B8C-44E5-8CF2-85E17C95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981450"/>
            <a:ext cx="8953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7CC491-E2C1-433D-A39E-75E35CF1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2907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3333"/>
                </a:solidFill>
              </a:defRPr>
            </a:pPr>
            <a:r>
              <a:rPr sz="900" b="1">
                <a:solidFill>
                  <a:srgbClr val="333333"/>
                </a:solidFill>
              </a:rPr>
              <a:t>2048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6CD12F-64DC-4D64-8FF8-5A27D445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81450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B66ABD-8C4E-468E-8CB8-FEF1CDAB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29075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3333"/>
                </a:solidFill>
              </a:defRPr>
            </a:pPr>
            <a:r>
              <a:rPr sz="900" b="1">
                <a:solidFill>
                  <a:srgbClr val="333333"/>
                </a:solidFill>
              </a:rPr>
              <a:t>电子相册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B9B87B-6C35-469B-8F04-52969533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981450"/>
            <a:ext cx="1047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783E84-F5DC-4AFC-A245-F78DDB19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02907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3333"/>
                </a:solidFill>
              </a:defRPr>
            </a:pPr>
            <a:r>
              <a:rPr sz="900" b="1">
                <a:solidFill>
                  <a:srgbClr val="333333"/>
                </a:solidFill>
              </a:rPr>
              <a:t>工程适配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C1D4D0-F87E-4496-95E8-E7E54DAF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066800"/>
            <a:ext cx="300990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E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0C53FC-1C1A-4D2E-9370-5D76A952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2954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33333"/>
                </a:solidFill>
              </a:defRPr>
            </a:pPr>
            <a:r>
              <a:rPr sz="1575" b="1">
                <a:solidFill>
                  <a:srgbClr val="333333"/>
                </a:solidFill>
              </a:rPr>
              <a:t>答辩信息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8AC9D3-B7C1-4114-A348-CBB77E35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14500"/>
            <a:ext cx="24384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汇报人：姓名占位</a:t>
            </a:r>
          </a:p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学号：学号占位</a:t>
            </a:r>
          </a:p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课程：课程名称占位</a:t>
            </a:r>
          </a:p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日期：答辩日期占位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28B51B-92DB-414C-8F4E-34C38815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99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8178"/>
                </a:solidFill>
              </a:defRPr>
            </a:pPr>
            <a:r>
              <a:rPr sz="975" b="0">
                <a:solidFill>
                  <a:srgbClr val="8A8178"/>
                </a:solidFill>
              </a:rPr>
              <a:t>封面字段已留空，方便答辩前直接修改。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D5AE18-61DB-4D8D-9BAD-6F78CDF4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00500"/>
            <a:ext cx="30099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E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1318C6-6AE3-41D6-8199-3EFDE4D0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291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33333"/>
                </a:solidFill>
              </a:defRPr>
            </a:pPr>
            <a:r>
              <a:rPr sz="1575" b="1">
                <a:solidFill>
                  <a:srgbClr val="333333"/>
                </a:solidFill>
              </a:rPr>
              <a:t>本次汇报重点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34CBFA-A07B-46EC-8464-412E57AD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91050"/>
            <a:ext cx="2362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功能覆盖尽量完整，图片后续由项目截图和开发板照片替换。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3B17F3-F48F-4937-A5AA-2D73F314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01980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A7C59"/>
                </a:solidFill>
              </a:defRPr>
            </a:pPr>
            <a:r>
              <a:rPr sz="900" b="1">
                <a:solidFill>
                  <a:srgbClr val="4A7C59"/>
                </a:solidFill>
              </a:rPr>
              <a:t>01 / 12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C9EED5-3BFC-4A7F-A443-36DDA78C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626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178"/>
                </a:solidFill>
              </a:defRPr>
            </a:pPr>
            <a:r>
              <a:rPr sz="825" b="0">
                <a:solidFill>
                  <a:srgbClr val="8A8178"/>
                </a:solidFill>
              </a:rPr>
              <a:t>答辩用图示、照片与代码截图位置均已预留</a:t>
            </a:r>
          </a:p>
        </p:txBody>
      </p:sp>
    </p:spTree>
    <p:extLst>
      <p:ext uri="{BB962C8B-B14F-4D97-AF65-F5344CB8AC3E}">
        <p14:creationId xmlns:p14="http://schemas.microsoft.com/office/powerpoint/2010/main" val="17515247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A3B6D80-B779-40B3-BDD6-6A69D6DD29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793dfeca564cfa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A718B0-3369-4E41-8D26-6A486F2D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E94443-4A39-4A2A-AF0D-28EB2C63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项目目标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B36354-7530-4449-9EB0-9399C909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02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548EEC-33FE-4D9D-B0FC-E3C0636A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C66228-A264-41C3-ADA7-B5AA2334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2230B8-4D08-4E58-B2FC-ECFCFE23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429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33333"/>
                </a:solidFill>
              </a:defRPr>
            </a:pPr>
            <a:r>
              <a:rPr sz="3000" b="1">
                <a:solidFill>
                  <a:srgbClr val="333333"/>
                </a:solidFill>
              </a:rPr>
              <a:t>项目背景与目标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F1A5E9-9B03-4E1D-A5C4-5FDF29B1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</a:defRPr>
            </a:pPr>
            <a:r>
              <a:rPr sz="1425" b="0">
                <a:solidFill>
                  <a:srgbClr val="666666"/>
                </a:solidFill>
              </a:rPr>
              <a:t>把 LVGL、文件 I/O 与多页面交互组合成一个完整课程项目。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6A7379-7BFC-4E46-BA45-020177CD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6096000" cy="384810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E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D1F410-6D8A-44D2-8992-AB67BF3F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609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E40188-F3B8-4D20-957F-EE1F5628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567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3333"/>
                </a:solidFill>
              </a:defRPr>
            </a:pPr>
            <a:r>
              <a:rPr sz="1650" b="1">
                <a:solidFill>
                  <a:srgbClr val="333333"/>
                </a:solidFill>
              </a:rPr>
              <a:t>为什么做成综合项目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2C5646-9C7D-49E7-A5CC-35AF14CD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56769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综合使用 LVGL、文件 I/O 和多页面 UI。</a:t>
            </a:r>
          </a:p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用一个工程串起登录、业务、娱乐和数据持久化。</a:t>
            </a:r>
          </a:p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在 Ubuntu 仿真环境里先验证界面与逻辑。</a:t>
            </a:r>
          </a:p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为后续 RK3568 适配保留运行入口和资源准备。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47AC13-3CC4-4415-AFC2-1C3AF1FE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76450"/>
            <a:ext cx="4381500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FCFAF6"/>
          </a:solidFill>
          <a:ln xmlns:a="http://schemas.openxmlformats.org/drawingml/2006/main" w="14288">
            <a:solidFill>
              <a:srgbClr val="4A7C5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3CD5EF-AD25-4957-8F5A-6A89A6E2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6695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25FC4F-076E-4C81-BAE8-C8542A3D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5295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DD0078-BC1C-4281-8640-53BD8E7A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05050"/>
            <a:ext cx="1066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310EE0-5C92-4AF4-A6F6-993C11A7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6220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3333"/>
                </a:solidFill>
              </a:defRPr>
            </a:pPr>
            <a:r>
              <a:rPr sz="900" b="1">
                <a:solidFill>
                  <a:srgbClr val="333333"/>
                </a:solidFill>
              </a:rPr>
              <a:t>图片占位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1E6951-82C3-4806-9BC0-EBEB5263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71825"/>
            <a:ext cx="3810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33333"/>
                </a:solidFill>
              </a:defRPr>
            </a:pPr>
            <a:r>
              <a:rPr sz="1800" b="1">
                <a:solidFill>
                  <a:srgbClr val="333333"/>
                </a:solidFill>
              </a:rPr>
              <a:t>功能模块结构图占位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8B9C62-637E-41BD-BB28-AB97D518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33775"/>
            <a:ext cx="3695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建议后续放项目功能框图或菜单层级图。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421C2E-7662-42A1-A7CE-EEF85507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00600"/>
            <a:ext cx="4381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E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327F36-9BA1-4C29-94A8-593D2604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00600"/>
            <a:ext cx="4381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EAFD77-B290-48AC-9E7F-068EEBA5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991100"/>
            <a:ext cx="3962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3333"/>
                </a:solidFill>
              </a:defRPr>
            </a:pPr>
            <a:r>
              <a:rPr sz="1650" b="1">
                <a:solidFill>
                  <a:srgbClr val="333333"/>
                </a:solidFill>
              </a:rPr>
              <a:t>本次汇报主线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FB5F5D-1DC1-4183-9E7C-C2DBBA7B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429250"/>
            <a:ext cx="3962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• 项目目标 → 系统结构 → 功能模块 → 核心算法 → 工程配置与问题解决。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7EBF97-BDF0-4446-81BF-A9797B67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178"/>
                </a:solidFill>
              </a:defRPr>
            </a:pPr>
            <a:r>
              <a:rPr sz="750" b="0">
                <a:solidFill>
                  <a:srgbClr val="8A8178"/>
                </a:solidFill>
              </a:rPr>
              <a:t>截图、实物照片和代码截图由答辩前自行替换到占位框中</a:t>
            </a:r>
          </a:p>
        </p:txBody>
      </p:sp>
    </p:spTree>
    <p:extLst>
      <p:ext uri="{BB962C8B-B14F-4D97-AF65-F5344CB8AC3E}">
        <p14:creationId xmlns:p14="http://schemas.microsoft.com/office/powerpoint/2010/main" val="9464206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A3B6D80-B779-40B3-BDD6-6A69D6DD29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1c1af9f4b74cb6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4C1AC8-8D7D-4A0F-8403-B282DB28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624253-A6F5-43E5-9A65-23C092A3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系统结构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E43529-090B-4CD8-A447-0083AF8D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03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A4B2A6-190A-4A51-B75B-47B090BF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A33BF-0763-4BB9-8C9A-AEB3C86C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F852A3-4495-4D1A-B49A-05D4189E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429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33333"/>
                </a:solidFill>
              </a:defRPr>
            </a:pPr>
            <a:r>
              <a:rPr sz="3000" b="1">
                <a:solidFill>
                  <a:srgbClr val="333333"/>
                </a:solidFill>
              </a:rPr>
              <a:t>系统整体结构与页面调度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5C64A5-E2FF-4230-9FAF-6711F972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</a:defRPr>
            </a:pPr>
            <a:r>
              <a:rPr sz="1425" b="0">
                <a:solidFill>
                  <a:srgbClr val="666666"/>
                </a:solidFill>
              </a:rPr>
              <a:t>页面关系围绕登录入口、主菜单分发和子页面回退展开。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0A8FCF-D197-4F9E-8AB4-AF7379B8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66675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E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E01DF0-4298-49AC-84F5-C1293100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3333"/>
                </a:solidFill>
              </a:defRPr>
            </a:pPr>
            <a:r>
              <a:rPr sz="1650" b="1">
                <a:solidFill>
                  <a:srgbClr val="333333"/>
                </a:solidFill>
              </a:rPr>
              <a:t>页面流转关系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D2FDA6-162D-4CD1-BB48-4DD117FB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241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5DE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CDCD6F-76C6-42A2-93C0-1216D37D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57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5E8F52-386C-4459-9FFA-520B8A0E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2417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3333"/>
                </a:solidFill>
              </a:defRPr>
            </a:pPr>
            <a:r>
              <a:rPr sz="975" b="1">
                <a:solidFill>
                  <a:srgbClr val="333333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A00732-409D-4617-8C57-AE640DBC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76550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登录页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22FF34-6EC8-4138-BA58-6CE43E02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71825"/>
            <a:ext cx="1181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666"/>
                </a:solidFill>
              </a:defRPr>
            </a:pPr>
            <a:r>
              <a:rPr sz="1050" b="0">
                <a:solidFill>
                  <a:srgbClr val="666666"/>
                </a:solidFill>
              </a:rPr>
              <a:t>输入用户名和密码。</a:t>
            </a:r>
          </a:p>
          <a:p xmlns:a="http://schemas.openxmlformats.org/drawingml/2006/main">
            <a:pPr algn="l">
              <a:defRPr sz="1050" b="0">
                <a:solidFill>
                  <a:srgbClr val="666666"/>
                </a:solidFill>
              </a:defRPr>
            </a:pPr>
            <a:r>
              <a:rPr sz="1050" b="0">
                <a:solidFill>
                  <a:srgbClr val="666666"/>
                </a:solidFill>
              </a:rPr>
              <a:t>注册、登录都从这里进入。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F90CC4-BACE-4262-8414-F00AFD9C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124200"/>
            <a:ext cx="457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9AC164-2EE5-4006-9C9E-51073C94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241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5DE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0DFAF0-25E2-4EE5-816C-C6B2E02F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57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365D35-1FD1-4143-A095-BEB3114F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2417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3333"/>
                </a:solidFill>
              </a:defRPr>
            </a:pPr>
            <a:r>
              <a:rPr sz="975" b="1">
                <a:solidFill>
                  <a:srgbClr val="3333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467A2B-6ED7-43B0-93F4-8B3BB8E8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76550"/>
            <a:ext cx="933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主菜单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AB88FA-BF37-4C2F-A568-55B4D6AE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71825"/>
            <a:ext cx="12763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666"/>
                </a:solidFill>
              </a:defRPr>
            </a:pPr>
            <a:r>
              <a:rPr sz="1050" b="0">
                <a:solidFill>
                  <a:srgbClr val="666666"/>
                </a:solidFill>
              </a:rPr>
              <a:t>统一进入 2048、电子相册、医疗叫号和排行榜。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7A6D5C-CDAA-4506-B91B-DB2C2837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600450"/>
            <a:ext cx="76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01ED2B-08F6-4BCC-A0C6-CE4648FA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14097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5DE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0B3827-44CC-42C3-A1AE-0EB0C41E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48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D1AF5B-70D9-4816-BC62-5EBE8ACF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1482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3333"/>
                </a:solidFill>
              </a:defRPr>
            </a:pPr>
            <a:r>
              <a:rPr sz="975" b="1">
                <a:solidFill>
                  <a:srgbClr val="333333"/>
                </a:solidFill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05C393-DDCF-4E79-A095-342478F1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6720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2048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C6971A-E6DF-4736-BCAD-5CE14EE5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62475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666"/>
                </a:solidFill>
              </a:defRPr>
            </a:pPr>
            <a:r>
              <a:rPr sz="1050" b="0">
                <a:solidFill>
                  <a:srgbClr val="666666"/>
                </a:solidFill>
              </a:rPr>
              <a:t>滑动交互、分数与最高分更新。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CC3F8A-40F3-4A76-BC5B-EBD9FF85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114800"/>
            <a:ext cx="14097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5DED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FDF308-2C87-422D-ABE9-8EA29069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248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A4BE1B-2F70-41FD-AAE8-31E65E7A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31482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3333"/>
                </a:solidFill>
              </a:defRPr>
            </a:pPr>
            <a:r>
              <a:rPr sz="975" b="1">
                <a:solidFill>
                  <a:srgbClr val="333333"/>
                </a:solidFill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ECF45E-635D-4CC8-9BA2-48839CE9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26720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电子相册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47599A-6DA4-4ABA-95F6-CAD17396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562475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666"/>
                </a:solidFill>
              </a:defRPr>
            </a:pPr>
            <a:r>
              <a:rPr sz="1050" b="0">
                <a:solidFill>
                  <a:srgbClr val="666666"/>
                </a:solidFill>
              </a:rPr>
              <a:t>本地 BMP 浏览和自动轮播。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99CCAE-8F35-4B25-9F6A-622C6CF2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114800"/>
            <a:ext cx="14097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5DED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6F4AE4-8A0D-4137-9DBD-142391D0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48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DEB035-3317-414D-BBAA-29C895C2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1482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3333"/>
                </a:solidFill>
              </a:defRPr>
            </a:pPr>
            <a:r>
              <a:rPr sz="975" b="1">
                <a:solidFill>
                  <a:srgbClr val="333333"/>
                </a:solidFill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6D0F45-AD72-46EE-AC94-55437197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6720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医疗叫号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823AA2-E7A1-427A-8A04-841D6BB8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562475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666"/>
                </a:solidFill>
              </a:defRPr>
            </a:pPr>
            <a:r>
              <a:rPr sz="1050" b="0">
                <a:solidFill>
                  <a:srgbClr val="666666"/>
                </a:solidFill>
              </a:rPr>
              <a:t>队列、医生信息、添加病人和公告。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E5846C-0053-40C1-A8C0-266D1816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14800"/>
            <a:ext cx="14097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5DED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0C5955-14CA-4416-B29B-F839FD70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248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771F8B-4E83-455B-AC59-A4BA8088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31482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3333"/>
                </a:solidFill>
              </a:defRPr>
            </a:pPr>
            <a:r>
              <a:rPr sz="975" b="1">
                <a:solidFill>
                  <a:srgbClr val="333333"/>
                </a:solidFill>
              </a:rPr>
              <a:t>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C563643-4371-4E6C-B4DC-42B13A1D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6720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排行榜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095F42-A59C-4C60-AAF7-CD80275B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562475"/>
            <a:ext cx="1066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666"/>
                </a:solidFill>
              </a:defRPr>
            </a:pPr>
            <a:r>
              <a:rPr sz="1050" b="0">
                <a:solidFill>
                  <a:srgbClr val="666666"/>
                </a:solidFill>
              </a:rPr>
              <a:t>读取用户最高分并排序展示。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0B54D71-940E-4F6C-8984-F14ED5DB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19300"/>
            <a:ext cx="3848100" cy="409575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ED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5B8A51C-3B96-49B4-9092-6F7A31EC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47900"/>
            <a:ext cx="339090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CFAF6"/>
          </a:solidFill>
          <a:ln xmlns:a="http://schemas.openxmlformats.org/drawingml/2006/main" w="14288">
            <a:solidFill>
              <a:srgbClr val="4A7C5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E6EDF79-DA08-4284-A73A-13A7363B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38400"/>
            <a:ext cx="300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514C078-E17C-42EB-A566-7D12306B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81450"/>
            <a:ext cx="300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8867F4B-1160-41B7-B68F-05BC6919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76500"/>
            <a:ext cx="1066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96E32CB-EB7D-440A-B6C2-6117E32B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336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3333"/>
                </a:solidFill>
              </a:defRPr>
            </a:pPr>
            <a:r>
              <a:rPr sz="900" b="1">
                <a:solidFill>
                  <a:srgbClr val="333333"/>
                </a:solidFill>
              </a:rPr>
              <a:t>图片占位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4670383-8A21-4810-8014-DE3D8C32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67050"/>
            <a:ext cx="2819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33333"/>
                </a:solidFill>
              </a:defRPr>
            </a:pPr>
            <a:r>
              <a:rPr sz="1800" b="1">
                <a:solidFill>
                  <a:srgbClr val="333333"/>
                </a:solidFill>
              </a:rPr>
              <a:t>主菜单或流程图占位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0BB2C8-0C8E-4F23-B99E-46EAEFB9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2705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建议后续放主菜单界面截图。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125DF1D-402A-42BF-9C73-0263F8ED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38650"/>
            <a:ext cx="33909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ED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4A6CB2C-B834-4746-8BAB-E68057A3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38650"/>
            <a:ext cx="3390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DEDFC4C-EF56-4853-A42B-77A15180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29150"/>
            <a:ext cx="2971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3333"/>
                </a:solidFill>
              </a:defRPr>
            </a:pPr>
            <a:r>
              <a:rPr sz="1650" b="1">
                <a:solidFill>
                  <a:srgbClr val="333333"/>
                </a:solidFill>
              </a:rPr>
              <a:t>页面调度亮点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FA1CAD9-B74E-4575-983E-88BB3775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67300"/>
            <a:ext cx="2971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• 主页面跳转使用 lv_screen_load_anim。</a:t>
            </a:r>
          </a:p>
          <a:p xmlns:a="http://schemas.openxmlformats.org/drawingml/2006/main"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• 退出登录前先切页，再异步销毁子页面。</a:t>
            </a:r>
          </a:p>
          <a:p xmlns:a="http://schemas.openxmlformats.org/drawingml/2006/main"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• 排行榜页面支持按需创建和刷新。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B93E104-94A5-463A-8935-F7AA4E2D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178"/>
                </a:solidFill>
              </a:defRPr>
            </a:pPr>
            <a:r>
              <a:rPr sz="750" b="0">
                <a:solidFill>
                  <a:srgbClr val="8A8178"/>
                </a:solidFill>
              </a:rPr>
              <a:t>截图、实物照片和代码截图由答辩前自行替换到占位框中</a:t>
            </a:r>
          </a:p>
        </p:txBody>
      </p:sp>
    </p:spTree>
    <p:extLst>
      <p:ext uri="{BB962C8B-B14F-4D97-AF65-F5344CB8AC3E}">
        <p14:creationId xmlns:p14="http://schemas.microsoft.com/office/powerpoint/2010/main" val="10175538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A3B6D80-B779-40B3-BDD6-6A69D6DD29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dda2d8d4284c26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EEC661-C64C-440F-8247-0136D6C0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386BC3-5DE4-4808-ADF4-590F5032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用户模块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0EC6FA-3A1F-4374-9D2A-52F5C1B2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04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717C47-1CCA-4FF8-8914-7662CC02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854140-B688-46BE-8759-5D5924AF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B44A70-3822-4F1B-A3DF-C1A6F4EE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429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33333"/>
                </a:solidFill>
              </a:defRPr>
            </a:pPr>
            <a:r>
              <a:rPr sz="3000" b="1">
                <a:solidFill>
                  <a:srgbClr val="333333"/>
                </a:solidFill>
              </a:rPr>
              <a:t>用户管理与排行榜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231068-F810-492D-9C5D-242ED8CC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</a:defRPr>
            </a:pPr>
            <a:r>
              <a:rPr sz="1425" b="0">
                <a:solidFill>
                  <a:srgbClr val="666666"/>
                </a:solidFill>
              </a:rPr>
              <a:t>注册、登录、TXT 持久化和最高分排行构成项目的基础数据层。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BDF446-9A83-4AF9-B945-7403058F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4762500" cy="384810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E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075CEF-86E2-4A54-A08B-A6F907A7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476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1E6515-46ED-4067-AC98-2D63B235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434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3333"/>
                </a:solidFill>
              </a:defRPr>
            </a:pPr>
            <a:r>
              <a:rPr sz="1650" b="1">
                <a:solidFill>
                  <a:srgbClr val="333333"/>
                </a:solidFill>
              </a:rPr>
              <a:t>实现要点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C16900-C75C-4ADD-84AF-747F7082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43434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user_register 和 user_login 负责账号校验。</a:t>
            </a:r>
          </a:p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系统启动时会兜底创建默认 admin 账号。</a:t>
            </a:r>
          </a:p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用户数据写入 user_data.txt，断电后可恢复。</a:t>
            </a:r>
          </a:p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2048 破纪录后会同步刷新当前用户最高分。</a:t>
            </a:r>
          </a:p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排行榜按 best_score 降序排序展示。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717743-CBA6-4D6E-B0B6-2B51F889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CF7">
              <a:alpha val="94902"/>
            </a:srgbClr>
          </a:solidFill>
          <a:ln xmlns:a="http://schemas.openxmlformats.org/drawingml/2006/main" w="9525">
            <a:solidFill>
              <a:srgbClr val="E5DE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B803D1-F894-4350-ADD3-71BE38FA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020582-86A1-48D6-9063-5F531A76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339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默认账号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404F1A-11A7-4AEC-B840-3EC06414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197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admin / 123456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22CD0C-4195-4C4E-B621-6503A27E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2190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CF7">
              <a:alpha val="94902"/>
            </a:srgbClr>
          </a:solidFill>
          <a:ln xmlns:a="http://schemas.openxmlformats.org/drawingml/2006/main" w="9525">
            <a:solidFill>
              <a:srgbClr val="E5DE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D98848-0278-40D5-AE48-7210E74A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A319FC-6E28-4EFF-B37F-FE8F3479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9339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存储形式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A26E61-F7B6-4DD4-BC4B-A4ABD3E0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2197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username,password,best_score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9C48D4-5B31-4D44-B835-65B72A82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76450"/>
            <a:ext cx="5810250" cy="384810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E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77FEFF-9E3D-4BCB-9619-B2107467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24100"/>
            <a:ext cx="53149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CFAF6"/>
          </a:solidFill>
          <a:ln xmlns:a="http://schemas.openxmlformats.org/drawingml/2006/main" w="14288">
            <a:solidFill>
              <a:srgbClr val="4A7C5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E2B73F-9DC9-4594-B23E-11AC67E0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14600"/>
            <a:ext cx="493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ACAA1E-582A-4D35-9C81-ED3E519A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95700"/>
            <a:ext cx="493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519202-AB00-4C91-A11A-E93687DB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52700"/>
            <a:ext cx="1066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FD57E3-DC5C-4195-A9FA-D135119A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098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3333"/>
                </a:solidFill>
              </a:defRPr>
            </a:pPr>
            <a:r>
              <a:rPr sz="900" b="1">
                <a:solidFill>
                  <a:srgbClr val="333333"/>
                </a:solidFill>
              </a:rPr>
              <a:t>图片占位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C9198F-3039-45EA-8A86-0C349B1E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43250"/>
            <a:ext cx="4743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33333"/>
                </a:solidFill>
              </a:defRPr>
            </a:pPr>
            <a:r>
              <a:rPr sz="1800" b="1">
                <a:solidFill>
                  <a:srgbClr val="333333"/>
                </a:solidFill>
              </a:rPr>
              <a:t>登录界面截图位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BD191B-B37B-46B2-8E35-E6E1B80D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6235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建议放账号输入、密码输入和软键盘截图。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E8BB12-2192-4C54-B824-AAB3651E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114800"/>
            <a:ext cx="53149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CFAF6"/>
          </a:solidFill>
          <a:ln xmlns:a="http://schemas.openxmlformats.org/drawingml/2006/main" w="14288">
            <a:solidFill>
              <a:srgbClr val="4A7C5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F2C2A7-B044-4293-BE6F-0430B98C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05300"/>
            <a:ext cx="493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0AD63E-A81C-4C8D-A2E8-3EAA8ECE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486400"/>
            <a:ext cx="493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78D40B-E3D4-4023-852A-F7D97703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43400"/>
            <a:ext cx="1066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9E10AF-24BD-41F2-A473-D51AC09D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005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3333"/>
                </a:solidFill>
              </a:defRPr>
            </a:pPr>
            <a:r>
              <a:rPr sz="900" b="1">
                <a:solidFill>
                  <a:srgbClr val="333333"/>
                </a:solidFill>
              </a:rPr>
              <a:t>图片占位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5FD8D5-CEC5-4CB8-A860-F7E1CC94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33950"/>
            <a:ext cx="4743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33333"/>
                </a:solidFill>
              </a:defRPr>
            </a:pPr>
            <a:r>
              <a:rPr sz="1800" b="1">
                <a:solidFill>
                  <a:srgbClr val="333333"/>
                </a:solidFill>
              </a:rPr>
              <a:t>排行榜界面截图位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E1B90C-2E8D-4844-AF99-69D0AE1E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35305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建议放当前用户和排行列表截图。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0A5E20-1F55-4A93-B27A-6B2EC97C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178"/>
                </a:solidFill>
              </a:defRPr>
            </a:pPr>
            <a:r>
              <a:rPr sz="750" b="0">
                <a:solidFill>
                  <a:srgbClr val="8A8178"/>
                </a:solidFill>
              </a:rPr>
              <a:t>截图、实物照片和代码截图由答辩前自行替换到占位框中</a:t>
            </a:r>
          </a:p>
        </p:txBody>
      </p:sp>
    </p:spTree>
    <p:extLst>
      <p:ext uri="{BB962C8B-B14F-4D97-AF65-F5344CB8AC3E}">
        <p14:creationId xmlns:p14="http://schemas.microsoft.com/office/powerpoint/2010/main" val="4249462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A3B6D80-B779-40B3-BDD6-6A69D6DD29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175857b34a4932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3C0E29-449F-4609-B1FD-F267EC49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18493E-B7AD-4121-BC2D-EDA3C1E2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医疗模块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D58E1-BFA2-4D92-B62E-3DDC5A76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05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AF6707-83A9-472B-8ECB-4CD7D8E9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42557A-BEF1-46D3-83F5-A52B90A1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B266C5-3877-4AA7-8C62-AE7B3E67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429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33333"/>
                </a:solidFill>
              </a:defRPr>
            </a:pPr>
            <a:r>
              <a:rPr sz="3000" b="1">
                <a:solidFill>
                  <a:srgbClr val="333333"/>
                </a:solidFill>
              </a:rPr>
              <a:t>医疗叫号系统概览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F59074-E693-4372-A554-54366017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</a:defRPr>
            </a:pPr>
            <a:r>
              <a:rPr sz="1425" b="0">
                <a:solidFill>
                  <a:srgbClr val="666666"/>
                </a:solidFill>
              </a:rPr>
              <a:t>医疗模块不只是界面展示，还包含排队状态、医生信息和底部操作控制。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FA8A19-FAFE-4F8C-B5DF-455CF98F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6858000" cy="384810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CFAF6"/>
          </a:solidFill>
          <a:ln xmlns:a="http://schemas.openxmlformats.org/drawingml/2006/main" w="14288">
            <a:solidFill>
              <a:srgbClr val="4A7C5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E2A0B3-BB8A-4C65-BDBE-C19B7B1E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760F84-7722-44E0-8253-727425AD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E29C72-EBDC-4565-8F93-20DD9836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1066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C5DF56-398E-43AE-B020-5A7B5E25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6220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3333"/>
                </a:solidFill>
              </a:defRPr>
            </a:pPr>
            <a:r>
              <a:rPr sz="900" b="1">
                <a:solidFill>
                  <a:srgbClr val="333333"/>
                </a:solidFill>
              </a:rPr>
              <a:t>图片占位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83EAF6-1D1D-4F97-9FE2-31E2F762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628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33333"/>
                </a:solidFill>
              </a:defRPr>
            </a:pPr>
            <a:r>
              <a:rPr sz="1800" b="1">
                <a:solidFill>
                  <a:srgbClr val="333333"/>
                </a:solidFill>
              </a:rPr>
              <a:t>医疗主界面截图位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89B010-F978-4D37-9C6A-CD7D9BE6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14800"/>
            <a:ext cx="6172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建议放当前叫号大卡、等候队列、医生信息和底部按钮的完整页面。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5AD735-DF07-48AF-8A9E-01A8FC18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76450"/>
            <a:ext cx="3714750" cy="384810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E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15A3F2-8808-43DF-8E5A-61FAF06C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860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3333"/>
                </a:solidFill>
              </a:defRPr>
            </a:pPr>
            <a:r>
              <a:rPr sz="1650" b="1">
                <a:solidFill>
                  <a:srgbClr val="333333"/>
                </a:solidFill>
              </a:rPr>
              <a:t>核心数据点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560015-3BBF-4A5E-B0B8-139A9CCF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67000"/>
            <a:ext cx="15621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CF7">
              <a:alpha val="94902"/>
            </a:srgbClr>
          </a:solidFill>
          <a:ln xmlns:a="http://schemas.openxmlformats.org/drawingml/2006/main" w="9525">
            <a:solidFill>
              <a:srgbClr val="E5DE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9E3440-FA58-4B5C-8B8E-8605A42D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670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8A0ECC-51E9-4B60-A6CD-D92149D5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3845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current_patient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888DE9-40D2-4369-B0F2-047A6611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24200"/>
            <a:ext cx="1181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当前叫号病人信息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430342-59C3-4712-B07A-2D5CD18A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67000"/>
            <a:ext cx="15621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CF7">
              <a:alpha val="94902"/>
            </a:srgbClr>
          </a:solidFill>
          <a:ln xmlns:a="http://schemas.openxmlformats.org/drawingml/2006/main" w="9525">
            <a:solidFill>
              <a:srgbClr val="E5DE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B68BBF-B1A6-47D0-931C-4B74435E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670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A64046-7831-4117-8D25-6A702550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3845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wait_queue[10]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74020D-DBEF-4ECE-BEA9-4C47EB2A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124200"/>
            <a:ext cx="1181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固定长度等待队列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F8DE30-5D46-42E3-98B8-4959D3C3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48100"/>
            <a:ext cx="15621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CF7">
              <a:alpha val="94902"/>
            </a:srgbClr>
          </a:solidFill>
          <a:ln xmlns:a="http://schemas.openxmlformats.org/drawingml/2006/main" w="9525">
            <a:solidFill>
              <a:srgbClr val="E5DED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E261BF-D884-41E2-BC66-DD7CC5FC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481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494A30-446D-4899-A876-EC17CE4A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1955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doctors[2]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BDC420-51D0-4045-B76C-BCB3EBC4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05300"/>
            <a:ext cx="1181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按诊室切换医生资料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B455EE-D2B5-4D82-B679-CED5FFAA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848100"/>
            <a:ext cx="15621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CF7">
              <a:alpha val="94902"/>
            </a:srgbClr>
          </a:solidFill>
          <a:ln xmlns:a="http://schemas.openxmlformats.org/drawingml/2006/main" w="9525">
            <a:solidFill>
              <a:srgbClr val="E5DED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72910B-BA45-48CE-AE80-ED70A002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8481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6A59C3-184B-413E-B9D2-8FD9BC11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01955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next_number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EA5742-8D22-4C03-92E6-83D1FC9C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305300"/>
            <a:ext cx="1181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新病人号码自增分配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C9E124-28D2-4353-ACC3-59EDB7C8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054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A7C59"/>
                </a:solidFill>
              </a:defRPr>
            </a:pPr>
            <a:r>
              <a:rPr sz="1200" b="1">
                <a:solidFill>
                  <a:srgbClr val="4A7C59"/>
                </a:solidFill>
              </a:rPr>
              <a:t>底部操作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0854D5-3BF6-4902-B6BC-C71B6E96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391150"/>
            <a:ext cx="9144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CA68D2-41F1-4B8F-A7F2-4860F15E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438775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3333"/>
                </a:solidFill>
              </a:defRPr>
            </a:pPr>
            <a:r>
              <a:rPr sz="900" b="1">
                <a:solidFill>
                  <a:srgbClr val="333333"/>
                </a:solidFill>
              </a:rPr>
              <a:t>模拟叫号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9F0FEB-7C26-4E0B-9921-DB716059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391150"/>
            <a:ext cx="9144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3D8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BAF97B-90F1-4AC6-9DA7-F428D796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438775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3333"/>
                </a:solidFill>
              </a:defRPr>
            </a:pPr>
            <a:r>
              <a:rPr sz="900" b="1">
                <a:solidFill>
                  <a:srgbClr val="333333"/>
                </a:solidFill>
              </a:rPr>
              <a:t>紧急公告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779D5B-BC11-4B8F-BE42-B48BABCA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391150"/>
            <a:ext cx="9144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3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07DF66-C057-4BC1-8B5E-86E4EDE8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438775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3333"/>
                </a:solidFill>
              </a:defRPr>
            </a:pPr>
            <a:r>
              <a:rPr sz="900" b="1">
                <a:solidFill>
                  <a:srgbClr val="333333"/>
                </a:solidFill>
              </a:rPr>
              <a:t>添加病人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B0A63A2-EF1D-485C-876B-6C4CF165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178"/>
                </a:solidFill>
              </a:defRPr>
            </a:pPr>
            <a:r>
              <a:rPr sz="750" b="0">
                <a:solidFill>
                  <a:srgbClr val="8A8178"/>
                </a:solidFill>
              </a:rPr>
              <a:t>截图、实物照片和代码截图由答辩前自行替换到占位框中</a:t>
            </a:r>
          </a:p>
        </p:txBody>
      </p:sp>
    </p:spTree>
    <p:extLst>
      <p:ext uri="{BB962C8B-B14F-4D97-AF65-F5344CB8AC3E}">
        <p14:creationId xmlns:p14="http://schemas.microsoft.com/office/powerpoint/2010/main" val="14278975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A3B6D80-B779-40B3-BDD6-6A69D6DD29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ca14033b640c2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554DB-7344-4447-B067-D812BB8A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ED0D4-4868-4036-B750-78BDD3AB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医疗模块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DB2675-96D8-4512-94E5-9B2DFF24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06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7DB58D-6DC5-4088-83A1-8F53ADCF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3B73C9-6E0B-4E6F-B381-9FC7B59D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4EADD5-062E-4405-B010-E5B4E191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429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33333"/>
                </a:solidFill>
              </a:defRPr>
            </a:pPr>
            <a:r>
              <a:rPr sz="3000" b="1">
                <a:solidFill>
                  <a:srgbClr val="333333"/>
                </a:solidFill>
              </a:rPr>
              <a:t>医疗叫号交互细节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D874CA-8450-4255-AA94-72462E69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</a:defRPr>
            </a:pPr>
            <a:r>
              <a:rPr sz="1425" b="0">
                <a:solidFill>
                  <a:srgbClr val="666666"/>
                </a:solidFill>
              </a:rPr>
              <a:t>添加病人弹窗把输入、遮罩、防误触和拼音输入整合到一套交互流程中。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FCE1B2-7F68-4926-B652-CB65F565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5905500" cy="384810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CFAF6"/>
          </a:solidFill>
          <a:ln xmlns:a="http://schemas.openxmlformats.org/drawingml/2006/main" w="14288">
            <a:solidFill>
              <a:srgbClr val="4A7C5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FF970C-D55A-4100-B097-105E5249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552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F93FA3-8B83-4540-83F7-656F8B4B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552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DFF316-9C66-4ABE-80BD-C10F0C8D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1066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533D82-9CA9-40DA-BAB3-1D7F11BF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6220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3333"/>
                </a:solidFill>
              </a:defRPr>
            </a:pPr>
            <a:r>
              <a:rPr sz="900" b="1">
                <a:solidFill>
                  <a:srgbClr val="333333"/>
                </a:solidFill>
              </a:rPr>
              <a:t>图片占位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1B315E-8CDB-4547-8C41-A10CA1D8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533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33333"/>
                </a:solidFill>
              </a:defRPr>
            </a:pPr>
            <a:r>
              <a:rPr sz="1800" b="1">
                <a:solidFill>
                  <a:srgbClr val="333333"/>
                </a:solidFill>
              </a:rPr>
              <a:t>添加病人表单 + 拼音候选区占位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02CF4D-EB6C-4F43-A98E-382468A4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14800"/>
            <a:ext cx="5219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建议放半透明遮罩、表单面板、软键盘和拼音候选区截图。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61282E-BEF9-4E0C-BCD6-BAEA7FE3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76450"/>
            <a:ext cx="4667250" cy="384810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E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D0F963-E743-4A6F-8FF2-C1846603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76450"/>
            <a:ext cx="4667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97E0CE-AFD0-422B-9D71-FE6F93FB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66950"/>
            <a:ext cx="424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3333"/>
                </a:solidFill>
              </a:defRPr>
            </a:pPr>
            <a:r>
              <a:rPr sz="1650" b="1">
                <a:solidFill>
                  <a:srgbClr val="333333"/>
                </a:solidFill>
              </a:rPr>
              <a:t>交互亮点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229D32-5496-4328-9BC3-113A86A4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05100"/>
            <a:ext cx="42481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创建黑色半透明遮罩，避免底层按钮误触。</a:t>
            </a:r>
          </a:p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姓名输入框、诊室下拉框和急诊开关集中在一张弹窗里。</a:t>
            </a:r>
          </a:p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软键盘默认隐藏，点击输入框后再弹出。</a:t>
            </a:r>
          </a:p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接入 lv_ime_pinyin，实现中文拼音输入。</a:t>
            </a:r>
          </a:p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公告弹窗和 30 秒闲置计时器共同维护使用体验。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DCFCCF-2F8E-46CE-9824-5A518F83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334000"/>
            <a:ext cx="1257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B75201-D24A-4001-98FD-28525212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381625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3333"/>
                </a:solidFill>
              </a:defRPr>
            </a:pPr>
            <a:r>
              <a:rPr sz="900" b="1">
                <a:solidFill>
                  <a:srgbClr val="333333"/>
                </a:solidFill>
              </a:rPr>
              <a:t>诊室选择：1 / 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AF60C6-9CD7-451D-9409-5CF8D826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334000"/>
            <a:ext cx="1409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3D8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0DB2AD-A979-4205-98A3-DFFECBB2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381625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3333"/>
                </a:solidFill>
              </a:defRPr>
            </a:pPr>
            <a:r>
              <a:rPr sz="900" b="1">
                <a:solidFill>
                  <a:srgbClr val="333333"/>
                </a:solidFill>
              </a:rPr>
              <a:t>急诊开关：支持插队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993085-F698-49E1-BB9C-99647A42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334000"/>
            <a:ext cx="1314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3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4D3931-5328-4167-A978-2FCEEE4C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381625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3333"/>
                </a:solidFill>
              </a:defRPr>
            </a:pPr>
            <a:r>
              <a:rPr sz="900" b="1">
                <a:solidFill>
                  <a:srgbClr val="333333"/>
                </a:solidFill>
              </a:rPr>
              <a:t>IME：拼音候选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282648-94B6-44F0-A6F8-28D24D3D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178"/>
                </a:solidFill>
              </a:defRPr>
            </a:pPr>
            <a:r>
              <a:rPr sz="750" b="0">
                <a:solidFill>
                  <a:srgbClr val="8A8178"/>
                </a:solidFill>
              </a:rPr>
              <a:t>截图、实物照片和代码截图由答辩前自行替换到占位框中</a:t>
            </a:r>
          </a:p>
        </p:txBody>
      </p:sp>
    </p:spTree>
    <p:extLst>
      <p:ext uri="{BB962C8B-B14F-4D97-AF65-F5344CB8AC3E}">
        <p14:creationId xmlns:p14="http://schemas.microsoft.com/office/powerpoint/2010/main" val="6599892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A3B6D80-B779-40B3-BDD6-6A69D6DD29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2b7fcaef78488b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FE1F44-7232-4BF4-AA87-AA080546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985205-795C-42F3-89D4-2DA1919F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医疗模块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9CDAD3-3254-486B-A4EF-B13F0973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07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EEC24E-6312-456A-99E1-7ED52A70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8DAB73-CA97-47FC-BE4F-090EFB88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4B71E0-68B1-432B-A49E-A0AD1B40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429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33333"/>
                </a:solidFill>
              </a:defRPr>
            </a:pPr>
            <a:r>
              <a:rPr sz="3000" b="1">
                <a:solidFill>
                  <a:srgbClr val="333333"/>
                </a:solidFill>
              </a:rPr>
              <a:t>医疗叫号核心逻辑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C04A82-840E-44F6-A38C-4BD42470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</a:defRPr>
            </a:pPr>
            <a:r>
              <a:rPr sz="1425" b="0">
                <a:solidFill>
                  <a:srgbClr val="666666"/>
                </a:solidFill>
              </a:rPr>
              <a:t>这一页重点讲急诊插队、命令解析以及叫号后的联动刷新。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523FAB-E2E8-48B6-B789-A23B8F1D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5048250" cy="384810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E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05B38D-1FB9-44DE-AD68-F4BA5305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3333"/>
                </a:solidFill>
              </a:defRPr>
            </a:pPr>
            <a:r>
              <a:rPr sz="1650" b="1">
                <a:solidFill>
                  <a:srgbClr val="333333"/>
                </a:solidFill>
              </a:rPr>
              <a:t>逻辑流程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074DBF-8577-4D17-BF1B-2F3C611E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45910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5DE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5E542A-728E-4BCD-804F-A02EF01B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3E6097-98DC-4070-95B8-6D528D18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8607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3333"/>
                </a:solidFill>
              </a:defRPr>
            </a:pPr>
            <a:r>
              <a:rPr sz="975" b="1">
                <a:solidFill>
                  <a:srgbClr val="333333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3BA821-13E6-4189-AF8D-EA1C9EDE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38450"/>
            <a:ext cx="390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添加病人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074044-5D4D-44E5-8CB0-93A6B1F5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33725"/>
            <a:ext cx="4248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666"/>
                </a:solidFill>
              </a:defRPr>
            </a:pPr>
            <a:r>
              <a:rPr sz="1050" b="0">
                <a:solidFill>
                  <a:srgbClr val="666666"/>
                </a:solidFill>
              </a:rPr>
              <a:t>读取姓名、诊室和急诊开关，决定插入位置。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063913-5AFB-40E2-85D2-CD3C4D99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38550"/>
            <a:ext cx="762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924000-6F20-4CD3-8F18-1FA9E258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45910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5DE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BC3B73-DA6D-4106-AF83-FBD42850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38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ED4E5A-12B3-48C5-963C-1DDC406D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0527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3333"/>
                </a:solidFill>
              </a:defRPr>
            </a:pPr>
            <a:r>
              <a:rPr sz="975" b="1">
                <a:solidFill>
                  <a:srgbClr val="3333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934B29-7A8A-4DED-B278-901B6177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57650"/>
            <a:ext cx="390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队列更新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1E0F68-4673-47EA-9F25-2CEA54FA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52925"/>
            <a:ext cx="4248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666"/>
                </a:solidFill>
              </a:defRPr>
            </a:pPr>
            <a:r>
              <a:rPr sz="1050" b="0">
                <a:solidFill>
                  <a:srgbClr val="666666"/>
                </a:solidFill>
              </a:rPr>
              <a:t>普通病人追加到队尾；急诊病人触发数组整体右移。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FDD21E-BC5F-44DC-BEA0-6DDAF161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857750"/>
            <a:ext cx="762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481489-679D-4676-A4F0-8F21C00C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24450"/>
            <a:ext cx="4591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5DE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01CAD2-1F25-418C-8370-D9B8CCED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71624B-9846-4E8C-82FB-C1187B09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2447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3333"/>
                </a:solidFill>
              </a:defRPr>
            </a:pPr>
            <a:r>
              <a:rPr sz="975" b="1">
                <a:solidFill>
                  <a:srgbClr val="333333"/>
                </a:solidFill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7AA85E-FC72-402E-9E96-ACC3DBAE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76850"/>
            <a:ext cx="390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叫号联动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9D8255-BA51-4169-928D-2689314D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72125"/>
            <a:ext cx="42481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666"/>
                </a:solidFill>
              </a:defRPr>
            </a:pPr>
            <a:r>
              <a:rPr sz="1050" b="0">
                <a:solidFill>
                  <a:srgbClr val="666666"/>
                </a:solidFill>
              </a:rPr>
              <a:t>刷新当前叫号、队列列表、医生信息，再触发闪烁和终端 TTS。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FB0061-88B0-4B8F-8954-3785BD83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76450"/>
            <a:ext cx="55435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10478">
            <a:solidFill>
              <a:srgbClr val="E5DED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8F644F-D090-4EE3-86A1-B33C45D8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76450"/>
            <a:ext cx="554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70F0C7-D5C9-4B00-894D-91DB6F80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52650"/>
            <a:ext cx="523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急诊插队核心摘录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BB88E6-A743-47CB-94D6-2E2236AB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33650"/>
            <a:ext cx="52006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</a:defRPr>
            </a:pPr>
            <a:r>
              <a:rPr sz="1050" b="0">
                <a:solidFill>
                  <a:srgbClr val="333333"/>
                </a:solidFill>
              </a:rPr>
              <a:t>int insert_idx = queue_count;</a:t>
            </a:r>
          </a:p>
          <a:p xmlns:a="http://schemas.openxmlformats.org/drawingml/2006/main">
            <a:pPr algn="l">
              <a:defRPr sz="1050" b="0">
                <a:solidFill>
                  <a:srgbClr val="333333"/>
                </a:solidFill>
              </a:defRPr>
            </a:pPr>
            <a:r>
              <a:rPr sz="1050" b="0">
                <a:solidFill>
                  <a:srgbClr val="333333"/>
                </a:solidFill>
              </a:rPr>
              <a:t>bool is_urgent = lv_obj_has_state(add_form_urgent_sw, LV_STATE_CHECKED);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333333"/>
                </a:solidFill>
              </a:defRPr>
            </a:pPr>
            <a:r>
              <a:rPr sz="1050" b="0">
                <a:solidFill>
                  <a:srgbClr val="333333"/>
                </a:solidFill>
              </a:rPr>
              <a:t>if (is_urgent &amp;&amp; queue_count &gt; 0) {</a:t>
            </a:r>
          </a:p>
          <a:p xmlns:a="http://schemas.openxmlformats.org/drawingml/2006/main">
            <a:pPr algn="l">
              <a:defRPr sz="1050" b="0">
                <a:solidFill>
                  <a:srgbClr val="333333"/>
                </a:solidFill>
              </a:defRPr>
            </a:pPr>
            <a:r>
              <a:rPr sz="1050" b="0">
                <a:solidFill>
                  <a:srgbClr val="333333"/>
                </a:solidFill>
              </a:rPr>
              <a:t>    insert_idx = 0;</a:t>
            </a:r>
          </a:p>
          <a:p xmlns:a="http://schemas.openxmlformats.org/drawingml/2006/main">
            <a:pPr algn="l">
              <a:defRPr sz="1050" b="0">
                <a:solidFill>
                  <a:srgbClr val="333333"/>
                </a:solidFill>
              </a:defRPr>
            </a:pPr>
            <a:r>
              <a:rPr sz="1050" b="0">
                <a:solidFill>
                  <a:srgbClr val="333333"/>
                </a:solidFill>
              </a:rPr>
              <a:t>    for (int i = queue_count; i &gt; 0; i--) {</a:t>
            </a:r>
          </a:p>
          <a:p xmlns:a="http://schemas.openxmlformats.org/drawingml/2006/main">
            <a:pPr algn="l">
              <a:defRPr sz="1050" b="0">
                <a:solidFill>
                  <a:srgbClr val="333333"/>
                </a:solidFill>
              </a:defRPr>
            </a:pPr>
            <a:r>
              <a:rPr sz="1050" b="0">
                <a:solidFill>
                  <a:srgbClr val="333333"/>
                </a:solidFill>
              </a:rPr>
              <a:t>        wait_queue[i] = wait_queue[i - 1];</a:t>
            </a:r>
          </a:p>
          <a:p xmlns:a="http://schemas.openxmlformats.org/drawingml/2006/main">
            <a:pPr algn="l">
              <a:defRPr sz="1050" b="0">
                <a:solidFill>
                  <a:srgbClr val="333333"/>
                </a:solidFill>
              </a:defRPr>
            </a:pPr>
            <a:r>
              <a:rPr sz="1050" b="0">
                <a:solidFill>
                  <a:srgbClr val="333333"/>
                </a:solidFill>
              </a:rPr>
              <a:t>    }</a:t>
            </a:r>
          </a:p>
          <a:p xmlns:a="http://schemas.openxmlformats.org/drawingml/2006/main">
            <a:pPr algn="l">
              <a:defRPr sz="1050" b="0">
                <a:solidFill>
                  <a:srgbClr val="333333"/>
                </a:solidFill>
              </a:defRPr>
            </a:pPr>
            <a:r>
              <a:rPr sz="1050" b="0">
                <a:solidFill>
                  <a:srgbClr val="333333"/>
                </a:solidFill>
              </a:rPr>
              <a:t>}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F44917-412E-4C8E-B19C-83086A8F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76700"/>
            <a:ext cx="520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178"/>
                </a:solidFill>
              </a:defRPr>
            </a:pPr>
            <a:r>
              <a:rPr sz="750" b="0">
                <a:solidFill>
                  <a:srgbClr val="8A8178"/>
                </a:solidFill>
              </a:rPr>
              <a:t>来自 code/medical.c 的 on_add_form_ok 逻辑。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BD7467-2900-4325-91BB-D733D81B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43400"/>
            <a:ext cx="26479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CF7">
              <a:alpha val="94902"/>
            </a:srgbClr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F91C97-4A6E-4480-9C49-35CDB103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4340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76FED0-2BBE-4158-BF0D-7D256607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72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CF7">
              <a:alpha val="94902"/>
            </a:srgbClr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203D5D-A8EB-49F0-9793-44E2DF22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743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6CB21B-EBDC-42B1-9C86-2532D697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829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E265D6-0157-4E75-83DF-61DD82C9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101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9BB31C-B0C2-4100-AB6C-79F8A5EA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529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7C59"/>
                </a:solidFill>
              </a:defRPr>
            </a:pPr>
            <a:r>
              <a:rPr sz="1125" b="1">
                <a:solidFill>
                  <a:srgbClr val="4A7C59"/>
                </a:solidFill>
              </a:rPr>
              <a:t>命令式叫号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B2B318-E6DB-4852-A3A3-AF89E46F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1625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medical_parse_cmd 支持解析</a:t>
            </a:r>
          </a:p>
          <a:p xmlns:a="http://schemas.openxmlformats.org/drawingml/2006/main"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@call,12,张三,1诊室</a:t>
            </a:r>
          </a:p>
          <a:p xmlns:a="http://schemas.openxmlformats.org/drawingml/2006/main"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形式的字符串，并同步清理原队列位置。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8A6A77-6250-4540-B8A8-FBC781C1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343400"/>
            <a:ext cx="26479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CF7">
              <a:alpha val="94902"/>
            </a:srgbClr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1444E9-BB44-4C7D-BECD-74DD146A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34340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A6BC03E-F712-4E46-BD33-82BB2448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572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CF7">
              <a:alpha val="94902"/>
            </a:srgbClr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4C8C83C-DF57-4454-84C3-2F650F51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8482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6BC25C6-95CA-4C2A-8F36-3C6CF807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7720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2BBEB79-6DAE-45F8-999F-442BE032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7053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2B88EA1-B6C5-4F8F-AAFB-B85D234D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5529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7C59"/>
                </a:solidFill>
              </a:defRPr>
            </a:pPr>
            <a:r>
              <a:rPr sz="1125" b="1">
                <a:solidFill>
                  <a:srgbClr val="4A7C59"/>
                </a:solidFill>
              </a:rPr>
              <a:t>声光提示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22AC905-97F7-451A-AC20-ADB1AC84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1625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叫号完成后会执行 start_blink() 与</a:t>
            </a:r>
          </a:p>
          <a:p xmlns:a="http://schemas.openxmlformats.org/drawingml/2006/main"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tts_speak()，把界面高亮和终端播报串起来。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4C04392-6F32-4033-957D-B5B37E9A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178"/>
                </a:solidFill>
              </a:defRPr>
            </a:pPr>
            <a:r>
              <a:rPr sz="750" b="0">
                <a:solidFill>
                  <a:srgbClr val="8A8178"/>
                </a:solidFill>
              </a:rPr>
              <a:t>截图、实物照片和代码截图由答辩前自行替换到占位框中</a:t>
            </a:r>
          </a:p>
        </p:txBody>
      </p:sp>
    </p:spTree>
    <p:extLst>
      <p:ext uri="{BB962C8B-B14F-4D97-AF65-F5344CB8AC3E}">
        <p14:creationId xmlns:p14="http://schemas.microsoft.com/office/powerpoint/2010/main" val="5834835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A3B6D80-B779-40B3-BDD6-6A69D6DD29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89cfe698754192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91457D-3B0C-4A43-BACD-5036AD59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1001E-2F14-41E4-B413-60DE6BE8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2048 模块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0F5C42-0016-4191-8A24-84751C7B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08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678E03-30C2-40F1-A48F-FDCADB8B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19580-A5A4-4398-8B13-4CFE817C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A746CB-744D-41E7-9FE6-00C3B880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429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33333"/>
                </a:solidFill>
              </a:defRPr>
            </a:pPr>
            <a:r>
              <a:rPr sz="3000" b="1">
                <a:solidFill>
                  <a:srgbClr val="333333"/>
                </a:solidFill>
              </a:rPr>
              <a:t>2048 模块界面与玩法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9A1562-CA60-4724-AFBA-AEB16D03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</a:defRPr>
            </a:pPr>
            <a:r>
              <a:rPr sz="1425" b="0">
                <a:solidFill>
                  <a:srgbClr val="666666"/>
                </a:solidFill>
              </a:rPr>
              <a:t>2048 页面承接了触摸滑动、分数显示、胜负弹窗和返回重置等交互。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9A3D14-82DD-4B2E-BEF3-64E3A3A2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5905500" cy="384810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CFAF6"/>
          </a:solidFill>
          <a:ln xmlns:a="http://schemas.openxmlformats.org/drawingml/2006/main" w="14288">
            <a:solidFill>
              <a:srgbClr val="4A7C5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3DB9EA-76A9-435E-8F3F-ACAD9B33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552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B1D929-1CC5-4663-919A-62E4EFE7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552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B973C9-7382-42BD-BF1B-9995834E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1066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9CACA8-8A12-45A5-BB34-0AC1D72F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6220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3333"/>
                </a:solidFill>
              </a:defRPr>
            </a:pPr>
            <a:r>
              <a:rPr sz="900" b="1">
                <a:solidFill>
                  <a:srgbClr val="333333"/>
                </a:solidFill>
              </a:rPr>
              <a:t>图片占位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375035-F40D-4663-BB1D-B10478FB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533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33333"/>
                </a:solidFill>
              </a:defRPr>
            </a:pPr>
            <a:r>
              <a:rPr sz="1800" b="1">
                <a:solidFill>
                  <a:srgbClr val="333333"/>
                </a:solidFill>
              </a:rPr>
              <a:t>2048 主界面截图位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711630-7245-4CC7-A312-61B97C42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14800"/>
            <a:ext cx="5219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建议放棋盘、分数卡片、重置按钮和胜负弹窗截图。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C1AC9A-3C84-4048-8AF2-197DAE17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76450"/>
            <a:ext cx="4667250" cy="384810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E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A1F259-8543-488B-BF93-39788CF1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76450"/>
            <a:ext cx="4667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40CBE1-A1E6-4A27-A216-F74D2227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66950"/>
            <a:ext cx="424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3333"/>
                </a:solidFill>
              </a:defRPr>
            </a:pPr>
            <a:r>
              <a:rPr sz="1650" b="1">
                <a:solidFill>
                  <a:srgbClr val="333333"/>
                </a:solidFill>
              </a:rPr>
              <a:t>玩法与交互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46DA76-BC23-4A67-A7CC-65150BFB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05100"/>
            <a:ext cx="42481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使用 4x4 棋盘矩阵保存当前状态。</a:t>
            </a:r>
          </a:p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手指滑动会映射到上、下、左、右四个方向。</a:t>
            </a:r>
          </a:p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界面同时显示当前分数和历史最高分。</a:t>
            </a:r>
          </a:p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支持返回菜单和重新开始两类按钮操作。</a:t>
            </a:r>
          </a:p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当出现 2048 或无路可走时弹出提示框。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34705D-8D84-4C24-9E3E-92408D75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95850"/>
            <a:ext cx="13144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CF7">
              <a:alpha val="94902"/>
            </a:srgbClr>
          </a:solidFill>
          <a:ln xmlns:a="http://schemas.openxmlformats.org/drawingml/2006/main" w="9525">
            <a:solidFill>
              <a:srgbClr val="E5DE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ABBE08-85D9-4C84-9A27-498A5097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958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438941-96F4-4E9B-BB89-47DE2A96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067300"/>
            <a:ext cx="933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棋盘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650A08-E243-4C98-8DD4-2C0F44D5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353050"/>
            <a:ext cx="933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4x4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D926D4-0A2A-4963-AEE0-8C817F6D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95850"/>
            <a:ext cx="13144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CF7">
              <a:alpha val="94902"/>
            </a:srgbClr>
          </a:solidFill>
          <a:ln xmlns:a="http://schemas.openxmlformats.org/drawingml/2006/main" w="9525">
            <a:solidFill>
              <a:srgbClr val="E5DE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3BB041-9C55-418F-8F27-1D1C7032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958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8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E3F8C3-D4EB-4299-A699-C59991FC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067300"/>
            <a:ext cx="933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方向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87DDEE-A3F3-482A-B182-5477AAE2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353050"/>
            <a:ext cx="933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4 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AEA819-77FA-43F3-995D-CE66DDDE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895850"/>
            <a:ext cx="13144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CF7">
              <a:alpha val="94902"/>
            </a:srgbClr>
          </a:solidFill>
          <a:ln xmlns:a="http://schemas.openxmlformats.org/drawingml/2006/main" w="9525">
            <a:solidFill>
              <a:srgbClr val="E5DED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B63DAC-28EE-4055-9BB8-297929D0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8958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F3EDD8-D6A4-4B84-AEE5-7FC7E3A7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067300"/>
            <a:ext cx="933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联动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7345FC-6FEE-4C48-8E0E-FE2A9AD1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353050"/>
            <a:ext cx="933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BEST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3F19F6-DF9E-4BBC-91BF-1B182ADB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178"/>
                </a:solidFill>
              </a:defRPr>
            </a:pPr>
            <a:r>
              <a:rPr sz="750" b="0">
                <a:solidFill>
                  <a:srgbClr val="8A8178"/>
                </a:solidFill>
              </a:rPr>
              <a:t>截图、实物照片和代码截图由答辩前自行替换到占位框中</a:t>
            </a:r>
          </a:p>
        </p:txBody>
      </p:sp>
    </p:spTree>
    <p:extLst>
      <p:ext uri="{BB962C8B-B14F-4D97-AF65-F5344CB8AC3E}">
        <p14:creationId xmlns:p14="http://schemas.microsoft.com/office/powerpoint/2010/main" val="20658792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A3B6D80-B779-40B3-BDD6-6A69D6DD29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edb2821d644ffb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544FC-CDAB-40B4-91BD-EA8455A5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214928-4F46-48C0-92FE-21195387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2048 模块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98C5D5-1AC8-43CF-862F-56BBD6D2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09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65EC89-7AE6-498B-885D-2D6DCD0D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A13AB-2DC1-4154-B10E-3012A6CE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40EAF3-2F59-4408-A5C2-B9457B00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429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33333"/>
                </a:solidFill>
              </a:defRPr>
            </a:pPr>
            <a:r>
              <a:rPr sz="3000" b="1">
                <a:solidFill>
                  <a:srgbClr val="333333"/>
                </a:solidFill>
              </a:rPr>
              <a:t>2048 算法与成绩联动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DF34D7-6664-4072-8568-887BF3FC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</a:defRPr>
            </a:pPr>
            <a:r>
              <a:rPr sz="1425" b="0">
                <a:solidFill>
                  <a:srgbClr val="666666"/>
                </a:solidFill>
              </a:rPr>
              <a:t>核心思想是把每次滑动统一成去零、合并、二次去零，再决定是否生成新数字。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AC0AB9-202E-450F-8AE9-7D06D0FC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4953000" cy="384810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E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89C0A0-1140-4BF4-B1D0-C52FEE22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3333"/>
                </a:solidFill>
              </a:defRPr>
            </a:pPr>
            <a:r>
              <a:rPr sz="1650" b="1">
                <a:solidFill>
                  <a:srgbClr val="333333"/>
                </a:solidFill>
              </a:rPr>
              <a:t>矩阵处理步骤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60A2C0-DEEF-4183-872D-3C537589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44958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5DE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BAF1AA-57C1-4AD3-9E02-D14E3334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85A42A-AE48-4C39-BB8E-73258165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8607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3333"/>
                </a:solidFill>
              </a:defRPr>
            </a:pPr>
            <a:r>
              <a:rPr sz="975" b="1">
                <a:solidFill>
                  <a:srgbClr val="333333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37914C-4CBF-4D7F-9462-4D8552EC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38450"/>
            <a:ext cx="381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去零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03D916-BC96-4D9F-8CEA-8169A059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33725"/>
            <a:ext cx="41529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666"/>
                </a:solidFill>
              </a:defRPr>
            </a:pPr>
            <a:r>
              <a:rPr sz="1050" b="0">
                <a:solidFill>
                  <a:srgbClr val="666666"/>
                </a:solidFill>
              </a:rPr>
              <a:t>把当前行或列中的非 0 元素先压紧。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C88FC8-5740-468C-ADD2-667B3D6A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43300"/>
            <a:ext cx="762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BBDDD4-BF32-4A24-A697-07732A57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44958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5DE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06CB85-6B18-4996-92EC-F17FD00C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62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1B65D9-75EC-4797-B162-2420FE0D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2907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3333"/>
                </a:solidFill>
              </a:defRPr>
            </a:pPr>
            <a:r>
              <a:rPr sz="975" b="1">
                <a:solidFill>
                  <a:srgbClr val="3333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9FE952-DE90-434D-88D5-FC7BDCEC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81450"/>
            <a:ext cx="381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合并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E4673A-D40A-4B7B-BB03-D75A5802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76725"/>
            <a:ext cx="41529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666"/>
                </a:solidFill>
              </a:defRPr>
            </a:pPr>
            <a:r>
              <a:rPr sz="1050" b="0">
                <a:solidFill>
                  <a:srgbClr val="666666"/>
                </a:solidFill>
              </a:rPr>
              <a:t>相邻且相等的数字相加，同时累计当前分数。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F96A2B-1052-42E6-8F25-98EC33FA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86300"/>
            <a:ext cx="762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EF1C89-B8D7-49BE-8A59-2BA64D82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33950"/>
            <a:ext cx="44958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5DE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B22475-26A2-47E2-ACF0-9251CF84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67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D8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CA6924-30C2-476F-9F11-3186B4E2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3397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3333"/>
                </a:solidFill>
              </a:defRPr>
            </a:pPr>
            <a:r>
              <a:rPr sz="975" b="1">
                <a:solidFill>
                  <a:srgbClr val="333333"/>
                </a:solidFill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8CA2B1-C0AE-4193-B906-FF13D105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86350"/>
            <a:ext cx="381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再去零并生成新数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146705-B6E9-4FE4-AFFC-7FDEFE0F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81625"/>
            <a:ext cx="41529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666"/>
                </a:solidFill>
              </a:defRPr>
            </a:pPr>
            <a:r>
              <a:rPr sz="1050" b="0">
                <a:solidFill>
                  <a:srgbClr val="666666"/>
                </a:solidFill>
              </a:rPr>
              <a:t>如果盘面发生变化，就调用 rand_num 生成新的 2 或 4。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0187B9-5725-4100-8304-7578820D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76450"/>
            <a:ext cx="56197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10478">
            <a:solidFill>
              <a:srgbClr val="E5DED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0CD10-7AE9-4427-B9C7-886A894A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76450"/>
            <a:ext cx="561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C9EC1B-E87C-4BF3-8C18-76B7C7DF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52650"/>
            <a:ext cx="531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合并与刷新摘录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42ABE2-4A3A-4147-B3D1-15F7B1A7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33650"/>
            <a:ext cx="52768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</a:defRPr>
            </a:pPr>
            <a:r>
              <a:rPr sz="1050" b="0">
                <a:solidFill>
                  <a:srgbClr val="333333"/>
                </a:solidFill>
              </a:rPr>
              <a:t>rm_zero(temp_arr, &amp;flag);</a:t>
            </a:r>
          </a:p>
          <a:p xmlns:a="http://schemas.openxmlformats.org/drawingml/2006/main">
            <a:pPr algn="l">
              <a:defRPr sz="1050" b="0">
                <a:solidFill>
                  <a:srgbClr val="333333"/>
                </a:solidFill>
              </a:defRPr>
            </a:pPr>
            <a:r>
              <a:rPr sz="1050" b="0">
                <a:solidFill>
                  <a:srgbClr val="333333"/>
                </a:solidFill>
              </a:rPr>
              <a:t>hebing(temp_arr, &amp;flag);</a:t>
            </a:r>
          </a:p>
          <a:p xmlns:a="http://schemas.openxmlformats.org/drawingml/2006/main">
            <a:pPr algn="l">
              <a:defRPr sz="1050" b="0">
                <a:solidFill>
                  <a:srgbClr val="333333"/>
                </a:solidFill>
              </a:defRPr>
            </a:pPr>
            <a:r>
              <a:rPr sz="1050" b="0">
                <a:solidFill>
                  <a:srgbClr val="333333"/>
                </a:solidFill>
              </a:rPr>
              <a:t>rm_zero(temp_arr, &amp;flag);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333333"/>
                </a:solidFill>
              </a:defRPr>
            </a:pPr>
            <a:r>
              <a:rPr sz="1050" b="0">
                <a:solidFill>
                  <a:srgbClr val="333333"/>
                </a:solidFill>
              </a:rPr>
              <a:t>if (flag)</a:t>
            </a:r>
          </a:p>
          <a:p xmlns:a="http://schemas.openxmlformats.org/drawingml/2006/main">
            <a:pPr algn="l">
              <a:defRPr sz="1050" b="0">
                <a:solidFill>
                  <a:srgbClr val="333333"/>
                </a:solidFill>
              </a:defRPr>
            </a:pPr>
            <a:r>
              <a:rPr sz="1050" b="0">
                <a:solidFill>
                  <a:srgbClr val="333333"/>
                </a:solidFill>
              </a:rPr>
              <a:t>    rand_num();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333333"/>
                </a:solidFill>
              </a:defRPr>
            </a:pPr>
            <a:r>
              <a:rPr sz="1050" b="0">
                <a:solidFill>
                  <a:srgbClr val="333333"/>
                </a:solidFill>
              </a:rPr>
              <a:t>g_game.score += temp_arr[i];</a:t>
            </a:r>
          </a:p>
          <a:p xmlns:a="http://schemas.openxmlformats.org/drawingml/2006/main">
            <a:pPr algn="l">
              <a:defRPr sz="1050" b="0">
                <a:solidFill>
                  <a:srgbClr val="333333"/>
                </a:solidFill>
              </a:defRPr>
            </a:pPr>
            <a:r>
              <a:rPr sz="1050" b="0">
                <a:solidFill>
                  <a:srgbClr val="333333"/>
                </a:solidFill>
              </a:rPr>
              <a:t>update_best_score();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20CC4D-2CD3-4BDB-9A68-571336E6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95750"/>
            <a:ext cx="527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178"/>
                </a:solidFill>
              </a:defRPr>
            </a:pPr>
            <a:r>
              <a:rPr sz="750" b="0">
                <a:solidFill>
                  <a:srgbClr val="8A8178"/>
                </a:solidFill>
              </a:rPr>
              <a:t>来自 mycode/2048.c 的矩阵更新逻辑。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CFBBF1-1CF3-42DE-B43B-938E87D4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00550"/>
            <a:ext cx="5619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ED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F90814-3A44-4FA3-AC6B-5796DC98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00550"/>
            <a:ext cx="561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97651F-E758-426A-B469-F453FB35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91050"/>
            <a:ext cx="520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3333"/>
                </a:solidFill>
              </a:defRPr>
            </a:pPr>
            <a:r>
              <a:rPr sz="1650" b="1">
                <a:solidFill>
                  <a:srgbClr val="333333"/>
                </a:solidFill>
              </a:rPr>
              <a:t>成绩联动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540089-C108-4562-9621-69C2B5F3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29200"/>
            <a:ext cx="5200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• 四个方向滑动通过行列重映射复用同一套处理思路。</a:t>
            </a:r>
          </a:p>
          <a:p xmlns:a="http://schemas.openxmlformats.org/drawingml/2006/main"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• update_best_score 会在分数突破时回写用户最高分。</a:t>
            </a:r>
          </a:p>
          <a:p xmlns:a="http://schemas.openxmlformats.org/drawingml/2006/main"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• 排行榜页面读取的就是这里持久化后的 best_score。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189FFB-706F-4067-ABFC-019985CE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178"/>
                </a:solidFill>
              </a:defRPr>
            </a:pPr>
            <a:r>
              <a:rPr sz="750" b="0">
                <a:solidFill>
                  <a:srgbClr val="8A8178"/>
                </a:solidFill>
              </a:rPr>
              <a:t>截图、实物照片和代码截图由答辩前自行替换到占位框中</a:t>
            </a:r>
          </a:p>
        </p:txBody>
      </p:sp>
    </p:spTree>
    <p:extLst>
      <p:ext uri="{BB962C8B-B14F-4D97-AF65-F5344CB8AC3E}">
        <p14:creationId xmlns:p14="http://schemas.microsoft.com/office/powerpoint/2010/main" val="20688643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A3B6D80-B779-40B3-BDD6-6A69D6DD29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19abb1fee74ef2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6554CE-4DEC-4A08-AB33-1404563E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310E3A-77DF-455A-870F-59853DCA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相册模块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5902C-F1D0-4F51-92AE-5C53C2A3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10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5E77E1-774C-42CC-B016-3CF7C34F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34B34-96C3-4A0B-AC88-ACE6A96E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FC3F7E-263B-4E84-AA98-1B6E7FB6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429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33333"/>
                </a:solidFill>
              </a:defRPr>
            </a:pPr>
            <a:r>
              <a:rPr sz="3000" b="1">
                <a:solidFill>
                  <a:srgbClr val="333333"/>
                </a:solidFill>
              </a:rPr>
              <a:t>电子相册模块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2CD518-9C1C-4CF5-99E4-DB06728A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</a:defRPr>
            </a:pPr>
            <a:r>
              <a:rPr sz="1425" b="0">
                <a:solidFill>
                  <a:srgbClr val="666666"/>
                </a:solidFill>
              </a:rPr>
              <a:t>相册页面围绕本地 BMP 图片浏览、自动播放和退出时的资源回收展开。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98CF40-07FE-4F0E-A301-2AAE53DB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5905500" cy="384810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CFAF6"/>
          </a:solidFill>
          <a:ln xmlns:a="http://schemas.openxmlformats.org/drawingml/2006/main" w="14288">
            <a:solidFill>
              <a:srgbClr val="4A7C5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E12B1F-282A-4D8C-AF53-AC4FD463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552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30F0E7-4C3A-4A4B-BAED-C174465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552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8C4287-1B06-47D2-8EDD-2B69CAE6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1066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FCF0F8-EA09-42BF-A7C2-319CAD84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6220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3333"/>
                </a:solidFill>
              </a:defRPr>
            </a:pPr>
            <a:r>
              <a:rPr sz="900" b="1">
                <a:solidFill>
                  <a:srgbClr val="333333"/>
                </a:solidFill>
              </a:rPr>
              <a:t>图片占位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DC8F3A-2960-4417-8AF0-896AC199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533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33333"/>
                </a:solidFill>
              </a:defRPr>
            </a:pPr>
            <a:r>
              <a:rPr sz="1800" b="1">
                <a:solidFill>
                  <a:srgbClr val="333333"/>
                </a:solidFill>
              </a:rPr>
              <a:t>电子相册界面截图位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12C669-D3F2-4D64-804D-C3369472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14800"/>
            <a:ext cx="5219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建议放大图区域、上一张/下一张按钮和自动播放按钮截图。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B3CADF-BEF0-43AC-8EC3-BAAA1795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76450"/>
            <a:ext cx="46672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E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431079-ED4F-4D2E-A738-21077EFA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76450"/>
            <a:ext cx="4667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8153ED-070F-448A-AC41-880523DB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66950"/>
            <a:ext cx="424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3333"/>
                </a:solidFill>
              </a:defRPr>
            </a:pPr>
            <a:r>
              <a:rPr sz="1650" b="1">
                <a:solidFill>
                  <a:srgbClr val="333333"/>
                </a:solidFill>
              </a:rPr>
              <a:t>实现要点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A99422-09F8-4AAE-93CA-51540F5D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05100"/>
            <a:ext cx="42481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固定读取 build/pic 下的 a.bmp、b.bmp、c.bmp。</a:t>
            </a:r>
          </a:p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上一张和下一张都支持循环切换。</a:t>
            </a:r>
          </a:p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底部会同步显示当前页码信息。</a:t>
            </a:r>
          </a:p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点击自动播放后，每 3000ms 自动切一张。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5C3719-6A40-4BC2-9D41-225C643C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76800"/>
            <a:ext cx="1333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CF7">
              <a:alpha val="94902"/>
            </a:srgbClr>
          </a:solidFill>
          <a:ln xmlns:a="http://schemas.openxmlformats.org/drawingml/2006/main" w="9525">
            <a:solidFill>
              <a:srgbClr val="E5DE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0A5A38-C6E7-418A-856E-37B84866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7680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9C0589-9BB3-49A8-BC05-0EE63BDD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0482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图片数量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D99F11-3853-4567-A5CC-AEFC11B3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3340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3 张 BMP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D9B9A1-6726-48E9-9B69-82B6AFB4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76800"/>
            <a:ext cx="1333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CF7">
              <a:alpha val="94902"/>
            </a:srgbClr>
          </a:solidFill>
          <a:ln xmlns:a="http://schemas.openxmlformats.org/drawingml/2006/main" w="9525">
            <a:solidFill>
              <a:srgbClr val="E5DE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BAE371-DA6E-4357-9B32-90F1186D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7680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BF749C-2DCB-440E-8353-8AE31E00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0482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自动播放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7B3AFE-47A5-49B1-A55E-C5B9329C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3340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3000ms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75B1BE-0180-41C1-BDAF-AFD728D3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876800"/>
            <a:ext cx="13144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CF7">
              <a:alpha val="94902"/>
            </a:srgbClr>
          </a:solidFill>
          <a:ln xmlns:a="http://schemas.openxmlformats.org/drawingml/2006/main" w="9525">
            <a:solidFill>
              <a:srgbClr val="E5DED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4D5F11-3128-4CCF-B300-0C6FDC36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87680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CCED7E-28F4-4F9B-B3B1-93B74D19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048250"/>
            <a:ext cx="933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退出回收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27F1D5-58A9-4B34-A0A5-E0B9C898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33400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lv_timer_del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09C187-5214-4B5A-93AE-73594C12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178"/>
                </a:solidFill>
              </a:defRPr>
            </a:pPr>
            <a:r>
              <a:rPr sz="750" b="0">
                <a:solidFill>
                  <a:srgbClr val="8A8178"/>
                </a:solidFill>
              </a:rPr>
              <a:t>截图、实物照片和代码截图由答辩前自行替换到占位框中</a:t>
            </a:r>
          </a:p>
        </p:txBody>
      </p:sp>
    </p:spTree>
    <p:extLst>
      <p:ext uri="{BB962C8B-B14F-4D97-AF65-F5344CB8AC3E}">
        <p14:creationId xmlns:p14="http://schemas.microsoft.com/office/powerpoint/2010/main" val="9313936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A3B6D80-B779-40B3-BDD6-6A69D6DD29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e2c49ae10f4672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E50E3-A2CE-4BB0-B564-2BB95071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975D1B-8F21-4B25-857C-392D2F9C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工程事实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1738C7-5FF5-4BB1-A8BD-0E57899E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11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9AC08C-03DB-4907-996E-C3DAFAAC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D1CC0A-54A0-4FDA-B15D-19B0318F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35C345-0B8A-4689-8640-AE669358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429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33333"/>
                </a:solidFill>
              </a:defRPr>
            </a:pPr>
            <a:r>
              <a:rPr sz="3000" b="1">
                <a:solidFill>
                  <a:srgbClr val="333333"/>
                </a:solidFill>
              </a:rPr>
              <a:t>工程配置、适配准备与问题解决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36F111-0F24-41D7-ABA3-CC8410DD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</a:defRPr>
            </a:pPr>
            <a:r>
              <a:rPr sz="1425" b="0">
                <a:solidFill>
                  <a:srgbClr val="666666"/>
                </a:solidFill>
              </a:rPr>
              <a:t>这一页只讲当前仓库中真实存在的运行方式、适配入口和问题处理办法。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9DD1FA-4B7F-4C85-9AD4-A136DC4D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4953000" cy="384810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E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CAA085-867A-4C77-A50B-09564D3B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495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C57284-583B-4F37-9D27-FAB4C36A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453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3333"/>
                </a:solidFill>
              </a:defRPr>
            </a:pPr>
            <a:r>
              <a:rPr sz="1650" b="1">
                <a:solidFill>
                  <a:srgbClr val="333333"/>
                </a:solidFill>
              </a:rPr>
              <a:t>工程现状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C17F70-227F-4C1E-89DA-9DC87CD1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45339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当前仓库启用 SDL 仿真，lv_conf.h 中 LV_USE_SDL = 1。</a:t>
            </a:r>
          </a:p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main.c 仍保留 framebuffer /dev/fb0 与触摸 event6 的入口。</a:t>
            </a:r>
          </a:p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FreeType、拼音输入法和 2 MB LVGL 内存池都已开启。</a:t>
            </a:r>
          </a:p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CMakeLists.txt 里能看到 SDL 和交叉编译相关配置痕迹。</a:t>
            </a:r>
          </a:p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资源路径仍含 Ubuntu 共享目录硬编码，因此 RK3568 只写适配准备或部分验证。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670AC0-6716-4A95-823A-4320E25B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76450"/>
            <a:ext cx="56197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10478">
            <a:solidFill>
              <a:srgbClr val="E5DE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82137B-1738-4C7F-8807-F86AD70E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76450"/>
            <a:ext cx="561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72C70A-A096-4218-8450-6000F423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52650"/>
            <a:ext cx="531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页面销毁与定时器清理摘录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D739D2-7DF8-4B6D-ABBA-CD65B16F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33650"/>
            <a:ext cx="52768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</a:defRPr>
            </a:pPr>
            <a:r>
              <a:rPr sz="1050" b="0">
                <a:solidFill>
                  <a:srgbClr val="333333"/>
                </a:solidFill>
              </a:rPr>
              <a:t>if (g_ui.medical_screen != NULL) {</a:t>
            </a:r>
          </a:p>
          <a:p xmlns:a="http://schemas.openxmlformats.org/drawingml/2006/main">
            <a:pPr algn="l">
              <a:defRPr sz="1050" b="0">
                <a:solidFill>
                  <a:srgbClr val="333333"/>
                </a:solidFill>
              </a:defRPr>
            </a:pPr>
            <a:r>
              <a:rPr sz="1050" b="0">
                <a:solidFill>
                  <a:srgbClr val="333333"/>
                </a:solidFill>
              </a:rPr>
              <a:t>    lv_obj_delete_async(g_ui.medical_screen);</a:t>
            </a:r>
          </a:p>
          <a:p xmlns:a="http://schemas.openxmlformats.org/drawingml/2006/main">
            <a:pPr algn="l">
              <a:defRPr sz="1050" b="0">
                <a:solidFill>
                  <a:srgbClr val="333333"/>
                </a:solidFill>
              </a:defRPr>
            </a:pPr>
            <a:r>
              <a:rPr sz="1050" b="0">
                <a:solidFill>
                  <a:srgbClr val="333333"/>
                </a:solidFill>
              </a:rPr>
              <a:t>    g_ui.medical_screen = NULL;</a:t>
            </a:r>
          </a:p>
          <a:p xmlns:a="http://schemas.openxmlformats.org/drawingml/2006/main">
            <a:pPr algn="l">
              <a:defRPr sz="1050" b="0">
                <a:solidFill>
                  <a:srgbClr val="333333"/>
                </a:solidFill>
              </a:defRPr>
            </a:pPr>
            <a:r>
              <a:rPr sz="1050" b="0">
                <a:solidFill>
                  <a:srgbClr val="333333"/>
                </a:solidFill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333333"/>
                </a:solidFill>
              </a:defRPr>
            </a:pPr>
            <a:r>
              <a:rPr sz="1050" b="0">
                <a:solidFill>
                  <a:srgbClr val="333333"/>
                </a:solidFill>
              </a:rPr>
              <a:t>if (auto_play_timer != NULL) {</a:t>
            </a:r>
          </a:p>
          <a:p xmlns:a="http://schemas.openxmlformats.org/drawingml/2006/main">
            <a:pPr algn="l">
              <a:defRPr sz="1050" b="0">
                <a:solidFill>
                  <a:srgbClr val="333333"/>
                </a:solidFill>
              </a:defRPr>
            </a:pPr>
            <a:r>
              <a:rPr sz="1050" b="0">
                <a:solidFill>
                  <a:srgbClr val="333333"/>
                </a:solidFill>
              </a:rPr>
              <a:t>    lv_timer_del(auto_play_timer);</a:t>
            </a:r>
          </a:p>
          <a:p xmlns:a="http://schemas.openxmlformats.org/drawingml/2006/main">
            <a:pPr algn="l">
              <a:defRPr sz="1050" b="0">
                <a:solidFill>
                  <a:srgbClr val="333333"/>
                </a:solidFill>
              </a:defRPr>
            </a:pPr>
            <a:r>
              <a:rPr sz="1050" b="0">
                <a:solidFill>
                  <a:srgbClr val="333333"/>
                </a:solidFill>
              </a:rPr>
              <a:t>    auto_play_timer = NULL;</a:t>
            </a:r>
          </a:p>
          <a:p xmlns:a="http://schemas.openxmlformats.org/drawingml/2006/main">
            <a:pPr algn="l">
              <a:defRPr sz="1050" b="0">
                <a:solidFill>
                  <a:srgbClr val="333333"/>
                </a:solidFill>
              </a:defRPr>
            </a:pPr>
            <a:r>
              <a:rPr sz="1050" b="0">
                <a:solidFill>
                  <a:srgbClr val="333333"/>
                </a:solidFill>
              </a:rPr>
              <a:t>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92DC29-3770-4BA1-948D-334E0A83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95750"/>
            <a:ext cx="268605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CF7">
              <a:alpha val="94902"/>
            </a:srgbClr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E6AD05-18D2-4247-B082-3F7DF0B0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95750"/>
            <a:ext cx="762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7C597F-7621-4221-958B-12DE3837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24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CF7">
              <a:alpha val="94902"/>
            </a:srgbClr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73EB59-C718-4E6F-80B0-D03D2BD1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495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D52C2D-434F-4A0F-81BA-35447C1B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581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7D0E7A-108A-4C5C-A048-2B84836D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624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670A42-A98A-43BB-9020-E2E278A1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0530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7C59"/>
                </a:solidFill>
              </a:defRPr>
            </a:pPr>
            <a:r>
              <a:rPr sz="1125" b="1">
                <a:solidFill>
                  <a:srgbClr val="4A7C59"/>
                </a:solidFill>
              </a:rPr>
              <a:t>问题 1：切屏崩溃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48048B-3C0B-475D-9B6F-B78EC530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914900"/>
            <a:ext cx="2228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退出登录时如果在动画过程中直接删旧页面，容易触发段错误。当前做法是先切回登录页，再用</a:t>
            </a:r>
          </a:p>
          <a:p xmlns:a="http://schemas.openxmlformats.org/drawingml/2006/main"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lv_obj_delete_async 异步回收子页面。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E25169-80EA-4DCD-871A-D0A49935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95750"/>
            <a:ext cx="268605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CF7">
              <a:alpha val="94902"/>
            </a:srgbClr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FA3D10-F06B-4055-9F36-913B58D8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95750"/>
            <a:ext cx="762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0BF18D-A5E3-464E-B103-62CC646D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324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CF7">
              <a:alpha val="94902"/>
            </a:srgbClr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63757C-CAB5-4178-B414-5E0D0C15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4672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0392B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38BEE3-2DD8-4B17-94C0-144D0984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5529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D8BE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236C23-117D-4C96-AA32-A63F0532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6386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D8D2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215CB7-F84D-47FF-B85F-14137CC5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30530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7C59"/>
                </a:solidFill>
              </a:defRPr>
            </a:pPr>
            <a:r>
              <a:rPr sz="1125" b="1">
                <a:solidFill>
                  <a:srgbClr val="4A7C59"/>
                </a:solidFill>
              </a:rPr>
              <a:t>问题 2：内存与定时器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856651-09A5-4C82-BA8F-FCDDFD88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914900"/>
            <a:ext cx="2228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字库和 IME 会增加内存压力，因此配置了 2 MB</a:t>
            </a:r>
          </a:p>
          <a:p xmlns:a="http://schemas.openxmlformats.org/drawingml/2006/main"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LVGL</a:t>
            </a:r>
          </a:p>
          <a:p xmlns:a="http://schemas.openxmlformats.org/drawingml/2006/main"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内存池；相册和医疗模块在页面销毁时都会主动删定时器，避免野指针。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AEC788-A8A4-4A43-8683-17F19B60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178"/>
                </a:solidFill>
              </a:defRPr>
            </a:pPr>
            <a:r>
              <a:rPr sz="750" b="0">
                <a:solidFill>
                  <a:srgbClr val="8A8178"/>
                </a:solidFill>
              </a:rPr>
              <a:t>截图、实物照片和代码截图由答辩前自行替换到占位框中</a:t>
            </a:r>
          </a:p>
        </p:txBody>
      </p:sp>
    </p:spTree>
    <p:extLst>
      <p:ext uri="{BB962C8B-B14F-4D97-AF65-F5344CB8AC3E}">
        <p14:creationId xmlns:p14="http://schemas.microsoft.com/office/powerpoint/2010/main" val="9782381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A3B6D80-B779-40B3-BDD6-6A69D6DD29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39ef54237b42f9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D0B214-590D-4DB4-82E9-C81E519F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5D538C-6355-429F-BD06-B437B76C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总结展望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30D8BD-B3A3-4521-9BC2-F440350B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12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FDFD85-B8A0-4113-8237-B99C22DF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F5B650-1A59-4778-BA59-4B29E3D8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6C1493-0331-4396-A796-9A920785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429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33333"/>
                </a:solidFill>
              </a:defRPr>
            </a:pPr>
            <a:r>
              <a:rPr sz="3000" b="1">
                <a:solidFill>
                  <a:srgbClr val="333333"/>
                </a:solidFill>
              </a:rPr>
              <a:t>总结与展望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4FEE9-563E-4119-82FA-40744254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</a:defRPr>
            </a:pPr>
            <a:r>
              <a:rPr sz="1425" b="0">
                <a:solidFill>
                  <a:srgbClr val="666666"/>
                </a:solidFill>
              </a:rPr>
              <a:t>项目价值体现在：功能完整、实现真实、工程细节可讲、后续扩展方向清晰。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957A16-C108-4875-970C-7489AF34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23812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CF7">
              <a:alpha val="94902"/>
            </a:srgbClr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BED2D6-4E8D-442B-900C-93B727D5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C0DB89-94B9-4724-8261-94AB9E9D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CF7">
              <a:alpha val="94902"/>
            </a:srgbClr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7AB483-E012-4AA6-8D00-F529155B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571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269862-B7FB-4170-8891-DBB43D07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657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95AA8E-BB1A-4F0E-87C3-9B5F6F00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384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B7AAED-4E43-4A9C-A41A-F4CBC7A4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3812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7C59"/>
                </a:solidFill>
              </a:defRPr>
            </a:pPr>
            <a:r>
              <a:rPr sz="1125" b="1">
                <a:solidFill>
                  <a:srgbClr val="4A7C59"/>
                </a:solidFill>
              </a:rPr>
              <a:t>页面组织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2409FB-EBFB-4B15-99D4-9AE3C45D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1924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从登录页、主菜单到多个子页面，已经形成完整的多页面</a:t>
            </a:r>
          </a:p>
          <a:p xmlns:a="http://schemas.openxmlformats.org/drawingml/2006/main"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LVGL 工程结构。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574A2E-B0DE-4848-8ECF-6CB271FB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71700"/>
            <a:ext cx="23812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CF7">
              <a:alpha val="94902"/>
            </a:srgbClr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C0BD95-E482-428B-888B-FBB1FEF6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7170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8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37D3D3-5073-447E-A828-611B47CF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CF7">
              <a:alpha val="94902"/>
            </a:srgbClr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F75491-C3E4-4746-A0A4-D99B8259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5431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D8BE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AC0080-BB05-43C0-968F-B7293CAC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289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D8BE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E8A1D5-3A9E-4BD9-9F56-796EF54C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7146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D8D2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2F6879-9A10-4EE7-BA60-484C1593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812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7C59"/>
                </a:solidFill>
              </a:defRPr>
            </a:pPr>
            <a:r>
              <a:rPr sz="1125" b="1">
                <a:solidFill>
                  <a:srgbClr val="4A7C59"/>
                </a:solidFill>
              </a:rPr>
              <a:t>数据持久化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D67326-F828-4905-98F5-08A6F45D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90850"/>
            <a:ext cx="1924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用户信息和 2048 最高分写入 TXT</a:t>
            </a:r>
          </a:p>
          <a:p xmlns:a="http://schemas.openxmlformats.org/drawingml/2006/main"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文件，体现了文件 I/O 在项目中的实际落地。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314714-E650-4245-BB28-45EE7316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71700"/>
            <a:ext cx="23812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CF7">
              <a:alpha val="94902"/>
            </a:srgbClr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0CC90B-4259-49B7-BCE4-D83BB639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7170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4BDB4D-DC83-4358-9B29-8AAE4460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CF7">
              <a:alpha val="94902"/>
            </a:srgbClr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3EF4BE-3A12-4D18-98DA-39F05FD0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765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00CA8B-9727-48B5-B7BA-B2D13EC3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6003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DF92A7-D8B2-4940-B4EF-B81A32AB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336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8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F41124-3768-4319-98AA-302E537F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812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7C59"/>
                </a:solidFill>
              </a:defRPr>
            </a:pPr>
            <a:r>
              <a:rPr sz="1125" b="1">
                <a:solidFill>
                  <a:srgbClr val="4A7C59"/>
                </a:solidFill>
              </a:rPr>
              <a:t>算法实现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3DC10A-5302-4E33-B9B1-E41AD94F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90850"/>
            <a:ext cx="1924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医疗队列的插队和 2048</a:t>
            </a:r>
          </a:p>
          <a:p xmlns:a="http://schemas.openxmlformats.org/drawingml/2006/main"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的矩阵处理，让项目不仅有界面，也有底层数据逻辑。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C4CD2F-3B36-4E7C-81A0-AE9F0BDC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71700"/>
            <a:ext cx="23812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CF7">
              <a:alpha val="94902"/>
            </a:srgbClr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0CFB66-1568-42F1-8975-B53CCC06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7170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2C1B2B-7EC8-4EB8-A9EC-3D910AC1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CF7">
              <a:alpha val="94902"/>
            </a:srgbClr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496ED7-7906-4C54-BD87-D7F2804A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5431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EEEEE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FE936C-C8C7-4131-A28B-C54115F2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289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D8BE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4BB224-926C-48CB-97DF-B9F49BE7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7146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D8D2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319A21-3025-427A-888D-39B9C5D5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812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7C59"/>
                </a:solidFill>
              </a:defRPr>
            </a:pPr>
            <a:r>
              <a:rPr sz="1125" b="1">
                <a:solidFill>
                  <a:srgbClr val="4A7C59"/>
                </a:solidFill>
              </a:rPr>
              <a:t>工程思考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A9EC3B-5AB3-4633-BAC1-FEE78B4A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90850"/>
            <a:ext cx="1924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SDL、字库、内存池、定时器回收和板端入口准备，体现了工程层面的完整性。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47FF10-48FA-490D-8015-D2F9827A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14800"/>
            <a:ext cx="101536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DED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8BD602A-AF50-41FA-A8F3-BB6745EC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14800"/>
            <a:ext cx="10153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8F28244-B4B9-4B5B-8417-6E0AAA24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05300"/>
            <a:ext cx="9734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3333"/>
                </a:solidFill>
              </a:defRPr>
            </a:pPr>
            <a:r>
              <a:rPr sz="1650" b="1">
                <a:solidFill>
                  <a:srgbClr val="333333"/>
                </a:solidFill>
              </a:rPr>
              <a:t>后续扩展方向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D66ACC6-4CAD-4286-B653-BCC6F751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43450"/>
            <a:ext cx="97345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把资源路径抽象成相对路径或统一配置，减少平台切换成本。</a:t>
            </a:r>
          </a:p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补齐真实板端资源部署与实物运行验证，进一步完善 RK3568 适配。</a:t>
            </a:r>
          </a:p>
          <a:p xmlns:a="http://schemas.openxmlformats.org/drawingml/2006/main"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把命令式叫号继续扩展成真实 TTS 或网络消息输入。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4E5EE9D-4CFB-4FD0-A412-88899B3C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178"/>
                </a:solidFill>
              </a:defRPr>
            </a:pPr>
            <a:r>
              <a:rPr sz="750" b="0">
                <a:solidFill>
                  <a:srgbClr val="8A8178"/>
                </a:solidFill>
              </a:rPr>
              <a:t>截图、实物照片和代码截图由答辩前自行替换到占位框中</a:t>
            </a:r>
          </a:p>
        </p:txBody>
      </p:sp>
    </p:spTree>
    <p:extLst>
      <p:ext uri="{BB962C8B-B14F-4D97-AF65-F5344CB8AC3E}">
        <p14:creationId xmlns:p14="http://schemas.microsoft.com/office/powerpoint/2010/main" val="16482175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2026-04-18T07:43:34.0350000Z</dcterms:created>
  <dcterms:modified xsi:type="dcterms:W3CDTF">2026-04-18T07:43:34.0360000Z</dcterms:modified>
</coreProperties>
</file>