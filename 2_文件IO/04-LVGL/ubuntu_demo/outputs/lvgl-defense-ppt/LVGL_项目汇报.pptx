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232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封面页说明项目名称、模块范围和答辩信息占位字段。</a:t>
            </a:r>
          </a:p>
          <a:p>
            <a:endParaRPr/>
          </a:p>
          <a:p>
            <a:r>
              <a:t>[Sources]</a:t>
            </a:r>
          </a:p>
          <a:p>
            <a:r>
              <a:t>- mycode/app_ui.c: login/menu creation, page jumps, rank screen refresh, lv_obj_delete_async cleanup.</a:t>
            </a:r>
          </a:p>
          <a:p>
            <a:r>
              <a:t>- code/medical.c and code/medical.h: queue data, add-patient form, IME, urgent insert, notice, idle timer, command parsing.</a:t>
            </a:r>
          </a:p>
          <a:p>
            <a:r>
              <a:t>- mycode/2048.c: 4x4 matrix state, slide logic, score updates, best-score persistence.</a:t>
            </a:r>
          </a:p>
          <a:p>
            <a:r>
              <a:t>- mycode/album.c: local BMP album, page wrap, auto-play timer, delete-time timer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说明课程项目目标和为何把多个模块收敛到同一套 LVGL 工程里。</a:t>
            </a:r>
          </a:p>
          <a:p>
            <a:endParaRPr/>
          </a:p>
          <a:p>
            <a:r>
              <a:t>[Sources]</a:t>
            </a:r>
          </a:p>
          <a:p>
            <a:r>
              <a:t>- mycode/app_ui.c: login/menu creation, page jumps, rank screen refresh, lv_obj_delete_async cleanup.</a:t>
            </a:r>
          </a:p>
          <a:p>
            <a:r>
              <a:t>- mycode/user_data.c and mycode/user_data.h: registration/login, default admin, TXT persistence, best-score ranking.</a:t>
            </a:r>
          </a:p>
          <a:p>
            <a:r>
              <a:t>- code/medical.c and code/medical.h: queue data, add-patient form, IME, urgent insert, notice, idle timer, command parsing.</a:t>
            </a:r>
          </a:p>
          <a:p>
            <a:r>
              <a:t>- mycode/2048.c: 4x4 matrix state, slide logic, score updates, best-score persistence.</a:t>
            </a:r>
          </a:p>
          <a:p>
            <a:r>
              <a:t>- mycode/album.c: local BMP album, page wrap, auto-play timer, delete-time timer cleanup.</a:t>
            </a:r>
          </a:p>
          <a:p>
            <a:r>
              <a:t>- main.c, lv_conf.h, CMakeLists.txt, mycode/ui_font.c: SDL runtime, fbdev hook, FreeType, IME, 2 MB LVGL memory pool, font 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说明页面关系、主菜单分发逻辑，以及 app_ui.c 中的页面创建与回退方式。</a:t>
            </a:r>
          </a:p>
          <a:p>
            <a:endParaRPr/>
          </a:p>
          <a:p>
            <a:r>
              <a:t>[Sources]</a:t>
            </a:r>
          </a:p>
          <a:p>
            <a:r>
              <a:t>- mycode/app_ui.c: login/menu creation, page jumps, rank screen refresh, lv_obj_delete_async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说明用户层的注册登录、TXT 持久化和排行榜来源。</a:t>
            </a:r>
          </a:p>
          <a:p>
            <a:endParaRPr/>
          </a:p>
          <a:p>
            <a:r>
              <a:t>[Sources]</a:t>
            </a:r>
          </a:p>
          <a:p>
            <a:r>
              <a:t>- mycode/user_data.c and mycode/user_data.h: registration/login, default admin, TXT persistence, best-score ranking.</a:t>
            </a:r>
          </a:p>
          <a:p>
            <a:r>
              <a:t>- mycode/app_ui.c: login/menu creation, page jumps, rank screen refresh, lv_obj_delete_async cleanup.</a:t>
            </a:r>
          </a:p>
          <a:p>
            <a:r>
              <a:t>- mycode/2048.c: 4x4 matrix state, slide logic, score updates, best-score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展示医疗主界面的结构组成，并强调 current_patient、wait_queue、doctors、next_number 四个关键状态。</a:t>
            </a:r>
          </a:p>
          <a:p>
            <a:endParaRPr/>
          </a:p>
          <a:p>
            <a:r>
              <a:t>[Sources]</a:t>
            </a:r>
          </a:p>
          <a:p>
            <a:r>
              <a:t>- code/medical.c and code/medical.h: queue data, add-patient form, IME, urgent insert, notice, idle timer, command parsing.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说明弹窗交互、防误触、软键盘与拼音输入法的接入。</a:t>
            </a:r>
          </a:p>
          <a:p>
            <a:endParaRPr/>
          </a:p>
          <a:p>
            <a:r>
              <a:t>[Sources]</a:t>
            </a:r>
          </a:p>
          <a:p>
            <a:r>
              <a:t>- code/medical.c and code/medical.h: queue data, add-patient form, IME, urgent insert, notice, idle timer, command parsing.</a:t>
            </a:r>
          </a:p>
          <a:p>
            <a:r>
              <a:t>- main.c, lv_conf.h, CMakeLists.txt, mycode/ui_font.c: SDL runtime, fbdev hook, FreeType, IME, 2 MB LVGL memory pool, font 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突出医疗模块的数组移位插队、命令解析、闪烁和 TTS 联动。</a:t>
            </a:r>
          </a:p>
          <a:p>
            <a:endParaRPr/>
          </a:p>
          <a:p>
            <a:r>
              <a:t>[Sources]</a:t>
            </a:r>
          </a:p>
          <a:p>
            <a:r>
              <a:t>- code/medical.c and code/medical.h: queue data, add-patient form, IME, urgent insert, notice, idle timer, command parsing.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先展示 2048 的可见界面和基本玩法，再在下一页展开算法实现。</a:t>
            </a:r>
          </a:p>
          <a:p>
            <a:endParaRPr/>
          </a:p>
          <a:p>
            <a:r>
              <a:t>[Sources]</a:t>
            </a:r>
          </a:p>
          <a:p>
            <a:r>
              <a:t>- mycode/2048.c: 4x4 matrix state, slide logic, score updates, best-score persistence.</a:t>
            </a:r>
          </a:p>
          <a:p>
            <a:r>
              <a:t>- mycode/user_data.c and mycode/user_data.h: registration/login, default admin, TXT persistence, best-score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 2048 的矩阵算法和与 user_data.c 的最高分联动。</a:t>
            </a:r>
          </a:p>
          <a:p>
            <a:endParaRPr/>
          </a:p>
          <a:p>
            <a:r>
              <a:t>[Sources]</a:t>
            </a:r>
          </a:p>
          <a:p>
            <a:r>
              <a:t>- mycode/2048.c: 4x4 matrix state, slide logic, score updates, best-score persistence.</a:t>
            </a:r>
          </a:p>
          <a:p>
            <a:r>
              <a:t>- mycode/user_data.c and mycode/user_data.h: registration/login, default admin, TXT persistence, best-score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介绍相册的本地图片路径、手动翻页和自动播放定时器清理。</a:t>
            </a:r>
          </a:p>
          <a:p>
            <a:endParaRPr/>
          </a:p>
          <a:p>
            <a:r>
              <a:t>[Sources]</a:t>
            </a:r>
          </a:p>
          <a:p>
            <a:r>
              <a:t>- mycode/album.c: local BMP album, page wrap, auto-play timer, delete-time timer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这一页如实说明 SDL、fbdev 入口、FreeType/IME、路径硬编码，以及用 async delete 和定时器清理规避问题。</a:t>
            </a:r>
          </a:p>
          <a:p>
            <a:endParaRPr/>
          </a:p>
          <a:p>
            <a:r>
              <a:t>[Sources]</a:t>
            </a:r>
          </a:p>
          <a:p>
            <a:r>
              <a:t>- main.c, lv_conf.h, CMakeLists.txt, mycode/ui_font.c: SDL runtime, fbdev hook, FreeType, IME, 2 MB LVGL memory pool, font loading.</a:t>
            </a:r>
          </a:p>
          <a:p>
            <a:r>
              <a:t>- mycode/app_ui.c: login/menu creation, page jumps, rank screen refresh, lv_obj_delete_async cleanup.</a:t>
            </a:r>
          </a:p>
          <a:p>
            <a:r>
              <a:t>- mycode/album.c: local BMP album, page wrap, auto-play timer, delete-time timer cleanup.</a:t>
            </a:r>
          </a:p>
          <a:p>
            <a:r>
              <a:t>- code/medical.c and code/medical.h: queue data, add-patient form, IME, urgent insert, notice, idle timer, command parsing.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收束整个答辩：总结本项目体现的页面组织、文件 I/O、算法和工程思考，再给出后续扩展方向。</a:t>
            </a:r>
          </a:p>
          <a:p>
            <a:endParaRPr/>
          </a:p>
          <a:p>
            <a:r>
              <a:t>[Sources]</a:t>
            </a:r>
          </a:p>
          <a:p>
            <a:r>
              <a:t>- mycode/app_ui.c: login/menu creation, page jumps, rank screen refresh, lv_obj_delete_async cleanup.</a:t>
            </a:r>
          </a:p>
          <a:p>
            <a:r>
              <a:t>- mycode/user_data.c and mycode/user_data.h: registration/login, default admin, TXT persistence, best-score ranking.</a:t>
            </a:r>
          </a:p>
          <a:p>
            <a:r>
              <a:t>- code/medical.c and code/medical.h: queue data, add-patient form, IME, urgent insert, notice, idle timer, command parsing.</a:t>
            </a:r>
          </a:p>
          <a:p>
            <a:r>
              <a:t>- mycode/2048.c: 4x4 matrix state, slide logic, score updates, best-score persistence.</a:t>
            </a:r>
          </a:p>
          <a:p>
            <a:r>
              <a:t>- mycode/album.c: local BMP album, page wrap, auto-play timer, delete-time timer cleanup.</a:t>
            </a:r>
          </a:p>
          <a:p>
            <a:r>
              <a:t>- main.c, lv_conf.h, CMakeLists.txt, mycode/ui_font.c: SDL runtime, fbdev hook, FreeType, IME, 2 MB LVGL memory pool, font loading.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CF70120-BE5D-43CD-A46D-99986FD18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8078423-D629-4550-969B-EC34C83CA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393A92C-17E9-4702-AFA0-9FDB4B1F74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2EA66BA-658C-4F23-9EDE-75B4BA9E2DD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6EFB5D-F8DA-4F6B-8FE1-BA67EBECF6F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64D7908-0322-42E9-AC6B-7EE845DA47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392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812D5D4-8EDB-4574-9C18-F0DB1CBD351A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11087100" cy="5829300"/>
          </a:xfrm>
          <a:prstGeom prst="roundRect">
            <a:avLst>
              <a:gd name="adj" fmla="val 1307"/>
            </a:avLst>
          </a:prstGeom>
          <a:solidFill>
            <a:srgbClr val="FFFEFC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DDB1EF-2BC6-4034-83EB-4F277624BD69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171450" cy="58293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19DE13-F5DD-4CB8-9BE3-3038C392B686}"/>
              </a:ext>
            </a:extLst>
          </p:cNvPr>
          <p:cNvSpPr>
            <a:spLocks noGrp="1"/>
          </p:cNvSpPr>
          <p:nvPr/>
        </p:nvSpPr>
        <p:spPr>
          <a:xfrm>
            <a:off x="1066800" y="91440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A7C59"/>
                </a:solidFill>
              </a:defRPr>
            </a:pPr>
            <a:endParaRPr sz="1125" b="1" dirty="0">
              <a:solidFill>
                <a:srgbClr val="4A7C59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4C83C4-7432-4698-8A7C-F51AFE4F4384}"/>
              </a:ext>
            </a:extLst>
          </p:cNvPr>
          <p:cNvSpPr>
            <a:spLocks noGrp="1"/>
          </p:cNvSpPr>
          <p:nvPr/>
        </p:nvSpPr>
        <p:spPr>
          <a:xfrm>
            <a:off x="1066800" y="1333500"/>
            <a:ext cx="609600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333333"/>
                </a:solidFill>
              </a:defRPr>
            </a:pPr>
            <a:r>
              <a:rPr sz="3150" b="1">
                <a:solidFill>
                  <a:srgbClr val="333333"/>
                </a:solidFill>
              </a:rPr>
              <a:t>基于 LVGL 的多功能嵌入式交互系统设计与实现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C56DB1-BE82-4845-B0A3-907B265074CD}"/>
              </a:ext>
            </a:extLst>
          </p:cNvPr>
          <p:cNvSpPr>
            <a:spLocks noGrp="1"/>
          </p:cNvSpPr>
          <p:nvPr/>
        </p:nvSpPr>
        <p:spPr>
          <a:xfrm>
            <a:off x="1085850" y="2609850"/>
            <a:ext cx="495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666666"/>
                </a:solidFill>
              </a:defRPr>
            </a:pPr>
            <a:r>
              <a:rPr sz="1650" b="0">
                <a:solidFill>
                  <a:srgbClr val="666666"/>
                </a:solidFill>
              </a:rPr>
              <a:t>用户管理、医疗叫号、2048 与电子相册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70A2EC6-6F41-45A8-8C84-4AC069B270C7}"/>
              </a:ext>
            </a:extLst>
          </p:cNvPr>
          <p:cNvSpPr>
            <a:spLocks noGrp="1"/>
          </p:cNvSpPr>
          <p:nvPr/>
        </p:nvSpPr>
        <p:spPr>
          <a:xfrm>
            <a:off x="1085850" y="3162300"/>
            <a:ext cx="5905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围绕 ubuntu_demo 工程，按真实代码现状梳理项目目标、模块实现、核心算法、工程配置与后续扩展。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DF46964-30D1-4986-9D77-0688229AA5F1}"/>
              </a:ext>
            </a:extLst>
          </p:cNvPr>
          <p:cNvSpPr>
            <a:spLocks noGrp="1"/>
          </p:cNvSpPr>
          <p:nvPr/>
        </p:nvSpPr>
        <p:spPr>
          <a:xfrm>
            <a:off x="1181100" y="4506104"/>
            <a:ext cx="1345012" cy="766762"/>
          </a:xfrm>
          <a:prstGeom prst="roundRect">
            <a:avLst>
              <a:gd name="adj" fmla="val 28571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293803-A90D-4E38-AA3E-242D061A8A74}"/>
              </a:ext>
            </a:extLst>
          </p:cNvPr>
          <p:cNvSpPr>
            <a:spLocks noGrp="1"/>
          </p:cNvSpPr>
          <p:nvPr/>
        </p:nvSpPr>
        <p:spPr>
          <a:xfrm>
            <a:off x="1332643" y="4752342"/>
            <a:ext cx="1041925" cy="37274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rPr sz="2000" b="1" dirty="0" err="1">
                <a:solidFill>
                  <a:srgbClr val="333333"/>
                </a:solidFill>
              </a:rPr>
              <a:t>用户系统</a:t>
            </a:r>
            <a:endParaRPr sz="2000" b="1" dirty="0">
              <a:solidFill>
                <a:srgbClr val="333333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B816F36-B3A7-48CC-B803-7219893A18B7}"/>
              </a:ext>
            </a:extLst>
          </p:cNvPr>
          <p:cNvSpPr>
            <a:spLocks noGrp="1"/>
          </p:cNvSpPr>
          <p:nvPr/>
        </p:nvSpPr>
        <p:spPr>
          <a:xfrm>
            <a:off x="2677656" y="4490214"/>
            <a:ext cx="1258156" cy="766762"/>
          </a:xfrm>
          <a:prstGeom prst="roundRect">
            <a:avLst>
              <a:gd name="adj" fmla="val 28571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E1A017-8042-4462-84CB-3CFCFB11D3F1}"/>
              </a:ext>
            </a:extLst>
          </p:cNvPr>
          <p:cNvSpPr>
            <a:spLocks noGrp="1"/>
          </p:cNvSpPr>
          <p:nvPr/>
        </p:nvSpPr>
        <p:spPr>
          <a:xfrm>
            <a:off x="2780444" y="4752342"/>
            <a:ext cx="1155368" cy="17741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rPr sz="2000" b="1" dirty="0" err="1">
                <a:solidFill>
                  <a:srgbClr val="333333"/>
                </a:solidFill>
              </a:rPr>
              <a:t>医疗叫号</a:t>
            </a:r>
            <a:endParaRPr sz="2000" b="1" dirty="0">
              <a:solidFill>
                <a:srgbClr val="333333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D591402-5B8C-44E5-8CF2-85E17C95EA33}"/>
              </a:ext>
            </a:extLst>
          </p:cNvPr>
          <p:cNvSpPr>
            <a:spLocks noGrp="1"/>
          </p:cNvSpPr>
          <p:nvPr/>
        </p:nvSpPr>
        <p:spPr>
          <a:xfrm>
            <a:off x="4190144" y="4491038"/>
            <a:ext cx="1258156" cy="766762"/>
          </a:xfrm>
          <a:prstGeom prst="roundRect">
            <a:avLst>
              <a:gd name="adj" fmla="val 28571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7CC491-E2C1-433D-A39E-75E35CF1385A}"/>
              </a:ext>
            </a:extLst>
          </p:cNvPr>
          <p:cNvSpPr>
            <a:spLocks noGrp="1"/>
          </p:cNvSpPr>
          <p:nvPr/>
        </p:nvSpPr>
        <p:spPr>
          <a:xfrm>
            <a:off x="4531223" y="4719638"/>
            <a:ext cx="704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rPr sz="2000" b="1" dirty="0">
                <a:solidFill>
                  <a:srgbClr val="333333"/>
                </a:solidFill>
              </a:rPr>
              <a:t>2048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46CD12F-64DC-4D64-8FF8-5A27D445A906}"/>
              </a:ext>
            </a:extLst>
          </p:cNvPr>
          <p:cNvSpPr>
            <a:spLocks noGrp="1"/>
          </p:cNvSpPr>
          <p:nvPr/>
        </p:nvSpPr>
        <p:spPr>
          <a:xfrm>
            <a:off x="5702632" y="4506104"/>
            <a:ext cx="1174418" cy="751696"/>
          </a:xfrm>
          <a:prstGeom prst="roundRect">
            <a:avLst>
              <a:gd name="adj" fmla="val 28571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1B66ABD-8C4E-468E-8CB8-FEF1CDAB46F8}"/>
              </a:ext>
            </a:extLst>
          </p:cNvPr>
          <p:cNvSpPr>
            <a:spLocks noGrp="1"/>
          </p:cNvSpPr>
          <p:nvPr/>
        </p:nvSpPr>
        <p:spPr>
          <a:xfrm>
            <a:off x="5816875" y="4752342"/>
            <a:ext cx="1038282" cy="537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rPr sz="2000" b="1" dirty="0" err="1">
                <a:solidFill>
                  <a:srgbClr val="333333"/>
                </a:solidFill>
              </a:rPr>
              <a:t>电子相册</a:t>
            </a:r>
            <a:endParaRPr sz="2000" b="1" dirty="0">
              <a:solidFill>
                <a:srgbClr val="333333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3B9B87B-6C35-469B-8F04-52969533B9A8}"/>
              </a:ext>
            </a:extLst>
          </p:cNvPr>
          <p:cNvSpPr>
            <a:spLocks noGrp="1"/>
          </p:cNvSpPr>
          <p:nvPr/>
        </p:nvSpPr>
        <p:spPr>
          <a:xfrm>
            <a:off x="7131382" y="4506104"/>
            <a:ext cx="1174418" cy="751696"/>
          </a:xfrm>
          <a:prstGeom prst="roundRect">
            <a:avLst>
              <a:gd name="adj" fmla="val 28571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783E84-F5DC-4AFC-A245-F78DDB1974C4}"/>
              </a:ext>
            </a:extLst>
          </p:cNvPr>
          <p:cNvSpPr>
            <a:spLocks noGrp="1"/>
          </p:cNvSpPr>
          <p:nvPr/>
        </p:nvSpPr>
        <p:spPr>
          <a:xfrm>
            <a:off x="7245625" y="4752342"/>
            <a:ext cx="1022532" cy="537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rPr sz="2000" b="1" dirty="0" err="1">
                <a:solidFill>
                  <a:srgbClr val="333333"/>
                </a:solidFill>
              </a:rPr>
              <a:t>工程适配</a:t>
            </a:r>
            <a:endParaRPr sz="2000" b="1" dirty="0">
              <a:solidFill>
                <a:srgbClr val="333333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3B17F3-F48F-4937-A5AA-2D73F314ED19}"/>
              </a:ext>
            </a:extLst>
          </p:cNvPr>
          <p:cNvSpPr>
            <a:spLocks noGrp="1"/>
          </p:cNvSpPr>
          <p:nvPr/>
        </p:nvSpPr>
        <p:spPr>
          <a:xfrm>
            <a:off x="10363200" y="601980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4A7C59"/>
                </a:solidFill>
              </a:defRPr>
            </a:pPr>
            <a:r>
              <a:rPr sz="900" b="1">
                <a:solidFill>
                  <a:srgbClr val="4A7C59"/>
                </a:solidFill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175152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4A718B0-3369-4E41-8D26-6A486F2D0BD1}"/>
              </a:ext>
            </a:extLst>
          </p:cNvPr>
          <p:cNvSpPr>
            <a:spLocks noGrp="1"/>
          </p:cNvSpPr>
          <p:nvPr/>
        </p:nvSpPr>
        <p:spPr>
          <a:xfrm>
            <a:off x="0" y="-9525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E94443-4A39-4A2A-AF0D-28EB2C6308F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项目目标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B36354-7530-4449-9EB0-9399C909E439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02 / 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548EEC-33FE-4D9D-B0FC-E3C0636ACF3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FC66228-A264-41C3-ADA7-B5AA233402D9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AEEEEE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2230B8-4D08-4E58-B2FC-ECFCFE23C99E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429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项目背景与目标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F1A5E9-9B03-4E1D-A5C4-5FDF29B14AE6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6666"/>
                </a:solidFill>
              </a:defRPr>
            </a:pPr>
            <a:r>
              <a:rPr sz="1425" b="0" dirty="0">
                <a:solidFill>
                  <a:srgbClr val="666666"/>
                </a:solidFill>
              </a:rPr>
              <a:t>把 </a:t>
            </a:r>
            <a:r>
              <a:rPr sz="1425" b="0" dirty="0" err="1">
                <a:solidFill>
                  <a:srgbClr val="666666"/>
                </a:solidFill>
              </a:rPr>
              <a:t>LVGL、文件</a:t>
            </a:r>
            <a:r>
              <a:rPr sz="1425" b="0" dirty="0">
                <a:solidFill>
                  <a:srgbClr val="666666"/>
                </a:solidFill>
              </a:rPr>
              <a:t> I/O </a:t>
            </a:r>
            <a:r>
              <a:rPr sz="1425" b="0" dirty="0" err="1">
                <a:solidFill>
                  <a:srgbClr val="666666"/>
                </a:solidFill>
              </a:rPr>
              <a:t>与多页面交互组合成一个完整课程项目</a:t>
            </a:r>
            <a:r>
              <a:rPr sz="1425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46A7379-7BFC-4E46-BA45-020177CD5D21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609600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D1F410-6D8A-44D2-8992-AB67BF3FCC08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6096000" cy="76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E40188-F3B8-4D20-957F-EE1F5628D2FB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5676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为什么做成综合项目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2C5646-9C7D-49E7-A5CC-35AF14CD68B6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56769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综合使用 LVGL、文件 I/O 和多页面 UI。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用一个工程串起登录、业务、娱乐和数据持久化。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在 Ubuntu 仿真环境里先验证界面与逻辑。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为后续 RK3568 适配保留运行入口和资源准备。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3CD5EF-AD25-4957-8F5A-6A89A6E2ACBE}"/>
              </a:ext>
            </a:extLst>
          </p:cNvPr>
          <p:cNvSpPr>
            <a:spLocks noGrp="1"/>
          </p:cNvSpPr>
          <p:nvPr/>
        </p:nvSpPr>
        <p:spPr>
          <a:xfrm>
            <a:off x="7334250" y="2266950"/>
            <a:ext cx="4000500" cy="19050"/>
          </a:xfrm>
          <a:prstGeom prst="rect">
            <a:avLst/>
          </a:prstGeom>
          <a:solidFill>
            <a:srgbClr val="4A7C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125FC4F-076E-4C81-BAE8-C8542A3D9067}"/>
              </a:ext>
            </a:extLst>
          </p:cNvPr>
          <p:cNvSpPr>
            <a:spLocks noGrp="1"/>
          </p:cNvSpPr>
          <p:nvPr/>
        </p:nvSpPr>
        <p:spPr>
          <a:xfrm>
            <a:off x="7334250" y="4552950"/>
            <a:ext cx="4000500" cy="19050"/>
          </a:xfrm>
          <a:prstGeom prst="rect">
            <a:avLst/>
          </a:prstGeom>
          <a:solidFill>
            <a:srgbClr val="4A7C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4421C2E-7662-42A1-A7CE-EEF85507C2D7}"/>
              </a:ext>
            </a:extLst>
          </p:cNvPr>
          <p:cNvSpPr>
            <a:spLocks noGrp="1"/>
          </p:cNvSpPr>
          <p:nvPr/>
        </p:nvSpPr>
        <p:spPr>
          <a:xfrm>
            <a:off x="7143750" y="4800600"/>
            <a:ext cx="438150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F327F36-9BA1-4C29-94A8-593D2604B9F6}"/>
              </a:ext>
            </a:extLst>
          </p:cNvPr>
          <p:cNvSpPr>
            <a:spLocks noGrp="1"/>
          </p:cNvSpPr>
          <p:nvPr/>
        </p:nvSpPr>
        <p:spPr>
          <a:xfrm>
            <a:off x="7143750" y="4800600"/>
            <a:ext cx="4381500" cy="76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AEAFD77-B290-48AC-9E7F-068EEBA5ADFD}"/>
              </a:ext>
            </a:extLst>
          </p:cNvPr>
          <p:cNvSpPr>
            <a:spLocks noGrp="1"/>
          </p:cNvSpPr>
          <p:nvPr/>
        </p:nvSpPr>
        <p:spPr>
          <a:xfrm>
            <a:off x="7353300" y="4991100"/>
            <a:ext cx="3962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本次汇报主线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2FB5F5D-1DC1-4183-9E7C-C2DBBA7BCC50}"/>
              </a:ext>
            </a:extLst>
          </p:cNvPr>
          <p:cNvSpPr>
            <a:spLocks noGrp="1"/>
          </p:cNvSpPr>
          <p:nvPr/>
        </p:nvSpPr>
        <p:spPr>
          <a:xfrm>
            <a:off x="7353300" y="5429250"/>
            <a:ext cx="3962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项目目标 → 系统结构 → 功能模块 → 核心算法 → 工程配置与问题解决。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1984638B-A3BB-E663-F414-697C64323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2540000"/>
            <a:ext cx="5087750" cy="187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20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A4C1AC8-8D7D-4A0F-8403-B282DB2807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624253-A6F5-43E5-9A65-23C092A3990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系统结构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E43529-090B-4CD8-A447-0083AF8D1740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03 / 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A4B2A6-190A-4A51-B75B-47B090BFAB8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78A33BF-0763-4BB9-8C9A-AEB3C86C2C4C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AEEEEE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F852A3-4495-4D1A-B49A-05D4189EFA0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429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系统整体结构与页面调度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5C64A5-E2FF-4230-9FAF-6711F972D6A6}"/>
              </a:ext>
            </a:extLst>
          </p:cNvPr>
          <p:cNvSpPr>
            <a:spLocks noGrp="1"/>
          </p:cNvSpPr>
          <p:nvPr/>
        </p:nvSpPr>
        <p:spPr>
          <a:xfrm>
            <a:off x="657225" y="15430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6666"/>
                </a:solidFill>
              </a:defRPr>
            </a:pPr>
            <a:r>
              <a:rPr sz="1425" b="0" dirty="0" err="1">
                <a:solidFill>
                  <a:srgbClr val="666666"/>
                </a:solidFill>
              </a:rPr>
              <a:t>页面关系围绕登录入口、主菜单分发和子页面回退展开</a:t>
            </a:r>
            <a:r>
              <a:rPr sz="1425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40A8FCF-D197-4F9E-8AB4-AF7379B8D762}"/>
              </a:ext>
            </a:extLst>
          </p:cNvPr>
          <p:cNvSpPr>
            <a:spLocks noGrp="1"/>
          </p:cNvSpPr>
          <p:nvPr/>
        </p:nvSpPr>
        <p:spPr>
          <a:xfrm>
            <a:off x="666750" y="2019300"/>
            <a:ext cx="6667500" cy="409575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E01DF0-4298-49AC-84F5-C1293100E578}"/>
              </a:ext>
            </a:extLst>
          </p:cNvPr>
          <p:cNvSpPr>
            <a:spLocks noGrp="1"/>
          </p:cNvSpPr>
          <p:nvPr/>
        </p:nvSpPr>
        <p:spPr>
          <a:xfrm>
            <a:off x="895350" y="2228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页面流转关系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7D2FDA6-162D-4CD1-BB48-4DD117FBAD0E}"/>
              </a:ext>
            </a:extLst>
          </p:cNvPr>
          <p:cNvSpPr>
            <a:spLocks noGrp="1"/>
          </p:cNvSpPr>
          <p:nvPr/>
        </p:nvSpPr>
        <p:spPr>
          <a:xfrm>
            <a:off x="1028700" y="2724150"/>
            <a:ext cx="1524000" cy="11430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7CDCD6F-76C6-42A2-93C0-1216D37D5BFF}"/>
              </a:ext>
            </a:extLst>
          </p:cNvPr>
          <p:cNvSpPr>
            <a:spLocks noGrp="1"/>
          </p:cNvSpPr>
          <p:nvPr/>
        </p:nvSpPr>
        <p:spPr>
          <a:xfrm>
            <a:off x="1181100" y="2857500"/>
            <a:ext cx="285750" cy="285750"/>
          </a:xfrm>
          <a:prstGeom prst="ellipse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5E8F52-386C-4459-9FFA-520B8A0EC711}"/>
              </a:ext>
            </a:extLst>
          </p:cNvPr>
          <p:cNvSpPr>
            <a:spLocks noGrp="1"/>
          </p:cNvSpPr>
          <p:nvPr/>
        </p:nvSpPr>
        <p:spPr>
          <a:xfrm>
            <a:off x="1276350" y="29241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A00732-409D-4617-8C57-AE640DBC72EB}"/>
              </a:ext>
            </a:extLst>
          </p:cNvPr>
          <p:cNvSpPr>
            <a:spLocks noGrp="1"/>
          </p:cNvSpPr>
          <p:nvPr/>
        </p:nvSpPr>
        <p:spPr>
          <a:xfrm>
            <a:off x="1562100" y="2876550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登录页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22FF34-6EC8-4138-BA58-6CE43E024CAF}"/>
              </a:ext>
            </a:extLst>
          </p:cNvPr>
          <p:cNvSpPr>
            <a:spLocks noGrp="1"/>
          </p:cNvSpPr>
          <p:nvPr/>
        </p:nvSpPr>
        <p:spPr>
          <a:xfrm>
            <a:off x="1200150" y="3171825"/>
            <a:ext cx="1181100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输入用户名和密码。</a:t>
            </a:r>
          </a:p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注册、登录都从这里进入。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7F90CC4-BACE-4262-8414-F00AFD9C7693}"/>
              </a:ext>
            </a:extLst>
          </p:cNvPr>
          <p:cNvSpPr>
            <a:spLocks noGrp="1"/>
          </p:cNvSpPr>
          <p:nvPr/>
        </p:nvSpPr>
        <p:spPr>
          <a:xfrm>
            <a:off x="2552700" y="3124200"/>
            <a:ext cx="457200" cy="76200"/>
          </a:xfrm>
          <a:prstGeom prst="roundRect">
            <a:avLst>
              <a:gd name="adj" fmla="val 50000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99AC164-2EE5-4006-9C9E-51073C94D57B}"/>
              </a:ext>
            </a:extLst>
          </p:cNvPr>
          <p:cNvSpPr>
            <a:spLocks noGrp="1"/>
          </p:cNvSpPr>
          <p:nvPr/>
        </p:nvSpPr>
        <p:spPr>
          <a:xfrm>
            <a:off x="3009900" y="2724149"/>
            <a:ext cx="1638300" cy="1109663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60DFAF0-25E2-4EE5-816C-C6B2E02FBAA2}"/>
              </a:ext>
            </a:extLst>
          </p:cNvPr>
          <p:cNvSpPr>
            <a:spLocks noGrp="1"/>
          </p:cNvSpPr>
          <p:nvPr/>
        </p:nvSpPr>
        <p:spPr>
          <a:xfrm>
            <a:off x="3162300" y="2857500"/>
            <a:ext cx="285750" cy="285750"/>
          </a:xfrm>
          <a:prstGeom prst="ellipse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E365D35-1FD1-4143-A095-BEB3114F7CEB}"/>
              </a:ext>
            </a:extLst>
          </p:cNvPr>
          <p:cNvSpPr>
            <a:spLocks noGrp="1"/>
          </p:cNvSpPr>
          <p:nvPr/>
        </p:nvSpPr>
        <p:spPr>
          <a:xfrm>
            <a:off x="3257550" y="29241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467A2B-6ED7-43B0-93F4-8B3BB8E89288}"/>
              </a:ext>
            </a:extLst>
          </p:cNvPr>
          <p:cNvSpPr>
            <a:spLocks noGrp="1"/>
          </p:cNvSpPr>
          <p:nvPr/>
        </p:nvSpPr>
        <p:spPr>
          <a:xfrm>
            <a:off x="3543300" y="287655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主菜单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9AB88FA-BF37-4C2F-A568-55B4D6AEBBDD}"/>
              </a:ext>
            </a:extLst>
          </p:cNvPr>
          <p:cNvSpPr>
            <a:spLocks noGrp="1"/>
          </p:cNvSpPr>
          <p:nvPr/>
        </p:nvSpPr>
        <p:spPr>
          <a:xfrm>
            <a:off x="3181350" y="3171825"/>
            <a:ext cx="1276350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统一进入 2048、电子相册、医疗叫号和排行榜。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37A6D5C-CDAA-4506-B91B-DB2C2837B96A}"/>
              </a:ext>
            </a:extLst>
          </p:cNvPr>
          <p:cNvSpPr>
            <a:spLocks noGrp="1"/>
          </p:cNvSpPr>
          <p:nvPr/>
        </p:nvSpPr>
        <p:spPr>
          <a:xfrm>
            <a:off x="3771900" y="3600450"/>
            <a:ext cx="76200" cy="266700"/>
          </a:xfrm>
          <a:prstGeom prst="roundRect">
            <a:avLst>
              <a:gd name="adj" fmla="val 50000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C01ED2B-08F6-4BCC-A0C6-CE4648FAAC4F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14097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CB0B3827-44CC-42C3-A1AE-0EB0C41EC97B}"/>
              </a:ext>
            </a:extLst>
          </p:cNvPr>
          <p:cNvSpPr>
            <a:spLocks noGrp="1"/>
          </p:cNvSpPr>
          <p:nvPr/>
        </p:nvSpPr>
        <p:spPr>
          <a:xfrm>
            <a:off x="1028700" y="4248150"/>
            <a:ext cx="285750" cy="285750"/>
          </a:xfrm>
          <a:prstGeom prst="ellipse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D1AF5B-70D9-4816-BC62-5EBE8ACF0A3F}"/>
              </a:ext>
            </a:extLst>
          </p:cNvPr>
          <p:cNvSpPr>
            <a:spLocks noGrp="1"/>
          </p:cNvSpPr>
          <p:nvPr/>
        </p:nvSpPr>
        <p:spPr>
          <a:xfrm>
            <a:off x="1123950" y="431482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005C393-DDCF-4E79-A095-342478F1AD46}"/>
              </a:ext>
            </a:extLst>
          </p:cNvPr>
          <p:cNvSpPr>
            <a:spLocks noGrp="1"/>
          </p:cNvSpPr>
          <p:nvPr/>
        </p:nvSpPr>
        <p:spPr>
          <a:xfrm>
            <a:off x="1409700" y="42672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2048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9C6971A-E6DF-4736-BCAD-5CE14EE53A4B}"/>
              </a:ext>
            </a:extLst>
          </p:cNvPr>
          <p:cNvSpPr>
            <a:spLocks noGrp="1"/>
          </p:cNvSpPr>
          <p:nvPr/>
        </p:nvSpPr>
        <p:spPr>
          <a:xfrm>
            <a:off x="1047750" y="4562475"/>
            <a:ext cx="10668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滑动交互、分数与最高分更新。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BCC3F8A-40F3-4A76-BC5B-EBD9FF8586A7}"/>
              </a:ext>
            </a:extLst>
          </p:cNvPr>
          <p:cNvSpPr>
            <a:spLocks noGrp="1"/>
          </p:cNvSpPr>
          <p:nvPr/>
        </p:nvSpPr>
        <p:spPr>
          <a:xfrm>
            <a:off x="2457450" y="4114800"/>
            <a:ext cx="14097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5AFDF308-2C87-422D-ABE9-8EA290692E75}"/>
              </a:ext>
            </a:extLst>
          </p:cNvPr>
          <p:cNvSpPr>
            <a:spLocks noGrp="1"/>
          </p:cNvSpPr>
          <p:nvPr/>
        </p:nvSpPr>
        <p:spPr>
          <a:xfrm>
            <a:off x="2609850" y="4248150"/>
            <a:ext cx="285750" cy="285750"/>
          </a:xfrm>
          <a:prstGeom prst="ellipse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3A4BE1B-2F70-41FD-AAE8-31E65E7A865E}"/>
              </a:ext>
            </a:extLst>
          </p:cNvPr>
          <p:cNvSpPr>
            <a:spLocks noGrp="1"/>
          </p:cNvSpPr>
          <p:nvPr/>
        </p:nvSpPr>
        <p:spPr>
          <a:xfrm>
            <a:off x="2705100" y="431482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6ECF45E-635D-4CC8-9BA2-48839CE9D088}"/>
              </a:ext>
            </a:extLst>
          </p:cNvPr>
          <p:cNvSpPr>
            <a:spLocks noGrp="1"/>
          </p:cNvSpPr>
          <p:nvPr/>
        </p:nvSpPr>
        <p:spPr>
          <a:xfrm>
            <a:off x="2990850" y="42672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电子相册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F47599A-6DA4-4ABA-95F6-CAD17396BBFF}"/>
              </a:ext>
            </a:extLst>
          </p:cNvPr>
          <p:cNvSpPr>
            <a:spLocks noGrp="1"/>
          </p:cNvSpPr>
          <p:nvPr/>
        </p:nvSpPr>
        <p:spPr>
          <a:xfrm>
            <a:off x="2628900" y="4562475"/>
            <a:ext cx="10668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本地 BMP 浏览和自动轮播。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799CCAE-8F35-4B25-9F6A-622C6CF2751F}"/>
              </a:ext>
            </a:extLst>
          </p:cNvPr>
          <p:cNvSpPr>
            <a:spLocks noGrp="1"/>
          </p:cNvSpPr>
          <p:nvPr/>
        </p:nvSpPr>
        <p:spPr>
          <a:xfrm>
            <a:off x="4038600" y="4114800"/>
            <a:ext cx="14097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E06F4AE4-8A0D-4137-9DBD-142391D0BF55}"/>
              </a:ext>
            </a:extLst>
          </p:cNvPr>
          <p:cNvSpPr>
            <a:spLocks noGrp="1"/>
          </p:cNvSpPr>
          <p:nvPr/>
        </p:nvSpPr>
        <p:spPr>
          <a:xfrm>
            <a:off x="4191000" y="4248150"/>
            <a:ext cx="285750" cy="285750"/>
          </a:xfrm>
          <a:prstGeom prst="ellipse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9DEB035-3317-414D-BBAA-29C895C25F8F}"/>
              </a:ext>
            </a:extLst>
          </p:cNvPr>
          <p:cNvSpPr>
            <a:spLocks noGrp="1"/>
          </p:cNvSpPr>
          <p:nvPr/>
        </p:nvSpPr>
        <p:spPr>
          <a:xfrm>
            <a:off x="4286250" y="431482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5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46D0F45-AD72-46EE-AC94-554371971F65}"/>
              </a:ext>
            </a:extLst>
          </p:cNvPr>
          <p:cNvSpPr>
            <a:spLocks noGrp="1"/>
          </p:cNvSpPr>
          <p:nvPr/>
        </p:nvSpPr>
        <p:spPr>
          <a:xfrm>
            <a:off x="4572000" y="42672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医疗叫号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F823AA2-E7A1-427A-8A04-841D6BB86F23}"/>
              </a:ext>
            </a:extLst>
          </p:cNvPr>
          <p:cNvSpPr>
            <a:spLocks noGrp="1"/>
          </p:cNvSpPr>
          <p:nvPr/>
        </p:nvSpPr>
        <p:spPr>
          <a:xfrm>
            <a:off x="4210050" y="4562475"/>
            <a:ext cx="10668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队列、医生信息、添加病人和公告。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82E5846C-0053-40C1-A8C0-266D18166D1A}"/>
              </a:ext>
            </a:extLst>
          </p:cNvPr>
          <p:cNvSpPr>
            <a:spLocks noGrp="1"/>
          </p:cNvSpPr>
          <p:nvPr/>
        </p:nvSpPr>
        <p:spPr>
          <a:xfrm>
            <a:off x="5619750" y="4114800"/>
            <a:ext cx="14097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0C5955-14CA-4416-B29B-F839FD70C8DA}"/>
              </a:ext>
            </a:extLst>
          </p:cNvPr>
          <p:cNvSpPr>
            <a:spLocks noGrp="1"/>
          </p:cNvSpPr>
          <p:nvPr/>
        </p:nvSpPr>
        <p:spPr>
          <a:xfrm>
            <a:off x="5772150" y="4248150"/>
            <a:ext cx="285750" cy="285750"/>
          </a:xfrm>
          <a:prstGeom prst="ellipse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9771F8B-4E83-455B-AC59-A4BA808836EE}"/>
              </a:ext>
            </a:extLst>
          </p:cNvPr>
          <p:cNvSpPr>
            <a:spLocks noGrp="1"/>
          </p:cNvSpPr>
          <p:nvPr/>
        </p:nvSpPr>
        <p:spPr>
          <a:xfrm>
            <a:off x="5867400" y="431482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C563643-4371-4E6C-B4DC-42B13A1D4E25}"/>
              </a:ext>
            </a:extLst>
          </p:cNvPr>
          <p:cNvSpPr>
            <a:spLocks noGrp="1"/>
          </p:cNvSpPr>
          <p:nvPr/>
        </p:nvSpPr>
        <p:spPr>
          <a:xfrm>
            <a:off x="6153150" y="42672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排行榜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2095F42-A59C-4C60-AAF7-CD80275B70D2}"/>
              </a:ext>
            </a:extLst>
          </p:cNvPr>
          <p:cNvSpPr>
            <a:spLocks noGrp="1"/>
          </p:cNvSpPr>
          <p:nvPr/>
        </p:nvSpPr>
        <p:spPr>
          <a:xfrm>
            <a:off x="5791200" y="4562475"/>
            <a:ext cx="10668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读取用户最高分并排序展示。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0B54D71-940E-4F6C-8984-F14ED5DB3B63}"/>
              </a:ext>
            </a:extLst>
          </p:cNvPr>
          <p:cNvSpPr>
            <a:spLocks noGrp="1"/>
          </p:cNvSpPr>
          <p:nvPr/>
        </p:nvSpPr>
        <p:spPr>
          <a:xfrm>
            <a:off x="7677150" y="2019300"/>
            <a:ext cx="3848100" cy="409575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E6EDF79-DA08-4284-A73A-13A7363B71C5}"/>
              </a:ext>
            </a:extLst>
          </p:cNvPr>
          <p:cNvSpPr>
            <a:spLocks noGrp="1"/>
          </p:cNvSpPr>
          <p:nvPr/>
        </p:nvSpPr>
        <p:spPr>
          <a:xfrm>
            <a:off x="8096250" y="2438400"/>
            <a:ext cx="3009900" cy="19050"/>
          </a:xfrm>
          <a:prstGeom prst="rect">
            <a:avLst/>
          </a:prstGeom>
          <a:solidFill>
            <a:srgbClr val="4A7C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514C078-E17C-42EB-A566-7D12306B6791}"/>
              </a:ext>
            </a:extLst>
          </p:cNvPr>
          <p:cNvSpPr>
            <a:spLocks noGrp="1"/>
          </p:cNvSpPr>
          <p:nvPr/>
        </p:nvSpPr>
        <p:spPr>
          <a:xfrm>
            <a:off x="8096250" y="3981450"/>
            <a:ext cx="3009900" cy="19050"/>
          </a:xfrm>
          <a:prstGeom prst="rect">
            <a:avLst/>
          </a:prstGeom>
          <a:solidFill>
            <a:srgbClr val="4A7C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7125DF1D-402A-42BF-9C73-0263F8EDC7D3}"/>
              </a:ext>
            </a:extLst>
          </p:cNvPr>
          <p:cNvSpPr>
            <a:spLocks noGrp="1"/>
          </p:cNvSpPr>
          <p:nvPr/>
        </p:nvSpPr>
        <p:spPr>
          <a:xfrm>
            <a:off x="7905750" y="4438650"/>
            <a:ext cx="3390900" cy="139065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4A6CB2C-B834-4746-8BAB-E68057A30D8A}"/>
              </a:ext>
            </a:extLst>
          </p:cNvPr>
          <p:cNvSpPr>
            <a:spLocks noGrp="1"/>
          </p:cNvSpPr>
          <p:nvPr/>
        </p:nvSpPr>
        <p:spPr>
          <a:xfrm>
            <a:off x="7905750" y="4438650"/>
            <a:ext cx="3390900" cy="76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DEDFC4C-EF56-4853-A42B-77A151804FBF}"/>
              </a:ext>
            </a:extLst>
          </p:cNvPr>
          <p:cNvSpPr>
            <a:spLocks noGrp="1"/>
          </p:cNvSpPr>
          <p:nvPr/>
        </p:nvSpPr>
        <p:spPr>
          <a:xfrm>
            <a:off x="8115300" y="4629150"/>
            <a:ext cx="2971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页面调度亮点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FA1CAD9-B74E-4575-983E-88BB3775F8B4}"/>
              </a:ext>
            </a:extLst>
          </p:cNvPr>
          <p:cNvSpPr>
            <a:spLocks noGrp="1"/>
          </p:cNvSpPr>
          <p:nvPr/>
        </p:nvSpPr>
        <p:spPr>
          <a:xfrm>
            <a:off x="8115300" y="5067300"/>
            <a:ext cx="29718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主页面跳转使用 lv_screen_load_anim。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退出登录前先切页，再异步销毁子页面。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排行榜页面支持按需创建和刷新。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5513DC3A-E43D-570F-35A9-EA49ED702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2019300"/>
            <a:ext cx="3924300" cy="208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553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3EEC661-C64C-440F-8247-0136D6C040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386BC3-5DE4-4808-ADF4-590F5032308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用户模块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0EC6FA-3A1F-4374-9D2A-52F5C1B259E1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04 / 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717C47-1CCA-4FF8-8914-7662CC028AF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B854140-B688-46BE-8759-5D5924AF001D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AEEEEE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B44A70-3822-4F1B-A3DF-C1A6F4EEA30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429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用户管理与排行榜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231068-F810-492D-9C5D-242ED8CC8ACD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6666"/>
                </a:solidFill>
              </a:defRPr>
            </a:pPr>
            <a:r>
              <a:rPr sz="1425" b="0">
                <a:solidFill>
                  <a:srgbClr val="666666"/>
                </a:solidFill>
              </a:rPr>
              <a:t>注册、登录、TXT 持久化和最高分排行构成项目的基础数据层。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3BDF446-9A83-4AF9-B945-7403058F2C88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476250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075CEF-86E2-4A54-A08B-A6F907A703B1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4762500" cy="76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1E6515-46ED-4067-AC98-2D63B2355796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4343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实现要点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C16900-C75C-4ADD-84AF-747F708262C2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43434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user_register 和 user_login 负责账号校验。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系统启动时会兜底创建默认 admin 账号。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用户数据写入 user_data.txt，断电后可恢复。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2048 破纪录后会同步刷新当前用户最高分。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排行榜按 best_score 降序排序展示。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C717743-CBA6-4D6E-B0B6-2B51F88994CF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2000250" cy="876300"/>
          </a:xfrm>
          <a:prstGeom prst="roundRect">
            <a:avLst>
              <a:gd name="adj" fmla="val 8696"/>
            </a:avLst>
          </a:prstGeom>
          <a:solidFill>
            <a:srgbClr val="FFFCF7">
              <a:alpha val="94902"/>
            </a:srgbClr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B803D1-F894-4350-ADD3-71BE38FA69A9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76200" cy="8763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020582-86A1-48D6-9063-5F531A76248D}"/>
              </a:ext>
            </a:extLst>
          </p:cNvPr>
          <p:cNvSpPr>
            <a:spLocks noGrp="1"/>
          </p:cNvSpPr>
          <p:nvPr/>
        </p:nvSpPr>
        <p:spPr>
          <a:xfrm>
            <a:off x="1085850" y="49339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默认账号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0404F1A-11A7-4AEC-B840-3EC0641497DB}"/>
              </a:ext>
            </a:extLst>
          </p:cNvPr>
          <p:cNvSpPr>
            <a:spLocks noGrp="1"/>
          </p:cNvSpPr>
          <p:nvPr/>
        </p:nvSpPr>
        <p:spPr>
          <a:xfrm>
            <a:off x="1085850" y="52197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admin / 123456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122CD0C-4195-4C4E-B621-6503A27EA258}"/>
              </a:ext>
            </a:extLst>
          </p:cNvPr>
          <p:cNvSpPr>
            <a:spLocks noGrp="1"/>
          </p:cNvSpPr>
          <p:nvPr/>
        </p:nvSpPr>
        <p:spPr>
          <a:xfrm>
            <a:off x="3009900" y="4762500"/>
            <a:ext cx="2190750" cy="876300"/>
          </a:xfrm>
          <a:prstGeom prst="roundRect">
            <a:avLst>
              <a:gd name="adj" fmla="val 8696"/>
            </a:avLst>
          </a:prstGeom>
          <a:solidFill>
            <a:srgbClr val="FFFCF7">
              <a:alpha val="94902"/>
            </a:srgbClr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CD98848-0278-40D5-AE48-7210E74AF3F0}"/>
              </a:ext>
            </a:extLst>
          </p:cNvPr>
          <p:cNvSpPr>
            <a:spLocks noGrp="1"/>
          </p:cNvSpPr>
          <p:nvPr/>
        </p:nvSpPr>
        <p:spPr>
          <a:xfrm>
            <a:off x="3009900" y="4762500"/>
            <a:ext cx="76200" cy="8763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EA319FC-6E28-4EFF-B37F-FE8F34791DAC}"/>
              </a:ext>
            </a:extLst>
          </p:cNvPr>
          <p:cNvSpPr>
            <a:spLocks noGrp="1"/>
          </p:cNvSpPr>
          <p:nvPr/>
        </p:nvSpPr>
        <p:spPr>
          <a:xfrm>
            <a:off x="3219450" y="49339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存储形式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DA26E61-F7B6-4DD4-BC4B-A4ABD3E07A29}"/>
              </a:ext>
            </a:extLst>
          </p:cNvPr>
          <p:cNvSpPr>
            <a:spLocks noGrp="1"/>
          </p:cNvSpPr>
          <p:nvPr/>
        </p:nvSpPr>
        <p:spPr>
          <a:xfrm>
            <a:off x="3219450" y="521970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username,password,best_score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99C48D4-5B31-4D44-B835-65B72A82B940}"/>
              </a:ext>
            </a:extLst>
          </p:cNvPr>
          <p:cNvSpPr>
            <a:spLocks noGrp="1"/>
          </p:cNvSpPr>
          <p:nvPr/>
        </p:nvSpPr>
        <p:spPr>
          <a:xfrm>
            <a:off x="5715000" y="1122363"/>
            <a:ext cx="5810250" cy="4802187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3A7DE2C7-4A08-0C56-74F4-8428F3F3B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227" y="1052344"/>
            <a:ext cx="5061345" cy="2486361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671E86AB-1730-9F61-0996-5D7589B6C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3226" y="3595855"/>
            <a:ext cx="4956373" cy="239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6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F3C0E29-449F-4609-B1FD-F267EC4997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18493E-B7AD-4121-BC2D-EDA3C1E2B4D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医疗模块 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DD58E1-BFA2-4D92-B62E-3DDC5A768B64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05 / 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AF6707-83A9-472B-8ECB-4CD7D8E96B6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742557A-BEF1-46D3-83F5-A52B90A18792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AEEEEE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B266C5-3877-4AA7-8C62-AE7B3E67FF4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429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医疗叫号系统概览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F59074-E693-4372-A554-54366017C49F}"/>
              </a:ext>
            </a:extLst>
          </p:cNvPr>
          <p:cNvSpPr>
            <a:spLocks noGrp="1"/>
          </p:cNvSpPr>
          <p:nvPr/>
        </p:nvSpPr>
        <p:spPr>
          <a:xfrm>
            <a:off x="695325" y="14795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6666"/>
                </a:solidFill>
              </a:defRPr>
            </a:pPr>
            <a:r>
              <a:rPr sz="1425" b="0" dirty="0" err="1">
                <a:solidFill>
                  <a:srgbClr val="666666"/>
                </a:solidFill>
              </a:rPr>
              <a:t>医疗模块不只是界面展示，还包含排队状态、医生信息和底部操作控制</a:t>
            </a:r>
            <a:r>
              <a:rPr sz="1425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E2A0B3-BB8A-4C65-BDBE-C19B7B1E2243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6477000" cy="19050"/>
          </a:xfrm>
          <a:prstGeom prst="rect">
            <a:avLst/>
          </a:prstGeom>
          <a:solidFill>
            <a:srgbClr val="4A7C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760F84-7722-44E0-8253-727425AD9D31}"/>
              </a:ext>
            </a:extLst>
          </p:cNvPr>
          <p:cNvSpPr>
            <a:spLocks noGrp="1"/>
          </p:cNvSpPr>
          <p:nvPr/>
        </p:nvSpPr>
        <p:spPr>
          <a:xfrm>
            <a:off x="857250" y="5715000"/>
            <a:ext cx="6477000" cy="19050"/>
          </a:xfrm>
          <a:prstGeom prst="rect">
            <a:avLst/>
          </a:prstGeom>
          <a:solidFill>
            <a:srgbClr val="4A7C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85AD735-DF07-48AF-8A9E-01A8FC180C6C}"/>
              </a:ext>
            </a:extLst>
          </p:cNvPr>
          <p:cNvSpPr>
            <a:spLocks noGrp="1"/>
          </p:cNvSpPr>
          <p:nvPr/>
        </p:nvSpPr>
        <p:spPr>
          <a:xfrm>
            <a:off x="7810500" y="2076450"/>
            <a:ext cx="3714750" cy="38481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15A3F2-8808-43DF-8E5A-61FAF06CECF8}"/>
              </a:ext>
            </a:extLst>
          </p:cNvPr>
          <p:cNvSpPr>
            <a:spLocks noGrp="1"/>
          </p:cNvSpPr>
          <p:nvPr/>
        </p:nvSpPr>
        <p:spPr>
          <a:xfrm>
            <a:off x="8039100" y="228600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核心数据点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4560015-3BBF-4A5E-B0B8-139A9CCFF0EE}"/>
              </a:ext>
            </a:extLst>
          </p:cNvPr>
          <p:cNvSpPr>
            <a:spLocks noGrp="1"/>
          </p:cNvSpPr>
          <p:nvPr/>
        </p:nvSpPr>
        <p:spPr>
          <a:xfrm>
            <a:off x="8039100" y="2667000"/>
            <a:ext cx="1562100" cy="1028700"/>
          </a:xfrm>
          <a:prstGeom prst="roundRect">
            <a:avLst>
              <a:gd name="adj" fmla="val 7407"/>
            </a:avLst>
          </a:prstGeom>
          <a:solidFill>
            <a:srgbClr val="FFFCF7">
              <a:alpha val="94902"/>
            </a:srgbClr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9E3440-FA58-4B5C-8B8E-8605A42D8C20}"/>
              </a:ext>
            </a:extLst>
          </p:cNvPr>
          <p:cNvSpPr>
            <a:spLocks noGrp="1"/>
          </p:cNvSpPr>
          <p:nvPr/>
        </p:nvSpPr>
        <p:spPr>
          <a:xfrm>
            <a:off x="8039100" y="2667000"/>
            <a:ext cx="76200" cy="10287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8A0ECC-51E9-4B60-A6CD-D92149D58A7C}"/>
              </a:ext>
            </a:extLst>
          </p:cNvPr>
          <p:cNvSpPr>
            <a:spLocks noGrp="1"/>
          </p:cNvSpPr>
          <p:nvPr/>
        </p:nvSpPr>
        <p:spPr>
          <a:xfrm>
            <a:off x="8248650" y="2838450"/>
            <a:ext cx="1181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current_patient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888DE9-40D2-4369-B0F2-047A6611ED04}"/>
              </a:ext>
            </a:extLst>
          </p:cNvPr>
          <p:cNvSpPr>
            <a:spLocks noGrp="1"/>
          </p:cNvSpPr>
          <p:nvPr/>
        </p:nvSpPr>
        <p:spPr>
          <a:xfrm>
            <a:off x="8248650" y="3124200"/>
            <a:ext cx="1181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当前叫号病人信息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7430342-59C3-4712-B07A-2D5CD18A7BB0}"/>
              </a:ext>
            </a:extLst>
          </p:cNvPr>
          <p:cNvSpPr>
            <a:spLocks noGrp="1"/>
          </p:cNvSpPr>
          <p:nvPr/>
        </p:nvSpPr>
        <p:spPr>
          <a:xfrm>
            <a:off x="9772650" y="2667000"/>
            <a:ext cx="1562100" cy="1028700"/>
          </a:xfrm>
          <a:prstGeom prst="roundRect">
            <a:avLst>
              <a:gd name="adj" fmla="val 7407"/>
            </a:avLst>
          </a:prstGeom>
          <a:solidFill>
            <a:srgbClr val="FFFCF7">
              <a:alpha val="94902"/>
            </a:srgbClr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B68BBF-B1A6-47D0-931C-4B74435E6160}"/>
              </a:ext>
            </a:extLst>
          </p:cNvPr>
          <p:cNvSpPr>
            <a:spLocks noGrp="1"/>
          </p:cNvSpPr>
          <p:nvPr/>
        </p:nvSpPr>
        <p:spPr>
          <a:xfrm>
            <a:off x="9772650" y="2667000"/>
            <a:ext cx="76200" cy="10287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2A64046-7831-4117-8D25-6A7025500513}"/>
              </a:ext>
            </a:extLst>
          </p:cNvPr>
          <p:cNvSpPr>
            <a:spLocks noGrp="1"/>
          </p:cNvSpPr>
          <p:nvPr/>
        </p:nvSpPr>
        <p:spPr>
          <a:xfrm>
            <a:off x="9982200" y="2838450"/>
            <a:ext cx="1181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wait_queue[10]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74020D-DBEF-4ECE-BEA9-4C47EB2AD155}"/>
              </a:ext>
            </a:extLst>
          </p:cNvPr>
          <p:cNvSpPr>
            <a:spLocks noGrp="1"/>
          </p:cNvSpPr>
          <p:nvPr/>
        </p:nvSpPr>
        <p:spPr>
          <a:xfrm>
            <a:off x="9982200" y="3124200"/>
            <a:ext cx="1181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固定长度等待队列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DF8DE30-5D46-42E3-98B8-4959D3C3ED79}"/>
              </a:ext>
            </a:extLst>
          </p:cNvPr>
          <p:cNvSpPr>
            <a:spLocks noGrp="1"/>
          </p:cNvSpPr>
          <p:nvPr/>
        </p:nvSpPr>
        <p:spPr>
          <a:xfrm>
            <a:off x="8039100" y="3848100"/>
            <a:ext cx="1562100" cy="1028700"/>
          </a:xfrm>
          <a:prstGeom prst="roundRect">
            <a:avLst>
              <a:gd name="adj" fmla="val 7407"/>
            </a:avLst>
          </a:prstGeom>
          <a:solidFill>
            <a:srgbClr val="FFFCF7">
              <a:alpha val="94902"/>
            </a:srgbClr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DE261BF-D884-41E2-BC66-DD7CC5FCA21B}"/>
              </a:ext>
            </a:extLst>
          </p:cNvPr>
          <p:cNvSpPr>
            <a:spLocks noGrp="1"/>
          </p:cNvSpPr>
          <p:nvPr/>
        </p:nvSpPr>
        <p:spPr>
          <a:xfrm>
            <a:off x="8039100" y="3848100"/>
            <a:ext cx="76200" cy="10287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494A30-446D-4899-A876-EC17CE4A18E8}"/>
              </a:ext>
            </a:extLst>
          </p:cNvPr>
          <p:cNvSpPr>
            <a:spLocks noGrp="1"/>
          </p:cNvSpPr>
          <p:nvPr/>
        </p:nvSpPr>
        <p:spPr>
          <a:xfrm>
            <a:off x="8248650" y="4019550"/>
            <a:ext cx="1181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doctors[2]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BDC420-51D0-4045-B76C-BCB3EBC472B2}"/>
              </a:ext>
            </a:extLst>
          </p:cNvPr>
          <p:cNvSpPr>
            <a:spLocks noGrp="1"/>
          </p:cNvSpPr>
          <p:nvPr/>
        </p:nvSpPr>
        <p:spPr>
          <a:xfrm>
            <a:off x="8248650" y="4305300"/>
            <a:ext cx="1181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按诊室切换医生资料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2CB455EE-D2B5-4D82-B679-CED5FFAA0592}"/>
              </a:ext>
            </a:extLst>
          </p:cNvPr>
          <p:cNvSpPr>
            <a:spLocks noGrp="1"/>
          </p:cNvSpPr>
          <p:nvPr/>
        </p:nvSpPr>
        <p:spPr>
          <a:xfrm>
            <a:off x="9772650" y="3848100"/>
            <a:ext cx="1562100" cy="1028700"/>
          </a:xfrm>
          <a:prstGeom prst="roundRect">
            <a:avLst>
              <a:gd name="adj" fmla="val 7407"/>
            </a:avLst>
          </a:prstGeom>
          <a:solidFill>
            <a:srgbClr val="FFFCF7">
              <a:alpha val="94902"/>
            </a:srgbClr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D72910B-BA45-48CE-AE80-ED70A002FD52}"/>
              </a:ext>
            </a:extLst>
          </p:cNvPr>
          <p:cNvSpPr>
            <a:spLocks noGrp="1"/>
          </p:cNvSpPr>
          <p:nvPr/>
        </p:nvSpPr>
        <p:spPr>
          <a:xfrm>
            <a:off x="9772650" y="3848100"/>
            <a:ext cx="76200" cy="10287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66A59C3-184B-413E-B9D2-8FD9BC1111E7}"/>
              </a:ext>
            </a:extLst>
          </p:cNvPr>
          <p:cNvSpPr>
            <a:spLocks noGrp="1"/>
          </p:cNvSpPr>
          <p:nvPr/>
        </p:nvSpPr>
        <p:spPr>
          <a:xfrm>
            <a:off x="9982200" y="4019550"/>
            <a:ext cx="1181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next_number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2EA5742-8D22-4C03-92E6-83D1FC9C76AD}"/>
              </a:ext>
            </a:extLst>
          </p:cNvPr>
          <p:cNvSpPr>
            <a:spLocks noGrp="1"/>
          </p:cNvSpPr>
          <p:nvPr/>
        </p:nvSpPr>
        <p:spPr>
          <a:xfrm>
            <a:off x="9982200" y="4305300"/>
            <a:ext cx="1181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新病人号码自增分配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4C9E124-28D2-4353-ACC3-59EDB7C86EF8}"/>
              </a:ext>
            </a:extLst>
          </p:cNvPr>
          <p:cNvSpPr>
            <a:spLocks noGrp="1"/>
          </p:cNvSpPr>
          <p:nvPr/>
        </p:nvSpPr>
        <p:spPr>
          <a:xfrm>
            <a:off x="8039100" y="51054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4A7C59"/>
                </a:solidFill>
              </a:defRPr>
            </a:pPr>
            <a:r>
              <a:rPr sz="1200" b="1">
                <a:solidFill>
                  <a:srgbClr val="4A7C59"/>
                </a:solidFill>
              </a:rPr>
              <a:t>底部操作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990854D5-3BF6-4902-B6BC-C71B6E9675AE}"/>
              </a:ext>
            </a:extLst>
          </p:cNvPr>
          <p:cNvSpPr>
            <a:spLocks noGrp="1"/>
          </p:cNvSpPr>
          <p:nvPr/>
        </p:nvSpPr>
        <p:spPr>
          <a:xfrm>
            <a:off x="8039100" y="5391150"/>
            <a:ext cx="914400" cy="266700"/>
          </a:xfrm>
          <a:prstGeom prst="roundRect">
            <a:avLst>
              <a:gd name="adj" fmla="val 28571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6CA68D2-41F1-4B8F-A7F2-4860F15E37FE}"/>
              </a:ext>
            </a:extLst>
          </p:cNvPr>
          <p:cNvSpPr>
            <a:spLocks noGrp="1"/>
          </p:cNvSpPr>
          <p:nvPr/>
        </p:nvSpPr>
        <p:spPr>
          <a:xfrm>
            <a:off x="8134350" y="5438775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模拟叫号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F9F0FEB-7C26-4E0B-9921-DB7160597081}"/>
              </a:ext>
            </a:extLst>
          </p:cNvPr>
          <p:cNvSpPr>
            <a:spLocks noGrp="1"/>
          </p:cNvSpPr>
          <p:nvPr/>
        </p:nvSpPr>
        <p:spPr>
          <a:xfrm>
            <a:off x="9086850" y="5391150"/>
            <a:ext cx="914400" cy="266700"/>
          </a:xfrm>
          <a:prstGeom prst="roundRect">
            <a:avLst>
              <a:gd name="adj" fmla="val 28571"/>
            </a:avLst>
          </a:prstGeom>
          <a:solidFill>
            <a:srgbClr val="E3D8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4BAF97B-90F1-4AC6-9DA7-F428D796BCA2}"/>
              </a:ext>
            </a:extLst>
          </p:cNvPr>
          <p:cNvSpPr>
            <a:spLocks noGrp="1"/>
          </p:cNvSpPr>
          <p:nvPr/>
        </p:nvSpPr>
        <p:spPr>
          <a:xfrm>
            <a:off x="9182100" y="5438775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紧急公告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E779D5B-BC11-4B8F-BE42-B48BABCABE9E}"/>
              </a:ext>
            </a:extLst>
          </p:cNvPr>
          <p:cNvSpPr>
            <a:spLocks noGrp="1"/>
          </p:cNvSpPr>
          <p:nvPr/>
        </p:nvSpPr>
        <p:spPr>
          <a:xfrm>
            <a:off x="10134600" y="5391150"/>
            <a:ext cx="914400" cy="266700"/>
          </a:xfrm>
          <a:prstGeom prst="roundRect">
            <a:avLst>
              <a:gd name="adj" fmla="val 28571"/>
            </a:avLst>
          </a:prstGeom>
          <a:solidFill>
            <a:srgbClr val="F3D8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507DF66-C057-4BC1-8B5E-86E4EDE8A0E3}"/>
              </a:ext>
            </a:extLst>
          </p:cNvPr>
          <p:cNvSpPr>
            <a:spLocks noGrp="1"/>
          </p:cNvSpPr>
          <p:nvPr/>
        </p:nvSpPr>
        <p:spPr>
          <a:xfrm>
            <a:off x="10229850" y="5438775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添加病人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B798A4E2-F020-E76F-BC2A-A950CD9A6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06" y="1961280"/>
            <a:ext cx="6643694" cy="403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97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1F554DB-7344-4447-B067-D812BB8A4C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5ED0D4-4868-4036-B750-78BDD3ABEAE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医疗模块 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DB2675-96D8-4512-94E5-9B2DFF248C21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06 / 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7DB58D-6DC5-4088-83A1-8F53ADCFF26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B3B73C9-6E0B-4E6F-B381-9FC7B59DDFFC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AEEEEE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4EADD5-062E-4405-B010-E5B4E1919C7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429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医疗叫号交互细节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D874CA-8450-4255-AA94-72462E69E88C}"/>
              </a:ext>
            </a:extLst>
          </p:cNvPr>
          <p:cNvSpPr>
            <a:spLocks noGrp="1"/>
          </p:cNvSpPr>
          <p:nvPr/>
        </p:nvSpPr>
        <p:spPr>
          <a:xfrm>
            <a:off x="657225" y="15430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6666"/>
                </a:solidFill>
              </a:defRPr>
            </a:pPr>
            <a:r>
              <a:rPr sz="1425" b="0" dirty="0" err="1">
                <a:solidFill>
                  <a:srgbClr val="666666"/>
                </a:solidFill>
              </a:rPr>
              <a:t>添加病人弹窗把输入、遮罩、防误触和拼音输入整合到一套交互流程中</a:t>
            </a:r>
            <a:r>
              <a:rPr sz="1425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FF970C-D55A-4100-B097-105E5249B32B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5524500" cy="19050"/>
          </a:xfrm>
          <a:prstGeom prst="rect">
            <a:avLst/>
          </a:prstGeom>
          <a:solidFill>
            <a:srgbClr val="4A7C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F93FA3-8B83-4540-83F7-656F8B4BC3A3}"/>
              </a:ext>
            </a:extLst>
          </p:cNvPr>
          <p:cNvSpPr>
            <a:spLocks noGrp="1"/>
          </p:cNvSpPr>
          <p:nvPr/>
        </p:nvSpPr>
        <p:spPr>
          <a:xfrm>
            <a:off x="857250" y="5715000"/>
            <a:ext cx="5524500" cy="19050"/>
          </a:xfrm>
          <a:prstGeom prst="rect">
            <a:avLst/>
          </a:prstGeom>
          <a:solidFill>
            <a:srgbClr val="4A7C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61282E-BEF9-4E0C-BCD6-BAEA7FE3721E}"/>
              </a:ext>
            </a:extLst>
          </p:cNvPr>
          <p:cNvSpPr>
            <a:spLocks noGrp="1"/>
          </p:cNvSpPr>
          <p:nvPr/>
        </p:nvSpPr>
        <p:spPr>
          <a:xfrm>
            <a:off x="6858000" y="2076450"/>
            <a:ext cx="466725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D0F963-E743-4A6F-8FF2-C184660347CD}"/>
              </a:ext>
            </a:extLst>
          </p:cNvPr>
          <p:cNvSpPr>
            <a:spLocks noGrp="1"/>
          </p:cNvSpPr>
          <p:nvPr/>
        </p:nvSpPr>
        <p:spPr>
          <a:xfrm>
            <a:off x="6858000" y="2076450"/>
            <a:ext cx="4667250" cy="76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97E0CE-AFD0-422B-9D71-FE6F93FBF63E}"/>
              </a:ext>
            </a:extLst>
          </p:cNvPr>
          <p:cNvSpPr>
            <a:spLocks noGrp="1"/>
          </p:cNvSpPr>
          <p:nvPr/>
        </p:nvSpPr>
        <p:spPr>
          <a:xfrm>
            <a:off x="7067550" y="2266950"/>
            <a:ext cx="424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交互亮点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229D32-5496-4328-9BC3-113A86A48364}"/>
              </a:ext>
            </a:extLst>
          </p:cNvPr>
          <p:cNvSpPr>
            <a:spLocks noGrp="1"/>
          </p:cNvSpPr>
          <p:nvPr/>
        </p:nvSpPr>
        <p:spPr>
          <a:xfrm>
            <a:off x="7067550" y="2705100"/>
            <a:ext cx="424815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创建黑色半透明遮罩，避免底层按钮误触。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姓名输入框、诊室下拉框和急诊开关集中在一张弹窗里。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软键盘默认隐藏，点击输入框后再弹出。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接入 lv_ime_pinyin，实现中文拼音输入。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公告弹窗和 30 秒闲置计时器共同维护使用体验。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FDCFCCF-2F8E-46CE-9824-5A518F83F120}"/>
              </a:ext>
            </a:extLst>
          </p:cNvPr>
          <p:cNvSpPr>
            <a:spLocks noGrp="1"/>
          </p:cNvSpPr>
          <p:nvPr/>
        </p:nvSpPr>
        <p:spPr>
          <a:xfrm>
            <a:off x="7086600" y="5334000"/>
            <a:ext cx="1257300" cy="266700"/>
          </a:xfrm>
          <a:prstGeom prst="roundRect">
            <a:avLst>
              <a:gd name="adj" fmla="val 28571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B75201-D24A-4001-98FD-28525212ECE9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诊室选择：1 / 2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1AF60C6-9CD7-451D-9409-5CF8D82626FC}"/>
              </a:ext>
            </a:extLst>
          </p:cNvPr>
          <p:cNvSpPr>
            <a:spLocks noGrp="1"/>
          </p:cNvSpPr>
          <p:nvPr/>
        </p:nvSpPr>
        <p:spPr>
          <a:xfrm>
            <a:off x="8458200" y="5334000"/>
            <a:ext cx="1409700" cy="266700"/>
          </a:xfrm>
          <a:prstGeom prst="roundRect">
            <a:avLst>
              <a:gd name="adj" fmla="val 28571"/>
            </a:avLst>
          </a:prstGeom>
          <a:solidFill>
            <a:srgbClr val="E3D8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0DB2AD-A979-4205-98A3-DFFECBB22BEB}"/>
              </a:ext>
            </a:extLst>
          </p:cNvPr>
          <p:cNvSpPr>
            <a:spLocks noGrp="1"/>
          </p:cNvSpPr>
          <p:nvPr/>
        </p:nvSpPr>
        <p:spPr>
          <a:xfrm>
            <a:off x="8553450" y="5381625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急诊开关：支持插队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6993085-F698-49E1-BB9C-99647A422B15}"/>
              </a:ext>
            </a:extLst>
          </p:cNvPr>
          <p:cNvSpPr>
            <a:spLocks noGrp="1"/>
          </p:cNvSpPr>
          <p:nvPr/>
        </p:nvSpPr>
        <p:spPr>
          <a:xfrm>
            <a:off x="9982200" y="5334000"/>
            <a:ext cx="1314450" cy="266700"/>
          </a:xfrm>
          <a:prstGeom prst="roundRect">
            <a:avLst>
              <a:gd name="adj" fmla="val 28571"/>
            </a:avLst>
          </a:prstGeom>
          <a:solidFill>
            <a:srgbClr val="F3D8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B4D3931-5328-4167-A978-2FCEEE4C2311}"/>
              </a:ext>
            </a:extLst>
          </p:cNvPr>
          <p:cNvSpPr>
            <a:spLocks noGrp="1"/>
          </p:cNvSpPr>
          <p:nvPr/>
        </p:nvSpPr>
        <p:spPr>
          <a:xfrm>
            <a:off x="10077450" y="5381625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333333"/>
                </a:solidFill>
              </a:defRPr>
            </a:pPr>
            <a:r>
              <a:rPr sz="900" b="1">
                <a:solidFill>
                  <a:srgbClr val="333333"/>
                </a:solidFill>
              </a:rPr>
              <a:t>IME：拼音候选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9331807-A40F-F5AB-7512-119698F07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12" y="2233404"/>
            <a:ext cx="5755038" cy="353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89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5FE1F44-7232-4BF4-AA87-AA080546DF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985205-795C-42F3-89D4-2DA1919F607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医疗模块 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9CDAD3-3254-486B-A4EF-B13F09731640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07 / 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EEC24E-6312-456A-99E1-7ED52A70607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18DAB73-CA97-47FC-BE4F-090EFB88DF8F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AEEEEE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4B71E0-68B1-432B-A49E-A0AD1B40C67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429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医疗叫号核心逻辑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C04A82-840E-44F6-A38C-4BD42470172B}"/>
              </a:ext>
            </a:extLst>
          </p:cNvPr>
          <p:cNvSpPr>
            <a:spLocks noGrp="1"/>
          </p:cNvSpPr>
          <p:nvPr/>
        </p:nvSpPr>
        <p:spPr>
          <a:xfrm>
            <a:off x="711200" y="1588293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6666"/>
                </a:solidFill>
              </a:defRPr>
            </a:pPr>
            <a:r>
              <a:rPr sz="1425" b="0" dirty="0" err="1">
                <a:solidFill>
                  <a:srgbClr val="666666"/>
                </a:solidFill>
              </a:rPr>
              <a:t>这一页重点讲急诊插队、命令解析以及叫号后的联动刷新</a:t>
            </a:r>
            <a:r>
              <a:rPr sz="1425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F523FAB-E2E8-48B6-B789-A23B8F1D9A66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504825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05B38D-1FB9-44DE-AD68-F4BA5305C585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逻辑流程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A074DBF-8577-4D17-BF1B-2F3C611E43E8}"/>
              </a:ext>
            </a:extLst>
          </p:cNvPr>
          <p:cNvSpPr>
            <a:spLocks noGrp="1"/>
          </p:cNvSpPr>
          <p:nvPr/>
        </p:nvSpPr>
        <p:spPr>
          <a:xfrm>
            <a:off x="895350" y="2686050"/>
            <a:ext cx="45910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45E542A-728E-4BCD-804F-A02EF01B3E4B}"/>
              </a:ext>
            </a:extLst>
          </p:cNvPr>
          <p:cNvSpPr>
            <a:spLocks noGrp="1"/>
          </p:cNvSpPr>
          <p:nvPr/>
        </p:nvSpPr>
        <p:spPr>
          <a:xfrm>
            <a:off x="1047750" y="2819400"/>
            <a:ext cx="285750" cy="285750"/>
          </a:xfrm>
          <a:prstGeom prst="ellipse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53E6097-98DC-4070-95B8-6D528D18AA6A}"/>
              </a:ext>
            </a:extLst>
          </p:cNvPr>
          <p:cNvSpPr>
            <a:spLocks noGrp="1"/>
          </p:cNvSpPr>
          <p:nvPr/>
        </p:nvSpPr>
        <p:spPr>
          <a:xfrm>
            <a:off x="1143000" y="28860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3BA821-13E6-4189-AF8D-EA1C9EDE3B9E}"/>
              </a:ext>
            </a:extLst>
          </p:cNvPr>
          <p:cNvSpPr>
            <a:spLocks noGrp="1"/>
          </p:cNvSpPr>
          <p:nvPr/>
        </p:nvSpPr>
        <p:spPr>
          <a:xfrm>
            <a:off x="1428750" y="28384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添加病人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074044-5D4D-44E5-8CB0-93A6B1F5063B}"/>
              </a:ext>
            </a:extLst>
          </p:cNvPr>
          <p:cNvSpPr>
            <a:spLocks noGrp="1"/>
          </p:cNvSpPr>
          <p:nvPr/>
        </p:nvSpPr>
        <p:spPr>
          <a:xfrm>
            <a:off x="1066800" y="3133725"/>
            <a:ext cx="4248150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读取姓名、诊室和急诊开关，决定插入位置。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9063913-5AFB-40E2-85D2-CD3C4D99FE7D}"/>
              </a:ext>
            </a:extLst>
          </p:cNvPr>
          <p:cNvSpPr>
            <a:spLocks noGrp="1"/>
          </p:cNvSpPr>
          <p:nvPr/>
        </p:nvSpPr>
        <p:spPr>
          <a:xfrm>
            <a:off x="3162300" y="3638550"/>
            <a:ext cx="76200" cy="228600"/>
          </a:xfrm>
          <a:prstGeom prst="roundRect">
            <a:avLst>
              <a:gd name="adj" fmla="val 50000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2924000-6F20-4CD3-8F18-1FA9E258FF20}"/>
              </a:ext>
            </a:extLst>
          </p:cNvPr>
          <p:cNvSpPr>
            <a:spLocks noGrp="1"/>
          </p:cNvSpPr>
          <p:nvPr/>
        </p:nvSpPr>
        <p:spPr>
          <a:xfrm>
            <a:off x="895350" y="3905250"/>
            <a:ext cx="45910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07BC3B73-DA6D-4106-AF83-FBD428505AC3}"/>
              </a:ext>
            </a:extLst>
          </p:cNvPr>
          <p:cNvSpPr>
            <a:spLocks noGrp="1"/>
          </p:cNvSpPr>
          <p:nvPr/>
        </p:nvSpPr>
        <p:spPr>
          <a:xfrm>
            <a:off x="1047750" y="4038600"/>
            <a:ext cx="285750" cy="285750"/>
          </a:xfrm>
          <a:prstGeom prst="ellipse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ED4E5A-12B3-48C5-963C-1DDC406D359A}"/>
              </a:ext>
            </a:extLst>
          </p:cNvPr>
          <p:cNvSpPr>
            <a:spLocks noGrp="1"/>
          </p:cNvSpPr>
          <p:nvPr/>
        </p:nvSpPr>
        <p:spPr>
          <a:xfrm>
            <a:off x="1143000" y="41052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D934B29-7A8A-4DED-B278-901B6177C5E3}"/>
              </a:ext>
            </a:extLst>
          </p:cNvPr>
          <p:cNvSpPr>
            <a:spLocks noGrp="1"/>
          </p:cNvSpPr>
          <p:nvPr/>
        </p:nvSpPr>
        <p:spPr>
          <a:xfrm>
            <a:off x="1428750" y="40576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队列更新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1E0F68-4673-47EA-9F25-2CEA54FAB8E6}"/>
              </a:ext>
            </a:extLst>
          </p:cNvPr>
          <p:cNvSpPr>
            <a:spLocks noGrp="1"/>
          </p:cNvSpPr>
          <p:nvPr/>
        </p:nvSpPr>
        <p:spPr>
          <a:xfrm>
            <a:off x="1066800" y="4352925"/>
            <a:ext cx="4248150" cy="314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普通病人追加到队尾；急诊病人触发数组整体右移。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1FDD21E-BC5F-44DC-BEA0-6DDAF161D6AE}"/>
              </a:ext>
            </a:extLst>
          </p:cNvPr>
          <p:cNvSpPr>
            <a:spLocks noGrp="1"/>
          </p:cNvSpPr>
          <p:nvPr/>
        </p:nvSpPr>
        <p:spPr>
          <a:xfrm>
            <a:off x="3162300" y="4857750"/>
            <a:ext cx="76200" cy="228600"/>
          </a:xfrm>
          <a:prstGeom prst="roundRect">
            <a:avLst>
              <a:gd name="adj" fmla="val 50000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B481489-679D-4676-A4F0-8F21C00C1DFD}"/>
              </a:ext>
            </a:extLst>
          </p:cNvPr>
          <p:cNvSpPr>
            <a:spLocks noGrp="1"/>
          </p:cNvSpPr>
          <p:nvPr/>
        </p:nvSpPr>
        <p:spPr>
          <a:xfrm>
            <a:off x="895350" y="5124450"/>
            <a:ext cx="45910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6D01CAD2-1F25-418C-8370-D9B8CCEDB0BB}"/>
              </a:ext>
            </a:extLst>
          </p:cNvPr>
          <p:cNvSpPr>
            <a:spLocks noGrp="1"/>
          </p:cNvSpPr>
          <p:nvPr/>
        </p:nvSpPr>
        <p:spPr>
          <a:xfrm>
            <a:off x="1047750" y="5257800"/>
            <a:ext cx="285750" cy="285750"/>
          </a:xfrm>
          <a:prstGeom prst="ellipse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071624B-9846-4E8C-82FB-C1187B09207A}"/>
              </a:ext>
            </a:extLst>
          </p:cNvPr>
          <p:cNvSpPr>
            <a:spLocks noGrp="1"/>
          </p:cNvSpPr>
          <p:nvPr/>
        </p:nvSpPr>
        <p:spPr>
          <a:xfrm>
            <a:off x="1143000" y="53244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67AA85E-FC72-402E-9E96-ACC3DBAECE4E}"/>
              </a:ext>
            </a:extLst>
          </p:cNvPr>
          <p:cNvSpPr>
            <a:spLocks noGrp="1"/>
          </p:cNvSpPr>
          <p:nvPr/>
        </p:nvSpPr>
        <p:spPr>
          <a:xfrm>
            <a:off x="1428750" y="5276850"/>
            <a:ext cx="390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叫号联动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19D8255-BA51-4169-928D-2689314DBBC1}"/>
              </a:ext>
            </a:extLst>
          </p:cNvPr>
          <p:cNvSpPr>
            <a:spLocks noGrp="1"/>
          </p:cNvSpPr>
          <p:nvPr/>
        </p:nvSpPr>
        <p:spPr>
          <a:xfrm>
            <a:off x="1066800" y="5572125"/>
            <a:ext cx="424815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刷新当前叫号、队列列表、医生信息，再触发闪烁和终端 TTS。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BFB0061-88B0-4B8F-8954-3785BD830763}"/>
              </a:ext>
            </a:extLst>
          </p:cNvPr>
          <p:cNvSpPr>
            <a:spLocks noGrp="1"/>
          </p:cNvSpPr>
          <p:nvPr/>
        </p:nvSpPr>
        <p:spPr>
          <a:xfrm>
            <a:off x="5981700" y="2076450"/>
            <a:ext cx="5543550" cy="2266950"/>
          </a:xfrm>
          <a:prstGeom prst="roundRect">
            <a:avLst>
              <a:gd name="adj" fmla="val 3361"/>
            </a:avLst>
          </a:prstGeom>
          <a:solidFill>
            <a:srgbClr val="F7F4ED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8F644F-D090-4EE3-86A1-B33C45D8DDE1}"/>
              </a:ext>
            </a:extLst>
          </p:cNvPr>
          <p:cNvSpPr>
            <a:spLocks noGrp="1"/>
          </p:cNvSpPr>
          <p:nvPr/>
        </p:nvSpPr>
        <p:spPr>
          <a:xfrm>
            <a:off x="5981700" y="2076450"/>
            <a:ext cx="5543550" cy="3238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70F0C7-D5C9-4B00-894D-91DB6F80FD26}"/>
              </a:ext>
            </a:extLst>
          </p:cNvPr>
          <p:cNvSpPr>
            <a:spLocks noGrp="1"/>
          </p:cNvSpPr>
          <p:nvPr/>
        </p:nvSpPr>
        <p:spPr>
          <a:xfrm>
            <a:off x="6134100" y="2152650"/>
            <a:ext cx="523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急诊插队核心摘录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3BB88E6-A743-47CB-94D6-2E2236AB9B22}"/>
              </a:ext>
            </a:extLst>
          </p:cNvPr>
          <p:cNvSpPr>
            <a:spLocks noGrp="1"/>
          </p:cNvSpPr>
          <p:nvPr/>
        </p:nvSpPr>
        <p:spPr>
          <a:xfrm>
            <a:off x="6153150" y="2533650"/>
            <a:ext cx="52006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 dirty="0">
                <a:solidFill>
                  <a:srgbClr val="333333"/>
                </a:solidFill>
              </a:rPr>
              <a:t>int </a:t>
            </a:r>
            <a:r>
              <a:rPr sz="1050" b="0" dirty="0" err="1">
                <a:solidFill>
                  <a:srgbClr val="333333"/>
                </a:solidFill>
              </a:rPr>
              <a:t>insert_idx</a:t>
            </a:r>
            <a:r>
              <a:rPr sz="1050" b="0" dirty="0">
                <a:solidFill>
                  <a:srgbClr val="333333"/>
                </a:solidFill>
              </a:rPr>
              <a:t> = </a:t>
            </a:r>
            <a:r>
              <a:rPr sz="1050" b="0" dirty="0" err="1">
                <a:solidFill>
                  <a:srgbClr val="333333"/>
                </a:solidFill>
              </a:rPr>
              <a:t>queue_count</a:t>
            </a:r>
            <a:r>
              <a:rPr sz="1050" b="0" dirty="0">
                <a:solidFill>
                  <a:srgbClr val="333333"/>
                </a:solidFill>
              </a:rPr>
              <a:t>;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 dirty="0">
                <a:solidFill>
                  <a:srgbClr val="333333"/>
                </a:solidFill>
              </a:rPr>
              <a:t>bool </a:t>
            </a:r>
            <a:r>
              <a:rPr sz="1050" b="0" dirty="0" err="1">
                <a:solidFill>
                  <a:srgbClr val="333333"/>
                </a:solidFill>
              </a:rPr>
              <a:t>is_urgent</a:t>
            </a:r>
            <a:r>
              <a:rPr sz="1050" b="0" dirty="0">
                <a:solidFill>
                  <a:srgbClr val="333333"/>
                </a:solidFill>
              </a:rPr>
              <a:t> = </a:t>
            </a:r>
            <a:r>
              <a:rPr sz="1050" b="0" dirty="0" err="1">
                <a:solidFill>
                  <a:srgbClr val="333333"/>
                </a:solidFill>
              </a:rPr>
              <a:t>lv_obj_has_state</a:t>
            </a:r>
            <a:r>
              <a:rPr sz="1050" b="0" dirty="0">
                <a:solidFill>
                  <a:srgbClr val="333333"/>
                </a:solidFill>
              </a:rPr>
              <a:t>(</a:t>
            </a:r>
            <a:r>
              <a:rPr sz="1050" b="0" dirty="0" err="1">
                <a:solidFill>
                  <a:srgbClr val="333333"/>
                </a:solidFill>
              </a:rPr>
              <a:t>add_form_urgent_sw</a:t>
            </a:r>
            <a:r>
              <a:rPr sz="1050" b="0" dirty="0">
                <a:solidFill>
                  <a:srgbClr val="333333"/>
                </a:solidFill>
              </a:rPr>
              <a:t>, LV_STATE_CHECKED);</a:t>
            </a:r>
          </a:p>
          <a:p>
            <a:endParaRPr sz="1050" b="0" dirty="0">
              <a:solidFill>
                <a:srgbClr val="333333"/>
              </a:solidFill>
            </a:endParaRP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 dirty="0">
                <a:solidFill>
                  <a:srgbClr val="333333"/>
                </a:solidFill>
              </a:rPr>
              <a:t>if (</a:t>
            </a:r>
            <a:r>
              <a:rPr sz="1050" b="0" dirty="0" err="1">
                <a:solidFill>
                  <a:srgbClr val="333333"/>
                </a:solidFill>
              </a:rPr>
              <a:t>is_urgent</a:t>
            </a:r>
            <a:r>
              <a:rPr sz="1050" b="0" dirty="0">
                <a:solidFill>
                  <a:srgbClr val="333333"/>
                </a:solidFill>
              </a:rPr>
              <a:t> &amp;&amp; </a:t>
            </a:r>
            <a:r>
              <a:rPr sz="1050" b="0" dirty="0" err="1">
                <a:solidFill>
                  <a:srgbClr val="333333"/>
                </a:solidFill>
              </a:rPr>
              <a:t>queue_count</a:t>
            </a:r>
            <a:r>
              <a:rPr sz="1050" b="0" dirty="0">
                <a:solidFill>
                  <a:srgbClr val="333333"/>
                </a:solidFill>
              </a:rPr>
              <a:t> &gt; 0) {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 dirty="0">
                <a:solidFill>
                  <a:srgbClr val="333333"/>
                </a:solidFill>
              </a:rPr>
              <a:t>    </a:t>
            </a:r>
            <a:r>
              <a:rPr sz="1050" b="0" dirty="0" err="1">
                <a:solidFill>
                  <a:srgbClr val="333333"/>
                </a:solidFill>
              </a:rPr>
              <a:t>insert_idx</a:t>
            </a:r>
            <a:r>
              <a:rPr sz="1050" b="0" dirty="0">
                <a:solidFill>
                  <a:srgbClr val="333333"/>
                </a:solidFill>
              </a:rPr>
              <a:t> = 0;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 dirty="0">
                <a:solidFill>
                  <a:srgbClr val="333333"/>
                </a:solidFill>
              </a:rPr>
              <a:t>    for (int </a:t>
            </a:r>
            <a:r>
              <a:rPr sz="1050" b="0" dirty="0" err="1">
                <a:solidFill>
                  <a:srgbClr val="333333"/>
                </a:solidFill>
              </a:rPr>
              <a:t>i</a:t>
            </a:r>
            <a:r>
              <a:rPr sz="1050" b="0" dirty="0">
                <a:solidFill>
                  <a:srgbClr val="333333"/>
                </a:solidFill>
              </a:rPr>
              <a:t> = </a:t>
            </a:r>
            <a:r>
              <a:rPr sz="1050" b="0" dirty="0" err="1">
                <a:solidFill>
                  <a:srgbClr val="333333"/>
                </a:solidFill>
              </a:rPr>
              <a:t>queue_count</a:t>
            </a:r>
            <a:r>
              <a:rPr sz="1050" b="0" dirty="0">
                <a:solidFill>
                  <a:srgbClr val="333333"/>
                </a:solidFill>
              </a:rPr>
              <a:t>; </a:t>
            </a:r>
            <a:r>
              <a:rPr sz="1050" b="0" dirty="0" err="1">
                <a:solidFill>
                  <a:srgbClr val="333333"/>
                </a:solidFill>
              </a:rPr>
              <a:t>i</a:t>
            </a:r>
            <a:r>
              <a:rPr sz="1050" b="0" dirty="0">
                <a:solidFill>
                  <a:srgbClr val="333333"/>
                </a:solidFill>
              </a:rPr>
              <a:t> &gt; 0; </a:t>
            </a:r>
            <a:r>
              <a:rPr sz="1050" b="0" dirty="0" err="1">
                <a:solidFill>
                  <a:srgbClr val="333333"/>
                </a:solidFill>
              </a:rPr>
              <a:t>i</a:t>
            </a:r>
            <a:r>
              <a:rPr sz="1050" b="0" dirty="0">
                <a:solidFill>
                  <a:srgbClr val="333333"/>
                </a:solidFill>
              </a:rPr>
              <a:t>--) {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 dirty="0">
                <a:solidFill>
                  <a:srgbClr val="333333"/>
                </a:solidFill>
              </a:rPr>
              <a:t>        </a:t>
            </a:r>
            <a:r>
              <a:rPr sz="1050" b="0" dirty="0" err="1">
                <a:solidFill>
                  <a:srgbClr val="333333"/>
                </a:solidFill>
              </a:rPr>
              <a:t>wait_queue</a:t>
            </a:r>
            <a:r>
              <a:rPr sz="1050" b="0" dirty="0">
                <a:solidFill>
                  <a:srgbClr val="333333"/>
                </a:solidFill>
              </a:rPr>
              <a:t>[</a:t>
            </a:r>
            <a:r>
              <a:rPr sz="1050" b="0" dirty="0" err="1">
                <a:solidFill>
                  <a:srgbClr val="333333"/>
                </a:solidFill>
              </a:rPr>
              <a:t>i</a:t>
            </a:r>
            <a:r>
              <a:rPr sz="1050" b="0" dirty="0">
                <a:solidFill>
                  <a:srgbClr val="333333"/>
                </a:solidFill>
              </a:rPr>
              <a:t>] = </a:t>
            </a:r>
            <a:r>
              <a:rPr sz="1050" b="0" dirty="0" err="1">
                <a:solidFill>
                  <a:srgbClr val="333333"/>
                </a:solidFill>
              </a:rPr>
              <a:t>wait_queue</a:t>
            </a:r>
            <a:r>
              <a:rPr sz="1050" b="0" dirty="0">
                <a:solidFill>
                  <a:srgbClr val="333333"/>
                </a:solidFill>
              </a:rPr>
              <a:t>[</a:t>
            </a:r>
            <a:r>
              <a:rPr sz="1050" b="0" dirty="0" err="1">
                <a:solidFill>
                  <a:srgbClr val="333333"/>
                </a:solidFill>
              </a:rPr>
              <a:t>i</a:t>
            </a:r>
            <a:r>
              <a:rPr sz="1050" b="0" dirty="0">
                <a:solidFill>
                  <a:srgbClr val="333333"/>
                </a:solidFill>
              </a:rPr>
              <a:t> - 1];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 dirty="0">
                <a:solidFill>
                  <a:srgbClr val="333333"/>
                </a:solidFill>
              </a:rPr>
              <a:t>    }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 dirty="0">
                <a:solidFill>
                  <a:srgbClr val="333333"/>
                </a:solidFill>
              </a:rPr>
              <a:t>}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6F44917-412E-4C8E-B19C-83086A8F3490}"/>
              </a:ext>
            </a:extLst>
          </p:cNvPr>
          <p:cNvSpPr>
            <a:spLocks noGrp="1"/>
          </p:cNvSpPr>
          <p:nvPr/>
        </p:nvSpPr>
        <p:spPr>
          <a:xfrm>
            <a:off x="6153150" y="4076700"/>
            <a:ext cx="5200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8"/>
                </a:solidFill>
              </a:defRPr>
            </a:pPr>
            <a:r>
              <a:rPr sz="750" b="0" dirty="0" err="1">
                <a:solidFill>
                  <a:srgbClr val="8A8178"/>
                </a:solidFill>
              </a:rPr>
              <a:t>来自</a:t>
            </a:r>
            <a:r>
              <a:rPr sz="750" b="0" dirty="0">
                <a:solidFill>
                  <a:srgbClr val="8A8178"/>
                </a:solidFill>
              </a:rPr>
              <a:t> code/</a:t>
            </a:r>
            <a:r>
              <a:rPr sz="750" b="0" dirty="0" err="1">
                <a:solidFill>
                  <a:srgbClr val="8A8178"/>
                </a:solidFill>
              </a:rPr>
              <a:t>medical.c</a:t>
            </a:r>
            <a:r>
              <a:rPr sz="750" b="0" dirty="0">
                <a:solidFill>
                  <a:srgbClr val="8A8178"/>
                </a:solidFill>
              </a:rPr>
              <a:t> 的 </a:t>
            </a:r>
            <a:r>
              <a:rPr sz="750" b="0" dirty="0" err="1">
                <a:solidFill>
                  <a:srgbClr val="8A8178"/>
                </a:solidFill>
              </a:rPr>
              <a:t>on_add_form_ok</a:t>
            </a:r>
            <a:r>
              <a:rPr sz="750" b="0" dirty="0">
                <a:solidFill>
                  <a:srgbClr val="8A8178"/>
                </a:solidFill>
              </a:rPr>
              <a:t> </a:t>
            </a:r>
            <a:r>
              <a:rPr sz="750" b="0" dirty="0" err="1">
                <a:solidFill>
                  <a:srgbClr val="8A8178"/>
                </a:solidFill>
              </a:rPr>
              <a:t>逻辑</a:t>
            </a:r>
            <a:r>
              <a:rPr sz="750" b="0" dirty="0">
                <a:solidFill>
                  <a:srgbClr val="8A8178"/>
                </a:solidFill>
              </a:rPr>
              <a:t>。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ABD7467-2900-4325-91BB-D733D81B90FE}"/>
              </a:ext>
            </a:extLst>
          </p:cNvPr>
          <p:cNvSpPr>
            <a:spLocks noGrp="1"/>
          </p:cNvSpPr>
          <p:nvPr/>
        </p:nvSpPr>
        <p:spPr>
          <a:xfrm>
            <a:off x="5981700" y="4343400"/>
            <a:ext cx="2647950" cy="1581150"/>
          </a:xfrm>
          <a:prstGeom prst="roundRect">
            <a:avLst>
              <a:gd name="adj" fmla="val 4819"/>
            </a:avLst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4F91C97-4A6E-4480-9C49-35CDB1030BC7}"/>
              </a:ext>
            </a:extLst>
          </p:cNvPr>
          <p:cNvSpPr>
            <a:spLocks noGrp="1"/>
          </p:cNvSpPr>
          <p:nvPr/>
        </p:nvSpPr>
        <p:spPr>
          <a:xfrm>
            <a:off x="5981700" y="4343400"/>
            <a:ext cx="76200" cy="158115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1876FED0-2BBE-4158-BF0D-7D2566071C2D}"/>
              </a:ext>
            </a:extLst>
          </p:cNvPr>
          <p:cNvSpPr>
            <a:spLocks noGrp="1"/>
          </p:cNvSpPr>
          <p:nvPr/>
        </p:nvSpPr>
        <p:spPr>
          <a:xfrm>
            <a:off x="6191250" y="4572000"/>
            <a:ext cx="514350" cy="514350"/>
          </a:xfrm>
          <a:prstGeom prst="ellipse">
            <a:avLst/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3203D5D-A8EB-49F0-9793-44E2DF22E77F}"/>
              </a:ext>
            </a:extLst>
          </p:cNvPr>
          <p:cNvSpPr>
            <a:spLocks noGrp="1"/>
          </p:cNvSpPr>
          <p:nvPr/>
        </p:nvSpPr>
        <p:spPr>
          <a:xfrm>
            <a:off x="6315075" y="4743450"/>
            <a:ext cx="95250" cy="95250"/>
          </a:xfrm>
          <a:prstGeom prst="ellipse">
            <a:avLst/>
          </a:prstGeom>
          <a:solidFill>
            <a:srgbClr val="AEEEEE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6A6CB21B-EBDC-42B1-9C86-2532D697FDA5}"/>
              </a:ext>
            </a:extLst>
          </p:cNvPr>
          <p:cNvSpPr>
            <a:spLocks noGrp="1"/>
          </p:cNvSpPr>
          <p:nvPr/>
        </p:nvSpPr>
        <p:spPr>
          <a:xfrm>
            <a:off x="6486525" y="4829175"/>
            <a:ext cx="95250" cy="95250"/>
          </a:xfrm>
          <a:prstGeom prst="ellipse">
            <a:avLst/>
          </a:prstGeom>
          <a:solidFill>
            <a:srgbClr val="AEEEEE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8E265D6-0157-4E75-83DF-61DD82C94809}"/>
              </a:ext>
            </a:extLst>
          </p:cNvPr>
          <p:cNvSpPr>
            <a:spLocks noGrp="1"/>
          </p:cNvSpPr>
          <p:nvPr/>
        </p:nvSpPr>
        <p:spPr>
          <a:xfrm>
            <a:off x="6400800" y="4810125"/>
            <a:ext cx="180975" cy="28575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9BB31C-B0C2-4100-AB6C-79F8A5EA57C6}"/>
              </a:ext>
            </a:extLst>
          </p:cNvPr>
          <p:cNvSpPr>
            <a:spLocks noGrp="1"/>
          </p:cNvSpPr>
          <p:nvPr/>
        </p:nvSpPr>
        <p:spPr>
          <a:xfrm>
            <a:off x="6819900" y="45529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命令式叫号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2B2B318-E6DB-4852-A3A3-AF89E46FD266}"/>
              </a:ext>
            </a:extLst>
          </p:cNvPr>
          <p:cNvSpPr>
            <a:spLocks noGrp="1"/>
          </p:cNvSpPr>
          <p:nvPr/>
        </p:nvSpPr>
        <p:spPr>
          <a:xfrm>
            <a:off x="6210300" y="5162550"/>
            <a:ext cx="219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medical_parse_cmd 支持解析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@call,12,张三,1诊室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形式的字符串，并同步清理原队列位置。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68A6A77-6250-4540-B8A8-FBC781C1CAC4}"/>
              </a:ext>
            </a:extLst>
          </p:cNvPr>
          <p:cNvSpPr>
            <a:spLocks noGrp="1"/>
          </p:cNvSpPr>
          <p:nvPr/>
        </p:nvSpPr>
        <p:spPr>
          <a:xfrm>
            <a:off x="8877300" y="4343400"/>
            <a:ext cx="2647950" cy="1581150"/>
          </a:xfrm>
          <a:prstGeom prst="roundRect">
            <a:avLst>
              <a:gd name="adj" fmla="val 4819"/>
            </a:avLst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C1444E9-BB44-4C7D-BECD-74DD146A10AA}"/>
              </a:ext>
            </a:extLst>
          </p:cNvPr>
          <p:cNvSpPr>
            <a:spLocks noGrp="1"/>
          </p:cNvSpPr>
          <p:nvPr/>
        </p:nvSpPr>
        <p:spPr>
          <a:xfrm>
            <a:off x="8877300" y="4343400"/>
            <a:ext cx="76200" cy="158115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3A6BC03E-F712-4E46-BD33-82BB24487A1B}"/>
              </a:ext>
            </a:extLst>
          </p:cNvPr>
          <p:cNvSpPr>
            <a:spLocks noGrp="1"/>
          </p:cNvSpPr>
          <p:nvPr/>
        </p:nvSpPr>
        <p:spPr>
          <a:xfrm>
            <a:off x="9086850" y="4572000"/>
            <a:ext cx="514350" cy="514350"/>
          </a:xfrm>
          <a:prstGeom prst="ellipse">
            <a:avLst/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4C8C83C-DF57-4454-84C3-2F650F512E72}"/>
              </a:ext>
            </a:extLst>
          </p:cNvPr>
          <p:cNvSpPr>
            <a:spLocks noGrp="1"/>
          </p:cNvSpPr>
          <p:nvPr/>
        </p:nvSpPr>
        <p:spPr>
          <a:xfrm>
            <a:off x="9239250" y="4848225"/>
            <a:ext cx="57150" cy="11430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6BC25C6-95CA-4C2A-8F36-3C6CF807AA07}"/>
              </a:ext>
            </a:extLst>
          </p:cNvPr>
          <p:cNvSpPr>
            <a:spLocks noGrp="1"/>
          </p:cNvSpPr>
          <p:nvPr/>
        </p:nvSpPr>
        <p:spPr>
          <a:xfrm>
            <a:off x="9324975" y="4772025"/>
            <a:ext cx="57150" cy="19050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2BBEB79-6DAE-45F8-999F-442BE032D295}"/>
              </a:ext>
            </a:extLst>
          </p:cNvPr>
          <p:cNvSpPr>
            <a:spLocks noGrp="1"/>
          </p:cNvSpPr>
          <p:nvPr/>
        </p:nvSpPr>
        <p:spPr>
          <a:xfrm>
            <a:off x="9410700" y="4705350"/>
            <a:ext cx="57150" cy="257175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2B88EA1-B6C5-4F8F-AAFB-B85D234D9781}"/>
              </a:ext>
            </a:extLst>
          </p:cNvPr>
          <p:cNvSpPr>
            <a:spLocks noGrp="1"/>
          </p:cNvSpPr>
          <p:nvPr/>
        </p:nvSpPr>
        <p:spPr>
          <a:xfrm>
            <a:off x="9715500" y="45529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声光提示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22AC905-97F7-451A-AC20-ADB1AC84F800}"/>
              </a:ext>
            </a:extLst>
          </p:cNvPr>
          <p:cNvSpPr>
            <a:spLocks noGrp="1"/>
          </p:cNvSpPr>
          <p:nvPr/>
        </p:nvSpPr>
        <p:spPr>
          <a:xfrm>
            <a:off x="9105900" y="5162550"/>
            <a:ext cx="219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叫号完成后会执行 start_blink() 与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tts_speak()，把界面高亮和终端播报串起来。</a:t>
            </a:r>
          </a:p>
        </p:txBody>
      </p:sp>
    </p:spTree>
    <p:extLst>
      <p:ext uri="{BB962C8B-B14F-4D97-AF65-F5344CB8AC3E}">
        <p14:creationId xmlns:p14="http://schemas.microsoft.com/office/powerpoint/2010/main" val="58348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191457D-3B0C-4A43-BACD-5036AD59F0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71001E-2F14-41E4-B413-60DE6BE8630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2048 模块 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0F5C42-0016-4191-8A24-84751C7B17AA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08 / 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678E03-30C2-40F1-A48F-FDCADB8B7419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1C19580-A5A4-4398-8B13-4CFE817C2F73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AEEEEE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A746CB-744D-41E7-9FE6-00C3B880FA2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429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2048 模块界面与玩法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9A1562-CA60-4724-AFBA-AEB16D03F9E2}"/>
              </a:ext>
            </a:extLst>
          </p:cNvPr>
          <p:cNvSpPr>
            <a:spLocks noGrp="1"/>
          </p:cNvSpPr>
          <p:nvPr/>
        </p:nvSpPr>
        <p:spPr>
          <a:xfrm>
            <a:off x="714375" y="1397794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6666"/>
                </a:solidFill>
              </a:defRPr>
            </a:pPr>
            <a:r>
              <a:rPr sz="1425" b="0" dirty="0">
                <a:solidFill>
                  <a:srgbClr val="666666"/>
                </a:solidFill>
              </a:rPr>
              <a:t>2048 </a:t>
            </a:r>
            <a:r>
              <a:rPr sz="1425" b="0" dirty="0" err="1">
                <a:solidFill>
                  <a:srgbClr val="666666"/>
                </a:solidFill>
              </a:rPr>
              <a:t>页面承接了触摸滑动、分数显示、胜负弹窗和返回重置等交互</a:t>
            </a:r>
            <a:r>
              <a:rPr sz="1425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3DB9EA-76A9-435E-8F3F-ACAD9B33A501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5524500" cy="19050"/>
          </a:xfrm>
          <a:prstGeom prst="rect">
            <a:avLst/>
          </a:prstGeom>
          <a:solidFill>
            <a:srgbClr val="4A7C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B1D929-1CC5-4663-919A-62E4EFE78C05}"/>
              </a:ext>
            </a:extLst>
          </p:cNvPr>
          <p:cNvSpPr>
            <a:spLocks noGrp="1"/>
          </p:cNvSpPr>
          <p:nvPr/>
        </p:nvSpPr>
        <p:spPr>
          <a:xfrm>
            <a:off x="857250" y="5715000"/>
            <a:ext cx="5524500" cy="19050"/>
          </a:xfrm>
          <a:prstGeom prst="rect">
            <a:avLst/>
          </a:prstGeom>
          <a:solidFill>
            <a:srgbClr val="4A7C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0C1AC9A-3C84-4048-8AF2-197DAE17D34B}"/>
              </a:ext>
            </a:extLst>
          </p:cNvPr>
          <p:cNvSpPr>
            <a:spLocks noGrp="1"/>
          </p:cNvSpPr>
          <p:nvPr/>
        </p:nvSpPr>
        <p:spPr>
          <a:xfrm>
            <a:off x="6858000" y="2076450"/>
            <a:ext cx="466725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A1F259-8543-488B-BF93-39788CF1C31F}"/>
              </a:ext>
            </a:extLst>
          </p:cNvPr>
          <p:cNvSpPr>
            <a:spLocks noGrp="1"/>
          </p:cNvSpPr>
          <p:nvPr/>
        </p:nvSpPr>
        <p:spPr>
          <a:xfrm>
            <a:off x="6858000" y="2076450"/>
            <a:ext cx="4667250" cy="76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340CBE1-A1E6-4A27-A216-F74D22276A08}"/>
              </a:ext>
            </a:extLst>
          </p:cNvPr>
          <p:cNvSpPr>
            <a:spLocks noGrp="1"/>
          </p:cNvSpPr>
          <p:nvPr/>
        </p:nvSpPr>
        <p:spPr>
          <a:xfrm>
            <a:off x="7067550" y="2266950"/>
            <a:ext cx="424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玩法与交互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046DA76-BC23-4A67-A7CC-65150BFB323C}"/>
              </a:ext>
            </a:extLst>
          </p:cNvPr>
          <p:cNvSpPr>
            <a:spLocks noGrp="1"/>
          </p:cNvSpPr>
          <p:nvPr/>
        </p:nvSpPr>
        <p:spPr>
          <a:xfrm>
            <a:off x="7067550" y="2705100"/>
            <a:ext cx="424815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使用 4x4 棋盘矩阵保存当前状态。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手指滑动会映射到上、下、左、右四个方向。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界面同时显示当前分数和历史最高分。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支持返回菜单和重新开始两类按钮操作。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当出现 2048 或无路可走时弹出提示框。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134705D-8D84-4C24-9E3E-92408D75EE86}"/>
              </a:ext>
            </a:extLst>
          </p:cNvPr>
          <p:cNvSpPr>
            <a:spLocks noGrp="1"/>
          </p:cNvSpPr>
          <p:nvPr/>
        </p:nvSpPr>
        <p:spPr>
          <a:xfrm>
            <a:off x="7086600" y="4895850"/>
            <a:ext cx="1314450" cy="819150"/>
          </a:xfrm>
          <a:prstGeom prst="roundRect">
            <a:avLst>
              <a:gd name="adj" fmla="val 9302"/>
            </a:avLst>
          </a:prstGeom>
          <a:solidFill>
            <a:srgbClr val="FFFCF7">
              <a:alpha val="94902"/>
            </a:srgbClr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7ABBE08-85D9-4C84-9A27-498A50971574}"/>
              </a:ext>
            </a:extLst>
          </p:cNvPr>
          <p:cNvSpPr>
            <a:spLocks noGrp="1"/>
          </p:cNvSpPr>
          <p:nvPr/>
        </p:nvSpPr>
        <p:spPr>
          <a:xfrm>
            <a:off x="7086600" y="4895850"/>
            <a:ext cx="76200" cy="81915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5438941-96F4-4E9B-BB89-47DE2A96A1B4}"/>
              </a:ext>
            </a:extLst>
          </p:cNvPr>
          <p:cNvSpPr>
            <a:spLocks noGrp="1"/>
          </p:cNvSpPr>
          <p:nvPr/>
        </p:nvSpPr>
        <p:spPr>
          <a:xfrm>
            <a:off x="7296150" y="50673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棋盘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4650A08-E243-4C98-8DD4-2C0F44D58D3C}"/>
              </a:ext>
            </a:extLst>
          </p:cNvPr>
          <p:cNvSpPr>
            <a:spLocks noGrp="1"/>
          </p:cNvSpPr>
          <p:nvPr/>
        </p:nvSpPr>
        <p:spPr>
          <a:xfrm>
            <a:off x="7296150" y="535305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4x4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5D926D4-0A2A-4963-AEE0-8C817F6D4965}"/>
              </a:ext>
            </a:extLst>
          </p:cNvPr>
          <p:cNvSpPr>
            <a:spLocks noGrp="1"/>
          </p:cNvSpPr>
          <p:nvPr/>
        </p:nvSpPr>
        <p:spPr>
          <a:xfrm>
            <a:off x="8534400" y="4895850"/>
            <a:ext cx="1314450" cy="819150"/>
          </a:xfrm>
          <a:prstGeom prst="roundRect">
            <a:avLst>
              <a:gd name="adj" fmla="val 9302"/>
            </a:avLst>
          </a:prstGeom>
          <a:solidFill>
            <a:srgbClr val="FFFCF7">
              <a:alpha val="94902"/>
            </a:srgbClr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3BB041-9C55-418F-8F27-1D1C7032C7E6}"/>
              </a:ext>
            </a:extLst>
          </p:cNvPr>
          <p:cNvSpPr>
            <a:spLocks noGrp="1"/>
          </p:cNvSpPr>
          <p:nvPr/>
        </p:nvSpPr>
        <p:spPr>
          <a:xfrm>
            <a:off x="8534400" y="4895850"/>
            <a:ext cx="76200" cy="819150"/>
          </a:xfrm>
          <a:prstGeom prst="rect">
            <a:avLst/>
          </a:prstGeom>
          <a:solidFill>
            <a:srgbClr val="E3D8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0E3F8C3-D4EB-4299-A699-C59991FCDD60}"/>
              </a:ext>
            </a:extLst>
          </p:cNvPr>
          <p:cNvSpPr>
            <a:spLocks noGrp="1"/>
          </p:cNvSpPr>
          <p:nvPr/>
        </p:nvSpPr>
        <p:spPr>
          <a:xfrm>
            <a:off x="8743950" y="50673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方向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187DDEE-A3F3-482A-B182-5477AAE2F3C2}"/>
              </a:ext>
            </a:extLst>
          </p:cNvPr>
          <p:cNvSpPr>
            <a:spLocks noGrp="1"/>
          </p:cNvSpPr>
          <p:nvPr/>
        </p:nvSpPr>
        <p:spPr>
          <a:xfrm>
            <a:off x="8743950" y="535305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4 个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9AEA819-77FA-43F3-995D-CE66DDDE215B}"/>
              </a:ext>
            </a:extLst>
          </p:cNvPr>
          <p:cNvSpPr>
            <a:spLocks noGrp="1"/>
          </p:cNvSpPr>
          <p:nvPr/>
        </p:nvSpPr>
        <p:spPr>
          <a:xfrm>
            <a:off x="9982200" y="4895850"/>
            <a:ext cx="1314450" cy="819150"/>
          </a:xfrm>
          <a:prstGeom prst="roundRect">
            <a:avLst>
              <a:gd name="adj" fmla="val 9302"/>
            </a:avLst>
          </a:prstGeom>
          <a:solidFill>
            <a:srgbClr val="FFFCF7">
              <a:alpha val="94902"/>
            </a:srgbClr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AB63DAC-28EE-4055-9BB8-297929D01D8B}"/>
              </a:ext>
            </a:extLst>
          </p:cNvPr>
          <p:cNvSpPr>
            <a:spLocks noGrp="1"/>
          </p:cNvSpPr>
          <p:nvPr/>
        </p:nvSpPr>
        <p:spPr>
          <a:xfrm>
            <a:off x="9982200" y="4895850"/>
            <a:ext cx="76200" cy="819150"/>
          </a:xfrm>
          <a:prstGeom prst="rect">
            <a:avLst/>
          </a:prstGeom>
          <a:solidFill>
            <a:srgbClr val="F3D8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DF3EDD8-D6A4-4B84-AEE5-7FC7E3A779CD}"/>
              </a:ext>
            </a:extLst>
          </p:cNvPr>
          <p:cNvSpPr>
            <a:spLocks noGrp="1"/>
          </p:cNvSpPr>
          <p:nvPr/>
        </p:nvSpPr>
        <p:spPr>
          <a:xfrm>
            <a:off x="10191750" y="506730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联动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87345FC-6FEE-4C48-8E0E-FE2A9AD1F888}"/>
              </a:ext>
            </a:extLst>
          </p:cNvPr>
          <p:cNvSpPr>
            <a:spLocks noGrp="1"/>
          </p:cNvSpPr>
          <p:nvPr/>
        </p:nvSpPr>
        <p:spPr>
          <a:xfrm>
            <a:off x="10191750" y="535305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BEST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F1354851-B49A-5356-9736-F31BA3195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57" y="2076450"/>
            <a:ext cx="6279454" cy="387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79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D6544FC-CDAB-40B4-91BD-EA8455A550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214928-4F46-48C0-92FE-2119538746A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2048 模块 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98C5D5-1AC8-43CF-862F-56BBD6D23E5B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09 / 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65EC89-7AE6-498B-885D-2D6DCD0D153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91A13AB-2DC1-4154-B10E-3012A6CE38D8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AEEEEE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40EAF3-2F59-4408-A5C2-B9457B00CDB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429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2048 算法与成绩联动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DF34D7-6664-4072-8568-887BF3FCCFE6}"/>
              </a:ext>
            </a:extLst>
          </p:cNvPr>
          <p:cNvSpPr>
            <a:spLocks noGrp="1"/>
          </p:cNvSpPr>
          <p:nvPr/>
        </p:nvSpPr>
        <p:spPr>
          <a:xfrm>
            <a:off x="733425" y="1557338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6666"/>
                </a:solidFill>
              </a:defRPr>
            </a:pPr>
            <a:r>
              <a:rPr sz="1425" b="0" dirty="0" err="1">
                <a:solidFill>
                  <a:srgbClr val="666666"/>
                </a:solidFill>
              </a:rPr>
              <a:t>核心思想是把每次滑动统一成去零、合并、二次去零，再决定是否生成新数字</a:t>
            </a:r>
            <a:r>
              <a:rPr sz="1425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EAC0AB9-202E-450F-8AE9-7D06D0FCD927}"/>
              </a:ext>
            </a:extLst>
          </p:cNvPr>
          <p:cNvSpPr>
            <a:spLocks noGrp="1"/>
          </p:cNvSpPr>
          <p:nvPr/>
        </p:nvSpPr>
        <p:spPr>
          <a:xfrm>
            <a:off x="647700" y="2051050"/>
            <a:ext cx="495300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E89C0A0-1140-4BF4-B1D0-C52FEE22554D}"/>
              </a:ext>
            </a:extLst>
          </p:cNvPr>
          <p:cNvSpPr>
            <a:spLocks noGrp="1"/>
          </p:cNvSpPr>
          <p:nvPr/>
        </p:nvSpPr>
        <p:spPr>
          <a:xfrm>
            <a:off x="895350" y="22860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矩阵处理步骤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B60A2C0-DEEF-4183-872D-3C537589AF7A}"/>
              </a:ext>
            </a:extLst>
          </p:cNvPr>
          <p:cNvSpPr>
            <a:spLocks noGrp="1"/>
          </p:cNvSpPr>
          <p:nvPr/>
        </p:nvSpPr>
        <p:spPr>
          <a:xfrm>
            <a:off x="895350" y="2686050"/>
            <a:ext cx="44958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7CBAF1AA-57C1-4AD3-9E02-D14E333484B8}"/>
              </a:ext>
            </a:extLst>
          </p:cNvPr>
          <p:cNvSpPr>
            <a:spLocks noGrp="1"/>
          </p:cNvSpPr>
          <p:nvPr/>
        </p:nvSpPr>
        <p:spPr>
          <a:xfrm>
            <a:off x="1047750" y="2819400"/>
            <a:ext cx="285750" cy="285750"/>
          </a:xfrm>
          <a:prstGeom prst="ellipse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85A42A-AE48-4C39-BB8E-73258165407B}"/>
              </a:ext>
            </a:extLst>
          </p:cNvPr>
          <p:cNvSpPr>
            <a:spLocks noGrp="1"/>
          </p:cNvSpPr>
          <p:nvPr/>
        </p:nvSpPr>
        <p:spPr>
          <a:xfrm>
            <a:off x="1143000" y="28860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37914C-4CBF-4D7F-9462-4D8552EC95F7}"/>
              </a:ext>
            </a:extLst>
          </p:cNvPr>
          <p:cNvSpPr>
            <a:spLocks noGrp="1"/>
          </p:cNvSpPr>
          <p:nvPr/>
        </p:nvSpPr>
        <p:spPr>
          <a:xfrm>
            <a:off x="1428750" y="28384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去零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03D916-BC96-4D9F-8CEA-8169A0592968}"/>
              </a:ext>
            </a:extLst>
          </p:cNvPr>
          <p:cNvSpPr>
            <a:spLocks noGrp="1"/>
          </p:cNvSpPr>
          <p:nvPr/>
        </p:nvSpPr>
        <p:spPr>
          <a:xfrm>
            <a:off x="1066800" y="3133725"/>
            <a:ext cx="4152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把当前行或列中的非 0 元素先压紧。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DC88FC8-5740-468C-ADD2-667B3D6A5278}"/>
              </a:ext>
            </a:extLst>
          </p:cNvPr>
          <p:cNvSpPr>
            <a:spLocks noGrp="1"/>
          </p:cNvSpPr>
          <p:nvPr/>
        </p:nvSpPr>
        <p:spPr>
          <a:xfrm>
            <a:off x="3048000" y="3543300"/>
            <a:ext cx="76200" cy="190500"/>
          </a:xfrm>
          <a:prstGeom prst="roundRect">
            <a:avLst>
              <a:gd name="adj" fmla="val 50000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ABBDDD4-BF32-4A24-A697-07732A57268D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44958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406CB85-6B18-4996-92EC-F17FD00C189C}"/>
              </a:ext>
            </a:extLst>
          </p:cNvPr>
          <p:cNvSpPr>
            <a:spLocks noGrp="1"/>
          </p:cNvSpPr>
          <p:nvPr/>
        </p:nvSpPr>
        <p:spPr>
          <a:xfrm>
            <a:off x="1047750" y="3962400"/>
            <a:ext cx="285750" cy="285750"/>
          </a:xfrm>
          <a:prstGeom prst="ellipse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A1B65D9-75EC-4797-B162-2420FE0D9B12}"/>
              </a:ext>
            </a:extLst>
          </p:cNvPr>
          <p:cNvSpPr>
            <a:spLocks noGrp="1"/>
          </p:cNvSpPr>
          <p:nvPr/>
        </p:nvSpPr>
        <p:spPr>
          <a:xfrm>
            <a:off x="1143000" y="40290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9FE952-DE90-434D-88D5-FC7BDCEC07E0}"/>
              </a:ext>
            </a:extLst>
          </p:cNvPr>
          <p:cNvSpPr>
            <a:spLocks noGrp="1"/>
          </p:cNvSpPr>
          <p:nvPr/>
        </p:nvSpPr>
        <p:spPr>
          <a:xfrm>
            <a:off x="1428750" y="39814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合并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E4673A-D40A-4B7B-BB03-D75A58025A0A}"/>
              </a:ext>
            </a:extLst>
          </p:cNvPr>
          <p:cNvSpPr>
            <a:spLocks noGrp="1"/>
          </p:cNvSpPr>
          <p:nvPr/>
        </p:nvSpPr>
        <p:spPr>
          <a:xfrm>
            <a:off x="1066800" y="4276725"/>
            <a:ext cx="4152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相邻且相等的数字相加，同时累计当前分数。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8F96A2B-1052-42E6-8F25-98EC33FA63E9}"/>
              </a:ext>
            </a:extLst>
          </p:cNvPr>
          <p:cNvSpPr>
            <a:spLocks noGrp="1"/>
          </p:cNvSpPr>
          <p:nvPr/>
        </p:nvSpPr>
        <p:spPr>
          <a:xfrm>
            <a:off x="3048000" y="4686300"/>
            <a:ext cx="76200" cy="190500"/>
          </a:xfrm>
          <a:prstGeom prst="roundRect">
            <a:avLst>
              <a:gd name="adj" fmla="val 50000"/>
            </a:avLst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4EF1C89-B8D7-49BE-8A59-2BA64D8289C8}"/>
              </a:ext>
            </a:extLst>
          </p:cNvPr>
          <p:cNvSpPr>
            <a:spLocks noGrp="1"/>
          </p:cNvSpPr>
          <p:nvPr/>
        </p:nvSpPr>
        <p:spPr>
          <a:xfrm>
            <a:off x="895350" y="4933950"/>
            <a:ext cx="44958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6B22475-26A2-47E2-ACF0-9251CF840AD3}"/>
              </a:ext>
            </a:extLst>
          </p:cNvPr>
          <p:cNvSpPr>
            <a:spLocks noGrp="1"/>
          </p:cNvSpPr>
          <p:nvPr/>
        </p:nvSpPr>
        <p:spPr>
          <a:xfrm>
            <a:off x="1047750" y="5067300"/>
            <a:ext cx="285750" cy="285750"/>
          </a:xfrm>
          <a:prstGeom prst="ellipse">
            <a:avLst/>
          </a:prstGeom>
          <a:solidFill>
            <a:srgbClr val="E3D8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BCA6924-30C2-476F-9F11-3186B4E24233}"/>
              </a:ext>
            </a:extLst>
          </p:cNvPr>
          <p:cNvSpPr>
            <a:spLocks noGrp="1"/>
          </p:cNvSpPr>
          <p:nvPr/>
        </p:nvSpPr>
        <p:spPr>
          <a:xfrm>
            <a:off x="1143000" y="5133975"/>
            <a:ext cx="114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48CA2B1-C0AE-4193-B906-FF13D105ABE8}"/>
              </a:ext>
            </a:extLst>
          </p:cNvPr>
          <p:cNvSpPr>
            <a:spLocks noGrp="1"/>
          </p:cNvSpPr>
          <p:nvPr/>
        </p:nvSpPr>
        <p:spPr>
          <a:xfrm>
            <a:off x="1428750" y="5086350"/>
            <a:ext cx="3810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33333"/>
                </a:solidFill>
              </a:defRPr>
            </a:pPr>
            <a:r>
              <a:rPr sz="1350" b="1">
                <a:solidFill>
                  <a:srgbClr val="333333"/>
                </a:solidFill>
              </a:rPr>
              <a:t>再去零并生成新数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146705-B6E9-4FE4-AFFC-7FDEFE0FEAA2}"/>
              </a:ext>
            </a:extLst>
          </p:cNvPr>
          <p:cNvSpPr>
            <a:spLocks noGrp="1"/>
          </p:cNvSpPr>
          <p:nvPr/>
        </p:nvSpPr>
        <p:spPr>
          <a:xfrm>
            <a:off x="1066800" y="5381625"/>
            <a:ext cx="4152900" cy="219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6666"/>
                </a:solidFill>
              </a:defRPr>
            </a:pPr>
            <a:r>
              <a:rPr sz="1050" b="0">
                <a:solidFill>
                  <a:srgbClr val="666666"/>
                </a:solidFill>
              </a:rPr>
              <a:t>如果盘面发生变化，就调用 rand_num 生成新的 2 或 4。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C0187B9-5725-4100-8304-7578820D74BC}"/>
              </a:ext>
            </a:extLst>
          </p:cNvPr>
          <p:cNvSpPr>
            <a:spLocks noGrp="1"/>
          </p:cNvSpPr>
          <p:nvPr/>
        </p:nvSpPr>
        <p:spPr>
          <a:xfrm>
            <a:off x="5905500" y="2076450"/>
            <a:ext cx="5619750" cy="2286000"/>
          </a:xfrm>
          <a:prstGeom prst="roundRect">
            <a:avLst>
              <a:gd name="adj" fmla="val 3333"/>
            </a:avLst>
          </a:prstGeom>
          <a:solidFill>
            <a:srgbClr val="F7F4ED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B0CD10-7AE9-4427-B9C7-886A894A1E42}"/>
              </a:ext>
            </a:extLst>
          </p:cNvPr>
          <p:cNvSpPr>
            <a:spLocks noGrp="1"/>
          </p:cNvSpPr>
          <p:nvPr/>
        </p:nvSpPr>
        <p:spPr>
          <a:xfrm>
            <a:off x="5905500" y="2076450"/>
            <a:ext cx="5619750" cy="3238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FC9EC1B-E87C-4BF3-8C18-76B7C7DF5D71}"/>
              </a:ext>
            </a:extLst>
          </p:cNvPr>
          <p:cNvSpPr>
            <a:spLocks noGrp="1"/>
          </p:cNvSpPr>
          <p:nvPr/>
        </p:nvSpPr>
        <p:spPr>
          <a:xfrm>
            <a:off x="6057900" y="2152650"/>
            <a:ext cx="5314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合并与刷新摘录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42ABE2-4A3A-4147-B3D1-15F7B1A77B62}"/>
              </a:ext>
            </a:extLst>
          </p:cNvPr>
          <p:cNvSpPr>
            <a:spLocks noGrp="1"/>
          </p:cNvSpPr>
          <p:nvPr/>
        </p:nvSpPr>
        <p:spPr>
          <a:xfrm>
            <a:off x="6076950" y="2533650"/>
            <a:ext cx="5276850" cy="144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rm_zero(temp_arr, &amp;flag);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hebing(temp_arr, &amp;flag);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rm_zero(temp_arr, &amp;flag);</a:t>
            </a:r>
          </a:p>
          <a:p>
            <a:endParaRPr sz="1050" b="0">
              <a:solidFill>
                <a:srgbClr val="333333"/>
              </a:solidFill>
            </a:endParaRP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if (flag)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rand_num();</a:t>
            </a:r>
          </a:p>
          <a:p>
            <a:endParaRPr sz="1050" b="0">
              <a:solidFill>
                <a:srgbClr val="333333"/>
              </a:solidFill>
            </a:endParaRP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g_game.score += temp_arr[i];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update_best_score();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F20CC4D-2CD3-4BDB-9A68-571336E6589F}"/>
              </a:ext>
            </a:extLst>
          </p:cNvPr>
          <p:cNvSpPr>
            <a:spLocks noGrp="1"/>
          </p:cNvSpPr>
          <p:nvPr/>
        </p:nvSpPr>
        <p:spPr>
          <a:xfrm>
            <a:off x="6076950" y="4095750"/>
            <a:ext cx="5276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8"/>
                </a:solidFill>
              </a:defRPr>
            </a:pPr>
            <a:r>
              <a:rPr sz="750" b="0">
                <a:solidFill>
                  <a:srgbClr val="8A8178"/>
                </a:solidFill>
              </a:rPr>
              <a:t>来自 mycode/2048.c 的矩阵更新逻辑。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4CFBBF1-1CF3-42DE-B43B-938E87D48894}"/>
              </a:ext>
            </a:extLst>
          </p:cNvPr>
          <p:cNvSpPr>
            <a:spLocks noGrp="1"/>
          </p:cNvSpPr>
          <p:nvPr/>
        </p:nvSpPr>
        <p:spPr>
          <a:xfrm>
            <a:off x="5905500" y="4400550"/>
            <a:ext cx="5619750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F90814-3A44-4FA3-AC6B-5796DC987C08}"/>
              </a:ext>
            </a:extLst>
          </p:cNvPr>
          <p:cNvSpPr>
            <a:spLocks noGrp="1"/>
          </p:cNvSpPr>
          <p:nvPr/>
        </p:nvSpPr>
        <p:spPr>
          <a:xfrm>
            <a:off x="5905500" y="4400550"/>
            <a:ext cx="5619750" cy="76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D97651F-E758-426A-B469-F453FB35E5D6}"/>
              </a:ext>
            </a:extLst>
          </p:cNvPr>
          <p:cNvSpPr>
            <a:spLocks noGrp="1"/>
          </p:cNvSpPr>
          <p:nvPr/>
        </p:nvSpPr>
        <p:spPr>
          <a:xfrm>
            <a:off x="6115050" y="4591050"/>
            <a:ext cx="5200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成绩联动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8540089-C108-4562-9621-69C2B5F32317}"/>
              </a:ext>
            </a:extLst>
          </p:cNvPr>
          <p:cNvSpPr>
            <a:spLocks noGrp="1"/>
          </p:cNvSpPr>
          <p:nvPr/>
        </p:nvSpPr>
        <p:spPr>
          <a:xfrm>
            <a:off x="6115050" y="5029200"/>
            <a:ext cx="52006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• 四个方向滑动通过行列重映射复用同一套处理思路。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• update_best_score 会在分数突破时回写用户最高分。</a:t>
            </a:r>
          </a:p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• 排行榜页面读取的就是这里持久化后的 best_score。</a:t>
            </a:r>
          </a:p>
        </p:txBody>
      </p:sp>
    </p:spTree>
    <p:extLst>
      <p:ext uri="{BB962C8B-B14F-4D97-AF65-F5344CB8AC3E}">
        <p14:creationId xmlns:p14="http://schemas.microsoft.com/office/powerpoint/2010/main" val="2068864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96554CE-4DEC-4A08-AB33-1404563E65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310E3A-77DF-455A-870F-59853DCAB82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相册模块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B5902C-F1D0-4F51-92AE-5C53C2A3A702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10 / 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5E77E1-774C-42CC-B016-3CF7C34F642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5334B34-96C3-4A0B-AC88-ACE6A96E46E2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AEEEEE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FC3F7E-263B-4E84-AA98-1B6E7FB676B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429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电子相册模块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2CD518-9C1C-4CF5-99E4-DB06728A881E}"/>
              </a:ext>
            </a:extLst>
          </p:cNvPr>
          <p:cNvSpPr>
            <a:spLocks noGrp="1"/>
          </p:cNvSpPr>
          <p:nvPr/>
        </p:nvSpPr>
        <p:spPr>
          <a:xfrm>
            <a:off x="762000" y="1501485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6666"/>
                </a:solidFill>
              </a:defRPr>
            </a:pPr>
            <a:r>
              <a:rPr sz="1425" b="0" dirty="0" err="1">
                <a:solidFill>
                  <a:srgbClr val="666666"/>
                </a:solidFill>
              </a:rPr>
              <a:t>相册页面围绕本地</a:t>
            </a:r>
            <a:r>
              <a:rPr sz="1425" b="0" dirty="0">
                <a:solidFill>
                  <a:srgbClr val="666666"/>
                </a:solidFill>
              </a:rPr>
              <a:t> BMP </a:t>
            </a:r>
            <a:r>
              <a:rPr sz="1425" b="0" dirty="0" err="1">
                <a:solidFill>
                  <a:srgbClr val="666666"/>
                </a:solidFill>
              </a:rPr>
              <a:t>图片浏览、自动播放和退出时的资源回收展开</a:t>
            </a:r>
            <a:r>
              <a:rPr sz="1425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E12B1F-282A-4D8C-AF53-AC4FD4637835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5524500" cy="19050"/>
          </a:xfrm>
          <a:prstGeom prst="rect">
            <a:avLst/>
          </a:prstGeom>
          <a:solidFill>
            <a:srgbClr val="4A7C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30F0E7-4C3A-4A4B-BAED-C174465DA6DD}"/>
              </a:ext>
            </a:extLst>
          </p:cNvPr>
          <p:cNvSpPr>
            <a:spLocks noGrp="1"/>
          </p:cNvSpPr>
          <p:nvPr/>
        </p:nvSpPr>
        <p:spPr>
          <a:xfrm>
            <a:off x="857250" y="5715000"/>
            <a:ext cx="5524500" cy="19050"/>
          </a:xfrm>
          <a:prstGeom prst="rect">
            <a:avLst/>
          </a:prstGeom>
          <a:solidFill>
            <a:srgbClr val="4A7C5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BB3CADF-BEF0-43AC-8EC3-BAAA1795DEE1}"/>
              </a:ext>
            </a:extLst>
          </p:cNvPr>
          <p:cNvSpPr>
            <a:spLocks noGrp="1"/>
          </p:cNvSpPr>
          <p:nvPr/>
        </p:nvSpPr>
        <p:spPr>
          <a:xfrm>
            <a:off x="6858000" y="2076450"/>
            <a:ext cx="466725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431079-ED4F-4D2E-A738-21077EFA1C92}"/>
              </a:ext>
            </a:extLst>
          </p:cNvPr>
          <p:cNvSpPr>
            <a:spLocks noGrp="1"/>
          </p:cNvSpPr>
          <p:nvPr/>
        </p:nvSpPr>
        <p:spPr>
          <a:xfrm>
            <a:off x="6858000" y="2076450"/>
            <a:ext cx="4667250" cy="76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8153ED-070F-448A-AC41-880523DB545F}"/>
              </a:ext>
            </a:extLst>
          </p:cNvPr>
          <p:cNvSpPr>
            <a:spLocks noGrp="1"/>
          </p:cNvSpPr>
          <p:nvPr/>
        </p:nvSpPr>
        <p:spPr>
          <a:xfrm>
            <a:off x="7067550" y="2266950"/>
            <a:ext cx="42481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实现要点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A99422-09F8-4AAE-93CA-51540F5D6E55}"/>
              </a:ext>
            </a:extLst>
          </p:cNvPr>
          <p:cNvSpPr>
            <a:spLocks noGrp="1"/>
          </p:cNvSpPr>
          <p:nvPr/>
        </p:nvSpPr>
        <p:spPr>
          <a:xfrm>
            <a:off x="7067550" y="2705100"/>
            <a:ext cx="4248150" cy="1733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固定读取 build/pic 下的 a.bmp、b.bmp、c.bmp。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上一张和下一张都支持循环切换。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底部会同步显示当前页码信息。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>
                <a:solidFill>
                  <a:srgbClr val="333333"/>
                </a:solidFill>
              </a:rPr>
              <a:t>• 点击自动播放后，每 3000ms 自动切一张。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75C3719-6A40-4BC2-9D41-225C643CC2CD}"/>
              </a:ext>
            </a:extLst>
          </p:cNvPr>
          <p:cNvSpPr>
            <a:spLocks noGrp="1"/>
          </p:cNvSpPr>
          <p:nvPr/>
        </p:nvSpPr>
        <p:spPr>
          <a:xfrm>
            <a:off x="7086600" y="4876800"/>
            <a:ext cx="1333500" cy="838200"/>
          </a:xfrm>
          <a:prstGeom prst="roundRect">
            <a:avLst>
              <a:gd name="adj" fmla="val 9091"/>
            </a:avLst>
          </a:prstGeom>
          <a:solidFill>
            <a:srgbClr val="FFFCF7">
              <a:alpha val="94902"/>
            </a:srgbClr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0A5A38-C6E7-418A-856E-37B848663AF5}"/>
              </a:ext>
            </a:extLst>
          </p:cNvPr>
          <p:cNvSpPr>
            <a:spLocks noGrp="1"/>
          </p:cNvSpPr>
          <p:nvPr/>
        </p:nvSpPr>
        <p:spPr>
          <a:xfrm>
            <a:off x="7086600" y="4876800"/>
            <a:ext cx="76200" cy="838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F9C0589-9BB3-49A8-BC05-0EE63BDD0C8D}"/>
              </a:ext>
            </a:extLst>
          </p:cNvPr>
          <p:cNvSpPr>
            <a:spLocks noGrp="1"/>
          </p:cNvSpPr>
          <p:nvPr/>
        </p:nvSpPr>
        <p:spPr>
          <a:xfrm>
            <a:off x="7296150" y="50482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图片数量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D99F11-3853-4567-A5CC-AEFC11B3B086}"/>
              </a:ext>
            </a:extLst>
          </p:cNvPr>
          <p:cNvSpPr>
            <a:spLocks noGrp="1"/>
          </p:cNvSpPr>
          <p:nvPr/>
        </p:nvSpPr>
        <p:spPr>
          <a:xfrm>
            <a:off x="7296150" y="53340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3 张 BMP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DD9B9A1-6726-48E9-9B69-82B6AFB48569}"/>
              </a:ext>
            </a:extLst>
          </p:cNvPr>
          <p:cNvSpPr>
            <a:spLocks noGrp="1"/>
          </p:cNvSpPr>
          <p:nvPr/>
        </p:nvSpPr>
        <p:spPr>
          <a:xfrm>
            <a:off x="8534400" y="4876800"/>
            <a:ext cx="1333500" cy="838200"/>
          </a:xfrm>
          <a:prstGeom prst="roundRect">
            <a:avLst>
              <a:gd name="adj" fmla="val 9091"/>
            </a:avLst>
          </a:prstGeom>
          <a:solidFill>
            <a:srgbClr val="FFFCF7">
              <a:alpha val="94902"/>
            </a:srgbClr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BAE371-DA6E-4357-9B32-90F1186D8F8B}"/>
              </a:ext>
            </a:extLst>
          </p:cNvPr>
          <p:cNvSpPr>
            <a:spLocks noGrp="1"/>
          </p:cNvSpPr>
          <p:nvPr/>
        </p:nvSpPr>
        <p:spPr>
          <a:xfrm>
            <a:off x="8534400" y="4876800"/>
            <a:ext cx="76200" cy="838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ABF749C-2DCB-440E-8353-8AE31E0041C4}"/>
              </a:ext>
            </a:extLst>
          </p:cNvPr>
          <p:cNvSpPr>
            <a:spLocks noGrp="1"/>
          </p:cNvSpPr>
          <p:nvPr/>
        </p:nvSpPr>
        <p:spPr>
          <a:xfrm>
            <a:off x="8743950" y="50482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自动播放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37B3AFE-47A5-49B1-A55E-C5B9329C1802}"/>
              </a:ext>
            </a:extLst>
          </p:cNvPr>
          <p:cNvSpPr>
            <a:spLocks noGrp="1"/>
          </p:cNvSpPr>
          <p:nvPr/>
        </p:nvSpPr>
        <p:spPr>
          <a:xfrm>
            <a:off x="8743950" y="533400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3000ms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275B1BE-0180-41C1-BDAF-AFD728D3DE07}"/>
              </a:ext>
            </a:extLst>
          </p:cNvPr>
          <p:cNvSpPr>
            <a:spLocks noGrp="1"/>
          </p:cNvSpPr>
          <p:nvPr/>
        </p:nvSpPr>
        <p:spPr>
          <a:xfrm>
            <a:off x="9982200" y="4876800"/>
            <a:ext cx="1314450" cy="838200"/>
          </a:xfrm>
          <a:prstGeom prst="roundRect">
            <a:avLst>
              <a:gd name="adj" fmla="val 9091"/>
            </a:avLst>
          </a:prstGeom>
          <a:solidFill>
            <a:srgbClr val="FFFCF7">
              <a:alpha val="94902"/>
            </a:srgbClr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34D5F11-3128-4CCF-B300-0C6FDC36FCEC}"/>
              </a:ext>
            </a:extLst>
          </p:cNvPr>
          <p:cNvSpPr>
            <a:spLocks noGrp="1"/>
          </p:cNvSpPr>
          <p:nvPr/>
        </p:nvSpPr>
        <p:spPr>
          <a:xfrm>
            <a:off x="9982200" y="4876800"/>
            <a:ext cx="76200" cy="838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4CCED7E-28F4-4F9B-B3B1-93B74D19AD93}"/>
              </a:ext>
            </a:extLst>
          </p:cNvPr>
          <p:cNvSpPr>
            <a:spLocks noGrp="1"/>
          </p:cNvSpPr>
          <p:nvPr/>
        </p:nvSpPr>
        <p:spPr>
          <a:xfrm>
            <a:off x="10191750" y="5048250"/>
            <a:ext cx="933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退出回收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D27F1D5-58A9-4B34-A0A5-E0B9C8982D83}"/>
              </a:ext>
            </a:extLst>
          </p:cNvPr>
          <p:cNvSpPr>
            <a:spLocks noGrp="1"/>
          </p:cNvSpPr>
          <p:nvPr/>
        </p:nvSpPr>
        <p:spPr>
          <a:xfrm>
            <a:off x="10191750" y="5334000"/>
            <a:ext cx="933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3333"/>
                </a:solidFill>
              </a:defRPr>
            </a:pPr>
            <a:r>
              <a:rPr sz="1275" b="0">
                <a:solidFill>
                  <a:srgbClr val="333333"/>
                </a:solidFill>
              </a:rPr>
              <a:t>lv_timer_del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2AB740AB-D546-D5FE-BC82-A63BDF16B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47" y="2055352"/>
            <a:ext cx="6241202" cy="383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93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6AE50E3-A2CE-4BB0-B564-2BB9507180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975D1B-8F21-4B25-857C-392D2F9C794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工程事实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1738C7-5FF5-4BB1-A8BD-0E57899ED03A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11 / 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9AC08C-03DB-4907-996E-C3DAFAACF5DF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FD1CC0A-54A0-4FDA-B15D-19B0318F3CCE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AEEEEE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35C345-0B8A-4689-8640-AE669358BFE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429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工程配置、适配准备与问题解决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C9DD1FA-4B7F-4C85-9AD4-A136DC4D68F2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4953000" cy="384810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CAA085-867A-4C77-A50B-09564D3B3549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4953000" cy="76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C57284-583B-4F37-9D27-FAB4C36AC26F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4533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工程现状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C17F70-227F-4C1E-89DA-9DC87CD1A106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45339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 dirty="0">
                <a:solidFill>
                  <a:srgbClr val="333333"/>
                </a:solidFill>
              </a:rPr>
              <a:t>• </a:t>
            </a:r>
            <a:r>
              <a:rPr sz="1350" b="0" dirty="0" err="1">
                <a:solidFill>
                  <a:srgbClr val="333333"/>
                </a:solidFill>
              </a:rPr>
              <a:t>当前仓库启用</a:t>
            </a:r>
            <a:r>
              <a:rPr sz="1350" b="0" dirty="0">
                <a:solidFill>
                  <a:srgbClr val="333333"/>
                </a:solidFill>
              </a:rPr>
              <a:t> SDL </a:t>
            </a:r>
            <a:r>
              <a:rPr sz="1350" b="0" dirty="0" err="1">
                <a:solidFill>
                  <a:srgbClr val="333333"/>
                </a:solidFill>
              </a:rPr>
              <a:t>仿真，lv_conf.h</a:t>
            </a:r>
            <a:r>
              <a:rPr sz="1350" b="0" dirty="0">
                <a:solidFill>
                  <a:srgbClr val="333333"/>
                </a:solidFill>
              </a:rPr>
              <a:t> 中 LV_USE_SDL = 1。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 dirty="0">
                <a:solidFill>
                  <a:srgbClr val="333333"/>
                </a:solidFill>
              </a:rPr>
              <a:t>• </a:t>
            </a:r>
            <a:r>
              <a:rPr sz="1350" b="0" dirty="0" err="1">
                <a:solidFill>
                  <a:srgbClr val="333333"/>
                </a:solidFill>
              </a:rPr>
              <a:t>main.c</a:t>
            </a:r>
            <a:r>
              <a:rPr sz="1350" b="0" dirty="0">
                <a:solidFill>
                  <a:srgbClr val="333333"/>
                </a:solidFill>
              </a:rPr>
              <a:t> </a:t>
            </a:r>
            <a:r>
              <a:rPr sz="1350" b="0" dirty="0" err="1">
                <a:solidFill>
                  <a:srgbClr val="333333"/>
                </a:solidFill>
              </a:rPr>
              <a:t>仍保留</a:t>
            </a:r>
            <a:r>
              <a:rPr sz="1350" b="0" dirty="0">
                <a:solidFill>
                  <a:srgbClr val="333333"/>
                </a:solidFill>
              </a:rPr>
              <a:t> framebuffer /dev/fb0 </a:t>
            </a:r>
            <a:r>
              <a:rPr sz="1350" b="0" dirty="0" err="1">
                <a:solidFill>
                  <a:srgbClr val="333333"/>
                </a:solidFill>
              </a:rPr>
              <a:t>与触摸</a:t>
            </a:r>
            <a:r>
              <a:rPr sz="1350" b="0" dirty="0">
                <a:solidFill>
                  <a:srgbClr val="333333"/>
                </a:solidFill>
              </a:rPr>
              <a:t> event6 </a:t>
            </a:r>
            <a:r>
              <a:rPr sz="1350" b="0" dirty="0" err="1">
                <a:solidFill>
                  <a:srgbClr val="333333"/>
                </a:solidFill>
              </a:rPr>
              <a:t>的入口</a:t>
            </a:r>
            <a:r>
              <a:rPr sz="1350" b="0" dirty="0">
                <a:solidFill>
                  <a:srgbClr val="333333"/>
                </a:solidFill>
              </a:rPr>
              <a:t>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 dirty="0">
                <a:solidFill>
                  <a:srgbClr val="333333"/>
                </a:solidFill>
              </a:rPr>
              <a:t>• </a:t>
            </a:r>
            <a:r>
              <a:rPr sz="1350" b="0" dirty="0" err="1">
                <a:solidFill>
                  <a:srgbClr val="333333"/>
                </a:solidFill>
              </a:rPr>
              <a:t>FreeType、拼音输入法和</a:t>
            </a:r>
            <a:r>
              <a:rPr sz="1350" b="0" dirty="0">
                <a:solidFill>
                  <a:srgbClr val="333333"/>
                </a:solidFill>
              </a:rPr>
              <a:t> 2 MB LVGL </a:t>
            </a:r>
            <a:r>
              <a:rPr sz="1350" b="0" dirty="0" err="1">
                <a:solidFill>
                  <a:srgbClr val="333333"/>
                </a:solidFill>
              </a:rPr>
              <a:t>内存池都已开启</a:t>
            </a:r>
            <a:r>
              <a:rPr sz="1350" b="0" dirty="0">
                <a:solidFill>
                  <a:srgbClr val="333333"/>
                </a:solidFill>
              </a:rPr>
              <a:t>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 dirty="0">
                <a:solidFill>
                  <a:srgbClr val="333333"/>
                </a:solidFill>
              </a:rPr>
              <a:t>• CMakeLists.txt </a:t>
            </a:r>
            <a:r>
              <a:rPr sz="1350" b="0" dirty="0" err="1">
                <a:solidFill>
                  <a:srgbClr val="333333"/>
                </a:solidFill>
              </a:rPr>
              <a:t>里能看到</a:t>
            </a:r>
            <a:r>
              <a:rPr sz="1350" b="0" dirty="0">
                <a:solidFill>
                  <a:srgbClr val="333333"/>
                </a:solidFill>
              </a:rPr>
              <a:t> SDL </a:t>
            </a:r>
            <a:r>
              <a:rPr sz="1350" b="0" dirty="0" err="1">
                <a:solidFill>
                  <a:srgbClr val="333333"/>
                </a:solidFill>
              </a:rPr>
              <a:t>和交叉编译相关配置痕迹</a:t>
            </a:r>
            <a:r>
              <a:rPr sz="1350" b="0" dirty="0">
                <a:solidFill>
                  <a:srgbClr val="333333"/>
                </a:solidFill>
              </a:rPr>
              <a:t>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 dirty="0">
                <a:solidFill>
                  <a:srgbClr val="333333"/>
                </a:solidFill>
              </a:rPr>
              <a:t>• </a:t>
            </a:r>
            <a:r>
              <a:rPr sz="1350" b="0" dirty="0" err="1">
                <a:solidFill>
                  <a:srgbClr val="333333"/>
                </a:solidFill>
              </a:rPr>
              <a:t>资源路径仍含</a:t>
            </a:r>
            <a:r>
              <a:rPr sz="1350" b="0" dirty="0">
                <a:solidFill>
                  <a:srgbClr val="333333"/>
                </a:solidFill>
              </a:rPr>
              <a:t> Ubuntu </a:t>
            </a:r>
            <a:r>
              <a:rPr sz="1350" b="0" dirty="0" err="1">
                <a:solidFill>
                  <a:srgbClr val="333333"/>
                </a:solidFill>
              </a:rPr>
              <a:t>共享目录硬编码，因此</a:t>
            </a:r>
            <a:r>
              <a:rPr sz="1350" b="0" dirty="0">
                <a:solidFill>
                  <a:srgbClr val="333333"/>
                </a:solidFill>
              </a:rPr>
              <a:t> RK3568 </a:t>
            </a:r>
            <a:r>
              <a:rPr sz="1350" b="0" dirty="0" err="1">
                <a:solidFill>
                  <a:srgbClr val="333333"/>
                </a:solidFill>
              </a:rPr>
              <a:t>只写适配准备或部分验证</a:t>
            </a:r>
            <a:r>
              <a:rPr sz="1350" b="0" dirty="0">
                <a:solidFill>
                  <a:srgbClr val="333333"/>
                </a:solidFill>
              </a:rPr>
              <a:t>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1670AC0-6716-4A95-823A-4320E25BB7D9}"/>
              </a:ext>
            </a:extLst>
          </p:cNvPr>
          <p:cNvSpPr>
            <a:spLocks noGrp="1"/>
          </p:cNvSpPr>
          <p:nvPr/>
        </p:nvSpPr>
        <p:spPr>
          <a:xfrm>
            <a:off x="5905500" y="2076450"/>
            <a:ext cx="5619750" cy="2038350"/>
          </a:xfrm>
          <a:prstGeom prst="roundRect">
            <a:avLst>
              <a:gd name="adj" fmla="val 3738"/>
            </a:avLst>
          </a:prstGeom>
          <a:solidFill>
            <a:srgbClr val="F7F4ED"/>
          </a:solidFill>
          <a:ln w="10478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82137B-1738-4C7F-8807-F86AD70E487C}"/>
              </a:ext>
            </a:extLst>
          </p:cNvPr>
          <p:cNvSpPr>
            <a:spLocks noGrp="1"/>
          </p:cNvSpPr>
          <p:nvPr/>
        </p:nvSpPr>
        <p:spPr>
          <a:xfrm>
            <a:off x="5905500" y="2076450"/>
            <a:ext cx="5619750" cy="323850"/>
          </a:xfrm>
          <a:prstGeom prst="rect">
            <a:avLst/>
          </a:prstGeom>
          <a:solidFill>
            <a:srgbClr val="ECE6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72C70A-A096-4218-8450-6000F423517E}"/>
              </a:ext>
            </a:extLst>
          </p:cNvPr>
          <p:cNvSpPr>
            <a:spLocks noGrp="1"/>
          </p:cNvSpPr>
          <p:nvPr/>
        </p:nvSpPr>
        <p:spPr>
          <a:xfrm>
            <a:off x="6057900" y="2152650"/>
            <a:ext cx="5314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页面销毁与定时器清理摘录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D739D2-7DF8-4B6D-ABBA-CD65B16FA5AA}"/>
              </a:ext>
            </a:extLst>
          </p:cNvPr>
          <p:cNvSpPr>
            <a:spLocks noGrp="1"/>
          </p:cNvSpPr>
          <p:nvPr/>
        </p:nvSpPr>
        <p:spPr>
          <a:xfrm>
            <a:off x="6076950" y="2533650"/>
            <a:ext cx="52768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if (g_ui.medical_screen != NULL) {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lv_obj_delete_async(g_ui.medical_screen);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g_ui.medical_screen = NULL;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}</a:t>
            </a:r>
          </a:p>
          <a:p>
            <a:endParaRPr sz="1050" b="0">
              <a:solidFill>
                <a:srgbClr val="333333"/>
              </a:solidFill>
            </a:endParaRP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if (auto_play_timer != NULL) {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lv_timer_del(auto_play_timer);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    auto_play_timer = NULL;</a:t>
            </a:r>
          </a:p>
          <a:p>
            <a:pPr algn="l">
              <a:defRPr sz="1050" b="0">
                <a:solidFill>
                  <a:srgbClr val="333333"/>
                </a:solidFill>
              </a:defRPr>
            </a:pPr>
            <a:r>
              <a:rPr sz="1050" b="0">
                <a:solidFill>
                  <a:srgbClr val="333333"/>
                </a:solidFill>
              </a:rPr>
              <a:t>}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592DC29-3770-4BA1-948D-334E0A8301F2}"/>
              </a:ext>
            </a:extLst>
          </p:cNvPr>
          <p:cNvSpPr>
            <a:spLocks noGrp="1"/>
          </p:cNvSpPr>
          <p:nvPr/>
        </p:nvSpPr>
        <p:spPr>
          <a:xfrm>
            <a:off x="5905500" y="4095750"/>
            <a:ext cx="2686050" cy="1828800"/>
          </a:xfrm>
          <a:prstGeom prst="roundRect">
            <a:avLst>
              <a:gd name="adj" fmla="val 4167"/>
            </a:avLst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E6AD05-18D2-4247-B082-3F7DF0B0B04A}"/>
              </a:ext>
            </a:extLst>
          </p:cNvPr>
          <p:cNvSpPr>
            <a:spLocks noGrp="1"/>
          </p:cNvSpPr>
          <p:nvPr/>
        </p:nvSpPr>
        <p:spPr>
          <a:xfrm>
            <a:off x="5905500" y="4095750"/>
            <a:ext cx="76200" cy="18288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87C597F-7621-4221-958B-12DE3837DA9C}"/>
              </a:ext>
            </a:extLst>
          </p:cNvPr>
          <p:cNvSpPr>
            <a:spLocks noGrp="1"/>
          </p:cNvSpPr>
          <p:nvPr/>
        </p:nvSpPr>
        <p:spPr>
          <a:xfrm>
            <a:off x="6115050" y="4324350"/>
            <a:ext cx="514350" cy="514350"/>
          </a:xfrm>
          <a:prstGeom prst="ellipse">
            <a:avLst/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973EB59-C718-4E6F-80B0-D03D2BD1EE60}"/>
              </a:ext>
            </a:extLst>
          </p:cNvPr>
          <p:cNvSpPr>
            <a:spLocks noGrp="1"/>
          </p:cNvSpPr>
          <p:nvPr/>
        </p:nvSpPr>
        <p:spPr>
          <a:xfrm>
            <a:off x="6238875" y="4495800"/>
            <a:ext cx="95250" cy="95250"/>
          </a:xfrm>
          <a:prstGeom prst="ellipse">
            <a:avLst/>
          </a:prstGeom>
          <a:solidFill>
            <a:srgbClr val="AEEEEE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4D52C2D-434F-4A0F-81BA-35447C1BA639}"/>
              </a:ext>
            </a:extLst>
          </p:cNvPr>
          <p:cNvSpPr>
            <a:spLocks noGrp="1"/>
          </p:cNvSpPr>
          <p:nvPr/>
        </p:nvSpPr>
        <p:spPr>
          <a:xfrm>
            <a:off x="6410325" y="4581525"/>
            <a:ext cx="95250" cy="95250"/>
          </a:xfrm>
          <a:prstGeom prst="ellipse">
            <a:avLst/>
          </a:prstGeom>
          <a:solidFill>
            <a:srgbClr val="AEEEEE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A7D0E7A-108A-4C5C-A048-2B84836D8787}"/>
              </a:ext>
            </a:extLst>
          </p:cNvPr>
          <p:cNvSpPr>
            <a:spLocks noGrp="1"/>
          </p:cNvSpPr>
          <p:nvPr/>
        </p:nvSpPr>
        <p:spPr>
          <a:xfrm>
            <a:off x="6324600" y="4562475"/>
            <a:ext cx="180975" cy="28575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670A42-A98A-43BB-9020-E2E278A1DFCE}"/>
              </a:ext>
            </a:extLst>
          </p:cNvPr>
          <p:cNvSpPr>
            <a:spLocks noGrp="1"/>
          </p:cNvSpPr>
          <p:nvPr/>
        </p:nvSpPr>
        <p:spPr>
          <a:xfrm>
            <a:off x="6743700" y="43053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问题 1：切屏崩溃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B48048B-3C0B-475D-9B6F-B78EC530206E}"/>
              </a:ext>
            </a:extLst>
          </p:cNvPr>
          <p:cNvSpPr>
            <a:spLocks noGrp="1"/>
          </p:cNvSpPr>
          <p:nvPr/>
        </p:nvSpPr>
        <p:spPr>
          <a:xfrm>
            <a:off x="6134100" y="4914900"/>
            <a:ext cx="22288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退出登录时如果在动画过程中直接删旧页面，容易触发段错误。当前做法是先切回登录页，再用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lv_obj_delete_async 异步回收子页面。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EE25169-80EA-4DCD-871A-D0A4993555F8}"/>
              </a:ext>
            </a:extLst>
          </p:cNvPr>
          <p:cNvSpPr>
            <a:spLocks noGrp="1"/>
          </p:cNvSpPr>
          <p:nvPr/>
        </p:nvSpPr>
        <p:spPr>
          <a:xfrm>
            <a:off x="8839200" y="4095750"/>
            <a:ext cx="2686050" cy="1828800"/>
          </a:xfrm>
          <a:prstGeom prst="roundRect">
            <a:avLst>
              <a:gd name="adj" fmla="val 4167"/>
            </a:avLst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AFA3D10-F06B-4055-9F36-913B58D83C23}"/>
              </a:ext>
            </a:extLst>
          </p:cNvPr>
          <p:cNvSpPr>
            <a:spLocks noGrp="1"/>
          </p:cNvSpPr>
          <p:nvPr/>
        </p:nvSpPr>
        <p:spPr>
          <a:xfrm>
            <a:off x="8839200" y="4095750"/>
            <a:ext cx="76200" cy="1828800"/>
          </a:xfrm>
          <a:prstGeom prst="rect">
            <a:avLst/>
          </a:prstGeom>
          <a:solidFill>
            <a:srgbClr val="C039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430BF18D-A5E3-464E-B103-62CC646DA8E4}"/>
              </a:ext>
            </a:extLst>
          </p:cNvPr>
          <p:cNvSpPr>
            <a:spLocks noGrp="1"/>
          </p:cNvSpPr>
          <p:nvPr/>
        </p:nvSpPr>
        <p:spPr>
          <a:xfrm>
            <a:off x="9048750" y="4324350"/>
            <a:ext cx="514350" cy="514350"/>
          </a:xfrm>
          <a:prstGeom prst="ellipse">
            <a:avLst/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463757C-CAB5-4178-B414-5E0D0C15C8C4}"/>
              </a:ext>
            </a:extLst>
          </p:cNvPr>
          <p:cNvSpPr>
            <a:spLocks noGrp="1"/>
          </p:cNvSpPr>
          <p:nvPr/>
        </p:nvSpPr>
        <p:spPr>
          <a:xfrm>
            <a:off x="9172575" y="446722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F38BEE3-2DD8-4B17-94C0-144D0984BFC6}"/>
              </a:ext>
            </a:extLst>
          </p:cNvPr>
          <p:cNvSpPr>
            <a:spLocks noGrp="1"/>
          </p:cNvSpPr>
          <p:nvPr/>
        </p:nvSpPr>
        <p:spPr>
          <a:xfrm>
            <a:off x="9220200" y="455295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E3D8BE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A236C23-117D-4C96-AA32-A63F0532293D}"/>
              </a:ext>
            </a:extLst>
          </p:cNvPr>
          <p:cNvSpPr>
            <a:spLocks noGrp="1"/>
          </p:cNvSpPr>
          <p:nvPr/>
        </p:nvSpPr>
        <p:spPr>
          <a:xfrm>
            <a:off x="9267825" y="463867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F3D8D2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215CB7-F84D-47FF-B85F-14137CC5A33A}"/>
              </a:ext>
            </a:extLst>
          </p:cNvPr>
          <p:cNvSpPr>
            <a:spLocks noGrp="1"/>
          </p:cNvSpPr>
          <p:nvPr/>
        </p:nvSpPr>
        <p:spPr>
          <a:xfrm>
            <a:off x="9677400" y="4305300"/>
            <a:ext cx="1657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问题 2：内存与定时器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E856651-09A5-4C82-BA8F-FCDDFD889191}"/>
              </a:ext>
            </a:extLst>
          </p:cNvPr>
          <p:cNvSpPr>
            <a:spLocks noGrp="1"/>
          </p:cNvSpPr>
          <p:nvPr/>
        </p:nvSpPr>
        <p:spPr>
          <a:xfrm>
            <a:off x="9067800" y="4914900"/>
            <a:ext cx="22288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 dirty="0" err="1">
                <a:solidFill>
                  <a:srgbClr val="333333"/>
                </a:solidFill>
              </a:rPr>
              <a:t>字库和</a:t>
            </a:r>
            <a:r>
              <a:rPr sz="1200" b="0" dirty="0">
                <a:solidFill>
                  <a:srgbClr val="333333"/>
                </a:solidFill>
              </a:rPr>
              <a:t> IME </a:t>
            </a:r>
            <a:r>
              <a:rPr sz="1200" b="0" dirty="0" err="1">
                <a:solidFill>
                  <a:srgbClr val="333333"/>
                </a:solidFill>
              </a:rPr>
              <a:t>会增加内存压力，因此配置了</a:t>
            </a:r>
            <a:r>
              <a:rPr sz="1200" b="0" dirty="0">
                <a:solidFill>
                  <a:srgbClr val="333333"/>
                </a:solidFill>
              </a:rPr>
              <a:t> 2 MB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 dirty="0">
                <a:solidFill>
                  <a:srgbClr val="333333"/>
                </a:solidFill>
              </a:rPr>
              <a:t>LVGL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 dirty="0" err="1">
                <a:solidFill>
                  <a:srgbClr val="333333"/>
                </a:solidFill>
              </a:rPr>
              <a:t>内存池；相册和医疗模块在页面销毁时都会主动删定时器，避免野指针</a:t>
            </a:r>
            <a:r>
              <a:rPr sz="1200" b="0" dirty="0">
                <a:solidFill>
                  <a:srgbClr val="333333"/>
                </a:solidFill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AEC788-A8A4-4A43-8683-17F19B60C2A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819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A8178"/>
                </a:solidFill>
              </a:defRPr>
            </a:pPr>
            <a:endParaRPr sz="750" b="0" dirty="0">
              <a:solidFill>
                <a:srgbClr val="8A81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238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5">
            <a:extLst>
              <a:ext uri="{FF2B5EF4-FFF2-40B4-BE49-F238E27FC236}">
                <a16:creationId xmlns:a16="http://schemas.microsoft.com/office/drawing/2014/main" id="{7A3B6D80-B779-40B3-BDD6-6A69D6DD299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4D0B214-590D-4DB4-82E9-C81E519FAC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5D538C-6355-429F-BD06-B437B76C52C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总结展望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30D8BD-B3A3-4521-9BC2-F440350BC3D4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4A7C59"/>
                </a:solidFill>
              </a:defRPr>
            </a:pPr>
            <a:r>
              <a:rPr sz="975" b="1">
                <a:solidFill>
                  <a:srgbClr val="4A7C59"/>
                </a:solidFill>
              </a:rPr>
              <a:t>12 / 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FDFD85-B8A0-4113-8237-B99C22DF6C1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9F5B650-1A59-4778-BA59-4B29E3D806AD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AEEEEE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6C1493-0331-4396-A796-9A920785022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429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333333"/>
                </a:solidFill>
              </a:defRPr>
            </a:pPr>
            <a:r>
              <a:rPr sz="3000" b="1">
                <a:solidFill>
                  <a:srgbClr val="333333"/>
                </a:solidFill>
              </a:rPr>
              <a:t>总结与展望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44FEE9-563E-4119-82FA-407442544C6D}"/>
              </a:ext>
            </a:extLst>
          </p:cNvPr>
          <p:cNvSpPr>
            <a:spLocks noGrp="1"/>
          </p:cNvSpPr>
          <p:nvPr/>
        </p:nvSpPr>
        <p:spPr>
          <a:xfrm>
            <a:off x="760218" y="1628775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6666"/>
                </a:solidFill>
              </a:defRPr>
            </a:pPr>
            <a:r>
              <a:rPr sz="1425" b="0" dirty="0" err="1"/>
              <a:t>项目价值体现在：功能完整、实现真实、工程细节可讲、后续扩展方向清晰</a:t>
            </a:r>
            <a:r>
              <a:rPr sz="1425" b="0" dirty="0">
                <a:solidFill>
                  <a:srgbClr val="666666"/>
                </a:solidFill>
              </a:rPr>
              <a:t>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3957A16-C108-4875-970C-7489AF341AE7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381250" cy="1581150"/>
          </a:xfrm>
          <a:prstGeom prst="roundRect">
            <a:avLst>
              <a:gd name="adj" fmla="val 4819"/>
            </a:avLst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BED2D6-4E8D-442B-900C-93B727D5FBB9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76200" cy="158115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CC0DB89-94B9-4724-8261-94AB9E9D15C3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514350" cy="514350"/>
          </a:xfrm>
          <a:prstGeom prst="ellipse">
            <a:avLst/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27AB483-E012-4AA6-8D00-F529155B4CD0}"/>
              </a:ext>
            </a:extLst>
          </p:cNvPr>
          <p:cNvSpPr>
            <a:spLocks noGrp="1"/>
          </p:cNvSpPr>
          <p:nvPr/>
        </p:nvSpPr>
        <p:spPr>
          <a:xfrm>
            <a:off x="1152525" y="2571750"/>
            <a:ext cx="95250" cy="95250"/>
          </a:xfrm>
          <a:prstGeom prst="ellipse">
            <a:avLst/>
          </a:prstGeom>
          <a:solidFill>
            <a:srgbClr val="AEEEEE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7269862-B7FB-4170-8891-DBB43D078D23}"/>
              </a:ext>
            </a:extLst>
          </p:cNvPr>
          <p:cNvSpPr>
            <a:spLocks noGrp="1"/>
          </p:cNvSpPr>
          <p:nvPr/>
        </p:nvSpPr>
        <p:spPr>
          <a:xfrm>
            <a:off x="1323975" y="2657475"/>
            <a:ext cx="95250" cy="95250"/>
          </a:xfrm>
          <a:prstGeom prst="ellipse">
            <a:avLst/>
          </a:prstGeom>
          <a:solidFill>
            <a:srgbClr val="AEEEEE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295AA8E-BB1A-4F0E-87C3-9B5F6F004D7A}"/>
              </a:ext>
            </a:extLst>
          </p:cNvPr>
          <p:cNvSpPr>
            <a:spLocks noGrp="1"/>
          </p:cNvSpPr>
          <p:nvPr/>
        </p:nvSpPr>
        <p:spPr>
          <a:xfrm>
            <a:off x="1238250" y="2638425"/>
            <a:ext cx="180975" cy="28575"/>
          </a:xfrm>
          <a:prstGeom prst="rect">
            <a:avLst/>
          </a:prstGeom>
          <a:solidFill>
            <a:srgbClr val="3333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B7AAED-4E43-4A9C-A41A-F4CBC7A46355}"/>
              </a:ext>
            </a:extLst>
          </p:cNvPr>
          <p:cNvSpPr>
            <a:spLocks noGrp="1"/>
          </p:cNvSpPr>
          <p:nvPr/>
        </p:nvSpPr>
        <p:spPr>
          <a:xfrm>
            <a:off x="1657350" y="238125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页面组织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2409FB-EBFB-4B15-99D4-9AE3C45D245E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1924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从登录页、主菜单到多个子页面，已经形成完整的多页面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LVGL 工程结构。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D574A2E-B0DE-4848-8ECF-6CB271FBFBC0}"/>
              </a:ext>
            </a:extLst>
          </p:cNvPr>
          <p:cNvSpPr>
            <a:spLocks noGrp="1"/>
          </p:cNvSpPr>
          <p:nvPr/>
        </p:nvSpPr>
        <p:spPr>
          <a:xfrm>
            <a:off x="3409950" y="2171700"/>
            <a:ext cx="2381250" cy="1581150"/>
          </a:xfrm>
          <a:prstGeom prst="roundRect">
            <a:avLst>
              <a:gd name="adj" fmla="val 4819"/>
            </a:avLst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C0BD95-E482-428B-888B-FBB1FEF65937}"/>
              </a:ext>
            </a:extLst>
          </p:cNvPr>
          <p:cNvSpPr>
            <a:spLocks noGrp="1"/>
          </p:cNvSpPr>
          <p:nvPr/>
        </p:nvSpPr>
        <p:spPr>
          <a:xfrm>
            <a:off x="3409950" y="2171700"/>
            <a:ext cx="76200" cy="1581150"/>
          </a:xfrm>
          <a:prstGeom prst="rect">
            <a:avLst/>
          </a:prstGeom>
          <a:solidFill>
            <a:srgbClr val="E3D8B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037D3D3-5073-447E-A828-611B47CFA52E}"/>
              </a:ext>
            </a:extLst>
          </p:cNvPr>
          <p:cNvSpPr>
            <a:spLocks noGrp="1"/>
          </p:cNvSpPr>
          <p:nvPr/>
        </p:nvSpPr>
        <p:spPr>
          <a:xfrm>
            <a:off x="3619500" y="2400300"/>
            <a:ext cx="514350" cy="514350"/>
          </a:xfrm>
          <a:prstGeom prst="ellipse">
            <a:avLst/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AF75491-C3E4-4746-A0A4-D99B8259AF0B}"/>
              </a:ext>
            </a:extLst>
          </p:cNvPr>
          <p:cNvSpPr>
            <a:spLocks noGrp="1"/>
          </p:cNvSpPr>
          <p:nvPr/>
        </p:nvSpPr>
        <p:spPr>
          <a:xfrm>
            <a:off x="3743325" y="25431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E3D8BE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5AC0080-BB05-43C0-968F-B7293CAC4875}"/>
              </a:ext>
            </a:extLst>
          </p:cNvPr>
          <p:cNvSpPr>
            <a:spLocks noGrp="1"/>
          </p:cNvSpPr>
          <p:nvPr/>
        </p:nvSpPr>
        <p:spPr>
          <a:xfrm>
            <a:off x="3790950" y="26289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E3D8BE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3E8A1D5-3A9E-4BD9-9F56-796EF54C1668}"/>
              </a:ext>
            </a:extLst>
          </p:cNvPr>
          <p:cNvSpPr>
            <a:spLocks noGrp="1"/>
          </p:cNvSpPr>
          <p:nvPr/>
        </p:nvSpPr>
        <p:spPr>
          <a:xfrm>
            <a:off x="3838575" y="27146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F3D8D2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2F6879-9A10-4EE7-BA60-484C159309F8}"/>
              </a:ext>
            </a:extLst>
          </p:cNvPr>
          <p:cNvSpPr>
            <a:spLocks noGrp="1"/>
          </p:cNvSpPr>
          <p:nvPr/>
        </p:nvSpPr>
        <p:spPr>
          <a:xfrm>
            <a:off x="4248150" y="238125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数据持久化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D67326-F828-4905-98F5-08A6F45DC395}"/>
              </a:ext>
            </a:extLst>
          </p:cNvPr>
          <p:cNvSpPr>
            <a:spLocks noGrp="1"/>
          </p:cNvSpPr>
          <p:nvPr/>
        </p:nvSpPr>
        <p:spPr>
          <a:xfrm>
            <a:off x="3638550" y="2990850"/>
            <a:ext cx="1924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用户信息和 2048 最高分写入 TXT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文件，体现了文件 I/O 在项目中的实际落地。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C314714-E650-4245-BB28-45EE7316DEF5}"/>
              </a:ext>
            </a:extLst>
          </p:cNvPr>
          <p:cNvSpPr>
            <a:spLocks noGrp="1"/>
          </p:cNvSpPr>
          <p:nvPr/>
        </p:nvSpPr>
        <p:spPr>
          <a:xfrm>
            <a:off x="6038850" y="2162175"/>
            <a:ext cx="2381250" cy="1581150"/>
          </a:xfrm>
          <a:prstGeom prst="roundRect">
            <a:avLst>
              <a:gd name="adj" fmla="val 4819"/>
            </a:avLst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0CC90B-4259-49B7-BCE4-D83BB6394EE8}"/>
              </a:ext>
            </a:extLst>
          </p:cNvPr>
          <p:cNvSpPr>
            <a:spLocks noGrp="1"/>
          </p:cNvSpPr>
          <p:nvPr/>
        </p:nvSpPr>
        <p:spPr>
          <a:xfrm>
            <a:off x="6000750" y="2171700"/>
            <a:ext cx="76200" cy="1581150"/>
          </a:xfrm>
          <a:prstGeom prst="rect">
            <a:avLst/>
          </a:prstGeom>
          <a:solidFill>
            <a:srgbClr val="F3D8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934BDB4D-DC83-4358-9B29-8AAE4460E17C}"/>
              </a:ext>
            </a:extLst>
          </p:cNvPr>
          <p:cNvSpPr>
            <a:spLocks noGrp="1"/>
          </p:cNvSpPr>
          <p:nvPr/>
        </p:nvSpPr>
        <p:spPr>
          <a:xfrm>
            <a:off x="6210300" y="2400300"/>
            <a:ext cx="514350" cy="514350"/>
          </a:xfrm>
          <a:prstGeom prst="ellipse">
            <a:avLst/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73EF4BE-3A12-4D18-98DA-39F05FD00FB3}"/>
              </a:ext>
            </a:extLst>
          </p:cNvPr>
          <p:cNvSpPr>
            <a:spLocks noGrp="1"/>
          </p:cNvSpPr>
          <p:nvPr/>
        </p:nvSpPr>
        <p:spPr>
          <a:xfrm>
            <a:off x="6362700" y="2676525"/>
            <a:ext cx="57150" cy="114300"/>
          </a:xfrm>
          <a:prstGeom prst="rect">
            <a:avLst/>
          </a:prstGeom>
          <a:solidFill>
            <a:srgbClr val="F3D8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E00CA8B-9727-48B5-B7BA-B2D13EC3DD2E}"/>
              </a:ext>
            </a:extLst>
          </p:cNvPr>
          <p:cNvSpPr>
            <a:spLocks noGrp="1"/>
          </p:cNvSpPr>
          <p:nvPr/>
        </p:nvSpPr>
        <p:spPr>
          <a:xfrm>
            <a:off x="6448425" y="2600325"/>
            <a:ext cx="57150" cy="190500"/>
          </a:xfrm>
          <a:prstGeom prst="rect">
            <a:avLst/>
          </a:prstGeom>
          <a:solidFill>
            <a:srgbClr val="F3D8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DF92A7-D8B2-4940-B4EF-B81A32AB838B}"/>
              </a:ext>
            </a:extLst>
          </p:cNvPr>
          <p:cNvSpPr>
            <a:spLocks noGrp="1"/>
          </p:cNvSpPr>
          <p:nvPr/>
        </p:nvSpPr>
        <p:spPr>
          <a:xfrm>
            <a:off x="6534150" y="2533650"/>
            <a:ext cx="57150" cy="257175"/>
          </a:xfrm>
          <a:prstGeom prst="rect">
            <a:avLst/>
          </a:prstGeom>
          <a:solidFill>
            <a:srgbClr val="F3D8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F41124-3768-4319-98AA-302E537F9D08}"/>
              </a:ext>
            </a:extLst>
          </p:cNvPr>
          <p:cNvSpPr>
            <a:spLocks noGrp="1"/>
          </p:cNvSpPr>
          <p:nvPr/>
        </p:nvSpPr>
        <p:spPr>
          <a:xfrm>
            <a:off x="6838950" y="238125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算法实现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3DC10A-5302-4E33-B9B1-E41AD94F0252}"/>
              </a:ext>
            </a:extLst>
          </p:cNvPr>
          <p:cNvSpPr>
            <a:spLocks noGrp="1"/>
          </p:cNvSpPr>
          <p:nvPr/>
        </p:nvSpPr>
        <p:spPr>
          <a:xfrm>
            <a:off x="6229350" y="2990850"/>
            <a:ext cx="1924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医疗队列的插队和 2048</a:t>
            </a:r>
          </a:p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的矩阵处理，让项目不仅有界面，也有底层数据逻辑。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EEC4CD2F-3B36-4E7C-81A0-AE9F0BDCCBB0}"/>
              </a:ext>
            </a:extLst>
          </p:cNvPr>
          <p:cNvSpPr>
            <a:spLocks noGrp="1"/>
          </p:cNvSpPr>
          <p:nvPr/>
        </p:nvSpPr>
        <p:spPr>
          <a:xfrm>
            <a:off x="8591550" y="2171700"/>
            <a:ext cx="2381250" cy="1581150"/>
          </a:xfrm>
          <a:prstGeom prst="roundRect">
            <a:avLst>
              <a:gd name="adj" fmla="val 4819"/>
            </a:avLst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C0CFB66-1568-42F1-8975-B53CCC066E35}"/>
              </a:ext>
            </a:extLst>
          </p:cNvPr>
          <p:cNvSpPr>
            <a:spLocks noGrp="1"/>
          </p:cNvSpPr>
          <p:nvPr/>
        </p:nvSpPr>
        <p:spPr>
          <a:xfrm>
            <a:off x="8591550" y="2171700"/>
            <a:ext cx="76200" cy="158115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692C1B2B-7EC8-4EB8-A9EC-3D910AC118E4}"/>
              </a:ext>
            </a:extLst>
          </p:cNvPr>
          <p:cNvSpPr>
            <a:spLocks noGrp="1"/>
          </p:cNvSpPr>
          <p:nvPr/>
        </p:nvSpPr>
        <p:spPr>
          <a:xfrm>
            <a:off x="8801100" y="2400300"/>
            <a:ext cx="514350" cy="514350"/>
          </a:xfrm>
          <a:prstGeom prst="ellipse">
            <a:avLst/>
          </a:prstGeom>
          <a:solidFill>
            <a:srgbClr val="FFFCF7">
              <a:alpha val="94902"/>
            </a:srgbClr>
          </a:solidFill>
          <a:ln w="1143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8496ED7-7906-4C54-BD87-D7F2804AA2A3}"/>
              </a:ext>
            </a:extLst>
          </p:cNvPr>
          <p:cNvSpPr>
            <a:spLocks noGrp="1"/>
          </p:cNvSpPr>
          <p:nvPr/>
        </p:nvSpPr>
        <p:spPr>
          <a:xfrm>
            <a:off x="8924925" y="25431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AEEEEE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8FFE936C-C8C7-4131-A28B-C54115F23A49}"/>
              </a:ext>
            </a:extLst>
          </p:cNvPr>
          <p:cNvSpPr>
            <a:spLocks noGrp="1"/>
          </p:cNvSpPr>
          <p:nvPr/>
        </p:nvSpPr>
        <p:spPr>
          <a:xfrm>
            <a:off x="8972550" y="26289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E3D8BE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54BB224-926C-48CB-97DF-B9F49BE7E25F}"/>
              </a:ext>
            </a:extLst>
          </p:cNvPr>
          <p:cNvSpPr>
            <a:spLocks noGrp="1"/>
          </p:cNvSpPr>
          <p:nvPr/>
        </p:nvSpPr>
        <p:spPr>
          <a:xfrm>
            <a:off x="9020175" y="27146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F3D8D2"/>
          </a:solidFill>
          <a:ln w="9525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8319A21-3025-427A-888D-39B9C5D5B245}"/>
              </a:ext>
            </a:extLst>
          </p:cNvPr>
          <p:cNvSpPr>
            <a:spLocks noGrp="1"/>
          </p:cNvSpPr>
          <p:nvPr/>
        </p:nvSpPr>
        <p:spPr>
          <a:xfrm>
            <a:off x="9429750" y="2381250"/>
            <a:ext cx="1352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A7C59"/>
                </a:solidFill>
              </a:defRPr>
            </a:pPr>
            <a:r>
              <a:rPr sz="1125" b="1">
                <a:solidFill>
                  <a:srgbClr val="4A7C59"/>
                </a:solidFill>
              </a:rPr>
              <a:t>工程思考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2A9EC3B-5AB3-4633-BAC1-FEE78B4A09E6}"/>
              </a:ext>
            </a:extLst>
          </p:cNvPr>
          <p:cNvSpPr>
            <a:spLocks noGrp="1"/>
          </p:cNvSpPr>
          <p:nvPr/>
        </p:nvSpPr>
        <p:spPr>
          <a:xfrm>
            <a:off x="8820150" y="2990850"/>
            <a:ext cx="19240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SDL、字库、内存池、定时器回收和板端入口准备，体现了工程层面的完整性。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D47FF10-48FA-490D-8015-D2F9827A5A69}"/>
              </a:ext>
            </a:extLst>
          </p:cNvPr>
          <p:cNvSpPr>
            <a:spLocks noGrp="1"/>
          </p:cNvSpPr>
          <p:nvPr/>
        </p:nvSpPr>
        <p:spPr>
          <a:xfrm>
            <a:off x="819150" y="4114800"/>
            <a:ext cx="10153650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430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8BD602A-AF50-41FA-A8F3-BB6745ECBCE0}"/>
              </a:ext>
            </a:extLst>
          </p:cNvPr>
          <p:cNvSpPr>
            <a:spLocks noGrp="1"/>
          </p:cNvSpPr>
          <p:nvPr/>
        </p:nvSpPr>
        <p:spPr>
          <a:xfrm>
            <a:off x="819150" y="4114800"/>
            <a:ext cx="10153650" cy="76200"/>
          </a:xfrm>
          <a:prstGeom prst="rect">
            <a:avLst/>
          </a:prstGeom>
          <a:solidFill>
            <a:srgbClr val="AEEE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8F28244-B4B9-4B5B-8417-6E0AAA248436}"/>
              </a:ext>
            </a:extLst>
          </p:cNvPr>
          <p:cNvSpPr>
            <a:spLocks noGrp="1"/>
          </p:cNvSpPr>
          <p:nvPr/>
        </p:nvSpPr>
        <p:spPr>
          <a:xfrm>
            <a:off x="1028700" y="4305300"/>
            <a:ext cx="97345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333333"/>
                </a:solidFill>
              </a:defRPr>
            </a:pPr>
            <a:r>
              <a:rPr sz="1650" b="1">
                <a:solidFill>
                  <a:srgbClr val="333333"/>
                </a:solidFill>
              </a:rPr>
              <a:t>后续扩展方向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D66ACC6-4CAD-4286-B653-BCC6F751B4ED}"/>
              </a:ext>
            </a:extLst>
          </p:cNvPr>
          <p:cNvSpPr>
            <a:spLocks noGrp="1"/>
          </p:cNvSpPr>
          <p:nvPr/>
        </p:nvSpPr>
        <p:spPr>
          <a:xfrm>
            <a:off x="1028700" y="4743450"/>
            <a:ext cx="97345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 dirty="0">
                <a:solidFill>
                  <a:srgbClr val="333333"/>
                </a:solidFill>
              </a:rPr>
              <a:t>• </a:t>
            </a:r>
            <a:r>
              <a:rPr sz="1350" b="0" dirty="0" err="1">
                <a:solidFill>
                  <a:srgbClr val="333333"/>
                </a:solidFill>
              </a:rPr>
              <a:t>把资源路径抽象成相对路径或统一配置，减少平台切换成本</a:t>
            </a:r>
            <a:r>
              <a:rPr sz="1350" b="0" dirty="0">
                <a:solidFill>
                  <a:srgbClr val="333333"/>
                </a:solidFill>
              </a:rPr>
              <a:t>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 dirty="0">
                <a:solidFill>
                  <a:srgbClr val="333333"/>
                </a:solidFill>
              </a:rPr>
              <a:t>• </a:t>
            </a:r>
            <a:r>
              <a:rPr sz="1350" b="0" dirty="0" err="1">
                <a:solidFill>
                  <a:srgbClr val="333333"/>
                </a:solidFill>
              </a:rPr>
              <a:t>补齐真实板端资源部署与实物运行验证，进一步完善</a:t>
            </a:r>
            <a:r>
              <a:rPr sz="1350" b="0" dirty="0">
                <a:solidFill>
                  <a:srgbClr val="333333"/>
                </a:solidFill>
              </a:rPr>
              <a:t> RK3568 </a:t>
            </a:r>
            <a:r>
              <a:rPr sz="1350" b="0" dirty="0" err="1">
                <a:solidFill>
                  <a:srgbClr val="333333"/>
                </a:solidFill>
              </a:rPr>
              <a:t>适配</a:t>
            </a:r>
            <a:r>
              <a:rPr sz="1350" b="0" dirty="0">
                <a:solidFill>
                  <a:srgbClr val="333333"/>
                </a:solidFill>
              </a:rPr>
              <a:t>。</a:t>
            </a:r>
          </a:p>
          <a:p>
            <a:pPr algn="l">
              <a:defRPr sz="1350" b="0">
                <a:solidFill>
                  <a:srgbClr val="333333"/>
                </a:solidFill>
              </a:defRPr>
            </a:pPr>
            <a:r>
              <a:rPr sz="1350" b="0" dirty="0">
                <a:solidFill>
                  <a:srgbClr val="333333"/>
                </a:solidFill>
              </a:rPr>
              <a:t>• </a:t>
            </a:r>
            <a:r>
              <a:rPr sz="1350" b="0" dirty="0" err="1">
                <a:solidFill>
                  <a:srgbClr val="333333"/>
                </a:solidFill>
              </a:rPr>
              <a:t>把命令式叫号继续扩展成真实</a:t>
            </a:r>
            <a:r>
              <a:rPr sz="1350" b="0" dirty="0">
                <a:solidFill>
                  <a:srgbClr val="333333"/>
                </a:solidFill>
              </a:rPr>
              <a:t> TTS </a:t>
            </a:r>
            <a:r>
              <a:rPr sz="1350" b="0" dirty="0" err="1">
                <a:solidFill>
                  <a:srgbClr val="333333"/>
                </a:solidFill>
              </a:rPr>
              <a:t>或网络消息输入</a:t>
            </a:r>
            <a:r>
              <a:rPr sz="1350" b="0" dirty="0">
                <a:solidFill>
                  <a:srgbClr val="333333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482175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2063</Words>
  <Application>Microsoft Office PowerPoint</Application>
  <DocSecurity>0</DocSecurity>
  <PresentationFormat>宽屏</PresentationFormat>
  <Paragraphs>298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Yui Kirito</cp:lastModifiedBy>
  <cp:revision>3</cp:revision>
  <dcterms:created xsi:type="dcterms:W3CDTF">2026-04-18T07:43:34Z</dcterms:created>
  <dcterms:modified xsi:type="dcterms:W3CDTF">2026-04-18T09:40:10Z</dcterms:modified>
</cp:coreProperties>
</file>